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4630400" cy="8229600"/>
  <p:notesSz cx="8229600" cy="14630400"/>
  <p:embeddedFontLst>
    <p:embeddedFont>
      <p:font typeface="Roboto Condensed" panose="02000000000000000000"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0" d="100"/>
          <a:sy n="50" d="100"/>
        </p:scale>
        <p:origin x="-192" y="2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3957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txBody>
          <a:bodyPr/>
          <a:lstStyle/>
          <a:p>
            <a:endParaRPr lang="en-US"/>
          </a:p>
        </p:txBody>
      </p:sp>
      <p:sp>
        <p:nvSpPr>
          <p:cNvPr id="3" name="Shape 1"/>
          <p:cNvSpPr/>
          <p:nvPr/>
        </p:nvSpPr>
        <p:spPr>
          <a:xfrm>
            <a:off x="0" y="0"/>
            <a:ext cx="14630400" cy="8229600"/>
          </a:xfrm>
          <a:prstGeom prst="rect">
            <a:avLst/>
          </a:prstGeom>
          <a:solidFill>
            <a:srgbClr val="E8E8E3"/>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C0D0F"/>
          </a:solidFill>
          <a:ln/>
        </p:spPr>
      </p:sp>
      <p:sp>
        <p:nvSpPr>
          <p:cNvPr id="3" name="Shape 1"/>
          <p:cNvSpPr/>
          <p:nvPr/>
        </p:nvSpPr>
        <p:spPr>
          <a:xfrm>
            <a:off x="0" y="0"/>
            <a:ext cx="14630400" cy="8229600"/>
          </a:xfrm>
          <a:prstGeom prst="rect">
            <a:avLst/>
          </a:prstGeom>
          <a:solidFill>
            <a:srgbClr val="E8E8E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svg"/><Relationship Id="rId12"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svg"/><Relationship Id="rId10" Type="http://schemas.openxmlformats.org/officeDocument/2006/relationships/image" Target="../media/image3.png"/><Relationship Id="rId4" Type="http://schemas.openxmlformats.org/officeDocument/2006/relationships/image" Target="../media/image23.png"/><Relationship Id="rId9" Type="http://schemas.openxmlformats.org/officeDocument/2006/relationships/image" Target="../media/image28.svg"/></Relationships>
</file>

<file path=ppt/slides/_rels/slide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9.xml"/><Relationship Id="rId6" Type="http://schemas.openxmlformats.org/officeDocument/2006/relationships/image" Target="../media/image39.svg"/><Relationship Id="rId11" Type="http://schemas.openxmlformats.org/officeDocument/2006/relationships/image" Target="../media/image3.pn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slides/_rels/slide19.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47.svg"/><Relationship Id="rId11" Type="http://schemas.openxmlformats.org/officeDocument/2006/relationships/image" Target="../media/image3.pn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svg"/><Relationship Id="rId9"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2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2550676"/>
            <a:ext cx="13042821" cy="2079308"/>
          </a:xfrm>
          <a:prstGeom prst="rect">
            <a:avLst/>
          </a:prstGeom>
        </p:spPr>
      </p:pic>
      <p:sp>
        <p:nvSpPr>
          <p:cNvPr id="3" name="Text 0"/>
          <p:cNvSpPr/>
          <p:nvPr/>
        </p:nvSpPr>
        <p:spPr>
          <a:xfrm>
            <a:off x="793790" y="4970145"/>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pic>
        <p:nvPicPr>
          <p:cNvPr id="5" name="Picture 4">
            <a:extLst>
              <a:ext uri="{FF2B5EF4-FFF2-40B4-BE49-F238E27FC236}">
                <a16:creationId xmlns:a16="http://schemas.microsoft.com/office/drawing/2014/main" id="{67A45390-2E55-1207-0275-BB516723D870}"/>
              </a:ext>
            </a:extLst>
          </p:cNvPr>
          <p:cNvPicPr>
            <a:picLocks noChangeAspect="1"/>
          </p:cNvPicPr>
          <p:nvPr/>
        </p:nvPicPr>
        <p:blipFill>
          <a:blip r:embed="rId4"/>
          <a:stretch>
            <a:fillRect/>
          </a:stretch>
        </p:blipFill>
        <p:spPr>
          <a:xfrm>
            <a:off x="11998113" y="7467494"/>
            <a:ext cx="3029373" cy="7621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396127"/>
            <a:ext cx="75564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4" name="Text 1"/>
          <p:cNvSpPr/>
          <p:nvPr/>
        </p:nvSpPr>
        <p:spPr>
          <a:xfrm>
            <a:off x="793790" y="1985843"/>
            <a:ext cx="7556421" cy="1133951"/>
          </a:xfrm>
          <a:prstGeom prst="rect">
            <a:avLst/>
          </a:prstGeom>
          <a:noFill/>
          <a:ln/>
        </p:spPr>
        <p:txBody>
          <a:bodyPr wrap="square" lIns="0" tIns="0" rIns="0" bIns="0" rtlCol="0" anchor="t"/>
          <a:lstStyle/>
          <a:p>
            <a:pPr marL="0" indent="0" algn="ctr">
              <a:lnSpc>
                <a:spcPts val="4450"/>
              </a:lnSpc>
              <a:buNone/>
            </a:pPr>
            <a:r>
              <a:rPr lang="en-US" sz="3550" b="1" dirty="0">
                <a:solidFill>
                  <a:srgbClr val="0C0D0F"/>
                </a:solidFill>
                <a:latin typeface="Hubot Sans Bold" pitchFamily="34" charset="0"/>
                <a:ea typeface="Hubot Sans Bold" pitchFamily="34" charset="-122"/>
                <a:cs typeface="Hubot Sans Bold" pitchFamily="34" charset="-120"/>
              </a:rPr>
              <a:t>Capstone Project Phase – 1 (END-SEMESTER)</a:t>
            </a:r>
            <a:endParaRPr lang="en-US" sz="3550" dirty="0"/>
          </a:p>
        </p:txBody>
      </p:sp>
      <p:sp>
        <p:nvSpPr>
          <p:cNvPr id="5" name="Text 2"/>
          <p:cNvSpPr/>
          <p:nvPr/>
        </p:nvSpPr>
        <p:spPr>
          <a:xfrm>
            <a:off x="793790" y="3686770"/>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C0D0F"/>
                </a:solidFill>
                <a:latin typeface="Hubot Sans Bold" pitchFamily="34" charset="0"/>
                <a:ea typeface="Hubot Sans Bold" pitchFamily="34" charset="-122"/>
                <a:cs typeface="Hubot Sans Bold" pitchFamily="34" charset="-120"/>
              </a:rPr>
              <a:t>Project Details</a:t>
            </a:r>
            <a:endParaRPr lang="en-US" sz="2650" dirty="0"/>
          </a:p>
        </p:txBody>
      </p:sp>
      <p:sp>
        <p:nvSpPr>
          <p:cNvPr id="6" name="Text 3"/>
          <p:cNvSpPr/>
          <p:nvPr/>
        </p:nvSpPr>
        <p:spPr>
          <a:xfrm>
            <a:off x="793790" y="4338876"/>
            <a:ext cx="3501509" cy="1360527"/>
          </a:xfrm>
          <a:prstGeom prst="rect">
            <a:avLst/>
          </a:prstGeom>
          <a:noFill/>
          <a:ln/>
        </p:spPr>
        <p:txBody>
          <a:bodyPr wrap="square" lIns="0" tIns="0" rIns="0" bIns="0" rtlCol="0" anchor="t"/>
          <a:lstStyle/>
          <a:p>
            <a:pPr marL="0" indent="0" algn="l">
              <a:lnSpc>
                <a:spcPts val="3550"/>
              </a:lnSpc>
              <a:buNone/>
            </a:pPr>
            <a:r>
              <a:rPr lang="en-US" sz="2200" b="1" dirty="0">
                <a:solidFill>
                  <a:srgbClr val="55575A"/>
                </a:solidFill>
                <a:latin typeface="Roboto Condensed" pitchFamily="34" charset="0"/>
                <a:ea typeface="Roboto Condensed" pitchFamily="34" charset="-122"/>
                <a:cs typeface="Roboto Condensed" pitchFamily="34" charset="-120"/>
              </a:rPr>
              <a:t>Project Title:</a:t>
            </a:r>
            <a:r>
              <a:rPr lang="en-US" sz="2200" dirty="0">
                <a:solidFill>
                  <a:srgbClr val="55575A"/>
                </a:solidFill>
                <a:latin typeface="Roboto Condensed" pitchFamily="34" charset="0"/>
                <a:ea typeface="Roboto Condensed" pitchFamily="34" charset="-122"/>
                <a:cs typeface="Roboto Condensed" pitchFamily="34" charset="-120"/>
              </a:rPr>
              <a:t> E.C.H.O – Efficient Contextualized History Orchestrator</a:t>
            </a:r>
            <a:endParaRPr lang="en-US" sz="2200" dirty="0"/>
          </a:p>
        </p:txBody>
      </p:sp>
      <p:sp>
        <p:nvSpPr>
          <p:cNvPr id="7" name="Text 4"/>
          <p:cNvSpPr/>
          <p:nvPr/>
        </p:nvSpPr>
        <p:spPr>
          <a:xfrm>
            <a:off x="793790" y="5903476"/>
            <a:ext cx="3501509" cy="362903"/>
          </a:xfrm>
          <a:prstGeom prst="rect">
            <a:avLst/>
          </a:prstGeom>
          <a:noFill/>
          <a:ln/>
        </p:spPr>
        <p:txBody>
          <a:bodyPr wrap="non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Project ID:</a:t>
            </a:r>
            <a:r>
              <a:rPr lang="en-US" sz="1750" dirty="0">
                <a:solidFill>
                  <a:srgbClr val="55575A"/>
                </a:solidFill>
                <a:latin typeface="Roboto Condensed" pitchFamily="34" charset="0"/>
                <a:ea typeface="Roboto Condensed" pitchFamily="34" charset="-122"/>
                <a:cs typeface="Roboto Condensed" pitchFamily="34" charset="-120"/>
              </a:rPr>
              <a:t> 92</a:t>
            </a:r>
            <a:endParaRPr lang="en-US" sz="1750" dirty="0"/>
          </a:p>
        </p:txBody>
      </p:sp>
      <p:sp>
        <p:nvSpPr>
          <p:cNvPr id="8" name="Text 5"/>
          <p:cNvSpPr/>
          <p:nvPr/>
        </p:nvSpPr>
        <p:spPr>
          <a:xfrm>
            <a:off x="793790" y="6470452"/>
            <a:ext cx="3501509" cy="362903"/>
          </a:xfrm>
          <a:prstGeom prst="rect">
            <a:avLst/>
          </a:prstGeom>
          <a:noFill/>
          <a:ln/>
        </p:spPr>
        <p:txBody>
          <a:bodyPr wrap="non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Project Guide:</a:t>
            </a:r>
            <a:r>
              <a:rPr lang="en-US" sz="1750" dirty="0">
                <a:solidFill>
                  <a:srgbClr val="55575A"/>
                </a:solidFill>
                <a:latin typeface="Roboto Condensed" pitchFamily="34" charset="0"/>
                <a:ea typeface="Roboto Condensed" pitchFamily="34" charset="-122"/>
                <a:cs typeface="Roboto Condensed" pitchFamily="34" charset="-120"/>
              </a:rPr>
              <a:t> Dr. M. Shalima Sulthana</a:t>
            </a:r>
            <a:endParaRPr lang="en-US" sz="1750" dirty="0"/>
          </a:p>
        </p:txBody>
      </p:sp>
      <p:sp>
        <p:nvSpPr>
          <p:cNvPr id="9" name="Text 6"/>
          <p:cNvSpPr/>
          <p:nvPr/>
        </p:nvSpPr>
        <p:spPr>
          <a:xfrm>
            <a:off x="4856321" y="3686770"/>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0C0D0F"/>
                </a:solidFill>
                <a:latin typeface="Hubot Sans Bold" pitchFamily="34" charset="0"/>
                <a:ea typeface="Hubot Sans Bold" pitchFamily="34" charset="-122"/>
                <a:cs typeface="Hubot Sans Bold" pitchFamily="34" charset="-120"/>
              </a:rPr>
              <a:t>Project Team</a:t>
            </a:r>
            <a:endParaRPr lang="en-US" sz="2650" dirty="0"/>
          </a:p>
        </p:txBody>
      </p:sp>
      <p:sp>
        <p:nvSpPr>
          <p:cNvPr id="10" name="Text 7"/>
          <p:cNvSpPr/>
          <p:nvPr/>
        </p:nvSpPr>
        <p:spPr>
          <a:xfrm>
            <a:off x="4856321" y="4338876"/>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Arjun Sai N (PES2UG23CS091)</a:t>
            </a:r>
            <a:endParaRPr lang="en-US" sz="1750" dirty="0"/>
          </a:p>
        </p:txBody>
      </p:sp>
      <p:sp>
        <p:nvSpPr>
          <p:cNvPr id="11" name="Text 8"/>
          <p:cNvSpPr/>
          <p:nvPr/>
        </p:nvSpPr>
        <p:spPr>
          <a:xfrm>
            <a:off x="4856321" y="4781074"/>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Mohammed Mir Fazlai Ali (PES2UG23CS346)</a:t>
            </a:r>
            <a:endParaRPr lang="en-US" sz="1750" dirty="0"/>
          </a:p>
        </p:txBody>
      </p:sp>
      <p:sp>
        <p:nvSpPr>
          <p:cNvPr id="12" name="Text 9"/>
          <p:cNvSpPr/>
          <p:nvPr/>
        </p:nvSpPr>
        <p:spPr>
          <a:xfrm>
            <a:off x="4856321" y="5586174"/>
            <a:ext cx="35015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Mohammed Shehzaad Khan (PES2UG23CS349)</a:t>
            </a:r>
            <a:endParaRPr lang="en-US" sz="1750" dirty="0"/>
          </a:p>
        </p:txBody>
      </p:sp>
      <p:sp>
        <p:nvSpPr>
          <p:cNvPr id="13" name="Text 10"/>
          <p:cNvSpPr/>
          <p:nvPr/>
        </p:nvSpPr>
        <p:spPr>
          <a:xfrm>
            <a:off x="4856321" y="6391275"/>
            <a:ext cx="35015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Mrigank Jain (PES2UG23CS352)</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821120" y="609005"/>
            <a:ext cx="2034064" cy="701397"/>
          </a:xfrm>
          <a:prstGeom prst="rect">
            <a:avLst/>
          </a:prstGeom>
        </p:spPr>
      </p:pic>
      <p:sp>
        <p:nvSpPr>
          <p:cNvPr id="3" name="Text 0"/>
          <p:cNvSpPr/>
          <p:nvPr/>
        </p:nvSpPr>
        <p:spPr>
          <a:xfrm>
            <a:off x="4684990" y="1625918"/>
            <a:ext cx="5260419" cy="657463"/>
          </a:xfrm>
          <a:prstGeom prst="rect">
            <a:avLst/>
          </a:prstGeom>
          <a:noFill/>
          <a:ln/>
        </p:spPr>
        <p:txBody>
          <a:bodyPr wrap="none" lIns="0" tIns="0" rIns="0" bIns="0" rtlCol="0" anchor="t"/>
          <a:lstStyle/>
          <a:p>
            <a:pPr marL="0" indent="0" algn="ctr">
              <a:lnSpc>
                <a:spcPts val="5150"/>
              </a:lnSpc>
              <a:buNone/>
            </a:pPr>
            <a:r>
              <a:rPr lang="en-US" sz="4100" b="1" dirty="0">
                <a:solidFill>
                  <a:srgbClr val="0C0D0F"/>
                </a:solidFill>
                <a:latin typeface="Hubot Sans Bold" pitchFamily="34" charset="0"/>
                <a:ea typeface="Hubot Sans Bold" pitchFamily="34" charset="-122"/>
                <a:cs typeface="Hubot Sans Bold" pitchFamily="34" charset="-120"/>
              </a:rPr>
              <a:t>Agenda</a:t>
            </a:r>
            <a:endParaRPr lang="en-US" sz="4100" dirty="0"/>
          </a:p>
        </p:txBody>
      </p:sp>
      <p:sp>
        <p:nvSpPr>
          <p:cNvPr id="4" name="Text 1"/>
          <p:cNvSpPr/>
          <p:nvPr/>
        </p:nvSpPr>
        <p:spPr>
          <a:xfrm>
            <a:off x="775216" y="2598896"/>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Introduction and Motivation</a:t>
            </a:r>
            <a:endParaRPr lang="en-US" sz="2050" dirty="0"/>
          </a:p>
        </p:txBody>
      </p:sp>
      <p:sp>
        <p:nvSpPr>
          <p:cNvPr id="5" name="Text 2"/>
          <p:cNvSpPr/>
          <p:nvPr/>
        </p:nvSpPr>
        <p:spPr>
          <a:xfrm>
            <a:off x="775216" y="3256359"/>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Problem Statement</a:t>
            </a:r>
            <a:endParaRPr lang="en-US" sz="2050" dirty="0"/>
          </a:p>
        </p:txBody>
      </p:sp>
      <p:sp>
        <p:nvSpPr>
          <p:cNvPr id="6" name="Text 3"/>
          <p:cNvSpPr/>
          <p:nvPr/>
        </p:nvSpPr>
        <p:spPr>
          <a:xfrm>
            <a:off x="775216" y="3913823"/>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Abstract and Scope</a:t>
            </a:r>
            <a:endParaRPr lang="en-US" sz="2050" dirty="0"/>
          </a:p>
        </p:txBody>
      </p:sp>
      <p:sp>
        <p:nvSpPr>
          <p:cNvPr id="7" name="Text 4"/>
          <p:cNvSpPr/>
          <p:nvPr/>
        </p:nvSpPr>
        <p:spPr>
          <a:xfrm>
            <a:off x="775216" y="4571286"/>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Suggestions from Review – 1</a:t>
            </a:r>
            <a:endParaRPr lang="en-US" sz="2050" dirty="0"/>
          </a:p>
        </p:txBody>
      </p:sp>
      <p:sp>
        <p:nvSpPr>
          <p:cNvPr id="8" name="Text 5"/>
          <p:cNvSpPr/>
          <p:nvPr/>
        </p:nvSpPr>
        <p:spPr>
          <a:xfrm>
            <a:off x="775216" y="5228749"/>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Research / Technology gap and Challenges</a:t>
            </a:r>
            <a:endParaRPr lang="en-US" sz="2050" dirty="0"/>
          </a:p>
        </p:txBody>
      </p:sp>
      <p:sp>
        <p:nvSpPr>
          <p:cNvPr id="9" name="Text 6"/>
          <p:cNvSpPr/>
          <p:nvPr/>
        </p:nvSpPr>
        <p:spPr>
          <a:xfrm>
            <a:off x="775216" y="5886212"/>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Objectives</a:t>
            </a:r>
            <a:endParaRPr lang="en-US" sz="2050" dirty="0"/>
          </a:p>
        </p:txBody>
      </p:sp>
      <p:sp>
        <p:nvSpPr>
          <p:cNvPr id="10" name="Text 7"/>
          <p:cNvSpPr/>
          <p:nvPr/>
        </p:nvSpPr>
        <p:spPr>
          <a:xfrm>
            <a:off x="775216" y="6543675"/>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Literature Survey / Existing System</a:t>
            </a:r>
            <a:endParaRPr lang="en-US" sz="2050" dirty="0"/>
          </a:p>
        </p:txBody>
      </p:sp>
      <p:sp>
        <p:nvSpPr>
          <p:cNvPr id="11" name="Text 8"/>
          <p:cNvSpPr/>
          <p:nvPr/>
        </p:nvSpPr>
        <p:spPr>
          <a:xfrm>
            <a:off x="775216" y="7201138"/>
            <a:ext cx="13079968" cy="420767"/>
          </a:xfrm>
          <a:prstGeom prst="rect">
            <a:avLst/>
          </a:prstGeom>
          <a:noFill/>
          <a:ln/>
        </p:spPr>
        <p:txBody>
          <a:bodyPr wrap="none" lIns="0" tIns="0" rIns="0" bIns="0" rtlCol="0" anchor="t"/>
          <a:lstStyle/>
          <a:p>
            <a:pPr marL="0" indent="0" algn="l">
              <a:lnSpc>
                <a:spcPts val="3300"/>
              </a:lnSpc>
              <a:buNone/>
            </a:pPr>
            <a:r>
              <a:rPr lang="en-US" sz="2050" dirty="0">
                <a:solidFill>
                  <a:srgbClr val="55575A"/>
                </a:solidFill>
                <a:latin typeface="Roboto Condensed" pitchFamily="34" charset="0"/>
                <a:ea typeface="Roboto Condensed" pitchFamily="34" charset="-122"/>
                <a:cs typeface="Roboto Condensed" pitchFamily="34" charset="-120"/>
              </a:rPr>
              <a:t>References</a:t>
            </a:r>
            <a:endParaRPr lang="en-US" sz="2050" dirty="0"/>
          </a:p>
        </p:txBody>
      </p:sp>
      <p:pic>
        <p:nvPicPr>
          <p:cNvPr id="13" name="Picture 12">
            <a:extLst>
              <a:ext uri="{FF2B5EF4-FFF2-40B4-BE49-F238E27FC236}">
                <a16:creationId xmlns:a16="http://schemas.microsoft.com/office/drawing/2014/main" id="{A73C6F7A-C6F7-DE10-B097-8B2D79B27FAA}"/>
              </a:ext>
            </a:extLst>
          </p:cNvPr>
          <p:cNvPicPr>
            <a:picLocks noChangeAspect="1"/>
          </p:cNvPicPr>
          <p:nvPr/>
        </p:nvPicPr>
        <p:blipFill>
          <a:blip r:embed="rId4"/>
          <a:stretch>
            <a:fillRect/>
          </a:stretch>
        </p:blipFill>
        <p:spPr>
          <a:xfrm>
            <a:off x="12175913" y="7507817"/>
            <a:ext cx="3029373" cy="7621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170980"/>
            <a:ext cx="4846082" cy="272177"/>
          </a:xfrm>
          <a:prstGeom prst="rect">
            <a:avLst/>
          </a:prstGeom>
          <a:noFill/>
          <a:ln/>
        </p:spPr>
        <p:txBody>
          <a:bodyPr wrap="none" lIns="0" tIns="0" rIns="0" bIns="0" rtlCol="0" anchor="t"/>
          <a:lstStyle/>
          <a:p>
            <a:pPr marL="0" indent="0" algn="l">
              <a:lnSpc>
                <a:spcPts val="2100"/>
              </a:lnSpc>
              <a:buNone/>
            </a:pPr>
            <a:endParaRPr lang="en-US" sz="1300" dirty="0"/>
          </a:p>
        </p:txBody>
      </p:sp>
      <p:pic>
        <p:nvPicPr>
          <p:cNvPr id="4" name="Image 1" descr="preencoded.png"/>
          <p:cNvPicPr>
            <a:picLocks noChangeAspect="1"/>
          </p:cNvPicPr>
          <p:nvPr/>
        </p:nvPicPr>
        <p:blipFill>
          <a:blip r:embed="rId4"/>
          <a:stretch>
            <a:fillRect/>
          </a:stretch>
        </p:blipFill>
        <p:spPr>
          <a:xfrm>
            <a:off x="12122825" y="1209318"/>
            <a:ext cx="1721287" cy="593527"/>
          </a:xfrm>
          <a:prstGeom prst="rect">
            <a:avLst/>
          </a:prstGeom>
        </p:spPr>
      </p:pic>
      <p:sp>
        <p:nvSpPr>
          <p:cNvPr id="5" name="Text 1"/>
          <p:cNvSpPr/>
          <p:nvPr/>
        </p:nvSpPr>
        <p:spPr>
          <a:xfrm>
            <a:off x="6280190" y="2249329"/>
            <a:ext cx="4833461" cy="531614"/>
          </a:xfrm>
          <a:prstGeom prst="rect">
            <a:avLst/>
          </a:prstGeom>
          <a:noFill/>
          <a:ln/>
        </p:spPr>
        <p:txBody>
          <a:bodyPr wrap="none" lIns="0" tIns="0" rIns="0" bIns="0" rtlCol="0" anchor="t"/>
          <a:lstStyle/>
          <a:p>
            <a:pPr marL="0" indent="0" algn="l">
              <a:lnSpc>
                <a:spcPts val="4150"/>
              </a:lnSpc>
              <a:buNone/>
            </a:pPr>
            <a:r>
              <a:rPr lang="en-US" sz="3300" b="1" dirty="0">
                <a:solidFill>
                  <a:srgbClr val="0C0D0F"/>
                </a:solidFill>
                <a:latin typeface="Hubot Sans Bold" pitchFamily="34" charset="0"/>
                <a:ea typeface="Hubot Sans Bold" pitchFamily="34" charset="-122"/>
                <a:cs typeface="Hubot Sans Bold" pitchFamily="34" charset="-120"/>
              </a:rPr>
              <a:t>Introduction and</a:t>
            </a:r>
            <a:endParaRPr lang="en-US" sz="3300" dirty="0"/>
          </a:p>
        </p:txBody>
      </p:sp>
      <p:sp>
        <p:nvSpPr>
          <p:cNvPr id="6" name="Text 2"/>
          <p:cNvSpPr/>
          <p:nvPr/>
        </p:nvSpPr>
        <p:spPr>
          <a:xfrm>
            <a:off x="6280190" y="2848928"/>
            <a:ext cx="4252913" cy="531614"/>
          </a:xfrm>
          <a:prstGeom prst="rect">
            <a:avLst/>
          </a:prstGeom>
          <a:noFill/>
          <a:ln/>
        </p:spPr>
        <p:txBody>
          <a:bodyPr wrap="none" lIns="0" tIns="0" rIns="0" bIns="0" rtlCol="0" anchor="t"/>
          <a:lstStyle/>
          <a:p>
            <a:pPr marL="0" indent="0" algn="l">
              <a:lnSpc>
                <a:spcPts val="4150"/>
              </a:lnSpc>
              <a:buNone/>
            </a:pPr>
            <a:r>
              <a:rPr lang="en-US" sz="3300" b="1" dirty="0">
                <a:solidFill>
                  <a:srgbClr val="0C0D0F"/>
                </a:solidFill>
                <a:latin typeface="Hubot Sans Bold" pitchFamily="34" charset="0"/>
                <a:ea typeface="Hubot Sans Bold" pitchFamily="34" charset="-122"/>
                <a:cs typeface="Hubot Sans Bold" pitchFamily="34" charset="-120"/>
              </a:rPr>
              <a:t> Motivation</a:t>
            </a:r>
            <a:endParaRPr lang="en-US" sz="3300" dirty="0"/>
          </a:p>
        </p:txBody>
      </p:sp>
      <p:sp>
        <p:nvSpPr>
          <p:cNvPr id="7" name="Shape 3"/>
          <p:cNvSpPr/>
          <p:nvPr/>
        </p:nvSpPr>
        <p:spPr>
          <a:xfrm>
            <a:off x="6280190" y="3635693"/>
            <a:ext cx="7556421" cy="1835825"/>
          </a:xfrm>
          <a:prstGeom prst="roundRect">
            <a:avLst>
              <a:gd name="adj" fmla="val 5977"/>
            </a:avLst>
          </a:prstGeom>
          <a:solidFill>
            <a:srgbClr val="E8E8E3"/>
          </a:solidFill>
          <a:ln w="22860">
            <a:solidFill>
              <a:srgbClr val="C8CAC1"/>
            </a:solidFill>
            <a:prstDash val="solid"/>
          </a:ln>
        </p:spPr>
        <p:txBody>
          <a:bodyPr/>
          <a:lstStyle/>
          <a:p>
            <a:endParaRPr lang="en-US"/>
          </a:p>
        </p:txBody>
      </p:sp>
      <p:sp>
        <p:nvSpPr>
          <p:cNvPr id="8" name="Shape 4"/>
          <p:cNvSpPr/>
          <p:nvPr/>
        </p:nvSpPr>
        <p:spPr>
          <a:xfrm>
            <a:off x="6257330" y="3635693"/>
            <a:ext cx="91440" cy="1835825"/>
          </a:xfrm>
          <a:prstGeom prst="roundRect">
            <a:avLst>
              <a:gd name="adj" fmla="val 27907"/>
            </a:avLst>
          </a:prstGeom>
          <a:solidFill>
            <a:srgbClr val="C8CAC1"/>
          </a:solidFill>
          <a:ln/>
        </p:spPr>
        <p:txBody>
          <a:bodyPr/>
          <a:lstStyle/>
          <a:p>
            <a:endParaRPr lang="en-US"/>
          </a:p>
        </p:txBody>
      </p:sp>
      <p:sp>
        <p:nvSpPr>
          <p:cNvPr id="9" name="Text 5"/>
          <p:cNvSpPr/>
          <p:nvPr/>
        </p:nvSpPr>
        <p:spPr>
          <a:xfrm>
            <a:off x="6541651" y="3828574"/>
            <a:ext cx="7102078" cy="531495"/>
          </a:xfrm>
          <a:prstGeom prst="rect">
            <a:avLst/>
          </a:prstGeom>
          <a:noFill/>
          <a:ln/>
        </p:spPr>
        <p:txBody>
          <a:bodyPr wrap="square" lIns="0" tIns="0" rIns="0" bIns="0" rtlCol="0" anchor="t"/>
          <a:lstStyle/>
          <a:p>
            <a:pPr marL="0" indent="0" algn="l">
              <a:lnSpc>
                <a:spcPts val="2050"/>
              </a:lnSpc>
              <a:buNone/>
            </a:pPr>
            <a:r>
              <a:rPr lang="en-US" sz="1650" b="1" dirty="0">
                <a:solidFill>
                  <a:srgbClr val="55575A"/>
                </a:solidFill>
                <a:latin typeface="Hubot Sans Bold" pitchFamily="34" charset="0"/>
                <a:ea typeface="Hubot Sans Bold" pitchFamily="34" charset="-122"/>
                <a:cs typeface="Hubot Sans Bold" pitchFamily="34" charset="-120"/>
              </a:rPr>
              <a:t>The Challenge: Information Overload &amp; Fragmentation</a:t>
            </a:r>
            <a:endParaRPr lang="en-US" sz="1650" dirty="0"/>
          </a:p>
        </p:txBody>
      </p:sp>
      <p:sp>
        <p:nvSpPr>
          <p:cNvPr id="10" name="Text 6"/>
          <p:cNvSpPr/>
          <p:nvPr/>
        </p:nvSpPr>
        <p:spPr>
          <a:xfrm>
            <a:off x="6541651" y="4462105"/>
            <a:ext cx="7102078" cy="816531"/>
          </a:xfrm>
          <a:prstGeom prst="rect">
            <a:avLst/>
          </a:prstGeom>
          <a:noFill/>
          <a:ln/>
        </p:spPr>
        <p:txBody>
          <a:bodyPr wrap="square" lIns="0" tIns="0" rIns="0" bIns="0" rtlCol="0" anchor="t"/>
          <a:lstStyle/>
          <a:p>
            <a:pPr marL="0" indent="0" algn="l">
              <a:lnSpc>
                <a:spcPts val="2100"/>
              </a:lnSpc>
              <a:buNone/>
            </a:pPr>
            <a:r>
              <a:rPr lang="en-US" sz="1300" dirty="0">
                <a:solidFill>
                  <a:srgbClr val="55575A"/>
                </a:solidFill>
                <a:latin typeface="Roboto Condensed" pitchFamily="34" charset="0"/>
                <a:ea typeface="Roboto Condensed" pitchFamily="34" charset="-122"/>
                <a:cs typeface="Roboto Condensed" pitchFamily="34" charset="-120"/>
              </a:rPr>
              <a:t>In today's digital era, we're constantly bombarded with information. Navigating through countless platforms like Gmail, browsing history, and YouTube playlists fragments our digital memory, leading to wasted time and cognitive overload. This widespread issue reduces productivity and overall well-being.</a:t>
            </a:r>
            <a:endParaRPr lang="en-US" sz="1300" dirty="0"/>
          </a:p>
        </p:txBody>
      </p:sp>
      <p:sp>
        <p:nvSpPr>
          <p:cNvPr id="11" name="Shape 7"/>
          <p:cNvSpPr/>
          <p:nvPr/>
        </p:nvSpPr>
        <p:spPr>
          <a:xfrm>
            <a:off x="6280190" y="5641538"/>
            <a:ext cx="7556421" cy="1570077"/>
          </a:xfrm>
          <a:prstGeom prst="roundRect">
            <a:avLst>
              <a:gd name="adj" fmla="val 6989"/>
            </a:avLst>
          </a:prstGeom>
          <a:solidFill>
            <a:srgbClr val="E8E8E3"/>
          </a:solidFill>
          <a:ln w="22860">
            <a:solidFill>
              <a:srgbClr val="C8CAC1"/>
            </a:solidFill>
            <a:prstDash val="solid"/>
          </a:ln>
        </p:spPr>
        <p:txBody>
          <a:bodyPr/>
          <a:lstStyle/>
          <a:p>
            <a:endParaRPr lang="en-US"/>
          </a:p>
        </p:txBody>
      </p:sp>
      <p:sp>
        <p:nvSpPr>
          <p:cNvPr id="12" name="Shape 8"/>
          <p:cNvSpPr/>
          <p:nvPr/>
        </p:nvSpPr>
        <p:spPr>
          <a:xfrm>
            <a:off x="6257330" y="5641538"/>
            <a:ext cx="91440" cy="1570077"/>
          </a:xfrm>
          <a:prstGeom prst="roundRect">
            <a:avLst>
              <a:gd name="adj" fmla="val 27907"/>
            </a:avLst>
          </a:prstGeom>
          <a:solidFill>
            <a:srgbClr val="C8CAC1"/>
          </a:solidFill>
          <a:ln/>
        </p:spPr>
        <p:txBody>
          <a:bodyPr/>
          <a:lstStyle/>
          <a:p>
            <a:endParaRPr lang="en-US"/>
          </a:p>
        </p:txBody>
      </p:sp>
      <p:sp>
        <p:nvSpPr>
          <p:cNvPr id="13" name="Text 9"/>
          <p:cNvSpPr/>
          <p:nvPr/>
        </p:nvSpPr>
        <p:spPr>
          <a:xfrm>
            <a:off x="6541651" y="5834420"/>
            <a:ext cx="4820364" cy="265747"/>
          </a:xfrm>
          <a:prstGeom prst="rect">
            <a:avLst/>
          </a:prstGeom>
          <a:noFill/>
          <a:ln/>
        </p:spPr>
        <p:txBody>
          <a:bodyPr wrap="none" lIns="0" tIns="0" rIns="0" bIns="0" rtlCol="0" anchor="t"/>
          <a:lstStyle/>
          <a:p>
            <a:pPr marL="0" indent="0" algn="l">
              <a:lnSpc>
                <a:spcPts val="2050"/>
              </a:lnSpc>
              <a:buNone/>
            </a:pPr>
            <a:r>
              <a:rPr lang="en-US" sz="1650" b="1" dirty="0">
                <a:solidFill>
                  <a:srgbClr val="55575A"/>
                </a:solidFill>
                <a:latin typeface="Hubot Sans Bold" pitchFamily="34" charset="0"/>
                <a:ea typeface="Hubot Sans Bold" pitchFamily="34" charset="-122"/>
                <a:cs typeface="Hubot Sans Bold" pitchFamily="34" charset="-120"/>
              </a:rPr>
              <a:t>Echo: Your Unified AI Memory Logger</a:t>
            </a:r>
            <a:endParaRPr lang="en-US" sz="1650" dirty="0"/>
          </a:p>
        </p:txBody>
      </p:sp>
      <p:sp>
        <p:nvSpPr>
          <p:cNvPr id="14" name="Text 10"/>
          <p:cNvSpPr/>
          <p:nvPr/>
        </p:nvSpPr>
        <p:spPr>
          <a:xfrm>
            <a:off x="6541651" y="6202204"/>
            <a:ext cx="7102078" cy="816531"/>
          </a:xfrm>
          <a:prstGeom prst="rect">
            <a:avLst/>
          </a:prstGeom>
          <a:noFill/>
          <a:ln/>
        </p:spPr>
        <p:txBody>
          <a:bodyPr wrap="square" lIns="0" tIns="0" rIns="0" bIns="0" rtlCol="0" anchor="t"/>
          <a:lstStyle/>
          <a:p>
            <a:pPr marL="0" indent="0" algn="l">
              <a:lnSpc>
                <a:spcPts val="2100"/>
              </a:lnSpc>
              <a:buNone/>
            </a:pPr>
            <a:r>
              <a:rPr lang="en-US" sz="1300" dirty="0">
                <a:solidFill>
                  <a:srgbClr val="55575A"/>
                </a:solidFill>
                <a:latin typeface="Roboto Condensed" pitchFamily="34" charset="0"/>
                <a:ea typeface="Roboto Condensed" pitchFamily="34" charset="-122"/>
                <a:cs typeface="Roboto Condensed" pitchFamily="34" charset="-120"/>
              </a:rPr>
              <a:t>Echo was conceived to address this challenge head-on. Our motivation is to create a single, AI-powered platform that unifies your entire digital memory. By bringing all your fragmented information into one intelligent system, Echo drives enhanced productivity and promotes a greater sense of digital well-being.</a:t>
            </a:r>
            <a:endParaRPr lang="en-US" sz="1300" dirty="0"/>
          </a:p>
        </p:txBody>
      </p:sp>
      <p:pic>
        <p:nvPicPr>
          <p:cNvPr id="16" name="Picture 15">
            <a:extLst>
              <a:ext uri="{FF2B5EF4-FFF2-40B4-BE49-F238E27FC236}">
                <a16:creationId xmlns:a16="http://schemas.microsoft.com/office/drawing/2014/main" id="{1CE13CF3-A0E8-4A36-AC22-2969F2E7774B}"/>
              </a:ext>
            </a:extLst>
          </p:cNvPr>
          <p:cNvPicPr>
            <a:picLocks noChangeAspect="1"/>
          </p:cNvPicPr>
          <p:nvPr/>
        </p:nvPicPr>
        <p:blipFill>
          <a:blip r:embed="rId5"/>
          <a:stretch>
            <a:fillRect/>
          </a:stretch>
        </p:blipFill>
        <p:spPr>
          <a:xfrm>
            <a:off x="12531513" y="7467494"/>
            <a:ext cx="3029373" cy="76210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112228" y="623887"/>
            <a:ext cx="1725097" cy="565071"/>
          </a:xfrm>
          <a:prstGeom prst="rect">
            <a:avLst/>
          </a:prstGeom>
        </p:spPr>
      </p:pic>
      <p:sp>
        <p:nvSpPr>
          <p:cNvPr id="3" name="Text 0"/>
          <p:cNvSpPr/>
          <p:nvPr/>
        </p:nvSpPr>
        <p:spPr>
          <a:xfrm>
            <a:off x="793075" y="1426845"/>
            <a:ext cx="11327011" cy="495657"/>
          </a:xfrm>
          <a:prstGeom prst="rect">
            <a:avLst/>
          </a:prstGeom>
          <a:noFill/>
          <a:ln/>
        </p:spPr>
        <p:txBody>
          <a:bodyPr wrap="none" lIns="0" tIns="0" rIns="0" bIns="0" rtlCol="0" anchor="t"/>
          <a:lstStyle/>
          <a:p>
            <a:pPr marL="0" indent="0" algn="l">
              <a:lnSpc>
                <a:spcPts val="3900"/>
              </a:lnSpc>
              <a:buNone/>
            </a:pPr>
            <a:r>
              <a:rPr lang="en-US" sz="3100" b="1" dirty="0">
                <a:solidFill>
                  <a:srgbClr val="0C0D0F"/>
                </a:solidFill>
                <a:latin typeface="Hubot Sans Bold" pitchFamily="34" charset="0"/>
                <a:ea typeface="Hubot Sans Bold" pitchFamily="34" charset="-122"/>
                <a:cs typeface="Hubot Sans Bold" pitchFamily="34" charset="-120"/>
              </a:rPr>
              <a:t>Problem Statement: The Digital Memory Crisis</a:t>
            </a:r>
            <a:endParaRPr lang="en-US" sz="3100" dirty="0"/>
          </a:p>
        </p:txBody>
      </p:sp>
      <p:sp>
        <p:nvSpPr>
          <p:cNvPr id="4" name="Text 1"/>
          <p:cNvSpPr/>
          <p:nvPr/>
        </p:nvSpPr>
        <p:spPr>
          <a:xfrm>
            <a:off x="793075" y="2160389"/>
            <a:ext cx="13044249" cy="507444"/>
          </a:xfrm>
          <a:prstGeom prst="rect">
            <a:avLst/>
          </a:prstGeom>
          <a:noFill/>
          <a:ln/>
        </p:spPr>
        <p:txBody>
          <a:bodyPr wrap="square" lIns="0" tIns="0" rIns="0" bIns="0" rtlCol="0" anchor="t"/>
          <a:lstStyle/>
          <a:p>
            <a:pPr marL="0" indent="0" algn="l">
              <a:lnSpc>
                <a:spcPts val="1950"/>
              </a:lnSpc>
              <a:buNone/>
            </a:pPr>
            <a:r>
              <a:rPr lang="en-US" sz="1200" dirty="0">
                <a:solidFill>
                  <a:srgbClr val="55575A"/>
                </a:solidFill>
                <a:latin typeface="Roboto Condensed" pitchFamily="34" charset="0"/>
                <a:ea typeface="Roboto Condensed" pitchFamily="34" charset="-122"/>
                <a:cs typeface="Roboto Condensed" pitchFamily="34" charset="-120"/>
              </a:rPr>
              <a:t>In our hyper-connected world, the promise of instant information often leads to the reality of digital chaos. We're facing a profound "digital memory crisis," where valuable insights and resources are constantly overlooked or lost.</a:t>
            </a:r>
            <a:endParaRPr lang="en-US" sz="1200" dirty="0"/>
          </a:p>
        </p:txBody>
      </p:sp>
      <p:sp>
        <p:nvSpPr>
          <p:cNvPr id="5" name="Shape 2"/>
          <p:cNvSpPr/>
          <p:nvPr/>
        </p:nvSpPr>
        <p:spPr>
          <a:xfrm>
            <a:off x="793075" y="3084076"/>
            <a:ext cx="6442829" cy="1935718"/>
          </a:xfrm>
          <a:prstGeom prst="roundRect">
            <a:avLst>
              <a:gd name="adj" fmla="val 5669"/>
            </a:avLst>
          </a:prstGeom>
          <a:solidFill>
            <a:srgbClr val="E8E8E3"/>
          </a:solidFill>
          <a:ln/>
        </p:spPr>
        <p:txBody>
          <a:bodyPr/>
          <a:lstStyle/>
          <a:p>
            <a:endParaRPr lang="en-US"/>
          </a:p>
        </p:txBody>
      </p:sp>
      <p:sp>
        <p:nvSpPr>
          <p:cNvPr id="6" name="Shape 3"/>
          <p:cNvSpPr/>
          <p:nvPr/>
        </p:nvSpPr>
        <p:spPr>
          <a:xfrm>
            <a:off x="793075" y="3061216"/>
            <a:ext cx="6442829" cy="91440"/>
          </a:xfrm>
          <a:prstGeom prst="roundRect">
            <a:avLst>
              <a:gd name="adj" fmla="val 26022"/>
            </a:avLst>
          </a:prstGeom>
          <a:solidFill>
            <a:srgbClr val="C8CAC1"/>
          </a:solidFill>
          <a:ln/>
        </p:spPr>
        <p:txBody>
          <a:bodyPr/>
          <a:lstStyle/>
          <a:p>
            <a:endParaRPr lang="en-US"/>
          </a:p>
        </p:txBody>
      </p:sp>
      <p:sp>
        <p:nvSpPr>
          <p:cNvPr id="7" name="Shape 4"/>
          <p:cNvSpPr/>
          <p:nvPr/>
        </p:nvSpPr>
        <p:spPr>
          <a:xfrm>
            <a:off x="3776484" y="2846189"/>
            <a:ext cx="475893" cy="475893"/>
          </a:xfrm>
          <a:prstGeom prst="roundRect">
            <a:avLst>
              <a:gd name="adj" fmla="val 192144"/>
            </a:avLst>
          </a:prstGeom>
          <a:solidFill>
            <a:srgbClr val="C8CAC1">
              <a:alpha val="50000"/>
            </a:srgbClr>
          </a:solidFill>
          <a:ln/>
        </p:spPr>
        <p:txBody>
          <a:bodyPr/>
          <a:lstStyle/>
          <a:p>
            <a:endParaRPr lang="en-US"/>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19240" y="2988945"/>
            <a:ext cx="190262" cy="190262"/>
          </a:xfrm>
          <a:prstGeom prst="rect">
            <a:avLst/>
          </a:prstGeom>
        </p:spPr>
      </p:pic>
      <p:sp>
        <p:nvSpPr>
          <p:cNvPr id="9" name="Text 5"/>
          <p:cNvSpPr/>
          <p:nvPr/>
        </p:nvSpPr>
        <p:spPr>
          <a:xfrm>
            <a:off x="974527" y="3480554"/>
            <a:ext cx="3796546" cy="247769"/>
          </a:xfrm>
          <a:prstGeom prst="rect">
            <a:avLst/>
          </a:prstGeom>
          <a:noFill/>
          <a:ln/>
        </p:spPr>
        <p:txBody>
          <a:bodyPr wrap="none" lIns="0" tIns="0" rIns="0" bIns="0" rtlCol="0" anchor="t"/>
          <a:lstStyle/>
          <a:p>
            <a:pPr marL="0" indent="0" algn="l">
              <a:lnSpc>
                <a:spcPts val="1950"/>
              </a:lnSpc>
              <a:buNone/>
            </a:pPr>
            <a:r>
              <a:rPr lang="en-US" sz="1550" b="1" dirty="0">
                <a:solidFill>
                  <a:srgbClr val="55575A"/>
                </a:solidFill>
                <a:latin typeface="Hubot Sans Bold" pitchFamily="34" charset="0"/>
                <a:ea typeface="Hubot Sans Bold" pitchFamily="34" charset="-122"/>
                <a:cs typeface="Hubot Sans Bold" pitchFamily="34" charset="-120"/>
              </a:rPr>
              <a:t>Fragmented Digital Landscape</a:t>
            </a:r>
            <a:endParaRPr lang="en-US" sz="1550" dirty="0"/>
          </a:p>
        </p:txBody>
      </p:sp>
      <p:sp>
        <p:nvSpPr>
          <p:cNvPr id="10" name="Text 6"/>
          <p:cNvSpPr/>
          <p:nvPr/>
        </p:nvSpPr>
        <p:spPr>
          <a:xfrm>
            <a:off x="974527" y="3823454"/>
            <a:ext cx="6079927" cy="1014889"/>
          </a:xfrm>
          <a:prstGeom prst="rect">
            <a:avLst/>
          </a:prstGeom>
          <a:noFill/>
          <a:ln/>
        </p:spPr>
        <p:txBody>
          <a:bodyPr wrap="square" lIns="0" tIns="0" rIns="0" bIns="0" rtlCol="0" anchor="t"/>
          <a:lstStyle/>
          <a:p>
            <a:pPr marL="0" indent="0" algn="l">
              <a:lnSpc>
                <a:spcPts val="1950"/>
              </a:lnSpc>
              <a:buNone/>
            </a:pPr>
            <a:r>
              <a:rPr lang="en-US" sz="1200" dirty="0">
                <a:solidFill>
                  <a:srgbClr val="55575A"/>
                </a:solidFill>
                <a:latin typeface="Roboto Condensed" pitchFamily="34" charset="0"/>
                <a:ea typeface="Roboto Condensed" pitchFamily="34" charset="-122"/>
                <a:cs typeface="Roboto Condensed" pitchFamily="34" charset="-120"/>
              </a:rPr>
              <a:t>Our digital lives are spread across a multitude of platforms. Critical information from Chrome browsing sessions, important details buried deep in endless Gmail threads, and valuable insights from countless YouTube videos are all siloed. This constant scattering of data makes it nearly impossible to maintain a cohesive understanding of our digital interactions.</a:t>
            </a:r>
            <a:endParaRPr lang="en-US" sz="1200" dirty="0"/>
          </a:p>
        </p:txBody>
      </p:sp>
      <p:sp>
        <p:nvSpPr>
          <p:cNvPr id="11" name="Shape 7"/>
          <p:cNvSpPr/>
          <p:nvPr/>
        </p:nvSpPr>
        <p:spPr>
          <a:xfrm>
            <a:off x="7394496" y="3084076"/>
            <a:ext cx="6442829" cy="1935718"/>
          </a:xfrm>
          <a:prstGeom prst="roundRect">
            <a:avLst>
              <a:gd name="adj" fmla="val 5669"/>
            </a:avLst>
          </a:prstGeom>
          <a:solidFill>
            <a:srgbClr val="E8E8E3"/>
          </a:solidFill>
          <a:ln/>
        </p:spPr>
        <p:txBody>
          <a:bodyPr/>
          <a:lstStyle/>
          <a:p>
            <a:endParaRPr lang="en-US"/>
          </a:p>
        </p:txBody>
      </p:sp>
      <p:sp>
        <p:nvSpPr>
          <p:cNvPr id="12" name="Shape 8"/>
          <p:cNvSpPr/>
          <p:nvPr/>
        </p:nvSpPr>
        <p:spPr>
          <a:xfrm>
            <a:off x="7394496" y="3061216"/>
            <a:ext cx="6442829" cy="91440"/>
          </a:xfrm>
          <a:prstGeom prst="roundRect">
            <a:avLst>
              <a:gd name="adj" fmla="val 26022"/>
            </a:avLst>
          </a:prstGeom>
          <a:solidFill>
            <a:srgbClr val="C8CAC1"/>
          </a:solidFill>
          <a:ln/>
        </p:spPr>
        <p:txBody>
          <a:bodyPr/>
          <a:lstStyle/>
          <a:p>
            <a:endParaRPr lang="en-US"/>
          </a:p>
        </p:txBody>
      </p:sp>
      <p:sp>
        <p:nvSpPr>
          <p:cNvPr id="13" name="Shape 9"/>
          <p:cNvSpPr/>
          <p:nvPr/>
        </p:nvSpPr>
        <p:spPr>
          <a:xfrm>
            <a:off x="10377904" y="2846189"/>
            <a:ext cx="475893" cy="475893"/>
          </a:xfrm>
          <a:prstGeom prst="roundRect">
            <a:avLst>
              <a:gd name="adj" fmla="val 192144"/>
            </a:avLst>
          </a:prstGeom>
          <a:solidFill>
            <a:srgbClr val="C8CAC1">
              <a:alpha val="50000"/>
            </a:srgbClr>
          </a:solidFill>
          <a:ln/>
        </p:spPr>
        <p:txBody>
          <a:bodyPr/>
          <a:lstStyle/>
          <a:p>
            <a:endParaRPr lang="en-US"/>
          </a:p>
        </p:txBody>
      </p:sp>
      <p:pic>
        <p:nvPicPr>
          <p:cNvPr id="14"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20660" y="2988945"/>
            <a:ext cx="190262" cy="190262"/>
          </a:xfrm>
          <a:prstGeom prst="rect">
            <a:avLst/>
          </a:prstGeom>
        </p:spPr>
      </p:pic>
      <p:sp>
        <p:nvSpPr>
          <p:cNvPr id="15" name="Text 10"/>
          <p:cNvSpPr/>
          <p:nvPr/>
        </p:nvSpPr>
        <p:spPr>
          <a:xfrm>
            <a:off x="7575947" y="3480554"/>
            <a:ext cx="3366373" cy="247769"/>
          </a:xfrm>
          <a:prstGeom prst="rect">
            <a:avLst/>
          </a:prstGeom>
          <a:noFill/>
          <a:ln/>
        </p:spPr>
        <p:txBody>
          <a:bodyPr wrap="none" lIns="0" tIns="0" rIns="0" bIns="0" rtlCol="0" anchor="t"/>
          <a:lstStyle/>
          <a:p>
            <a:pPr marL="0" indent="0" algn="l">
              <a:lnSpc>
                <a:spcPts val="1950"/>
              </a:lnSpc>
              <a:buNone/>
            </a:pPr>
            <a:r>
              <a:rPr lang="en-US" sz="1550" b="1" dirty="0">
                <a:solidFill>
                  <a:srgbClr val="55575A"/>
                </a:solidFill>
                <a:latin typeface="Hubot Sans Bold" pitchFamily="34" charset="0"/>
                <a:ea typeface="Hubot Sans Bold" pitchFamily="34" charset="-122"/>
                <a:cs typeface="Hubot Sans Bold" pitchFamily="34" charset="-120"/>
              </a:rPr>
              <a:t>Inefficient Manual Search</a:t>
            </a:r>
            <a:endParaRPr lang="en-US" sz="1550" dirty="0"/>
          </a:p>
        </p:txBody>
      </p:sp>
      <p:sp>
        <p:nvSpPr>
          <p:cNvPr id="16" name="Text 11"/>
          <p:cNvSpPr/>
          <p:nvPr/>
        </p:nvSpPr>
        <p:spPr>
          <a:xfrm>
            <a:off x="7575947" y="3823454"/>
            <a:ext cx="6079927" cy="1014889"/>
          </a:xfrm>
          <a:prstGeom prst="rect">
            <a:avLst/>
          </a:prstGeom>
          <a:noFill/>
          <a:ln/>
        </p:spPr>
        <p:txBody>
          <a:bodyPr wrap="square" lIns="0" tIns="0" rIns="0" bIns="0" rtlCol="0" anchor="t"/>
          <a:lstStyle/>
          <a:p>
            <a:pPr marL="0" indent="0" algn="l">
              <a:lnSpc>
                <a:spcPts val="1950"/>
              </a:lnSpc>
              <a:buNone/>
            </a:pPr>
            <a:r>
              <a:rPr lang="en-US" sz="1200" dirty="0">
                <a:solidFill>
                  <a:srgbClr val="55575A"/>
                </a:solidFill>
                <a:latin typeface="Roboto Condensed" pitchFamily="34" charset="0"/>
                <a:ea typeface="Roboto Condensed" pitchFamily="34" charset="-122"/>
                <a:cs typeface="Roboto Condensed" pitchFamily="34" charset="-120"/>
              </a:rPr>
              <a:t>The traditional method of finding previously viewed content is fraught with inefficiency. Users spend hours each week painstakingly searching through different apps, struggling to recall keywords or the exact platform where a piece of information was encountered. This manual process is not only slow but often unsuccessful, leading to frustration and wasted effort.</a:t>
            </a:r>
            <a:endParaRPr lang="en-US" sz="1200" dirty="0"/>
          </a:p>
        </p:txBody>
      </p:sp>
      <p:sp>
        <p:nvSpPr>
          <p:cNvPr id="17" name="Shape 12"/>
          <p:cNvSpPr/>
          <p:nvPr/>
        </p:nvSpPr>
        <p:spPr>
          <a:xfrm>
            <a:off x="793075" y="5416272"/>
            <a:ext cx="6442829" cy="2189440"/>
          </a:xfrm>
          <a:prstGeom prst="roundRect">
            <a:avLst>
              <a:gd name="adj" fmla="val 5012"/>
            </a:avLst>
          </a:prstGeom>
          <a:solidFill>
            <a:srgbClr val="E8E8E3"/>
          </a:solidFill>
          <a:ln/>
        </p:spPr>
        <p:txBody>
          <a:bodyPr/>
          <a:lstStyle/>
          <a:p>
            <a:endParaRPr lang="en-US"/>
          </a:p>
        </p:txBody>
      </p:sp>
      <p:sp>
        <p:nvSpPr>
          <p:cNvPr id="18" name="Shape 13"/>
          <p:cNvSpPr/>
          <p:nvPr/>
        </p:nvSpPr>
        <p:spPr>
          <a:xfrm>
            <a:off x="793075" y="5393412"/>
            <a:ext cx="6442829" cy="91440"/>
          </a:xfrm>
          <a:prstGeom prst="roundRect">
            <a:avLst>
              <a:gd name="adj" fmla="val 26022"/>
            </a:avLst>
          </a:prstGeom>
          <a:solidFill>
            <a:srgbClr val="C8CAC1"/>
          </a:solidFill>
          <a:ln/>
        </p:spPr>
        <p:txBody>
          <a:bodyPr/>
          <a:lstStyle/>
          <a:p>
            <a:endParaRPr lang="en-US"/>
          </a:p>
        </p:txBody>
      </p:sp>
      <p:sp>
        <p:nvSpPr>
          <p:cNvPr id="19" name="Shape 14"/>
          <p:cNvSpPr/>
          <p:nvPr/>
        </p:nvSpPr>
        <p:spPr>
          <a:xfrm>
            <a:off x="3776484" y="5178385"/>
            <a:ext cx="475893" cy="475893"/>
          </a:xfrm>
          <a:prstGeom prst="roundRect">
            <a:avLst>
              <a:gd name="adj" fmla="val 192144"/>
            </a:avLst>
          </a:prstGeom>
          <a:solidFill>
            <a:srgbClr val="C8CAC1">
              <a:alpha val="50000"/>
            </a:srgbClr>
          </a:solidFill>
          <a:ln/>
        </p:spPr>
        <p:txBody>
          <a:bodyPr/>
          <a:lstStyle/>
          <a:p>
            <a:endParaRPr lang="en-US"/>
          </a:p>
        </p:txBody>
      </p:sp>
      <p:pic>
        <p:nvPicPr>
          <p:cNvPr id="2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19240" y="5321141"/>
            <a:ext cx="190262" cy="190262"/>
          </a:xfrm>
          <a:prstGeom prst="rect">
            <a:avLst/>
          </a:prstGeom>
        </p:spPr>
      </p:pic>
      <p:sp>
        <p:nvSpPr>
          <p:cNvPr id="21" name="Text 15"/>
          <p:cNvSpPr/>
          <p:nvPr/>
        </p:nvSpPr>
        <p:spPr>
          <a:xfrm>
            <a:off x="974527" y="5812750"/>
            <a:ext cx="4898350" cy="247769"/>
          </a:xfrm>
          <a:prstGeom prst="rect">
            <a:avLst/>
          </a:prstGeom>
          <a:noFill/>
          <a:ln/>
        </p:spPr>
        <p:txBody>
          <a:bodyPr wrap="none" lIns="0" tIns="0" rIns="0" bIns="0" rtlCol="0" anchor="t"/>
          <a:lstStyle/>
          <a:p>
            <a:pPr marL="0" indent="0" algn="l">
              <a:lnSpc>
                <a:spcPts val="1950"/>
              </a:lnSpc>
              <a:buNone/>
            </a:pPr>
            <a:r>
              <a:rPr lang="en-US" sz="1550" b="1" dirty="0">
                <a:solidFill>
                  <a:srgbClr val="55575A"/>
                </a:solidFill>
                <a:latin typeface="Hubot Sans Bold" pitchFamily="34" charset="0"/>
                <a:ea typeface="Hubot Sans Bold" pitchFamily="34" charset="-122"/>
                <a:cs typeface="Hubot Sans Bold" pitchFamily="34" charset="-120"/>
              </a:rPr>
              <a:t>Significant Time &amp; Productivity Drain</a:t>
            </a:r>
            <a:endParaRPr lang="en-US" sz="1550" dirty="0"/>
          </a:p>
        </p:txBody>
      </p:sp>
      <p:sp>
        <p:nvSpPr>
          <p:cNvPr id="22" name="Text 16"/>
          <p:cNvSpPr/>
          <p:nvPr/>
        </p:nvSpPr>
        <p:spPr>
          <a:xfrm>
            <a:off x="974527" y="6155650"/>
            <a:ext cx="6079927" cy="1014889"/>
          </a:xfrm>
          <a:prstGeom prst="rect">
            <a:avLst/>
          </a:prstGeom>
          <a:noFill/>
          <a:ln/>
        </p:spPr>
        <p:txBody>
          <a:bodyPr wrap="square" lIns="0" tIns="0" rIns="0" bIns="0" rtlCol="0" anchor="t"/>
          <a:lstStyle/>
          <a:p>
            <a:pPr marL="0" indent="0" algn="l">
              <a:lnSpc>
                <a:spcPts val="1950"/>
              </a:lnSpc>
              <a:buNone/>
            </a:pPr>
            <a:r>
              <a:rPr lang="en-US" sz="1200" dirty="0">
                <a:solidFill>
                  <a:srgbClr val="55575A"/>
                </a:solidFill>
                <a:latin typeface="Roboto Condensed" pitchFamily="34" charset="0"/>
                <a:ea typeface="Roboto Condensed" pitchFamily="34" charset="-122"/>
                <a:cs typeface="Roboto Condensed" pitchFamily="34" charset="-120"/>
              </a:rPr>
              <a:t>This fragmentation and search inefficiency directly translate into a massive drain on time and productivity. Studies suggest professionals spend up to 2.5 hours per day searching for information. The effort spent rediscovering resources disrupts workflow, hinders focus, and diverts mental energy from more critical tasks, impacting overall output and job satisfaction.</a:t>
            </a:r>
            <a:endParaRPr lang="en-US" sz="1200" dirty="0"/>
          </a:p>
        </p:txBody>
      </p:sp>
      <p:sp>
        <p:nvSpPr>
          <p:cNvPr id="23" name="Shape 17"/>
          <p:cNvSpPr/>
          <p:nvPr/>
        </p:nvSpPr>
        <p:spPr>
          <a:xfrm>
            <a:off x="7394496" y="5416272"/>
            <a:ext cx="6442829" cy="2189440"/>
          </a:xfrm>
          <a:prstGeom prst="roundRect">
            <a:avLst>
              <a:gd name="adj" fmla="val 5012"/>
            </a:avLst>
          </a:prstGeom>
          <a:solidFill>
            <a:srgbClr val="E8E8E3"/>
          </a:solidFill>
          <a:ln/>
        </p:spPr>
        <p:txBody>
          <a:bodyPr/>
          <a:lstStyle/>
          <a:p>
            <a:endParaRPr lang="en-US"/>
          </a:p>
        </p:txBody>
      </p:sp>
      <p:sp>
        <p:nvSpPr>
          <p:cNvPr id="24" name="Shape 18"/>
          <p:cNvSpPr/>
          <p:nvPr/>
        </p:nvSpPr>
        <p:spPr>
          <a:xfrm>
            <a:off x="7394496" y="5393412"/>
            <a:ext cx="6442829" cy="91440"/>
          </a:xfrm>
          <a:prstGeom prst="roundRect">
            <a:avLst>
              <a:gd name="adj" fmla="val 26022"/>
            </a:avLst>
          </a:prstGeom>
          <a:solidFill>
            <a:srgbClr val="C8CAC1"/>
          </a:solidFill>
          <a:ln/>
        </p:spPr>
        <p:txBody>
          <a:bodyPr/>
          <a:lstStyle/>
          <a:p>
            <a:endParaRPr lang="en-US"/>
          </a:p>
        </p:txBody>
      </p:sp>
      <p:sp>
        <p:nvSpPr>
          <p:cNvPr id="25" name="Shape 19"/>
          <p:cNvSpPr/>
          <p:nvPr/>
        </p:nvSpPr>
        <p:spPr>
          <a:xfrm>
            <a:off x="10377904" y="5178385"/>
            <a:ext cx="475893" cy="475893"/>
          </a:xfrm>
          <a:prstGeom prst="roundRect">
            <a:avLst>
              <a:gd name="adj" fmla="val 192144"/>
            </a:avLst>
          </a:prstGeom>
          <a:solidFill>
            <a:srgbClr val="C8CAC1">
              <a:alpha val="50000"/>
            </a:srgbClr>
          </a:solidFill>
          <a:ln/>
        </p:spPr>
        <p:txBody>
          <a:bodyPr/>
          <a:lstStyle/>
          <a:p>
            <a:endParaRPr lang="en-US"/>
          </a:p>
        </p:txBody>
      </p:sp>
      <p:pic>
        <p:nvPicPr>
          <p:cNvPr id="26"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20660" y="5321141"/>
            <a:ext cx="190262" cy="190262"/>
          </a:xfrm>
          <a:prstGeom prst="rect">
            <a:avLst/>
          </a:prstGeom>
        </p:spPr>
      </p:pic>
      <p:sp>
        <p:nvSpPr>
          <p:cNvPr id="27" name="Text 20"/>
          <p:cNvSpPr/>
          <p:nvPr/>
        </p:nvSpPr>
        <p:spPr>
          <a:xfrm>
            <a:off x="7575947" y="5812750"/>
            <a:ext cx="3884890" cy="247769"/>
          </a:xfrm>
          <a:prstGeom prst="rect">
            <a:avLst/>
          </a:prstGeom>
          <a:noFill/>
          <a:ln/>
        </p:spPr>
        <p:txBody>
          <a:bodyPr wrap="none" lIns="0" tIns="0" rIns="0" bIns="0" rtlCol="0" anchor="t"/>
          <a:lstStyle/>
          <a:p>
            <a:pPr marL="0" indent="0" algn="l">
              <a:lnSpc>
                <a:spcPts val="1950"/>
              </a:lnSpc>
              <a:buNone/>
            </a:pPr>
            <a:r>
              <a:rPr lang="en-US" sz="1550" b="1" dirty="0">
                <a:solidFill>
                  <a:srgbClr val="55575A"/>
                </a:solidFill>
                <a:latin typeface="Hubot Sans Bold" pitchFamily="34" charset="0"/>
                <a:ea typeface="Hubot Sans Bold" pitchFamily="34" charset="-122"/>
                <a:cs typeface="Hubot Sans Bold" pitchFamily="34" charset="-120"/>
              </a:rPr>
              <a:t>Lost Insights &amp; Digital Clutter</a:t>
            </a:r>
            <a:endParaRPr lang="en-US" sz="1550" dirty="0"/>
          </a:p>
        </p:txBody>
      </p:sp>
      <p:sp>
        <p:nvSpPr>
          <p:cNvPr id="28" name="Text 21"/>
          <p:cNvSpPr/>
          <p:nvPr/>
        </p:nvSpPr>
        <p:spPr>
          <a:xfrm>
            <a:off x="7575947" y="6155650"/>
            <a:ext cx="6079927" cy="1268611"/>
          </a:xfrm>
          <a:prstGeom prst="rect">
            <a:avLst/>
          </a:prstGeom>
          <a:noFill/>
          <a:ln/>
        </p:spPr>
        <p:txBody>
          <a:bodyPr wrap="square" lIns="0" tIns="0" rIns="0" bIns="0" rtlCol="0" anchor="t"/>
          <a:lstStyle/>
          <a:p>
            <a:pPr marL="0" indent="0" algn="l">
              <a:lnSpc>
                <a:spcPts val="1950"/>
              </a:lnSpc>
              <a:buNone/>
            </a:pPr>
            <a:r>
              <a:rPr lang="en-US" sz="1200" dirty="0">
                <a:solidFill>
                  <a:srgbClr val="55575A"/>
                </a:solidFill>
                <a:latin typeface="Roboto Condensed" pitchFamily="34" charset="0"/>
                <a:ea typeface="Roboto Condensed" pitchFamily="34" charset="-122"/>
                <a:cs typeface="Roboto Condensed" pitchFamily="34" charset="-120"/>
              </a:rPr>
              <a:t>Without a unified memory, important insights gained from past research, conversations, or content consumption are easily forgotten or lost in the digital clutter. This prevents us from building upon previous knowledge, leading to missed opportunities, duplicated efforts, and a growing sense of being overwhelmed by the sheer volume of unorganized digital assets. The result is reduced learning, innovation, and overall digital well-being.</a:t>
            </a:r>
            <a:endParaRPr lang="en-US" sz="1200" dirty="0"/>
          </a:p>
        </p:txBody>
      </p:sp>
      <p:pic>
        <p:nvPicPr>
          <p:cNvPr id="30" name="Picture 29">
            <a:extLst>
              <a:ext uri="{FF2B5EF4-FFF2-40B4-BE49-F238E27FC236}">
                <a16:creationId xmlns:a16="http://schemas.microsoft.com/office/drawing/2014/main" id="{0A80268E-97CD-9562-7BEA-4CF084957DC2}"/>
              </a:ext>
            </a:extLst>
          </p:cNvPr>
          <p:cNvPicPr>
            <a:picLocks noChangeAspect="1"/>
          </p:cNvPicPr>
          <p:nvPr/>
        </p:nvPicPr>
        <p:blipFill>
          <a:blip r:embed="rId12"/>
          <a:stretch>
            <a:fillRect/>
          </a:stretch>
        </p:blipFill>
        <p:spPr>
          <a:xfrm>
            <a:off x="12322638" y="7514404"/>
            <a:ext cx="3029373" cy="76210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E8E8E3">
              <a:alpha val="85000"/>
            </a:srgbClr>
          </a:solidFill>
          <a:ln/>
        </p:spPr>
        <p:txBody>
          <a:bodyPr/>
          <a:lstStyle/>
          <a:p>
            <a:endParaRPr lang="en-US"/>
          </a:p>
        </p:txBody>
      </p:sp>
      <p:pic>
        <p:nvPicPr>
          <p:cNvPr id="4" name="Image 1" descr="preencoded.png"/>
          <p:cNvPicPr>
            <a:picLocks noChangeAspect="1"/>
          </p:cNvPicPr>
          <p:nvPr/>
        </p:nvPicPr>
        <p:blipFill>
          <a:blip r:embed="rId4"/>
          <a:stretch>
            <a:fillRect/>
          </a:stretch>
        </p:blipFill>
        <p:spPr>
          <a:xfrm>
            <a:off x="12109966" y="701635"/>
            <a:ext cx="1726644" cy="565547"/>
          </a:xfrm>
          <a:prstGeom prst="rect">
            <a:avLst/>
          </a:prstGeom>
        </p:spPr>
      </p:pic>
      <p:sp>
        <p:nvSpPr>
          <p:cNvPr id="5" name="Text 1"/>
          <p:cNvSpPr/>
          <p:nvPr/>
        </p:nvSpPr>
        <p:spPr>
          <a:xfrm>
            <a:off x="793790" y="1505307"/>
            <a:ext cx="9512975" cy="496133"/>
          </a:xfrm>
          <a:prstGeom prst="rect">
            <a:avLst/>
          </a:prstGeom>
          <a:noFill/>
          <a:ln/>
        </p:spPr>
        <p:txBody>
          <a:bodyPr wrap="none" lIns="0" tIns="0" rIns="0" bIns="0" rtlCol="0" anchor="t"/>
          <a:lstStyle/>
          <a:p>
            <a:pPr marL="0" indent="0" algn="l">
              <a:lnSpc>
                <a:spcPts val="3900"/>
              </a:lnSpc>
              <a:buNone/>
            </a:pPr>
            <a:r>
              <a:rPr lang="en-US" sz="3100" b="1" dirty="0">
                <a:solidFill>
                  <a:srgbClr val="0C0D0F"/>
                </a:solidFill>
                <a:latin typeface="Hubot Sans Bold" pitchFamily="34" charset="0"/>
                <a:ea typeface="Hubot Sans Bold" pitchFamily="34" charset="-122"/>
                <a:cs typeface="Hubot Sans Bold" pitchFamily="34" charset="-120"/>
              </a:rPr>
              <a:t>Abstract and Scope: Introducing Echo</a:t>
            </a:r>
            <a:endParaRPr lang="en-US" sz="3100" dirty="0"/>
          </a:p>
        </p:txBody>
      </p:sp>
      <p:sp>
        <p:nvSpPr>
          <p:cNvPr id="6" name="Text 2"/>
          <p:cNvSpPr/>
          <p:nvPr/>
        </p:nvSpPr>
        <p:spPr>
          <a:xfrm>
            <a:off x="793790" y="2239566"/>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Echo transforms your digital experience by creating a personalized, AI-powered memory of your online interactions. It's designed to bring clarity and control back to your hyper-connected world.</a:t>
            </a:r>
            <a:endParaRPr lang="en-US" sz="1250" dirty="0"/>
          </a:p>
        </p:txBody>
      </p:sp>
      <p:pic>
        <p:nvPicPr>
          <p:cNvPr id="7" name="Image 2" descr="preencoded.png"/>
          <p:cNvPicPr>
            <a:picLocks noChangeAspect="1"/>
          </p:cNvPicPr>
          <p:nvPr/>
        </p:nvPicPr>
        <p:blipFill>
          <a:blip r:embed="rId5"/>
          <a:stretch>
            <a:fillRect/>
          </a:stretch>
        </p:blipFill>
        <p:spPr>
          <a:xfrm>
            <a:off x="793790" y="2672239"/>
            <a:ext cx="793790" cy="1010126"/>
          </a:xfrm>
          <a:prstGeom prst="rect">
            <a:avLst/>
          </a:prstGeom>
        </p:spPr>
      </p:pic>
      <p:sp>
        <p:nvSpPr>
          <p:cNvPr id="8" name="Text 3"/>
          <p:cNvSpPr/>
          <p:nvPr/>
        </p:nvSpPr>
        <p:spPr>
          <a:xfrm>
            <a:off x="1746290" y="2672239"/>
            <a:ext cx="4887397" cy="248007"/>
          </a:xfrm>
          <a:prstGeom prst="rect">
            <a:avLst/>
          </a:prstGeom>
          <a:noFill/>
          <a:ln/>
        </p:spPr>
        <p:txBody>
          <a:bodyPr wrap="none" lIns="0" tIns="0" rIns="0" bIns="0" rtlCol="0" anchor="t"/>
          <a:lstStyle/>
          <a:p>
            <a:pPr marL="0" indent="0" algn="l">
              <a:lnSpc>
                <a:spcPts val="1950"/>
              </a:lnSpc>
              <a:buNone/>
            </a:pPr>
            <a:r>
              <a:rPr lang="en-US" sz="1550" b="1" dirty="0">
                <a:solidFill>
                  <a:srgbClr val="55575A"/>
                </a:solidFill>
                <a:latin typeface="Hubot Sans Bold" pitchFamily="34" charset="0"/>
                <a:ea typeface="Hubot Sans Bold" pitchFamily="34" charset="-122"/>
                <a:cs typeface="Hubot Sans Bold" pitchFamily="34" charset="-120"/>
              </a:rPr>
              <a:t>What Echo Is: Your AI Memory Extension</a:t>
            </a:r>
            <a:endParaRPr lang="en-US" sz="1550" dirty="0"/>
          </a:p>
        </p:txBody>
      </p:sp>
      <p:sp>
        <p:nvSpPr>
          <p:cNvPr id="9" name="Text 4"/>
          <p:cNvSpPr/>
          <p:nvPr/>
        </p:nvSpPr>
        <p:spPr>
          <a:xfrm>
            <a:off x="1746290" y="3015496"/>
            <a:ext cx="12090321" cy="508159"/>
          </a:xfrm>
          <a:prstGeom prst="rect">
            <a:avLst/>
          </a:prstGeom>
          <a:noFill/>
          <a:ln/>
        </p:spPr>
        <p:txBody>
          <a:bodyPr wrap="square" lIns="0" tIns="0" rIns="0" bIns="0" rtlCol="0" anchor="t"/>
          <a:lstStyle/>
          <a:p>
            <a:pPr marL="0" indent="0" algn="l">
              <a:lnSpc>
                <a:spcPts val="2000"/>
              </a:lnSpc>
              <a:buNone/>
            </a:pPr>
            <a:r>
              <a:rPr lang="en-US" sz="1250" dirty="0">
                <a:solidFill>
                  <a:srgbClr val="55575A"/>
                </a:solidFill>
                <a:latin typeface="Roboto Condensed" pitchFamily="34" charset="0"/>
                <a:ea typeface="Roboto Condensed" pitchFamily="34" charset="-122"/>
                <a:cs typeface="Roboto Condensed" pitchFamily="34" charset="-120"/>
              </a:rPr>
              <a:t>Echo is a Chrome-native extension that seamlessly integrates with your browsing, email, and video activity across Chrome, Gmail, and YouTube. It collects this activity into a privacy-first, AI-powered digital memory.</a:t>
            </a:r>
            <a:endParaRPr lang="en-US" sz="1250" dirty="0"/>
          </a:p>
        </p:txBody>
      </p:sp>
      <p:pic>
        <p:nvPicPr>
          <p:cNvPr id="10" name="Image 3" descr="preencoded.png"/>
          <p:cNvPicPr>
            <a:picLocks noChangeAspect="1"/>
          </p:cNvPicPr>
          <p:nvPr/>
        </p:nvPicPr>
        <p:blipFill>
          <a:blip r:embed="rId6"/>
          <a:stretch>
            <a:fillRect/>
          </a:stretch>
        </p:blipFill>
        <p:spPr>
          <a:xfrm>
            <a:off x="793790" y="3841075"/>
            <a:ext cx="793790" cy="1684734"/>
          </a:xfrm>
          <a:prstGeom prst="rect">
            <a:avLst/>
          </a:prstGeom>
        </p:spPr>
      </p:pic>
      <p:sp>
        <p:nvSpPr>
          <p:cNvPr id="11" name="Text 5"/>
          <p:cNvSpPr/>
          <p:nvPr/>
        </p:nvSpPr>
        <p:spPr>
          <a:xfrm>
            <a:off x="1746290" y="3841075"/>
            <a:ext cx="5878949" cy="248007"/>
          </a:xfrm>
          <a:prstGeom prst="rect">
            <a:avLst/>
          </a:prstGeom>
          <a:noFill/>
          <a:ln/>
        </p:spPr>
        <p:txBody>
          <a:bodyPr wrap="none" lIns="0" tIns="0" rIns="0" bIns="0" rtlCol="0" anchor="t"/>
          <a:lstStyle/>
          <a:p>
            <a:pPr marL="0" indent="0" algn="l">
              <a:lnSpc>
                <a:spcPts val="1950"/>
              </a:lnSpc>
              <a:buNone/>
            </a:pPr>
            <a:r>
              <a:rPr lang="en-US" sz="1550" b="1" dirty="0">
                <a:solidFill>
                  <a:srgbClr val="55575A"/>
                </a:solidFill>
                <a:latin typeface="Hubot Sans Bold" pitchFamily="34" charset="0"/>
                <a:ea typeface="Hubot Sans Bold" pitchFamily="34" charset="-122"/>
                <a:cs typeface="Hubot Sans Bold" pitchFamily="34" charset="-120"/>
              </a:rPr>
              <a:t>Key Capabilities: Intelligent Recall &amp; Insights</a:t>
            </a:r>
            <a:endParaRPr lang="en-US" sz="1550" dirty="0"/>
          </a:p>
        </p:txBody>
      </p:sp>
      <p:sp>
        <p:nvSpPr>
          <p:cNvPr id="12" name="Text 6"/>
          <p:cNvSpPr/>
          <p:nvPr/>
        </p:nvSpPr>
        <p:spPr>
          <a:xfrm>
            <a:off x="1746290" y="4184332"/>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Instant Recall:</a:t>
            </a:r>
            <a:r>
              <a:rPr lang="en-US" sz="1250" dirty="0">
                <a:solidFill>
                  <a:srgbClr val="55575A"/>
                </a:solidFill>
                <a:latin typeface="Roboto Condensed" pitchFamily="34" charset="0"/>
                <a:ea typeface="Roboto Condensed" pitchFamily="34" charset="-122"/>
                <a:cs typeface="Roboto Condensed" pitchFamily="34" charset="-120"/>
              </a:rPr>
              <a:t> Find any page, mail, or video you've encountered using natural language search.</a:t>
            </a:r>
            <a:endParaRPr lang="en-US" sz="1250" dirty="0"/>
          </a:p>
        </p:txBody>
      </p:sp>
      <p:sp>
        <p:nvSpPr>
          <p:cNvPr id="13" name="Text 7"/>
          <p:cNvSpPr/>
          <p:nvPr/>
        </p:nvSpPr>
        <p:spPr>
          <a:xfrm>
            <a:off x="1746290" y="4493895"/>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Personal Analytics:</a:t>
            </a:r>
            <a:r>
              <a:rPr lang="en-US" sz="1250" dirty="0">
                <a:solidFill>
                  <a:srgbClr val="55575A"/>
                </a:solidFill>
                <a:latin typeface="Roboto Condensed" pitchFamily="34" charset="0"/>
                <a:ea typeface="Roboto Condensed" pitchFamily="34" charset="-122"/>
                <a:cs typeface="Roboto Condensed" pitchFamily="34" charset="-120"/>
              </a:rPr>
              <a:t> View insightful dashboards of your digital activity.</a:t>
            </a:r>
            <a:endParaRPr lang="en-US" sz="1250" dirty="0"/>
          </a:p>
        </p:txBody>
      </p:sp>
      <p:sp>
        <p:nvSpPr>
          <p:cNvPr id="14" name="Text 8"/>
          <p:cNvSpPr/>
          <p:nvPr/>
        </p:nvSpPr>
        <p:spPr>
          <a:xfrm>
            <a:off x="1746290" y="4803458"/>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Habit Analysis:</a:t>
            </a:r>
            <a:r>
              <a:rPr lang="en-US" sz="1250" dirty="0">
                <a:solidFill>
                  <a:srgbClr val="55575A"/>
                </a:solidFill>
                <a:latin typeface="Roboto Condensed" pitchFamily="34" charset="0"/>
                <a:ea typeface="Roboto Condensed" pitchFamily="34" charset="-122"/>
                <a:cs typeface="Roboto Condensed" pitchFamily="34" charset="-120"/>
              </a:rPr>
              <a:t> Automatically understand your online patterns.</a:t>
            </a:r>
            <a:endParaRPr lang="en-US" sz="1250" dirty="0"/>
          </a:p>
        </p:txBody>
      </p:sp>
      <p:sp>
        <p:nvSpPr>
          <p:cNvPr id="15" name="Text 9"/>
          <p:cNvSpPr/>
          <p:nvPr/>
        </p:nvSpPr>
        <p:spPr>
          <a:xfrm>
            <a:off x="1746290" y="5113020"/>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Wellbeing Nudges:</a:t>
            </a:r>
            <a:r>
              <a:rPr lang="en-US" sz="1250" dirty="0">
                <a:solidFill>
                  <a:srgbClr val="55575A"/>
                </a:solidFill>
                <a:latin typeface="Roboto Condensed" pitchFamily="34" charset="0"/>
                <a:ea typeface="Roboto Condensed" pitchFamily="34" charset="-122"/>
                <a:cs typeface="Roboto Condensed" pitchFamily="34" charset="-120"/>
              </a:rPr>
              <a:t> Receive smart reminders for healthier digital habits.</a:t>
            </a:r>
            <a:endParaRPr lang="en-US" sz="1250" dirty="0"/>
          </a:p>
        </p:txBody>
      </p:sp>
      <p:pic>
        <p:nvPicPr>
          <p:cNvPr id="16" name="Image 4" descr="preencoded.png"/>
          <p:cNvPicPr>
            <a:picLocks noChangeAspect="1"/>
          </p:cNvPicPr>
          <p:nvPr/>
        </p:nvPicPr>
        <p:blipFill>
          <a:blip r:embed="rId7"/>
          <a:stretch>
            <a:fillRect/>
          </a:stretch>
        </p:blipFill>
        <p:spPr>
          <a:xfrm>
            <a:off x="793790" y="5684520"/>
            <a:ext cx="793790" cy="1684734"/>
          </a:xfrm>
          <a:prstGeom prst="rect">
            <a:avLst/>
          </a:prstGeom>
        </p:spPr>
      </p:pic>
      <p:sp>
        <p:nvSpPr>
          <p:cNvPr id="17" name="Text 10"/>
          <p:cNvSpPr/>
          <p:nvPr/>
        </p:nvSpPr>
        <p:spPr>
          <a:xfrm>
            <a:off x="1746290" y="5684520"/>
            <a:ext cx="5643086" cy="248007"/>
          </a:xfrm>
          <a:prstGeom prst="rect">
            <a:avLst/>
          </a:prstGeom>
          <a:noFill/>
          <a:ln/>
        </p:spPr>
        <p:txBody>
          <a:bodyPr wrap="none" lIns="0" tIns="0" rIns="0" bIns="0" rtlCol="0" anchor="t"/>
          <a:lstStyle/>
          <a:p>
            <a:pPr marL="0" indent="0" algn="l">
              <a:lnSpc>
                <a:spcPts val="1950"/>
              </a:lnSpc>
              <a:buNone/>
            </a:pPr>
            <a:r>
              <a:rPr lang="en-US" sz="1550" b="1" dirty="0">
                <a:solidFill>
                  <a:srgbClr val="55575A"/>
                </a:solidFill>
                <a:latin typeface="Hubot Sans Bold" pitchFamily="34" charset="0"/>
                <a:ea typeface="Hubot Sans Bold" pitchFamily="34" charset="-122"/>
                <a:cs typeface="Hubot Sans Bold" pitchFamily="34" charset="-120"/>
              </a:rPr>
              <a:t>Technical Scope: Robust &amp; Private Foundation</a:t>
            </a:r>
            <a:endParaRPr lang="en-US" sz="1550" dirty="0"/>
          </a:p>
        </p:txBody>
      </p:sp>
      <p:sp>
        <p:nvSpPr>
          <p:cNvPr id="18" name="Text 11"/>
          <p:cNvSpPr/>
          <p:nvPr/>
        </p:nvSpPr>
        <p:spPr>
          <a:xfrm>
            <a:off x="1746290" y="6027777"/>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Full Integration:</a:t>
            </a:r>
            <a:r>
              <a:rPr lang="en-US" sz="1250" dirty="0">
                <a:solidFill>
                  <a:srgbClr val="55575A"/>
                </a:solidFill>
                <a:latin typeface="Roboto Condensed" pitchFamily="34" charset="0"/>
                <a:ea typeface="Roboto Condensed" pitchFamily="34" charset="-122"/>
                <a:cs typeface="Roboto Condensed" pitchFamily="34" charset="-120"/>
              </a:rPr>
              <a:t> Seamlessly works across browser and cloud platforms.</a:t>
            </a:r>
            <a:endParaRPr lang="en-US" sz="1250" dirty="0"/>
          </a:p>
        </p:txBody>
      </p:sp>
      <p:sp>
        <p:nvSpPr>
          <p:cNvPr id="19" name="Text 12"/>
          <p:cNvSpPr/>
          <p:nvPr/>
        </p:nvSpPr>
        <p:spPr>
          <a:xfrm>
            <a:off x="1746290" y="6337340"/>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Secure Storage:</a:t>
            </a:r>
            <a:r>
              <a:rPr lang="en-US" sz="1250" dirty="0">
                <a:solidFill>
                  <a:srgbClr val="55575A"/>
                </a:solidFill>
                <a:latin typeface="Roboto Condensed" pitchFamily="34" charset="0"/>
                <a:ea typeface="Roboto Condensed" pitchFamily="34" charset="-122"/>
                <a:cs typeface="Roboto Condensed" pitchFamily="34" charset="-120"/>
              </a:rPr>
              <a:t> Offers on-device or serverless storage options.</a:t>
            </a:r>
            <a:endParaRPr lang="en-US" sz="1250" dirty="0"/>
          </a:p>
        </p:txBody>
      </p:sp>
      <p:sp>
        <p:nvSpPr>
          <p:cNvPr id="20" name="Text 13"/>
          <p:cNvSpPr/>
          <p:nvPr/>
        </p:nvSpPr>
        <p:spPr>
          <a:xfrm>
            <a:off x="1746290" y="6646902"/>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Visual Dashboards:</a:t>
            </a:r>
            <a:r>
              <a:rPr lang="en-US" sz="1250" dirty="0">
                <a:solidFill>
                  <a:srgbClr val="55575A"/>
                </a:solidFill>
                <a:latin typeface="Roboto Condensed" pitchFamily="34" charset="0"/>
                <a:ea typeface="Roboto Condensed" pitchFamily="34" charset="-122"/>
                <a:cs typeface="Roboto Condensed" pitchFamily="34" charset="-120"/>
              </a:rPr>
              <a:t> Intuitive visualizations for your digital landscape.</a:t>
            </a:r>
            <a:endParaRPr lang="en-US" sz="1250" dirty="0"/>
          </a:p>
        </p:txBody>
      </p:sp>
      <p:sp>
        <p:nvSpPr>
          <p:cNvPr id="21" name="Text 14"/>
          <p:cNvSpPr/>
          <p:nvPr/>
        </p:nvSpPr>
        <p:spPr>
          <a:xfrm>
            <a:off x="1746290" y="6956465"/>
            <a:ext cx="12090321" cy="254079"/>
          </a:xfrm>
          <a:prstGeom prst="rect">
            <a:avLst/>
          </a:prstGeom>
          <a:noFill/>
          <a:ln/>
        </p:spPr>
        <p:txBody>
          <a:bodyPr wrap="none" lIns="0" tIns="0" rIns="0" bIns="0" rtlCol="0" anchor="t"/>
          <a:lstStyle/>
          <a:p>
            <a:pPr marL="342900" indent="-342900" algn="l">
              <a:lnSpc>
                <a:spcPts val="2000"/>
              </a:lnSpc>
              <a:buSzPct val="100000"/>
              <a:buChar char="•"/>
            </a:pPr>
            <a:r>
              <a:rPr lang="en-US" sz="1250" b="1" dirty="0">
                <a:solidFill>
                  <a:srgbClr val="55575A"/>
                </a:solidFill>
                <a:latin typeface="Roboto Condensed" pitchFamily="34" charset="0"/>
                <a:ea typeface="Roboto Condensed" pitchFamily="34" charset="-122"/>
                <a:cs typeface="Roboto Condensed" pitchFamily="34" charset="-120"/>
              </a:rPr>
              <a:t>Privacy Controls:</a:t>
            </a:r>
            <a:r>
              <a:rPr lang="en-US" sz="1250" dirty="0">
                <a:solidFill>
                  <a:srgbClr val="55575A"/>
                </a:solidFill>
                <a:latin typeface="Roboto Condensed" pitchFamily="34" charset="0"/>
                <a:ea typeface="Roboto Condensed" pitchFamily="34" charset="-122"/>
                <a:cs typeface="Roboto Condensed" pitchFamily="34" charset="-120"/>
              </a:rPr>
              <a:t> User-centric design ensures your data privacy is paramount.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986617" y="660559"/>
            <a:ext cx="1849993" cy="606028"/>
          </a:xfrm>
          <a:prstGeom prst="rect">
            <a:avLst/>
          </a:prstGeom>
        </p:spPr>
      </p:pic>
      <p:sp>
        <p:nvSpPr>
          <p:cNvPr id="3" name="Text 0"/>
          <p:cNvSpPr/>
          <p:nvPr/>
        </p:nvSpPr>
        <p:spPr>
          <a:xfrm>
            <a:off x="793790" y="1521738"/>
            <a:ext cx="13042821" cy="1063228"/>
          </a:xfrm>
          <a:prstGeom prst="rect">
            <a:avLst/>
          </a:prstGeom>
          <a:noFill/>
          <a:ln/>
        </p:spPr>
        <p:txBody>
          <a:bodyPr wrap="square" lIns="0" tIns="0" rIns="0" bIns="0" rtlCol="0" anchor="t"/>
          <a:lstStyle/>
          <a:p>
            <a:pPr marL="0" indent="0" algn="l">
              <a:lnSpc>
                <a:spcPts val="4150"/>
              </a:lnSpc>
              <a:buNone/>
            </a:pPr>
            <a:r>
              <a:rPr lang="en-US" sz="3300" b="1" dirty="0">
                <a:solidFill>
                  <a:srgbClr val="0C0D0F"/>
                </a:solidFill>
                <a:latin typeface="Hubot Sans Bold" pitchFamily="34" charset="0"/>
                <a:ea typeface="Hubot Sans Bold" pitchFamily="34" charset="-122"/>
                <a:cs typeface="Hubot Sans Bold" pitchFamily="34" charset="-120"/>
              </a:rPr>
              <a:t>Review 1 Feedback: Key Insights and Strategic Responses</a:t>
            </a:r>
            <a:endParaRPr lang="en-US" sz="3300" dirty="0"/>
          </a:p>
        </p:txBody>
      </p:sp>
      <p:sp>
        <p:nvSpPr>
          <p:cNvPr id="4" name="Text 1"/>
          <p:cNvSpPr/>
          <p:nvPr/>
        </p:nvSpPr>
        <p:spPr>
          <a:xfrm>
            <a:off x="793790" y="2840117"/>
            <a:ext cx="13042821" cy="272177"/>
          </a:xfrm>
          <a:prstGeom prst="rect">
            <a:avLst/>
          </a:prstGeom>
          <a:noFill/>
          <a:ln/>
        </p:spPr>
        <p:txBody>
          <a:bodyPr wrap="none" lIns="0" tIns="0" rIns="0" bIns="0" rtlCol="0" anchor="t"/>
          <a:lstStyle/>
          <a:p>
            <a:pPr marL="0" indent="0" algn="l">
              <a:lnSpc>
                <a:spcPts val="2100"/>
              </a:lnSpc>
              <a:buNone/>
            </a:pPr>
            <a:r>
              <a:rPr lang="en-US" sz="1300" dirty="0">
                <a:solidFill>
                  <a:srgbClr val="55575A"/>
                </a:solidFill>
                <a:latin typeface="Roboto Condensed" pitchFamily="34" charset="0"/>
                <a:ea typeface="Roboto Condensed" pitchFamily="34" charset="-122"/>
                <a:cs typeface="Roboto Condensed" pitchFamily="34" charset="-120"/>
              </a:rPr>
              <a:t>We received valuable feedback from Review 1, which praised the project's innovative core idea and provided constructive suggestions for refinement and strategic development.</a:t>
            </a:r>
            <a:endParaRPr lang="en-US" sz="1300" dirty="0"/>
          </a:p>
        </p:txBody>
      </p:sp>
      <p:sp>
        <p:nvSpPr>
          <p:cNvPr id="5" name="Shape 2"/>
          <p:cNvSpPr/>
          <p:nvPr/>
        </p:nvSpPr>
        <p:spPr>
          <a:xfrm>
            <a:off x="793790" y="3494961"/>
            <a:ext cx="13042821" cy="22860"/>
          </a:xfrm>
          <a:prstGeom prst="roundRect">
            <a:avLst>
              <a:gd name="adj" fmla="val 111628"/>
            </a:avLst>
          </a:prstGeom>
          <a:solidFill>
            <a:srgbClr val="000000">
              <a:alpha val="8000"/>
            </a:srgbClr>
          </a:solidFill>
          <a:ln/>
        </p:spPr>
        <p:txBody>
          <a:bodyPr/>
          <a:lstStyle/>
          <a:p>
            <a:endParaRPr lang="en-US"/>
          </a:p>
        </p:txBody>
      </p:sp>
      <p:sp>
        <p:nvSpPr>
          <p:cNvPr id="6" name="Shape 3"/>
          <p:cNvSpPr/>
          <p:nvPr/>
        </p:nvSpPr>
        <p:spPr>
          <a:xfrm>
            <a:off x="2885242" y="3494961"/>
            <a:ext cx="22860" cy="510302"/>
          </a:xfrm>
          <a:prstGeom prst="roundRect">
            <a:avLst>
              <a:gd name="adj" fmla="val 111628"/>
            </a:avLst>
          </a:prstGeom>
          <a:solidFill>
            <a:srgbClr val="AEB0A7"/>
          </a:solidFill>
          <a:ln/>
        </p:spPr>
        <p:txBody>
          <a:bodyPr/>
          <a:lstStyle/>
          <a:p>
            <a:endParaRPr lang="en-US"/>
          </a:p>
        </p:txBody>
      </p:sp>
      <p:sp>
        <p:nvSpPr>
          <p:cNvPr id="7" name="Shape 4"/>
          <p:cNvSpPr/>
          <p:nvPr/>
        </p:nvSpPr>
        <p:spPr>
          <a:xfrm>
            <a:off x="2705338" y="3303627"/>
            <a:ext cx="382667" cy="382667"/>
          </a:xfrm>
          <a:prstGeom prst="roundRect">
            <a:avLst>
              <a:gd name="adj" fmla="val 6669"/>
            </a:avLst>
          </a:prstGeom>
          <a:solidFill>
            <a:srgbClr val="C8CAC1">
              <a:alpha val="50000"/>
            </a:srgbClr>
          </a:solidFill>
          <a:ln/>
        </p:spPr>
        <p:txBody>
          <a:bodyPr/>
          <a:lstStyle/>
          <a:p>
            <a:endParaRPr lang="en-US"/>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769096" y="3367385"/>
            <a:ext cx="255151" cy="255151"/>
          </a:xfrm>
          <a:prstGeom prst="rect">
            <a:avLst/>
          </a:prstGeom>
        </p:spPr>
      </p:pic>
      <p:sp>
        <p:nvSpPr>
          <p:cNvPr id="9" name="Text 5"/>
          <p:cNvSpPr/>
          <p:nvPr/>
        </p:nvSpPr>
        <p:spPr>
          <a:xfrm>
            <a:off x="1135023" y="4175403"/>
            <a:ext cx="3523298" cy="265747"/>
          </a:xfrm>
          <a:prstGeom prst="rect">
            <a:avLst/>
          </a:prstGeom>
          <a:noFill/>
          <a:ln/>
        </p:spPr>
        <p:txBody>
          <a:bodyPr wrap="none" lIns="0" tIns="0" rIns="0" bIns="0" rtlCol="0" anchor="t"/>
          <a:lstStyle/>
          <a:p>
            <a:pPr marL="0" indent="0" algn="ctr">
              <a:lnSpc>
                <a:spcPts val="2050"/>
              </a:lnSpc>
              <a:buNone/>
            </a:pPr>
            <a:r>
              <a:rPr lang="en-US" sz="1650" b="1" dirty="0">
                <a:solidFill>
                  <a:srgbClr val="55575A"/>
                </a:solidFill>
                <a:latin typeface="Hubot Sans Bold" pitchFamily="34" charset="0"/>
                <a:ea typeface="Hubot Sans Bold" pitchFamily="34" charset="-122"/>
                <a:cs typeface="Hubot Sans Bold" pitchFamily="34" charset="-120"/>
              </a:rPr>
              <a:t>Acknowledged Innovation</a:t>
            </a:r>
            <a:endParaRPr lang="en-US" sz="1650" dirty="0"/>
          </a:p>
        </p:txBody>
      </p:sp>
      <p:sp>
        <p:nvSpPr>
          <p:cNvPr id="10" name="Text 6"/>
          <p:cNvSpPr/>
          <p:nvPr/>
        </p:nvSpPr>
        <p:spPr>
          <a:xfrm>
            <a:off x="963811" y="4543187"/>
            <a:ext cx="3865721" cy="1088708"/>
          </a:xfrm>
          <a:prstGeom prst="rect">
            <a:avLst/>
          </a:prstGeom>
          <a:noFill/>
          <a:ln/>
        </p:spPr>
        <p:txBody>
          <a:bodyPr wrap="square" lIns="0" tIns="0" rIns="0" bIns="0" rtlCol="0" anchor="t"/>
          <a:lstStyle/>
          <a:p>
            <a:pPr marL="0" indent="0" algn="ctr">
              <a:lnSpc>
                <a:spcPts val="2100"/>
              </a:lnSpc>
              <a:buNone/>
            </a:pPr>
            <a:r>
              <a:rPr lang="en-US" sz="1300" dirty="0">
                <a:solidFill>
                  <a:srgbClr val="55575A"/>
                </a:solidFill>
                <a:latin typeface="Roboto Condensed" pitchFamily="34" charset="0"/>
                <a:ea typeface="Roboto Condensed" pitchFamily="34" charset="-122"/>
                <a:cs typeface="Roboto Condensed" pitchFamily="34" charset="-120"/>
              </a:rPr>
              <a:t>The core concept was recognized as highly creative and promising. This positive validation strengthens our commitment to developing Echo's unique value proposition.</a:t>
            </a:r>
            <a:endParaRPr lang="en-US" sz="1300" dirty="0"/>
          </a:p>
        </p:txBody>
      </p:sp>
      <p:sp>
        <p:nvSpPr>
          <p:cNvPr id="11" name="Shape 7"/>
          <p:cNvSpPr/>
          <p:nvPr/>
        </p:nvSpPr>
        <p:spPr>
          <a:xfrm>
            <a:off x="7303651" y="3494961"/>
            <a:ext cx="22860" cy="510302"/>
          </a:xfrm>
          <a:prstGeom prst="roundRect">
            <a:avLst>
              <a:gd name="adj" fmla="val 111628"/>
            </a:avLst>
          </a:prstGeom>
          <a:solidFill>
            <a:srgbClr val="AEB0A7"/>
          </a:solidFill>
          <a:ln/>
        </p:spPr>
        <p:txBody>
          <a:bodyPr/>
          <a:lstStyle/>
          <a:p>
            <a:endParaRPr lang="en-US"/>
          </a:p>
        </p:txBody>
      </p:sp>
      <p:sp>
        <p:nvSpPr>
          <p:cNvPr id="12" name="Shape 8"/>
          <p:cNvSpPr/>
          <p:nvPr/>
        </p:nvSpPr>
        <p:spPr>
          <a:xfrm>
            <a:off x="7123748" y="3303627"/>
            <a:ext cx="382667" cy="382667"/>
          </a:xfrm>
          <a:prstGeom prst="roundRect">
            <a:avLst>
              <a:gd name="adj" fmla="val 6669"/>
            </a:avLst>
          </a:prstGeom>
          <a:solidFill>
            <a:srgbClr val="C8CAC1">
              <a:alpha val="50000"/>
            </a:srgbClr>
          </a:solidFill>
          <a:ln/>
        </p:spPr>
        <p:txBody>
          <a:bodyPr/>
          <a:lstStyle/>
          <a:p>
            <a:endParaRPr lang="en-US"/>
          </a:p>
        </p:txBody>
      </p:sp>
      <p:pic>
        <p:nvPicPr>
          <p:cNvPr id="13"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187505" y="3367385"/>
            <a:ext cx="255151" cy="255151"/>
          </a:xfrm>
          <a:prstGeom prst="rect">
            <a:avLst/>
          </a:prstGeom>
        </p:spPr>
      </p:pic>
      <p:sp>
        <p:nvSpPr>
          <p:cNvPr id="14" name="Text 9"/>
          <p:cNvSpPr/>
          <p:nvPr/>
        </p:nvSpPr>
        <p:spPr>
          <a:xfrm>
            <a:off x="5382220" y="4175403"/>
            <a:ext cx="3865840" cy="531495"/>
          </a:xfrm>
          <a:prstGeom prst="rect">
            <a:avLst/>
          </a:prstGeom>
          <a:noFill/>
          <a:ln/>
        </p:spPr>
        <p:txBody>
          <a:bodyPr wrap="square" lIns="0" tIns="0" rIns="0" bIns="0" rtlCol="0" anchor="t"/>
          <a:lstStyle/>
          <a:p>
            <a:pPr marL="0" indent="0" algn="ctr">
              <a:lnSpc>
                <a:spcPts val="2050"/>
              </a:lnSpc>
              <a:buNone/>
            </a:pPr>
            <a:r>
              <a:rPr lang="en-US" sz="1650" b="1" dirty="0">
                <a:solidFill>
                  <a:srgbClr val="55575A"/>
                </a:solidFill>
                <a:latin typeface="Hubot Sans Bold" pitchFamily="34" charset="0"/>
                <a:ea typeface="Hubot Sans Bold" pitchFamily="34" charset="-122"/>
                <a:cs typeface="Hubot Sans Bold" pitchFamily="34" charset="-120"/>
              </a:rPr>
              <a:t>Deeper Research &amp; Complexity Analysis</a:t>
            </a:r>
            <a:endParaRPr lang="en-US" sz="1650" dirty="0"/>
          </a:p>
        </p:txBody>
      </p:sp>
      <p:sp>
        <p:nvSpPr>
          <p:cNvPr id="15" name="Text 10"/>
          <p:cNvSpPr/>
          <p:nvPr/>
        </p:nvSpPr>
        <p:spPr>
          <a:xfrm>
            <a:off x="5382220" y="4808934"/>
            <a:ext cx="3865840" cy="1088708"/>
          </a:xfrm>
          <a:prstGeom prst="rect">
            <a:avLst/>
          </a:prstGeom>
          <a:noFill/>
          <a:ln/>
        </p:spPr>
        <p:txBody>
          <a:bodyPr wrap="square" lIns="0" tIns="0" rIns="0" bIns="0" rtlCol="0" anchor="t"/>
          <a:lstStyle/>
          <a:p>
            <a:pPr marL="0" indent="0" algn="ctr">
              <a:lnSpc>
                <a:spcPts val="2100"/>
              </a:lnSpc>
              <a:buNone/>
            </a:pPr>
            <a:r>
              <a:rPr lang="en-US" sz="1300" dirty="0">
                <a:solidFill>
                  <a:srgbClr val="55575A"/>
                </a:solidFill>
                <a:latin typeface="Roboto Condensed" pitchFamily="34" charset="0"/>
                <a:ea typeface="Roboto Condensed" pitchFamily="34" charset="-122"/>
                <a:cs typeface="Roboto Condensed" pitchFamily="34" charset="-120"/>
              </a:rPr>
              <a:t>Suggestion to undertake more extensive research into relevant academic papers and to thoroughly map out the inherent complexities of integrating AI-powered memory functions across diverse digital platforms.</a:t>
            </a:r>
            <a:endParaRPr lang="en-US" sz="1300" dirty="0"/>
          </a:p>
        </p:txBody>
      </p:sp>
      <p:sp>
        <p:nvSpPr>
          <p:cNvPr id="16" name="Shape 11"/>
          <p:cNvSpPr/>
          <p:nvPr/>
        </p:nvSpPr>
        <p:spPr>
          <a:xfrm>
            <a:off x="11722179" y="3494961"/>
            <a:ext cx="22860" cy="510302"/>
          </a:xfrm>
          <a:prstGeom prst="roundRect">
            <a:avLst>
              <a:gd name="adj" fmla="val 111628"/>
            </a:avLst>
          </a:prstGeom>
          <a:solidFill>
            <a:srgbClr val="AEB0A7"/>
          </a:solidFill>
          <a:ln/>
        </p:spPr>
        <p:txBody>
          <a:bodyPr/>
          <a:lstStyle/>
          <a:p>
            <a:endParaRPr lang="en-US"/>
          </a:p>
        </p:txBody>
      </p:sp>
      <p:sp>
        <p:nvSpPr>
          <p:cNvPr id="17" name="Shape 12"/>
          <p:cNvSpPr/>
          <p:nvPr/>
        </p:nvSpPr>
        <p:spPr>
          <a:xfrm>
            <a:off x="11542276" y="3303627"/>
            <a:ext cx="382667" cy="382667"/>
          </a:xfrm>
          <a:prstGeom prst="roundRect">
            <a:avLst>
              <a:gd name="adj" fmla="val 6669"/>
            </a:avLst>
          </a:prstGeom>
          <a:solidFill>
            <a:srgbClr val="C8CAC1">
              <a:alpha val="50000"/>
            </a:srgbClr>
          </a:solidFill>
          <a:ln/>
        </p:spPr>
        <p:txBody>
          <a:bodyPr/>
          <a:lstStyle/>
          <a:p>
            <a:endParaRPr lang="en-US"/>
          </a:p>
        </p:txBody>
      </p:sp>
      <p:pic>
        <p:nvPicPr>
          <p:cNvPr id="18"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606034" y="3367385"/>
            <a:ext cx="255151" cy="255151"/>
          </a:xfrm>
          <a:prstGeom prst="rect">
            <a:avLst/>
          </a:prstGeom>
        </p:spPr>
      </p:pic>
      <p:sp>
        <p:nvSpPr>
          <p:cNvPr id="19" name="Text 13"/>
          <p:cNvSpPr/>
          <p:nvPr/>
        </p:nvSpPr>
        <p:spPr>
          <a:xfrm>
            <a:off x="9800749" y="4175403"/>
            <a:ext cx="3865840" cy="531495"/>
          </a:xfrm>
          <a:prstGeom prst="rect">
            <a:avLst/>
          </a:prstGeom>
          <a:noFill/>
          <a:ln/>
        </p:spPr>
        <p:txBody>
          <a:bodyPr wrap="square" lIns="0" tIns="0" rIns="0" bIns="0" rtlCol="0" anchor="t"/>
          <a:lstStyle/>
          <a:p>
            <a:pPr marL="0" indent="0" algn="ctr">
              <a:lnSpc>
                <a:spcPts val="2050"/>
              </a:lnSpc>
              <a:buNone/>
            </a:pPr>
            <a:r>
              <a:rPr lang="en-US" sz="1650" b="1" dirty="0">
                <a:solidFill>
                  <a:srgbClr val="55575A"/>
                </a:solidFill>
                <a:latin typeface="Hubot Sans Bold" pitchFamily="34" charset="0"/>
                <a:ea typeface="Hubot Sans Bold" pitchFamily="34" charset="-122"/>
                <a:cs typeface="Hubot Sans Bold" pitchFamily="34" charset="-120"/>
              </a:rPr>
              <a:t>Comprehensive Feature Implementation</a:t>
            </a:r>
            <a:endParaRPr lang="en-US" sz="1650" dirty="0"/>
          </a:p>
        </p:txBody>
      </p:sp>
      <p:sp>
        <p:nvSpPr>
          <p:cNvPr id="20" name="Text 14"/>
          <p:cNvSpPr/>
          <p:nvPr/>
        </p:nvSpPr>
        <p:spPr>
          <a:xfrm>
            <a:off x="9800749" y="4808934"/>
            <a:ext cx="3865840" cy="1088708"/>
          </a:xfrm>
          <a:prstGeom prst="rect">
            <a:avLst/>
          </a:prstGeom>
          <a:noFill/>
          <a:ln/>
        </p:spPr>
        <p:txBody>
          <a:bodyPr wrap="square" lIns="0" tIns="0" rIns="0" bIns="0" rtlCol="0" anchor="t"/>
          <a:lstStyle/>
          <a:p>
            <a:pPr marL="0" indent="0" algn="ctr">
              <a:lnSpc>
                <a:spcPts val="2100"/>
              </a:lnSpc>
              <a:buNone/>
            </a:pPr>
            <a:r>
              <a:rPr lang="en-US" sz="1300" dirty="0">
                <a:solidFill>
                  <a:srgbClr val="55575A"/>
                </a:solidFill>
                <a:latin typeface="Roboto Condensed" pitchFamily="34" charset="0"/>
                <a:ea typeface="Roboto Condensed" pitchFamily="34" charset="-122"/>
                <a:cs typeface="Roboto Condensed" pitchFamily="34" charset="-120"/>
              </a:rPr>
              <a:t>Emphasis on ensuring all proposed features and requirements are fully delivered in the final product, rather than prioritizing a subset, to fulfill the project's ambitious vision comprehensively.</a:t>
            </a:r>
            <a:endParaRPr lang="en-US" sz="1300" dirty="0"/>
          </a:p>
        </p:txBody>
      </p:sp>
      <p:sp>
        <p:nvSpPr>
          <p:cNvPr id="21" name="Text 15"/>
          <p:cNvSpPr/>
          <p:nvPr/>
        </p:nvSpPr>
        <p:spPr>
          <a:xfrm>
            <a:off x="793790" y="6152793"/>
            <a:ext cx="8832652" cy="425291"/>
          </a:xfrm>
          <a:prstGeom prst="rect">
            <a:avLst/>
          </a:prstGeom>
          <a:noFill/>
          <a:ln/>
        </p:spPr>
        <p:txBody>
          <a:bodyPr wrap="none" lIns="0" tIns="0" rIns="0" bIns="0" rtlCol="0" anchor="t"/>
          <a:lstStyle/>
          <a:p>
            <a:pPr marL="0" indent="0" algn="l">
              <a:lnSpc>
                <a:spcPts val="3300"/>
              </a:lnSpc>
              <a:buNone/>
            </a:pPr>
            <a:r>
              <a:rPr lang="en-US" sz="2650" b="1" dirty="0">
                <a:solidFill>
                  <a:srgbClr val="0C0D0F"/>
                </a:solidFill>
                <a:latin typeface="Hubot Sans Bold" pitchFamily="34" charset="0"/>
                <a:ea typeface="Hubot Sans Bold" pitchFamily="34" charset="-122"/>
                <a:cs typeface="Hubot Sans Bold" pitchFamily="34" charset="-120"/>
              </a:rPr>
              <a:t>Addressing the Feedback: Our Action Plan</a:t>
            </a:r>
            <a:endParaRPr lang="en-US" sz="2650" dirty="0"/>
          </a:p>
        </p:txBody>
      </p:sp>
      <p:sp>
        <p:nvSpPr>
          <p:cNvPr id="22" name="Text 16"/>
          <p:cNvSpPr/>
          <p:nvPr/>
        </p:nvSpPr>
        <p:spPr>
          <a:xfrm>
            <a:off x="793790" y="6833235"/>
            <a:ext cx="13042821" cy="272177"/>
          </a:xfrm>
          <a:prstGeom prst="rect">
            <a:avLst/>
          </a:prstGeom>
          <a:noFill/>
          <a:ln/>
        </p:spPr>
        <p:txBody>
          <a:bodyPr wrap="none" lIns="0" tIns="0" rIns="0" bIns="0" rtlCol="0" anchor="t"/>
          <a:lstStyle/>
          <a:p>
            <a:pPr marL="0" indent="0" algn="l">
              <a:lnSpc>
                <a:spcPts val="2100"/>
              </a:lnSpc>
              <a:buNone/>
            </a:pPr>
            <a:r>
              <a:rPr lang="en-US" sz="1300" dirty="0">
                <a:solidFill>
                  <a:srgbClr val="55575A"/>
                </a:solidFill>
                <a:latin typeface="Roboto Condensed" pitchFamily="34" charset="0"/>
                <a:ea typeface="Roboto Condensed" pitchFamily="34" charset="-122"/>
                <a:cs typeface="Roboto Condensed" pitchFamily="34" charset="-120"/>
              </a:rPr>
              <a:t>We are actively integrating these suggestions into our development roadmap to enhance Echo's robustness and ensure its successful delivery:</a:t>
            </a:r>
            <a:endParaRPr lang="en-US" sz="1300" dirty="0"/>
          </a:p>
        </p:txBody>
      </p:sp>
      <p:sp>
        <p:nvSpPr>
          <p:cNvPr id="23" name="Text 17"/>
          <p:cNvSpPr/>
          <p:nvPr/>
        </p:nvSpPr>
        <p:spPr>
          <a:xfrm>
            <a:off x="793790" y="7296745"/>
            <a:ext cx="13042821" cy="272177"/>
          </a:xfrm>
          <a:prstGeom prst="rect">
            <a:avLst/>
          </a:prstGeom>
          <a:noFill/>
          <a:ln/>
        </p:spPr>
        <p:txBody>
          <a:bodyPr wrap="none" lIns="0" tIns="0" rIns="0" bIns="0" rtlCol="0" anchor="t"/>
          <a:lstStyle/>
          <a:p>
            <a:pPr marL="342900" indent="-342900" algn="l">
              <a:lnSpc>
                <a:spcPts val="2100"/>
              </a:lnSpc>
              <a:buSzPct val="100000"/>
              <a:buChar char="•"/>
            </a:pPr>
            <a:r>
              <a:rPr lang="en-US" sz="1300" b="1" dirty="0">
                <a:solidFill>
                  <a:srgbClr val="55575A"/>
                </a:solidFill>
                <a:latin typeface="Roboto Condensed" pitchFamily="34" charset="0"/>
                <a:ea typeface="Roboto Condensed" pitchFamily="34" charset="-122"/>
                <a:cs typeface="Roboto Condensed" pitchFamily="34" charset="-120"/>
              </a:rPr>
              <a:t>Enhanced Research Phase:</a:t>
            </a:r>
            <a:r>
              <a:rPr lang="en-US" sz="1300" dirty="0">
                <a:solidFill>
                  <a:srgbClr val="55575A"/>
                </a:solidFill>
                <a:latin typeface="Roboto Condensed" pitchFamily="34" charset="0"/>
                <a:ea typeface="Roboto Condensed" pitchFamily="34" charset="-122"/>
                <a:cs typeface="Roboto Condensed" pitchFamily="34" charset="-120"/>
              </a:rPr>
              <a:t> Initiating a dedicated research sprint to explore advanced literature and benchmark existing solutions for complexity management.</a:t>
            </a:r>
            <a:endParaRPr lang="en-US" sz="1300" dirty="0"/>
          </a:p>
        </p:txBody>
      </p:sp>
      <p:pic>
        <p:nvPicPr>
          <p:cNvPr id="25" name="Picture 24">
            <a:extLst>
              <a:ext uri="{FF2B5EF4-FFF2-40B4-BE49-F238E27FC236}">
                <a16:creationId xmlns:a16="http://schemas.microsoft.com/office/drawing/2014/main" id="{ACBFA7FA-F4C7-BBB6-5D54-B9E6BDF86567}"/>
              </a:ext>
            </a:extLst>
          </p:cNvPr>
          <p:cNvPicPr>
            <a:picLocks noChangeAspect="1"/>
          </p:cNvPicPr>
          <p:nvPr/>
        </p:nvPicPr>
        <p:blipFill>
          <a:blip r:embed="rId10"/>
          <a:stretch>
            <a:fillRect/>
          </a:stretch>
        </p:blipFill>
        <p:spPr>
          <a:xfrm>
            <a:off x="12151902" y="7568922"/>
            <a:ext cx="3029373" cy="76210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369873" y="1193483"/>
            <a:ext cx="2466737" cy="807958"/>
          </a:xfrm>
          <a:prstGeom prst="rect">
            <a:avLst/>
          </a:prstGeom>
        </p:spPr>
      </p:pic>
      <p:sp>
        <p:nvSpPr>
          <p:cNvPr id="3" name="Text 0"/>
          <p:cNvSpPr/>
          <p:nvPr/>
        </p:nvSpPr>
        <p:spPr>
          <a:xfrm>
            <a:off x="793790" y="2341602"/>
            <a:ext cx="13042821" cy="1417558"/>
          </a:xfrm>
          <a:prstGeom prst="rect">
            <a:avLst/>
          </a:prstGeom>
          <a:noFill/>
          <a:ln/>
        </p:spPr>
        <p:txBody>
          <a:bodyPr wrap="squar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Research/Technology Gap and Challenges</a:t>
            </a:r>
            <a:endParaRPr lang="en-US" sz="4450" dirty="0"/>
          </a:p>
        </p:txBody>
      </p:sp>
      <p:sp>
        <p:nvSpPr>
          <p:cNvPr id="4" name="Text 1"/>
          <p:cNvSpPr/>
          <p:nvPr/>
        </p:nvSpPr>
        <p:spPr>
          <a:xfrm>
            <a:off x="793790" y="4099322"/>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Current solutions lack cross-platform unification and NLP-based recall for private, personal activities. Digital wellbeing often focuses on time spent, not on the intent or context.</a:t>
            </a:r>
            <a:endParaRPr lang="en-US" sz="1750" dirty="0"/>
          </a:p>
        </p:txBody>
      </p:sp>
      <p:sp>
        <p:nvSpPr>
          <p:cNvPr id="5" name="Text 2"/>
          <p:cNvSpPr/>
          <p:nvPr/>
        </p:nvSpPr>
        <p:spPr>
          <a:xfrm>
            <a:off x="793790" y="490442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Key challenges include:</a:t>
            </a:r>
            <a:endParaRPr lang="en-US" sz="1750" dirty="0"/>
          </a:p>
        </p:txBody>
      </p:sp>
      <p:sp>
        <p:nvSpPr>
          <p:cNvPr id="6" name="Text 3"/>
          <p:cNvSpPr/>
          <p:nvPr/>
        </p:nvSpPr>
        <p:spPr>
          <a:xfrm>
            <a:off x="793790" y="5346621"/>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Reliable data ingestion and synchronization</a:t>
            </a:r>
            <a:endParaRPr lang="en-US" sz="1750" dirty="0"/>
          </a:p>
        </p:txBody>
      </p:sp>
      <p:sp>
        <p:nvSpPr>
          <p:cNvPr id="7" name="Text 4"/>
          <p:cNvSpPr/>
          <p:nvPr/>
        </p:nvSpPr>
        <p:spPr>
          <a:xfrm>
            <a:off x="793790" y="5788819"/>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Instant, context-aware search (not just keyword)</a:t>
            </a:r>
            <a:endParaRPr lang="en-US" sz="1750" dirty="0"/>
          </a:p>
        </p:txBody>
      </p:sp>
      <p:sp>
        <p:nvSpPr>
          <p:cNvPr id="8" name="Text 5"/>
          <p:cNvSpPr/>
          <p:nvPr/>
        </p:nvSpPr>
        <p:spPr>
          <a:xfrm>
            <a:off x="793790" y="6231017"/>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Secure storage and privacy protection</a:t>
            </a:r>
            <a:endParaRPr lang="en-US" sz="1750" dirty="0"/>
          </a:p>
        </p:txBody>
      </p:sp>
      <p:sp>
        <p:nvSpPr>
          <p:cNvPr id="9" name="Text 6"/>
          <p:cNvSpPr/>
          <p:nvPr/>
        </p:nvSpPr>
        <p:spPr>
          <a:xfrm>
            <a:off x="793790" y="6673215"/>
            <a:ext cx="13042821" cy="362903"/>
          </a:xfrm>
          <a:prstGeom prst="rect">
            <a:avLst/>
          </a:prstGeom>
          <a:noFill/>
          <a:ln/>
        </p:spPr>
        <p:txBody>
          <a:bodyPr wrap="none" lIns="0" tIns="0" rIns="0" bIns="0" rtlCol="0" anchor="t"/>
          <a:lstStyle/>
          <a:p>
            <a:pPr marL="685800" lvl="1"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Designing nudges that are helpful, not intrusive</a:t>
            </a:r>
            <a:endParaRPr lang="en-US" sz="1750" dirty="0"/>
          </a:p>
        </p:txBody>
      </p:sp>
      <p:pic>
        <p:nvPicPr>
          <p:cNvPr id="11" name="Picture 10">
            <a:extLst>
              <a:ext uri="{FF2B5EF4-FFF2-40B4-BE49-F238E27FC236}">
                <a16:creationId xmlns:a16="http://schemas.microsoft.com/office/drawing/2014/main" id="{4FF5395A-5614-FCD2-F5F2-1ED28D4366D1}"/>
              </a:ext>
            </a:extLst>
          </p:cNvPr>
          <p:cNvPicPr>
            <a:picLocks noChangeAspect="1"/>
          </p:cNvPicPr>
          <p:nvPr/>
        </p:nvPicPr>
        <p:blipFill>
          <a:blip r:embed="rId4"/>
          <a:stretch>
            <a:fillRect/>
          </a:stretch>
        </p:blipFill>
        <p:spPr>
          <a:xfrm>
            <a:off x="11756813" y="7467494"/>
            <a:ext cx="3029373" cy="7621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41866"/>
            <a:ext cx="8223409" cy="708779"/>
          </a:xfrm>
          <a:prstGeom prst="rect">
            <a:avLst/>
          </a:prstGeom>
          <a:noFill/>
          <a:ln/>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Major TECHNOLOGY GAPS</a:t>
            </a:r>
            <a:endParaRPr lang="en-US" sz="4450" dirty="0"/>
          </a:p>
        </p:txBody>
      </p:sp>
      <p:sp>
        <p:nvSpPr>
          <p:cNvPr id="3" name="Text 1"/>
          <p:cNvSpPr/>
          <p:nvPr/>
        </p:nvSpPr>
        <p:spPr>
          <a:xfrm>
            <a:off x="793790" y="1894880"/>
            <a:ext cx="2845594" cy="725805"/>
          </a:xfrm>
          <a:prstGeom prst="rect">
            <a:avLst/>
          </a:prstGeom>
          <a:noFill/>
          <a:ln/>
        </p:spPr>
        <p:txBody>
          <a:bodyPr wrap="squar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Lack of Cross-Source Semantic Retrieval</a:t>
            </a:r>
            <a:endParaRPr lang="en-US" sz="1750" dirty="0"/>
          </a:p>
        </p:txBody>
      </p:sp>
      <p:sp>
        <p:nvSpPr>
          <p:cNvPr id="4" name="Text 2"/>
          <p:cNvSpPr/>
          <p:nvPr/>
        </p:nvSpPr>
        <p:spPr>
          <a:xfrm>
            <a:off x="793790" y="2824758"/>
            <a:ext cx="2845594" cy="362902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Current systems cannot perform semantic search across Gmail + YouTube + Browsing history simultaneously. Each platform has its own search engine, but no unified semantic memory exists. Echo fills this gap by building a single vector-based memory combining all sources.</a:t>
            </a:r>
            <a:endParaRPr lang="en-US" sz="1750" dirty="0"/>
          </a:p>
        </p:txBody>
      </p:sp>
      <p:sp>
        <p:nvSpPr>
          <p:cNvPr id="5" name="Text 3"/>
          <p:cNvSpPr/>
          <p:nvPr/>
        </p:nvSpPr>
        <p:spPr>
          <a:xfrm>
            <a:off x="4200406" y="1894880"/>
            <a:ext cx="2845594" cy="725805"/>
          </a:xfrm>
          <a:prstGeom prst="rect">
            <a:avLst/>
          </a:prstGeom>
          <a:noFill/>
          <a:ln/>
        </p:spPr>
        <p:txBody>
          <a:bodyPr wrap="squar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Absence of Unified Personal Knowledge Graphs</a:t>
            </a:r>
            <a:endParaRPr lang="en-US" sz="1750" dirty="0"/>
          </a:p>
        </p:txBody>
      </p:sp>
      <p:sp>
        <p:nvSpPr>
          <p:cNvPr id="6" name="Text 4"/>
          <p:cNvSpPr/>
          <p:nvPr/>
        </p:nvSpPr>
        <p:spPr>
          <a:xfrm>
            <a:off x="4200406" y="2824758"/>
            <a:ext cx="2845594" cy="3266123"/>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Most tools store data separately (emails, videos, browsing logs). There is no system that automatically builds a personal, cross-platform knowledge graph connecting past emails, watched videos, past browsing activities, topics and intent</a:t>
            </a:r>
            <a:endParaRPr lang="en-US" sz="1750" dirty="0"/>
          </a:p>
        </p:txBody>
      </p:sp>
      <p:sp>
        <p:nvSpPr>
          <p:cNvPr id="7" name="Text 5"/>
          <p:cNvSpPr/>
          <p:nvPr/>
        </p:nvSpPr>
        <p:spPr>
          <a:xfrm>
            <a:off x="7607022" y="1894880"/>
            <a:ext cx="2845594" cy="725805"/>
          </a:xfrm>
          <a:prstGeom prst="rect">
            <a:avLst/>
          </a:prstGeom>
          <a:noFill/>
          <a:ln/>
        </p:spPr>
        <p:txBody>
          <a:bodyPr wrap="squar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No True Natural Language Retrieval for Personal Data</a:t>
            </a:r>
            <a:endParaRPr lang="en-US" sz="1750" dirty="0"/>
          </a:p>
        </p:txBody>
      </p:sp>
      <p:sp>
        <p:nvSpPr>
          <p:cNvPr id="8" name="Text 6"/>
          <p:cNvSpPr/>
          <p:nvPr/>
        </p:nvSpPr>
        <p:spPr>
          <a:xfrm>
            <a:off x="7607022" y="2824758"/>
            <a:ext cx="2845594" cy="3266123"/>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Current platforms use keywords, filters, manual searching. There is no system that understands questions like: “Which articles did I read while researching internships?” Echo closes this gap using converting API ingestions to vector embeddings.</a:t>
            </a:r>
            <a:endParaRPr lang="en-US" sz="1750" dirty="0"/>
          </a:p>
        </p:txBody>
      </p:sp>
      <p:sp>
        <p:nvSpPr>
          <p:cNvPr id="9" name="Text 7"/>
          <p:cNvSpPr/>
          <p:nvPr/>
        </p:nvSpPr>
        <p:spPr>
          <a:xfrm>
            <a:off x="11013638" y="1894880"/>
            <a:ext cx="2845594" cy="725805"/>
          </a:xfrm>
          <a:prstGeom prst="rect">
            <a:avLst/>
          </a:prstGeom>
          <a:noFill/>
          <a:ln/>
        </p:spPr>
        <p:txBody>
          <a:bodyPr wrap="squar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No Semantic Correlation Between Activities</a:t>
            </a:r>
            <a:endParaRPr lang="en-US" sz="1750" dirty="0"/>
          </a:p>
        </p:txBody>
      </p:sp>
      <p:sp>
        <p:nvSpPr>
          <p:cNvPr id="10" name="Text 8"/>
          <p:cNvSpPr/>
          <p:nvPr/>
        </p:nvSpPr>
        <p:spPr>
          <a:xfrm>
            <a:off x="11013638" y="2824758"/>
            <a:ext cx="2845594" cy="217741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YouTube, Chrome, and Gmail work independently. There is no technology today that correlates: time, topic similarity, behavior, cross-platform patterns</a:t>
            </a:r>
            <a:endParaRPr lang="en-US" sz="1750" dirty="0"/>
          </a:p>
        </p:txBody>
      </p:sp>
      <p:sp>
        <p:nvSpPr>
          <p:cNvPr id="11" name="Text 9"/>
          <p:cNvSpPr/>
          <p:nvPr/>
        </p:nvSpPr>
        <p:spPr>
          <a:xfrm>
            <a:off x="11013638" y="5206246"/>
            <a:ext cx="2845594" cy="217741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Example gap: “During math exam , what videos do I usually watch and what emails do I receive?” Echo fills this gap by merging temporally aligned vectors.</a:t>
            </a:r>
            <a:endParaRPr lang="en-US" sz="1750" dirty="0"/>
          </a:p>
        </p:txBody>
      </p:sp>
      <p:pic>
        <p:nvPicPr>
          <p:cNvPr id="13" name="Picture 12">
            <a:extLst>
              <a:ext uri="{FF2B5EF4-FFF2-40B4-BE49-F238E27FC236}">
                <a16:creationId xmlns:a16="http://schemas.microsoft.com/office/drawing/2014/main" id="{E02378BA-5CC0-A999-C320-F4D1F21820FD}"/>
              </a:ext>
            </a:extLst>
          </p:cNvPr>
          <p:cNvPicPr>
            <a:picLocks noChangeAspect="1"/>
          </p:cNvPicPr>
          <p:nvPr/>
        </p:nvPicPr>
        <p:blipFill>
          <a:blip r:embed="rId3"/>
          <a:stretch>
            <a:fillRect/>
          </a:stretch>
        </p:blipFill>
        <p:spPr>
          <a:xfrm>
            <a:off x="12633113" y="7600434"/>
            <a:ext cx="3029373" cy="7621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2014061"/>
            <a:ext cx="7488079" cy="708779"/>
          </a:xfrm>
          <a:prstGeom prst="rect">
            <a:avLst/>
          </a:prstGeom>
          <a:noFill/>
          <a:ln/>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COMPETITOR ANALYSIS</a:t>
            </a:r>
            <a:endParaRPr lang="en-US" sz="4450" dirty="0"/>
          </a:p>
        </p:txBody>
      </p:sp>
      <p:sp>
        <p:nvSpPr>
          <p:cNvPr id="3" name="Text 1"/>
          <p:cNvSpPr/>
          <p:nvPr/>
        </p:nvSpPr>
        <p:spPr>
          <a:xfrm>
            <a:off x="793790" y="3267075"/>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Google Gemini</a:t>
            </a:r>
            <a:endParaRPr lang="en-US" sz="1750" dirty="0"/>
          </a:p>
        </p:txBody>
      </p:sp>
      <p:sp>
        <p:nvSpPr>
          <p:cNvPr id="4" name="Text 2"/>
          <p:cNvSpPr/>
          <p:nvPr/>
        </p:nvSpPr>
        <p:spPr>
          <a:xfrm>
            <a:off x="793790" y="3834051"/>
            <a:ext cx="2845594" cy="217741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Cannot access Chrome history; cannot combine Gmail + YouTube + browsing; no unified memory layer; no persistent personal database; no personalized analytics.</a:t>
            </a:r>
            <a:endParaRPr lang="en-US" sz="1750" dirty="0"/>
          </a:p>
        </p:txBody>
      </p:sp>
      <p:sp>
        <p:nvSpPr>
          <p:cNvPr id="5" name="Text 3"/>
          <p:cNvSpPr/>
          <p:nvPr/>
        </p:nvSpPr>
        <p:spPr>
          <a:xfrm>
            <a:off x="4200406" y="3267075"/>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Microsoft Recall</a:t>
            </a:r>
            <a:endParaRPr lang="en-US" sz="1750" dirty="0"/>
          </a:p>
        </p:txBody>
      </p:sp>
      <p:sp>
        <p:nvSpPr>
          <p:cNvPr id="6" name="Text 4"/>
          <p:cNvSpPr/>
          <p:nvPr/>
        </p:nvSpPr>
        <p:spPr>
          <a:xfrm>
            <a:off x="4200406" y="3834051"/>
            <a:ext cx="2845594" cy="1814513"/>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Works only on Copilot+ hardware; privacy concerns; no Gmail API or YouTube API; only captures screen, not structured semantic data.</a:t>
            </a:r>
            <a:endParaRPr lang="en-US" sz="1750" dirty="0"/>
          </a:p>
        </p:txBody>
      </p:sp>
      <p:sp>
        <p:nvSpPr>
          <p:cNvPr id="7" name="Text 5"/>
          <p:cNvSpPr/>
          <p:nvPr/>
        </p:nvSpPr>
        <p:spPr>
          <a:xfrm>
            <a:off x="7607022" y="3267075"/>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Rewind AI</a:t>
            </a:r>
            <a:endParaRPr lang="en-US" sz="1750" dirty="0"/>
          </a:p>
        </p:txBody>
      </p:sp>
      <p:sp>
        <p:nvSpPr>
          <p:cNvPr id="8" name="Text 6"/>
          <p:cNvSpPr/>
          <p:nvPr/>
        </p:nvSpPr>
        <p:spPr>
          <a:xfrm>
            <a:off x="7607022" y="3834051"/>
            <a:ext cx="2845594" cy="217741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Doesn't truly integrate Gmail or YouTube via API; relies on screen capture; not cross- platform; heavy resource usage; no Chrome-extension chat interface</a:t>
            </a:r>
            <a:endParaRPr lang="en-US" sz="1750" dirty="0"/>
          </a:p>
        </p:txBody>
      </p:sp>
      <p:sp>
        <p:nvSpPr>
          <p:cNvPr id="9" name="Text 7"/>
          <p:cNvSpPr/>
          <p:nvPr/>
        </p:nvSpPr>
        <p:spPr>
          <a:xfrm>
            <a:off x="11013638" y="3267075"/>
            <a:ext cx="2845594" cy="362903"/>
          </a:xfrm>
          <a:prstGeom prst="rect">
            <a:avLst/>
          </a:prstGeom>
          <a:noFill/>
          <a:ln/>
        </p:spPr>
        <p:txBody>
          <a:bodyPr wrap="none" lIns="0" tIns="0" rIns="0" bIns="0" rtlCol="0" anchor="t"/>
          <a:lstStyle/>
          <a:p>
            <a:pPr marL="0" indent="0" algn="l">
              <a:lnSpc>
                <a:spcPts val="2850"/>
              </a:lnSpc>
              <a:buNone/>
            </a:pPr>
            <a:r>
              <a:rPr lang="en-US" sz="1750" b="1" dirty="0">
                <a:solidFill>
                  <a:srgbClr val="55575A"/>
                </a:solidFill>
                <a:latin typeface="Roboto Condensed" pitchFamily="34" charset="0"/>
                <a:ea typeface="Roboto Condensed" pitchFamily="34" charset="-122"/>
                <a:cs typeface="Roboto Condensed" pitchFamily="34" charset="-120"/>
              </a:rPr>
              <a:t>Comet</a:t>
            </a:r>
            <a:endParaRPr lang="en-US" sz="1750" dirty="0"/>
          </a:p>
        </p:txBody>
      </p:sp>
      <p:sp>
        <p:nvSpPr>
          <p:cNvPr id="10" name="Text 8"/>
          <p:cNvSpPr/>
          <p:nvPr/>
        </p:nvSpPr>
        <p:spPr>
          <a:xfrm>
            <a:off x="11013638" y="3834051"/>
            <a:ext cx="2845594" cy="217741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Integrations are not deeply semantic: they sync raw data but do not support RAG-based natural-language querying across combined sources. No unified cross- source analytics.</a:t>
            </a:r>
            <a:endParaRPr lang="en-US" sz="1750" dirty="0"/>
          </a:p>
        </p:txBody>
      </p:sp>
      <p:pic>
        <p:nvPicPr>
          <p:cNvPr id="12" name="Picture 11">
            <a:extLst>
              <a:ext uri="{FF2B5EF4-FFF2-40B4-BE49-F238E27FC236}">
                <a16:creationId xmlns:a16="http://schemas.microsoft.com/office/drawing/2014/main" id="{B3CEC1F0-F6AE-5BA1-8C14-319B2A3BC90F}"/>
              </a:ext>
            </a:extLst>
          </p:cNvPr>
          <p:cNvPicPr>
            <a:picLocks noChangeAspect="1"/>
          </p:cNvPicPr>
          <p:nvPr/>
        </p:nvPicPr>
        <p:blipFill>
          <a:blip r:embed="rId3"/>
          <a:stretch>
            <a:fillRect/>
          </a:stretch>
        </p:blipFill>
        <p:spPr>
          <a:xfrm>
            <a:off x="11985413" y="7467494"/>
            <a:ext cx="3029373" cy="76210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942856"/>
            <a:ext cx="6782991" cy="460772"/>
          </a:xfrm>
          <a:prstGeom prst="rect">
            <a:avLst/>
          </a:prstGeom>
          <a:noFill/>
          <a:ln/>
        </p:spPr>
        <p:txBody>
          <a:bodyPr wrap="none" lIns="0" tIns="0" rIns="0" bIns="0" rtlCol="0" anchor="t"/>
          <a:lstStyle/>
          <a:p>
            <a:pPr marL="0" indent="0" algn="l">
              <a:lnSpc>
                <a:spcPts val="3600"/>
              </a:lnSpc>
              <a:buNone/>
            </a:pPr>
            <a:r>
              <a:rPr lang="en-US" sz="2900" b="1" dirty="0">
                <a:solidFill>
                  <a:srgbClr val="0C0D0F"/>
                </a:solidFill>
                <a:latin typeface="Hubot Sans Bold" pitchFamily="34" charset="0"/>
                <a:ea typeface="Hubot Sans Bold" pitchFamily="34" charset="-122"/>
                <a:cs typeface="Hubot Sans Bold" pitchFamily="34" charset="-120"/>
              </a:rPr>
              <a:t>Project Objectives &amp; Roadmap</a:t>
            </a:r>
            <a:endParaRPr lang="en-US" sz="2900" dirty="0"/>
          </a:p>
        </p:txBody>
      </p:sp>
      <p:sp>
        <p:nvSpPr>
          <p:cNvPr id="3" name="Shape 1"/>
          <p:cNvSpPr/>
          <p:nvPr/>
        </p:nvSpPr>
        <p:spPr>
          <a:xfrm>
            <a:off x="793790" y="1624727"/>
            <a:ext cx="4249341" cy="3110865"/>
          </a:xfrm>
          <a:prstGeom prst="roundRect">
            <a:avLst>
              <a:gd name="adj" fmla="val 11375"/>
            </a:avLst>
          </a:prstGeom>
          <a:solidFill>
            <a:srgbClr val="C8CAC1">
              <a:alpha val="50000"/>
            </a:srgbClr>
          </a:solidFill>
          <a:ln/>
        </p:spPr>
        <p:txBody>
          <a:bodyPr/>
          <a:lstStyle/>
          <a:p>
            <a:endParaRPr lang="en-US"/>
          </a:p>
        </p:txBody>
      </p:sp>
      <p:sp>
        <p:nvSpPr>
          <p:cNvPr id="4" name="Text 2"/>
          <p:cNvSpPr/>
          <p:nvPr/>
        </p:nvSpPr>
        <p:spPr>
          <a:xfrm>
            <a:off x="1032034" y="1772126"/>
            <a:ext cx="3772853" cy="230386"/>
          </a:xfrm>
          <a:prstGeom prst="rect">
            <a:avLst/>
          </a:prstGeom>
          <a:noFill/>
          <a:ln/>
        </p:spPr>
        <p:txBody>
          <a:bodyPr wrap="none" lIns="0" tIns="0" rIns="0" bIns="0" rtlCol="0" anchor="t"/>
          <a:lstStyle/>
          <a:p>
            <a:pPr marL="0" indent="0" algn="ctr">
              <a:lnSpc>
                <a:spcPts val="1800"/>
              </a:lnSpc>
              <a:buNone/>
            </a:pPr>
            <a:r>
              <a:rPr lang="en-US" sz="1450" b="1" dirty="0">
                <a:solidFill>
                  <a:srgbClr val="000000"/>
                </a:solidFill>
                <a:latin typeface="Hubot Sans Bold" pitchFamily="34" charset="0"/>
                <a:ea typeface="Hubot Sans Bold" pitchFamily="34" charset="-122"/>
                <a:cs typeface="Hubot Sans Bold" pitchFamily="34" charset="-120"/>
              </a:rPr>
              <a:t>1. Chrome Extension Development</a:t>
            </a:r>
            <a:endParaRPr lang="en-US" sz="1450" dirty="0"/>
          </a:p>
        </p:txBody>
      </p:sp>
      <p:sp>
        <p:nvSpPr>
          <p:cNvPr id="5" name="Text 3"/>
          <p:cNvSpPr/>
          <p:nvPr/>
        </p:nvSpPr>
        <p:spPr>
          <a:xfrm>
            <a:off x="941189" y="2090857"/>
            <a:ext cx="3954542" cy="942975"/>
          </a:xfrm>
          <a:prstGeom prst="rect">
            <a:avLst/>
          </a:prstGeom>
          <a:noFill/>
          <a:ln/>
        </p:spPr>
        <p:txBody>
          <a:bodyPr wrap="square" lIns="0" tIns="0" rIns="0" bIns="0" rtlCol="0" anchor="t"/>
          <a:lstStyle/>
          <a:p>
            <a:pPr marL="0" indent="0" algn="ctr">
              <a:lnSpc>
                <a:spcPts val="1850"/>
              </a:lnSpc>
              <a:buNone/>
            </a:pPr>
            <a:r>
              <a:rPr lang="en-US" sz="1150" dirty="0">
                <a:solidFill>
                  <a:srgbClr val="000000"/>
                </a:solidFill>
                <a:latin typeface="Roboto Condensed" pitchFamily="34" charset="0"/>
                <a:ea typeface="Roboto Condensed" pitchFamily="34" charset="-122"/>
                <a:cs typeface="Roboto Condensed" pitchFamily="34" charset="-120"/>
              </a:rPr>
              <a:t>Build a robust Chrome extension to unify personal digital activities across key platforms like Gmail, YouTube, and general web browsing, moving beyond mere time tracking to capture intent and context.</a:t>
            </a:r>
            <a:endParaRPr lang="en-US" sz="1150" dirty="0"/>
          </a:p>
        </p:txBody>
      </p:sp>
      <p:sp>
        <p:nvSpPr>
          <p:cNvPr id="6" name="Text 4"/>
          <p:cNvSpPr/>
          <p:nvPr/>
        </p:nvSpPr>
        <p:spPr>
          <a:xfrm>
            <a:off x="941189" y="3122176"/>
            <a:ext cx="3954542" cy="471488"/>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Deliverables:</a:t>
            </a:r>
            <a:r>
              <a:rPr lang="en-US" sz="1150" dirty="0">
                <a:solidFill>
                  <a:srgbClr val="000000"/>
                </a:solidFill>
                <a:latin typeface="Roboto Condensed" pitchFamily="34" charset="0"/>
                <a:ea typeface="Roboto Condensed" pitchFamily="34" charset="-122"/>
                <a:cs typeface="Roboto Condensed" pitchFamily="34" charset="-120"/>
              </a:rPr>
              <a:t> Functional Chrome extension, seamless integration with Gmail, YouTube, and browser history APIs.</a:t>
            </a:r>
            <a:endParaRPr lang="en-US" sz="1150" dirty="0"/>
          </a:p>
        </p:txBody>
      </p:sp>
      <p:sp>
        <p:nvSpPr>
          <p:cNvPr id="7" name="Text 5"/>
          <p:cNvSpPr/>
          <p:nvPr/>
        </p:nvSpPr>
        <p:spPr>
          <a:xfrm>
            <a:off x="941189" y="3645218"/>
            <a:ext cx="3954542" cy="942975"/>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Success Criteria:</a:t>
            </a:r>
            <a:r>
              <a:rPr lang="en-US" sz="1150" dirty="0">
                <a:solidFill>
                  <a:srgbClr val="000000"/>
                </a:solidFill>
                <a:latin typeface="Roboto Condensed" pitchFamily="34" charset="0"/>
                <a:ea typeface="Roboto Condensed" pitchFamily="34" charset="-122"/>
                <a:cs typeface="Roboto Condensed" pitchFamily="34" charset="-120"/>
              </a:rPr>
              <a:t>Extension reliably tracks and contextualizes user activity across Gmail, YouTube, and browsing history without performance issues or privacy breaches.</a:t>
            </a:r>
            <a:endParaRPr lang="en-US" sz="1150" dirty="0"/>
          </a:p>
        </p:txBody>
      </p:sp>
      <p:sp>
        <p:nvSpPr>
          <p:cNvPr id="8" name="Shape 6"/>
          <p:cNvSpPr/>
          <p:nvPr/>
        </p:nvSpPr>
        <p:spPr>
          <a:xfrm>
            <a:off x="5190530" y="1624727"/>
            <a:ext cx="4249341" cy="3110865"/>
          </a:xfrm>
          <a:prstGeom prst="roundRect">
            <a:avLst>
              <a:gd name="adj" fmla="val 11375"/>
            </a:avLst>
          </a:prstGeom>
          <a:solidFill>
            <a:srgbClr val="C8CAC1">
              <a:alpha val="50000"/>
            </a:srgbClr>
          </a:solidFill>
          <a:ln/>
        </p:spPr>
        <p:txBody>
          <a:bodyPr/>
          <a:lstStyle/>
          <a:p>
            <a:endParaRPr lang="en-US"/>
          </a:p>
        </p:txBody>
      </p:sp>
      <p:sp>
        <p:nvSpPr>
          <p:cNvPr id="9" name="Text 7"/>
          <p:cNvSpPr/>
          <p:nvPr/>
        </p:nvSpPr>
        <p:spPr>
          <a:xfrm>
            <a:off x="5337929" y="1772126"/>
            <a:ext cx="3954542" cy="460772"/>
          </a:xfrm>
          <a:prstGeom prst="rect">
            <a:avLst/>
          </a:prstGeom>
          <a:noFill/>
          <a:ln/>
        </p:spPr>
        <p:txBody>
          <a:bodyPr wrap="square" lIns="0" tIns="0" rIns="0" bIns="0" rtlCol="0" anchor="t"/>
          <a:lstStyle/>
          <a:p>
            <a:pPr marL="0" indent="0" algn="ctr">
              <a:lnSpc>
                <a:spcPts val="1800"/>
              </a:lnSpc>
              <a:buNone/>
            </a:pPr>
            <a:r>
              <a:rPr lang="en-US" sz="1450" b="1" dirty="0">
                <a:solidFill>
                  <a:srgbClr val="000000"/>
                </a:solidFill>
                <a:latin typeface="Hubot Sans Bold" pitchFamily="34" charset="0"/>
                <a:ea typeface="Hubot Sans Bold" pitchFamily="34" charset="-122"/>
                <a:cs typeface="Hubot Sans Bold" pitchFamily="34" charset="-120"/>
              </a:rPr>
              <a:t>2. AI Integration for Semantic Recall</a:t>
            </a:r>
            <a:endParaRPr lang="en-US" sz="1450" dirty="0"/>
          </a:p>
        </p:txBody>
      </p:sp>
      <p:sp>
        <p:nvSpPr>
          <p:cNvPr id="10" name="Text 8"/>
          <p:cNvSpPr/>
          <p:nvPr/>
        </p:nvSpPr>
        <p:spPr>
          <a:xfrm>
            <a:off x="5337929" y="2321243"/>
            <a:ext cx="3954542" cy="707231"/>
          </a:xfrm>
          <a:prstGeom prst="rect">
            <a:avLst/>
          </a:prstGeom>
          <a:noFill/>
          <a:ln/>
        </p:spPr>
        <p:txBody>
          <a:bodyPr wrap="square" lIns="0" tIns="0" rIns="0" bIns="0" rtlCol="0" anchor="t"/>
          <a:lstStyle/>
          <a:p>
            <a:pPr marL="0" indent="0" algn="ctr">
              <a:lnSpc>
                <a:spcPts val="1850"/>
              </a:lnSpc>
              <a:buNone/>
            </a:pPr>
            <a:r>
              <a:rPr lang="en-US" sz="1150" dirty="0">
                <a:solidFill>
                  <a:srgbClr val="000000"/>
                </a:solidFill>
                <a:latin typeface="Roboto Condensed" pitchFamily="34" charset="0"/>
                <a:ea typeface="Roboto Condensed" pitchFamily="34" charset="-122"/>
                <a:cs typeface="Roboto Condensed" pitchFamily="34" charset="-120"/>
              </a:rPr>
              <a:t>Integrate advanced AI models (GPT/Claude) to enable semantic understanding and recall of personal information, allowing users to find content based on context and intent rather than just keywords.</a:t>
            </a:r>
            <a:endParaRPr lang="en-US" sz="1150" dirty="0"/>
          </a:p>
        </p:txBody>
      </p:sp>
      <p:sp>
        <p:nvSpPr>
          <p:cNvPr id="11" name="Text 9"/>
          <p:cNvSpPr/>
          <p:nvPr/>
        </p:nvSpPr>
        <p:spPr>
          <a:xfrm>
            <a:off x="5337929" y="3116818"/>
            <a:ext cx="3954542" cy="471488"/>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Deliverables:</a:t>
            </a:r>
            <a:r>
              <a:rPr lang="en-US" sz="1150" dirty="0">
                <a:solidFill>
                  <a:srgbClr val="000000"/>
                </a:solidFill>
                <a:latin typeface="Roboto Condensed" pitchFamily="34" charset="0"/>
                <a:ea typeface="Roboto Condensed" pitchFamily="34" charset="-122"/>
                <a:cs typeface="Roboto Condensed" pitchFamily="34" charset="-120"/>
              </a:rPr>
              <a:t> AI model training and deployment, semantic search engine, natural language query processing.</a:t>
            </a:r>
            <a:endParaRPr lang="en-US" sz="1150" dirty="0"/>
          </a:p>
        </p:txBody>
      </p:sp>
      <p:sp>
        <p:nvSpPr>
          <p:cNvPr id="12" name="Text 10"/>
          <p:cNvSpPr/>
          <p:nvPr/>
        </p:nvSpPr>
        <p:spPr>
          <a:xfrm>
            <a:off x="5337929" y="3639860"/>
            <a:ext cx="3954542" cy="707231"/>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Success Criteria:</a:t>
            </a:r>
            <a:r>
              <a:rPr lang="en-US" sz="1150" dirty="0">
                <a:solidFill>
                  <a:srgbClr val="000000"/>
                </a:solidFill>
                <a:latin typeface="Roboto Condensed" pitchFamily="34" charset="0"/>
                <a:ea typeface="Roboto Condensed" pitchFamily="34" charset="-122"/>
                <a:cs typeface="Roboto Condensed" pitchFamily="34" charset="-120"/>
              </a:rPr>
              <a:t> 85% accuracy in contextual information retrieval; reduce search time by 50% for users compared to traditional keyword search.</a:t>
            </a:r>
            <a:endParaRPr lang="en-US" sz="1150" dirty="0"/>
          </a:p>
        </p:txBody>
      </p:sp>
      <p:sp>
        <p:nvSpPr>
          <p:cNvPr id="13" name="Shape 11"/>
          <p:cNvSpPr/>
          <p:nvPr/>
        </p:nvSpPr>
        <p:spPr>
          <a:xfrm>
            <a:off x="9587270" y="1624727"/>
            <a:ext cx="4249341" cy="3110865"/>
          </a:xfrm>
          <a:prstGeom prst="roundRect">
            <a:avLst>
              <a:gd name="adj" fmla="val 11375"/>
            </a:avLst>
          </a:prstGeom>
          <a:solidFill>
            <a:srgbClr val="C8CAC1">
              <a:alpha val="50000"/>
            </a:srgbClr>
          </a:solidFill>
          <a:ln/>
        </p:spPr>
        <p:txBody>
          <a:bodyPr/>
          <a:lstStyle/>
          <a:p>
            <a:endParaRPr lang="en-US"/>
          </a:p>
        </p:txBody>
      </p:sp>
      <p:sp>
        <p:nvSpPr>
          <p:cNvPr id="14" name="Text 12"/>
          <p:cNvSpPr/>
          <p:nvPr/>
        </p:nvSpPr>
        <p:spPr>
          <a:xfrm>
            <a:off x="9734669" y="1772126"/>
            <a:ext cx="3954542" cy="460772"/>
          </a:xfrm>
          <a:prstGeom prst="rect">
            <a:avLst/>
          </a:prstGeom>
          <a:noFill/>
          <a:ln/>
        </p:spPr>
        <p:txBody>
          <a:bodyPr wrap="square" lIns="0" tIns="0" rIns="0" bIns="0" rtlCol="0" anchor="t"/>
          <a:lstStyle/>
          <a:p>
            <a:pPr marL="0" indent="0" algn="ctr">
              <a:lnSpc>
                <a:spcPts val="1800"/>
              </a:lnSpc>
              <a:buNone/>
            </a:pPr>
            <a:r>
              <a:rPr lang="en-US" sz="1450" b="1" dirty="0">
                <a:solidFill>
                  <a:srgbClr val="000000"/>
                </a:solidFill>
                <a:latin typeface="Hubot Sans Bold" pitchFamily="34" charset="0"/>
                <a:ea typeface="Hubot Sans Bold" pitchFamily="34" charset="-122"/>
                <a:cs typeface="Hubot Sans Bold" pitchFamily="34" charset="-120"/>
              </a:rPr>
              <a:t>3. Personalized Wellbeing Analytics</a:t>
            </a:r>
            <a:endParaRPr lang="en-US" sz="1450" dirty="0"/>
          </a:p>
        </p:txBody>
      </p:sp>
      <p:sp>
        <p:nvSpPr>
          <p:cNvPr id="15" name="Text 13"/>
          <p:cNvSpPr/>
          <p:nvPr/>
        </p:nvSpPr>
        <p:spPr>
          <a:xfrm>
            <a:off x="9734669" y="2321243"/>
            <a:ext cx="3954542" cy="707231"/>
          </a:xfrm>
          <a:prstGeom prst="rect">
            <a:avLst/>
          </a:prstGeom>
          <a:noFill/>
          <a:ln/>
        </p:spPr>
        <p:txBody>
          <a:bodyPr wrap="square" lIns="0" tIns="0" rIns="0" bIns="0" rtlCol="0" anchor="t"/>
          <a:lstStyle/>
          <a:p>
            <a:pPr marL="0" indent="0" algn="ctr">
              <a:lnSpc>
                <a:spcPts val="1850"/>
              </a:lnSpc>
              <a:buNone/>
            </a:pPr>
            <a:r>
              <a:rPr lang="en-US" sz="1150" dirty="0">
                <a:solidFill>
                  <a:srgbClr val="000000"/>
                </a:solidFill>
                <a:latin typeface="Roboto Condensed" pitchFamily="34" charset="0"/>
                <a:ea typeface="Roboto Condensed" pitchFamily="34" charset="-122"/>
                <a:cs typeface="Roboto Condensed" pitchFamily="34" charset="-120"/>
              </a:rPr>
              <a:t>Design intuitive dashboards that provide personalized insights into digital habits, supporting digital wellbeing through actionable analytics and non-intrusive nudges.</a:t>
            </a:r>
            <a:endParaRPr lang="en-US" sz="1150" dirty="0"/>
          </a:p>
        </p:txBody>
      </p:sp>
      <p:sp>
        <p:nvSpPr>
          <p:cNvPr id="16" name="Text 14"/>
          <p:cNvSpPr/>
          <p:nvPr/>
        </p:nvSpPr>
        <p:spPr>
          <a:xfrm>
            <a:off x="9734669" y="3116818"/>
            <a:ext cx="3954542" cy="707231"/>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Deliverables:</a:t>
            </a:r>
            <a:r>
              <a:rPr lang="en-US" sz="1150" dirty="0">
                <a:solidFill>
                  <a:srgbClr val="000000"/>
                </a:solidFill>
                <a:latin typeface="Roboto Condensed" pitchFamily="34" charset="0"/>
                <a:ea typeface="Roboto Condensed" pitchFamily="34" charset="-122"/>
                <a:cs typeface="Roboto Condensed" pitchFamily="34" charset="-120"/>
              </a:rPr>
              <a:t> User-facing dashboards with customizable visualizations, personalized insights engine, notification system for wellbeing nudges.</a:t>
            </a:r>
            <a:endParaRPr lang="en-US" sz="1150" dirty="0"/>
          </a:p>
        </p:txBody>
      </p:sp>
      <p:sp>
        <p:nvSpPr>
          <p:cNvPr id="17" name="Text 15"/>
          <p:cNvSpPr/>
          <p:nvPr/>
        </p:nvSpPr>
        <p:spPr>
          <a:xfrm>
            <a:off x="9734669" y="3875603"/>
            <a:ext cx="3954542" cy="707231"/>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Success Criteria:</a:t>
            </a:r>
            <a:r>
              <a:rPr lang="en-US" sz="1150" dirty="0">
                <a:solidFill>
                  <a:srgbClr val="000000"/>
                </a:solidFill>
                <a:latin typeface="Roboto Condensed" pitchFamily="34" charset="0"/>
                <a:ea typeface="Roboto Condensed" pitchFamily="34" charset="-122"/>
                <a:cs typeface="Roboto Condensed" pitchFamily="34" charset="-120"/>
              </a:rPr>
              <a:t> 75% positive user feedback on the helpfulness of insights; 20% reduction in reported digital fatigue among regular users.</a:t>
            </a:r>
            <a:endParaRPr lang="en-US" sz="1150" dirty="0"/>
          </a:p>
        </p:txBody>
      </p:sp>
      <p:sp>
        <p:nvSpPr>
          <p:cNvPr id="18" name="Shape 16"/>
          <p:cNvSpPr/>
          <p:nvPr/>
        </p:nvSpPr>
        <p:spPr>
          <a:xfrm>
            <a:off x="793790" y="4882991"/>
            <a:ext cx="6447711" cy="2403634"/>
          </a:xfrm>
          <a:prstGeom prst="roundRect">
            <a:avLst>
              <a:gd name="adj" fmla="val 14722"/>
            </a:avLst>
          </a:prstGeom>
          <a:solidFill>
            <a:srgbClr val="C8CAC1">
              <a:alpha val="50000"/>
            </a:srgbClr>
          </a:solidFill>
          <a:ln/>
        </p:spPr>
        <p:txBody>
          <a:bodyPr/>
          <a:lstStyle/>
          <a:p>
            <a:endParaRPr lang="en-US"/>
          </a:p>
        </p:txBody>
      </p:sp>
      <p:sp>
        <p:nvSpPr>
          <p:cNvPr id="19" name="Text 17"/>
          <p:cNvSpPr/>
          <p:nvPr/>
        </p:nvSpPr>
        <p:spPr>
          <a:xfrm>
            <a:off x="1606987" y="5030391"/>
            <a:ext cx="4821317" cy="230386"/>
          </a:xfrm>
          <a:prstGeom prst="rect">
            <a:avLst/>
          </a:prstGeom>
          <a:noFill/>
          <a:ln/>
        </p:spPr>
        <p:txBody>
          <a:bodyPr wrap="none" lIns="0" tIns="0" rIns="0" bIns="0" rtlCol="0" anchor="t"/>
          <a:lstStyle/>
          <a:p>
            <a:pPr marL="0" indent="0" algn="ctr">
              <a:lnSpc>
                <a:spcPts val="1800"/>
              </a:lnSpc>
              <a:buNone/>
            </a:pPr>
            <a:r>
              <a:rPr lang="en-US" sz="1450" b="1" dirty="0">
                <a:solidFill>
                  <a:srgbClr val="000000"/>
                </a:solidFill>
                <a:latin typeface="Hubot Sans Bold" pitchFamily="34" charset="0"/>
                <a:ea typeface="Hubot Sans Bold" pitchFamily="34" charset="-122"/>
                <a:cs typeface="Hubot Sans Bold" pitchFamily="34" charset="-120"/>
              </a:rPr>
              <a:t>4. Privacy-Preserving Storage &amp; Retrieval</a:t>
            </a:r>
            <a:endParaRPr lang="en-US" sz="1450" dirty="0"/>
          </a:p>
        </p:txBody>
      </p:sp>
      <p:sp>
        <p:nvSpPr>
          <p:cNvPr id="20" name="Text 18"/>
          <p:cNvSpPr/>
          <p:nvPr/>
        </p:nvSpPr>
        <p:spPr>
          <a:xfrm>
            <a:off x="941189" y="5349121"/>
            <a:ext cx="6152912" cy="471488"/>
          </a:xfrm>
          <a:prstGeom prst="rect">
            <a:avLst/>
          </a:prstGeom>
          <a:noFill/>
          <a:ln/>
        </p:spPr>
        <p:txBody>
          <a:bodyPr wrap="square" lIns="0" tIns="0" rIns="0" bIns="0" rtlCol="0" anchor="t"/>
          <a:lstStyle/>
          <a:p>
            <a:pPr marL="0" indent="0" algn="ctr">
              <a:lnSpc>
                <a:spcPts val="1850"/>
              </a:lnSpc>
              <a:buNone/>
            </a:pPr>
            <a:r>
              <a:rPr lang="en-US" sz="1150" dirty="0">
                <a:solidFill>
                  <a:srgbClr val="000000"/>
                </a:solidFill>
                <a:latin typeface="Roboto Condensed" pitchFamily="34" charset="0"/>
                <a:ea typeface="Roboto Condensed" pitchFamily="34" charset="-122"/>
                <a:cs typeface="Roboto Condensed" pitchFamily="34" charset="-120"/>
              </a:rPr>
              <a:t>Develop a highly secure architecture for storing and retrieving personal data, ensuring end-to-end privacy and compliance with global data protection regulations.</a:t>
            </a:r>
            <a:endParaRPr lang="en-US" sz="1150" dirty="0"/>
          </a:p>
        </p:txBody>
      </p:sp>
      <p:sp>
        <p:nvSpPr>
          <p:cNvPr id="21" name="Text 19"/>
          <p:cNvSpPr/>
          <p:nvPr/>
        </p:nvSpPr>
        <p:spPr>
          <a:xfrm>
            <a:off x="941189" y="5908953"/>
            <a:ext cx="6152912" cy="471488"/>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Deliverables:</a:t>
            </a:r>
            <a:r>
              <a:rPr lang="en-US" sz="1150" dirty="0">
                <a:solidFill>
                  <a:srgbClr val="000000"/>
                </a:solidFill>
                <a:latin typeface="Roboto Condensed" pitchFamily="34" charset="0"/>
                <a:ea typeface="Roboto Condensed" pitchFamily="34" charset="-122"/>
                <a:cs typeface="Roboto Condensed" pitchFamily="34" charset="-120"/>
              </a:rPr>
              <a:t> Encrypted local and cloud storage solutions, robust access control mechanisms, privacy policy and user consent flows.</a:t>
            </a:r>
            <a:endParaRPr lang="en-US" sz="1150" dirty="0"/>
          </a:p>
        </p:txBody>
      </p:sp>
      <p:sp>
        <p:nvSpPr>
          <p:cNvPr id="22" name="Text 20"/>
          <p:cNvSpPr/>
          <p:nvPr/>
        </p:nvSpPr>
        <p:spPr>
          <a:xfrm>
            <a:off x="941189" y="6431994"/>
            <a:ext cx="6152912" cy="471488"/>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Success Criteria:</a:t>
            </a:r>
            <a:r>
              <a:rPr lang="en-US" sz="1150" dirty="0">
                <a:solidFill>
                  <a:srgbClr val="000000"/>
                </a:solidFill>
                <a:latin typeface="Roboto Condensed" pitchFamily="34" charset="0"/>
                <a:ea typeface="Roboto Condensed" pitchFamily="34" charset="-122"/>
                <a:cs typeface="Roboto Condensed" pitchFamily="34" charset="-120"/>
              </a:rPr>
              <a:t> Zero data breaches or unauthorized access incidents; 100% compliance with GDPR and CCPA requirements.</a:t>
            </a:r>
            <a:endParaRPr lang="en-US" sz="1150" dirty="0"/>
          </a:p>
        </p:txBody>
      </p:sp>
      <p:sp>
        <p:nvSpPr>
          <p:cNvPr id="23" name="Shape 21"/>
          <p:cNvSpPr/>
          <p:nvPr/>
        </p:nvSpPr>
        <p:spPr>
          <a:xfrm>
            <a:off x="7388900" y="4882991"/>
            <a:ext cx="6447711" cy="2403634"/>
          </a:xfrm>
          <a:prstGeom prst="roundRect">
            <a:avLst>
              <a:gd name="adj" fmla="val 14722"/>
            </a:avLst>
          </a:prstGeom>
          <a:solidFill>
            <a:srgbClr val="C8CAC1">
              <a:alpha val="50000"/>
            </a:srgbClr>
          </a:solidFill>
          <a:ln/>
        </p:spPr>
        <p:txBody>
          <a:bodyPr/>
          <a:lstStyle/>
          <a:p>
            <a:endParaRPr lang="en-US"/>
          </a:p>
        </p:txBody>
      </p:sp>
      <p:sp>
        <p:nvSpPr>
          <p:cNvPr id="24" name="Text 22"/>
          <p:cNvSpPr/>
          <p:nvPr/>
        </p:nvSpPr>
        <p:spPr>
          <a:xfrm>
            <a:off x="8589764" y="5030391"/>
            <a:ext cx="4045982" cy="230386"/>
          </a:xfrm>
          <a:prstGeom prst="rect">
            <a:avLst/>
          </a:prstGeom>
          <a:noFill/>
          <a:ln/>
        </p:spPr>
        <p:txBody>
          <a:bodyPr wrap="none" lIns="0" tIns="0" rIns="0" bIns="0" rtlCol="0" anchor="t"/>
          <a:lstStyle/>
          <a:p>
            <a:pPr marL="0" indent="0" algn="ctr">
              <a:lnSpc>
                <a:spcPts val="1800"/>
              </a:lnSpc>
              <a:buNone/>
            </a:pPr>
            <a:r>
              <a:rPr lang="en-US" sz="1450" b="1" dirty="0">
                <a:solidFill>
                  <a:srgbClr val="000000"/>
                </a:solidFill>
                <a:latin typeface="Hubot Sans Bold" pitchFamily="34" charset="0"/>
                <a:ea typeface="Hubot Sans Bold" pitchFamily="34" charset="-122"/>
                <a:cs typeface="Hubot Sans Bold" pitchFamily="34" charset="-120"/>
              </a:rPr>
              <a:t>5. Deployment, Testing &amp; Refinement</a:t>
            </a:r>
            <a:endParaRPr lang="en-US" sz="1450" dirty="0"/>
          </a:p>
        </p:txBody>
      </p:sp>
      <p:sp>
        <p:nvSpPr>
          <p:cNvPr id="25" name="Text 23"/>
          <p:cNvSpPr/>
          <p:nvPr/>
        </p:nvSpPr>
        <p:spPr>
          <a:xfrm>
            <a:off x="7536299" y="5349121"/>
            <a:ext cx="6152912" cy="471488"/>
          </a:xfrm>
          <a:prstGeom prst="rect">
            <a:avLst/>
          </a:prstGeom>
          <a:noFill/>
          <a:ln/>
        </p:spPr>
        <p:txBody>
          <a:bodyPr wrap="square" lIns="0" tIns="0" rIns="0" bIns="0" rtlCol="0" anchor="t"/>
          <a:lstStyle/>
          <a:p>
            <a:pPr marL="0" indent="0" algn="ctr">
              <a:lnSpc>
                <a:spcPts val="1850"/>
              </a:lnSpc>
              <a:buNone/>
            </a:pPr>
            <a:r>
              <a:rPr lang="en-US" sz="1150" dirty="0">
                <a:solidFill>
                  <a:srgbClr val="000000"/>
                </a:solidFill>
                <a:latin typeface="Roboto Condensed" pitchFamily="34" charset="0"/>
                <a:ea typeface="Roboto Condensed" pitchFamily="34" charset="-122"/>
                <a:cs typeface="Roboto Condensed" pitchFamily="34" charset="-120"/>
              </a:rPr>
              <a:t>Implement an agile deployment process, rigorous testing protocols, and a continuous feedback loop to iteratively refine user-facing features and ensure a high-quality product.</a:t>
            </a:r>
            <a:endParaRPr lang="en-US" sz="1150" dirty="0"/>
          </a:p>
        </p:txBody>
      </p:sp>
      <p:sp>
        <p:nvSpPr>
          <p:cNvPr id="26" name="Text 24"/>
          <p:cNvSpPr/>
          <p:nvPr/>
        </p:nvSpPr>
        <p:spPr>
          <a:xfrm>
            <a:off x="7536299" y="5908953"/>
            <a:ext cx="6152912" cy="471488"/>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Deliverables:</a:t>
            </a:r>
            <a:r>
              <a:rPr lang="en-US" sz="1150" dirty="0">
                <a:solidFill>
                  <a:srgbClr val="000000"/>
                </a:solidFill>
                <a:latin typeface="Roboto Condensed" pitchFamily="34" charset="0"/>
                <a:ea typeface="Roboto Condensed" pitchFamily="34" charset="-122"/>
                <a:cs typeface="Roboto Condensed" pitchFamily="34" charset="-120"/>
              </a:rPr>
              <a:t> Staged deployment pipeline, comprehensive UAT plan, user feedback collection system, rapid iteration cycles.</a:t>
            </a:r>
            <a:endParaRPr lang="en-US" sz="1150" dirty="0"/>
          </a:p>
        </p:txBody>
      </p:sp>
      <p:sp>
        <p:nvSpPr>
          <p:cNvPr id="27" name="Text 25"/>
          <p:cNvSpPr/>
          <p:nvPr/>
        </p:nvSpPr>
        <p:spPr>
          <a:xfrm>
            <a:off x="7536299" y="6431994"/>
            <a:ext cx="6152912" cy="707231"/>
          </a:xfrm>
          <a:prstGeom prst="rect">
            <a:avLst/>
          </a:prstGeom>
          <a:noFill/>
          <a:ln/>
        </p:spPr>
        <p:txBody>
          <a:bodyPr wrap="square" lIns="0" tIns="0" rIns="0" bIns="0" rtlCol="0" anchor="t"/>
          <a:lstStyle/>
          <a:p>
            <a:pPr marL="342900" indent="-342900" algn="l">
              <a:lnSpc>
                <a:spcPts val="1850"/>
              </a:lnSpc>
              <a:buSzPct val="100000"/>
              <a:buChar char="•"/>
            </a:pPr>
            <a:r>
              <a:rPr lang="en-US" sz="1150" b="1" dirty="0">
                <a:solidFill>
                  <a:srgbClr val="000000"/>
                </a:solidFill>
                <a:latin typeface="Roboto Condensed" pitchFamily="34" charset="0"/>
                <a:ea typeface="Roboto Condensed" pitchFamily="34" charset="-122"/>
                <a:cs typeface="Roboto Condensed" pitchFamily="34" charset="-120"/>
              </a:rPr>
              <a:t>Success Criteria:</a:t>
            </a:r>
            <a:r>
              <a:rPr lang="en-US" sz="1150" dirty="0">
                <a:solidFill>
                  <a:srgbClr val="000000"/>
                </a:solidFill>
                <a:latin typeface="Roboto Condensed" pitchFamily="34" charset="0"/>
                <a:ea typeface="Roboto Condensed" pitchFamily="34" charset="-122"/>
                <a:cs typeface="Roboto Condensed" pitchFamily="34" charset="-120"/>
              </a:rPr>
              <a:t>System is deployed smoothly across stages, passes all UAT tests, and incorporates user feedback effectively to enhance stability and user experience.</a:t>
            </a:r>
            <a:endParaRPr lang="en-US" sz="1150" dirty="0"/>
          </a:p>
        </p:txBody>
      </p:sp>
      <p:pic>
        <p:nvPicPr>
          <p:cNvPr id="29" name="Picture 28">
            <a:extLst>
              <a:ext uri="{FF2B5EF4-FFF2-40B4-BE49-F238E27FC236}">
                <a16:creationId xmlns:a16="http://schemas.microsoft.com/office/drawing/2014/main" id="{A1DF559A-F7F3-96A7-02C9-95F6A3A3D111}"/>
              </a:ext>
            </a:extLst>
          </p:cNvPr>
          <p:cNvPicPr>
            <a:picLocks noChangeAspect="1"/>
          </p:cNvPicPr>
          <p:nvPr/>
        </p:nvPicPr>
        <p:blipFill>
          <a:blip r:embed="rId3"/>
          <a:stretch>
            <a:fillRect/>
          </a:stretch>
        </p:blipFill>
        <p:spPr>
          <a:xfrm>
            <a:off x="12321924" y="7467494"/>
            <a:ext cx="3029373" cy="76210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369873" y="694492"/>
            <a:ext cx="2466737" cy="807958"/>
          </a:xfrm>
          <a:prstGeom prst="rect">
            <a:avLst/>
          </a:prstGeom>
        </p:spPr>
      </p:pic>
      <p:sp>
        <p:nvSpPr>
          <p:cNvPr id="3" name="Text 0"/>
          <p:cNvSpPr/>
          <p:nvPr/>
        </p:nvSpPr>
        <p:spPr>
          <a:xfrm>
            <a:off x="793790" y="1842611"/>
            <a:ext cx="6610469" cy="708779"/>
          </a:xfrm>
          <a:prstGeom prst="rect">
            <a:avLst/>
          </a:prstGeom>
          <a:noFill/>
          <a:ln/>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Literature Survey </a:t>
            </a:r>
            <a:endParaRPr lang="en-US" sz="4450" dirty="0"/>
          </a:p>
        </p:txBody>
      </p:sp>
      <p:sp>
        <p:nvSpPr>
          <p:cNvPr id="4" name="Text 1"/>
          <p:cNvSpPr/>
          <p:nvPr/>
        </p:nvSpPr>
        <p:spPr>
          <a:xfrm>
            <a:off x="793790" y="2891552"/>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Recent research advances AI-powered personal memory search and wellbeing analytics, but most systems lack true multi-platform integration and user privacy. Echo aims to solve these gaps with unified, semantic, and actionable memory recall across browser, Gmail, and YouTube.</a:t>
            </a:r>
            <a:endParaRPr lang="en-US" sz="1750" dirty="0"/>
          </a:p>
        </p:txBody>
      </p:sp>
      <p:sp>
        <p:nvSpPr>
          <p:cNvPr id="5" name="Text 2"/>
          <p:cNvSpPr/>
          <p:nvPr/>
        </p:nvSpPr>
        <p:spPr>
          <a:xfrm>
            <a:off x="793790" y="3872508"/>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Unified structure and content search.: Makes it easier to search for information across emails, folders, and notes by combining different types of data.</a:t>
            </a:r>
            <a:endParaRPr lang="en-US" sz="1750" dirty="0"/>
          </a:p>
        </p:txBody>
      </p:sp>
      <p:sp>
        <p:nvSpPr>
          <p:cNvPr id="6" name="Text 3"/>
          <p:cNvSpPr/>
          <p:nvPr/>
        </p:nvSpPr>
        <p:spPr>
          <a:xfrm>
            <a:off x="793790" y="4677608"/>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Retrieval-Augmented Generation.: Uses AI to get relevant answers by fetching and generating responses from stored information, improving accuracy.</a:t>
            </a:r>
            <a:endParaRPr lang="en-US" sz="1750" dirty="0"/>
          </a:p>
        </p:txBody>
      </p:sp>
      <p:sp>
        <p:nvSpPr>
          <p:cNvPr id="7" name="Text 4"/>
          <p:cNvSpPr/>
          <p:nvPr/>
        </p:nvSpPr>
        <p:spPr>
          <a:xfrm>
            <a:off x="793790" y="548270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Microsoft Patent: Lets you search your browser history with AI that understands your question, making it faster to find past websites.</a:t>
            </a:r>
            <a:endParaRPr lang="en-US" sz="1750" dirty="0"/>
          </a:p>
        </p:txBody>
      </p:sp>
      <p:sp>
        <p:nvSpPr>
          <p:cNvPr id="8" name="Text 5"/>
          <p:cNvSpPr/>
          <p:nvPr/>
        </p:nvSpPr>
        <p:spPr>
          <a:xfrm>
            <a:off x="793790" y="592490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JMIR Review: Explains how AI tools can track your digital habits and help you improve your screen-time balance.</a:t>
            </a:r>
            <a:endParaRPr lang="en-US" sz="1750" dirty="0"/>
          </a:p>
        </p:txBody>
      </p:sp>
      <p:sp>
        <p:nvSpPr>
          <p:cNvPr id="9" name="Text 6"/>
          <p:cNvSpPr/>
          <p:nvPr/>
        </p:nvSpPr>
        <p:spPr>
          <a:xfrm>
            <a:off x="793790" y="636710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browsing behavior analysis: Analyzes browsing behaviors using data mining, helping figure out patterns of productivity and distraction.</a:t>
            </a:r>
            <a:endParaRPr lang="en-US" sz="1750" dirty="0"/>
          </a:p>
        </p:txBody>
      </p:sp>
      <p:sp>
        <p:nvSpPr>
          <p:cNvPr id="10" name="Text 7"/>
          <p:cNvSpPr/>
          <p:nvPr/>
        </p:nvSpPr>
        <p:spPr>
          <a:xfrm>
            <a:off x="793790" y="6809303"/>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PersonaRAG Contextual Agents.: Introduces agents that give personalized responses and recommendations by understanding a user's context and information needs.</a:t>
            </a:r>
            <a:endParaRPr lang="en-US" sz="1750" dirty="0"/>
          </a:p>
        </p:txBody>
      </p:sp>
      <p:pic>
        <p:nvPicPr>
          <p:cNvPr id="12" name="Picture 11">
            <a:extLst>
              <a:ext uri="{FF2B5EF4-FFF2-40B4-BE49-F238E27FC236}">
                <a16:creationId xmlns:a16="http://schemas.microsoft.com/office/drawing/2014/main" id="{9109AAF9-4536-2678-86AB-EF7602ECF2D7}"/>
              </a:ext>
            </a:extLst>
          </p:cNvPr>
          <p:cNvPicPr>
            <a:picLocks noChangeAspect="1"/>
          </p:cNvPicPr>
          <p:nvPr/>
        </p:nvPicPr>
        <p:blipFill>
          <a:blip r:embed="rId4"/>
          <a:stretch>
            <a:fillRect/>
          </a:stretch>
        </p:blipFill>
        <p:spPr>
          <a:xfrm>
            <a:off x="11744113" y="7535108"/>
            <a:ext cx="3029373" cy="76210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289512" y="722352"/>
            <a:ext cx="1565672" cy="512802"/>
          </a:xfrm>
          <a:prstGeom prst="rect">
            <a:avLst/>
          </a:prstGeom>
        </p:spPr>
      </p:pic>
      <p:sp>
        <p:nvSpPr>
          <p:cNvPr id="3" name="Text 0"/>
          <p:cNvSpPr/>
          <p:nvPr/>
        </p:nvSpPr>
        <p:spPr>
          <a:xfrm>
            <a:off x="775216" y="1451015"/>
            <a:ext cx="5661660" cy="449818"/>
          </a:xfrm>
          <a:prstGeom prst="rect">
            <a:avLst/>
          </a:prstGeom>
          <a:noFill/>
          <a:ln/>
        </p:spPr>
        <p:txBody>
          <a:bodyPr wrap="none" lIns="0" tIns="0" rIns="0" bIns="0" rtlCol="0" anchor="t"/>
          <a:lstStyle/>
          <a:p>
            <a:pPr marL="0" indent="0" algn="l">
              <a:lnSpc>
                <a:spcPts val="3500"/>
              </a:lnSpc>
              <a:buNone/>
            </a:pPr>
            <a:r>
              <a:rPr lang="en-US" sz="2800" b="1" dirty="0">
                <a:solidFill>
                  <a:srgbClr val="0C0D0F"/>
                </a:solidFill>
                <a:latin typeface="Hubot Sans Bold" pitchFamily="34" charset="0"/>
                <a:ea typeface="Hubot Sans Bold" pitchFamily="34" charset="-122"/>
                <a:cs typeface="Hubot Sans Bold" pitchFamily="34" charset="-120"/>
              </a:rPr>
              <a:t>Literature Survey – Table</a:t>
            </a:r>
            <a:endParaRPr lang="en-US" sz="2800" dirty="0"/>
          </a:p>
        </p:txBody>
      </p:sp>
      <p:sp>
        <p:nvSpPr>
          <p:cNvPr id="4" name="Shape 1"/>
          <p:cNvSpPr/>
          <p:nvPr/>
        </p:nvSpPr>
        <p:spPr>
          <a:xfrm>
            <a:off x="775216" y="2116693"/>
            <a:ext cx="13079968" cy="5390436"/>
          </a:xfrm>
          <a:prstGeom prst="roundRect">
            <a:avLst>
              <a:gd name="adj" fmla="val 401"/>
            </a:avLst>
          </a:prstGeom>
          <a:noFill/>
          <a:ln w="7620">
            <a:solidFill>
              <a:srgbClr val="000000">
                <a:alpha val="8000"/>
              </a:srgbClr>
            </a:solidFill>
            <a:prstDash val="solid"/>
          </a:ln>
        </p:spPr>
        <p:txBody>
          <a:bodyPr/>
          <a:lstStyle/>
          <a:p>
            <a:endParaRPr lang="en-US"/>
          </a:p>
        </p:txBody>
      </p:sp>
      <p:sp>
        <p:nvSpPr>
          <p:cNvPr id="5" name="Shape 2"/>
          <p:cNvSpPr/>
          <p:nvPr/>
        </p:nvSpPr>
        <p:spPr>
          <a:xfrm>
            <a:off x="782836" y="2124313"/>
            <a:ext cx="13064728" cy="418147"/>
          </a:xfrm>
          <a:prstGeom prst="rect">
            <a:avLst/>
          </a:prstGeom>
          <a:solidFill>
            <a:srgbClr val="FFFFFF">
              <a:alpha val="4000"/>
            </a:srgbClr>
          </a:solidFill>
          <a:ln/>
        </p:spPr>
        <p:txBody>
          <a:bodyPr/>
          <a:lstStyle/>
          <a:p>
            <a:endParaRPr lang="en-US"/>
          </a:p>
        </p:txBody>
      </p:sp>
      <p:sp>
        <p:nvSpPr>
          <p:cNvPr id="6" name="Text 3"/>
          <p:cNvSpPr/>
          <p:nvPr/>
        </p:nvSpPr>
        <p:spPr>
          <a:xfrm>
            <a:off x="927021" y="2218253"/>
            <a:ext cx="2974419" cy="230267"/>
          </a:xfrm>
          <a:prstGeom prst="rect">
            <a:avLst/>
          </a:prstGeom>
          <a:noFill/>
          <a:ln/>
        </p:spPr>
        <p:txBody>
          <a:bodyPr wrap="none" lIns="0" tIns="0" rIns="0" bIns="0" rtlCol="0" anchor="t"/>
          <a:lstStyle/>
          <a:p>
            <a:pPr marL="0" indent="0" algn="l">
              <a:lnSpc>
                <a:spcPts val="1800"/>
              </a:lnSpc>
              <a:buNone/>
            </a:pPr>
            <a:r>
              <a:rPr lang="en-US" sz="1100" b="1" dirty="0">
                <a:solidFill>
                  <a:srgbClr val="55575A"/>
                </a:solidFill>
                <a:latin typeface="Roboto Condensed" pitchFamily="34" charset="0"/>
                <a:ea typeface="Roboto Condensed" pitchFamily="34" charset="-122"/>
                <a:cs typeface="Roboto Condensed" pitchFamily="34" charset="-120"/>
              </a:rPr>
              <a:t>Details of Paper (Title, Author, Conference/Journal)</a:t>
            </a:r>
            <a:endParaRPr lang="en-US" sz="1100" dirty="0"/>
          </a:p>
        </p:txBody>
      </p:sp>
      <p:sp>
        <p:nvSpPr>
          <p:cNvPr id="7" name="Text 4"/>
          <p:cNvSpPr/>
          <p:nvPr/>
        </p:nvSpPr>
        <p:spPr>
          <a:xfrm>
            <a:off x="4196953" y="2218253"/>
            <a:ext cx="2970609" cy="230267"/>
          </a:xfrm>
          <a:prstGeom prst="rect">
            <a:avLst/>
          </a:prstGeom>
          <a:noFill/>
          <a:ln/>
        </p:spPr>
        <p:txBody>
          <a:bodyPr wrap="none" lIns="0" tIns="0" rIns="0" bIns="0" rtlCol="0" anchor="t"/>
          <a:lstStyle/>
          <a:p>
            <a:pPr marL="0" indent="0" algn="l">
              <a:lnSpc>
                <a:spcPts val="1800"/>
              </a:lnSpc>
              <a:buNone/>
            </a:pPr>
            <a:r>
              <a:rPr lang="en-US" sz="1100" b="1" dirty="0">
                <a:solidFill>
                  <a:srgbClr val="55575A"/>
                </a:solidFill>
                <a:latin typeface="Roboto Condensed" pitchFamily="34" charset="0"/>
                <a:ea typeface="Roboto Condensed" pitchFamily="34" charset="-122"/>
                <a:cs typeface="Roboto Condensed" pitchFamily="34" charset="-120"/>
              </a:rPr>
              <a:t>Methodology Used</a:t>
            </a:r>
            <a:endParaRPr lang="en-US" sz="1100" dirty="0"/>
          </a:p>
        </p:txBody>
      </p:sp>
      <p:sp>
        <p:nvSpPr>
          <p:cNvPr id="8" name="Text 5"/>
          <p:cNvSpPr/>
          <p:nvPr/>
        </p:nvSpPr>
        <p:spPr>
          <a:xfrm>
            <a:off x="7463076" y="2218253"/>
            <a:ext cx="2970609" cy="230267"/>
          </a:xfrm>
          <a:prstGeom prst="rect">
            <a:avLst/>
          </a:prstGeom>
          <a:noFill/>
          <a:ln/>
        </p:spPr>
        <p:txBody>
          <a:bodyPr wrap="none" lIns="0" tIns="0" rIns="0" bIns="0" rtlCol="0" anchor="t"/>
          <a:lstStyle/>
          <a:p>
            <a:pPr marL="0" indent="0" algn="l">
              <a:lnSpc>
                <a:spcPts val="1800"/>
              </a:lnSpc>
              <a:buNone/>
            </a:pPr>
            <a:r>
              <a:rPr lang="en-US" sz="1100" b="1" dirty="0">
                <a:solidFill>
                  <a:srgbClr val="55575A"/>
                </a:solidFill>
                <a:latin typeface="Roboto Condensed" pitchFamily="34" charset="0"/>
                <a:ea typeface="Roboto Condensed" pitchFamily="34" charset="-122"/>
                <a:cs typeface="Roboto Condensed" pitchFamily="34" charset="-120"/>
              </a:rPr>
              <a:t>Result</a:t>
            </a:r>
            <a:endParaRPr lang="en-US" sz="1100" dirty="0"/>
          </a:p>
        </p:txBody>
      </p:sp>
      <p:sp>
        <p:nvSpPr>
          <p:cNvPr id="9" name="Text 6"/>
          <p:cNvSpPr/>
          <p:nvPr/>
        </p:nvSpPr>
        <p:spPr>
          <a:xfrm>
            <a:off x="10729198" y="2218253"/>
            <a:ext cx="2974419" cy="230267"/>
          </a:xfrm>
          <a:prstGeom prst="rect">
            <a:avLst/>
          </a:prstGeom>
          <a:noFill/>
          <a:ln/>
        </p:spPr>
        <p:txBody>
          <a:bodyPr wrap="none" lIns="0" tIns="0" rIns="0" bIns="0" rtlCol="0" anchor="t"/>
          <a:lstStyle/>
          <a:p>
            <a:pPr marL="0" indent="0" algn="l">
              <a:lnSpc>
                <a:spcPts val="1800"/>
              </a:lnSpc>
              <a:buNone/>
            </a:pPr>
            <a:r>
              <a:rPr lang="en-US" sz="1100" b="1" dirty="0">
                <a:solidFill>
                  <a:srgbClr val="55575A"/>
                </a:solidFill>
                <a:latin typeface="Roboto Condensed" pitchFamily="34" charset="0"/>
                <a:ea typeface="Roboto Condensed" pitchFamily="34" charset="-122"/>
                <a:cs typeface="Roboto Condensed" pitchFamily="34" charset="-120"/>
              </a:rPr>
              <a:t>Limitations</a:t>
            </a:r>
            <a:endParaRPr lang="en-US" sz="1100" dirty="0"/>
          </a:p>
        </p:txBody>
      </p:sp>
      <p:sp>
        <p:nvSpPr>
          <p:cNvPr id="10" name="Shape 7"/>
          <p:cNvSpPr/>
          <p:nvPr/>
        </p:nvSpPr>
        <p:spPr>
          <a:xfrm>
            <a:off x="782836" y="2542461"/>
            <a:ext cx="13064728" cy="878681"/>
          </a:xfrm>
          <a:prstGeom prst="rect">
            <a:avLst/>
          </a:prstGeom>
          <a:solidFill>
            <a:srgbClr val="000000">
              <a:alpha val="4000"/>
            </a:srgbClr>
          </a:solidFill>
          <a:ln/>
        </p:spPr>
        <p:txBody>
          <a:bodyPr/>
          <a:lstStyle/>
          <a:p>
            <a:endParaRPr lang="en-US"/>
          </a:p>
        </p:txBody>
      </p:sp>
      <p:sp>
        <p:nvSpPr>
          <p:cNvPr id="11" name="Text 8"/>
          <p:cNvSpPr/>
          <p:nvPr/>
        </p:nvSpPr>
        <p:spPr>
          <a:xfrm>
            <a:off x="927021" y="2636401"/>
            <a:ext cx="2974419" cy="460534"/>
          </a:xfrm>
          <a:prstGeom prst="rect">
            <a:avLst/>
          </a:prstGeom>
          <a:noFill/>
          <a:ln/>
        </p:spPr>
        <p:txBody>
          <a:bodyPr wrap="square" lIns="0" tIns="0" rIns="0" bIns="0" rtlCol="0" anchor="t"/>
          <a:lstStyle/>
          <a:p>
            <a:pPr marL="0" indent="0" algn="l">
              <a:lnSpc>
                <a:spcPts val="1800"/>
              </a:lnSpc>
              <a:buNone/>
            </a:pPr>
            <a:r>
              <a:rPr lang="en-US" sz="1100" i="1" dirty="0">
                <a:solidFill>
                  <a:srgbClr val="55575A"/>
                </a:solidFill>
                <a:latin typeface="Roboto Condensed" pitchFamily="34" charset="0"/>
                <a:ea typeface="Roboto Condensed" pitchFamily="34" charset="-122"/>
                <a:cs typeface="Roboto Condensed" pitchFamily="34" charset="-120"/>
              </a:rPr>
              <a:t>Cognitive Workspace: Active Memory Management for LLMs</a:t>
            </a:r>
            <a:r>
              <a:rPr lang="en-US" sz="1100" dirty="0">
                <a:solidFill>
                  <a:srgbClr val="55575A"/>
                </a:solidFill>
                <a:latin typeface="Roboto Condensed" pitchFamily="34" charset="0"/>
                <a:ea typeface="Roboto Condensed" pitchFamily="34" charset="-122"/>
                <a:cs typeface="Roboto Condensed" pitchFamily="34" charset="-120"/>
              </a:rPr>
              <a:t> – Chen, K., et al., 2025 (arXiv)</a:t>
            </a:r>
            <a:endParaRPr lang="en-US" sz="1100" dirty="0"/>
          </a:p>
        </p:txBody>
      </p:sp>
      <p:sp>
        <p:nvSpPr>
          <p:cNvPr id="12" name="Text 9"/>
          <p:cNvSpPr/>
          <p:nvPr/>
        </p:nvSpPr>
        <p:spPr>
          <a:xfrm>
            <a:off x="4196953" y="2636401"/>
            <a:ext cx="2970609" cy="690801"/>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Empirical study on AI memory mechanisms. Uses long-context retention and active memory filtering to keep only important past interactions.</a:t>
            </a:r>
            <a:endParaRPr lang="en-US" sz="1100" dirty="0"/>
          </a:p>
        </p:txBody>
      </p:sp>
      <p:sp>
        <p:nvSpPr>
          <p:cNvPr id="13" name="Text 10"/>
          <p:cNvSpPr/>
          <p:nvPr/>
        </p:nvSpPr>
        <p:spPr>
          <a:xfrm>
            <a:off x="7463076" y="2636401"/>
            <a:ext cx="297060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Demonstrates that AI can retain relevant context over long sessions, improving response continuity .</a:t>
            </a:r>
            <a:endParaRPr lang="en-US" sz="1100" dirty="0"/>
          </a:p>
        </p:txBody>
      </p:sp>
      <p:sp>
        <p:nvSpPr>
          <p:cNvPr id="14" name="Text 11"/>
          <p:cNvSpPr/>
          <p:nvPr/>
        </p:nvSpPr>
        <p:spPr>
          <a:xfrm>
            <a:off x="10729198" y="2636401"/>
            <a:ext cx="2974419" cy="690801"/>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Designed mainly for conversational AI, not for digital history or multi-platform data. Requires high computation for storing extended memory.</a:t>
            </a:r>
            <a:endParaRPr lang="en-US" sz="1100" dirty="0"/>
          </a:p>
        </p:txBody>
      </p:sp>
      <p:sp>
        <p:nvSpPr>
          <p:cNvPr id="15" name="Shape 12"/>
          <p:cNvSpPr/>
          <p:nvPr/>
        </p:nvSpPr>
        <p:spPr>
          <a:xfrm>
            <a:off x="782836" y="3421142"/>
            <a:ext cx="13064728" cy="648414"/>
          </a:xfrm>
          <a:prstGeom prst="rect">
            <a:avLst/>
          </a:prstGeom>
          <a:solidFill>
            <a:srgbClr val="FFFFFF">
              <a:alpha val="4000"/>
            </a:srgbClr>
          </a:solidFill>
          <a:ln/>
        </p:spPr>
        <p:txBody>
          <a:bodyPr/>
          <a:lstStyle/>
          <a:p>
            <a:endParaRPr lang="en-US"/>
          </a:p>
        </p:txBody>
      </p:sp>
      <p:sp>
        <p:nvSpPr>
          <p:cNvPr id="16" name="Text 13"/>
          <p:cNvSpPr/>
          <p:nvPr/>
        </p:nvSpPr>
        <p:spPr>
          <a:xfrm>
            <a:off x="927021" y="3515082"/>
            <a:ext cx="297441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Retrieval-Augmented Generation, Lewis et al. -  NeurIPS</a:t>
            </a:r>
            <a:endParaRPr lang="en-US" sz="1100" dirty="0"/>
          </a:p>
        </p:txBody>
      </p:sp>
      <p:sp>
        <p:nvSpPr>
          <p:cNvPr id="17" name="Text 14"/>
          <p:cNvSpPr/>
          <p:nvPr/>
        </p:nvSpPr>
        <p:spPr>
          <a:xfrm>
            <a:off x="4196953" y="3515082"/>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AI model fetches supporting info before reply</a:t>
            </a:r>
            <a:endParaRPr lang="en-US" sz="1100" dirty="0"/>
          </a:p>
        </p:txBody>
      </p:sp>
      <p:sp>
        <p:nvSpPr>
          <p:cNvPr id="18" name="Text 15"/>
          <p:cNvSpPr/>
          <p:nvPr/>
        </p:nvSpPr>
        <p:spPr>
          <a:xfrm>
            <a:off x="7463076" y="3515082"/>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Answers are more accurate and backed by data</a:t>
            </a:r>
            <a:endParaRPr lang="en-US" sz="1100" dirty="0"/>
          </a:p>
        </p:txBody>
      </p:sp>
      <p:sp>
        <p:nvSpPr>
          <p:cNvPr id="19" name="Text 16"/>
          <p:cNvSpPr/>
          <p:nvPr/>
        </p:nvSpPr>
        <p:spPr>
          <a:xfrm>
            <a:off x="10729198" y="3515082"/>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Not made for personal info</a:t>
            </a:r>
            <a:endParaRPr lang="en-US" sz="1100" dirty="0"/>
          </a:p>
        </p:txBody>
      </p:sp>
      <p:sp>
        <p:nvSpPr>
          <p:cNvPr id="20" name="Shape 17"/>
          <p:cNvSpPr/>
          <p:nvPr/>
        </p:nvSpPr>
        <p:spPr>
          <a:xfrm>
            <a:off x="782836" y="4069556"/>
            <a:ext cx="13064728" cy="648414"/>
          </a:xfrm>
          <a:prstGeom prst="rect">
            <a:avLst/>
          </a:prstGeom>
          <a:solidFill>
            <a:srgbClr val="000000">
              <a:alpha val="4000"/>
            </a:srgbClr>
          </a:solidFill>
          <a:ln/>
        </p:spPr>
        <p:txBody>
          <a:bodyPr/>
          <a:lstStyle/>
          <a:p>
            <a:endParaRPr lang="en-US"/>
          </a:p>
        </p:txBody>
      </p:sp>
      <p:sp>
        <p:nvSpPr>
          <p:cNvPr id="21" name="Text 18"/>
          <p:cNvSpPr/>
          <p:nvPr/>
        </p:nvSpPr>
        <p:spPr>
          <a:xfrm>
            <a:off x="927021" y="4163497"/>
            <a:ext cx="297441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Microsoft, "Smart Browser History Search," U.S. Patent WO2022265744A1, 2022.</a:t>
            </a:r>
            <a:endParaRPr lang="en-US" sz="1100" dirty="0"/>
          </a:p>
        </p:txBody>
      </p:sp>
      <p:sp>
        <p:nvSpPr>
          <p:cNvPr id="22" name="Text 19"/>
          <p:cNvSpPr/>
          <p:nvPr/>
        </p:nvSpPr>
        <p:spPr>
          <a:xfrm>
            <a:off x="4196953" y="4163497"/>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Uses NLP and semantic indexing</a:t>
            </a:r>
            <a:endParaRPr lang="en-US" sz="1100" dirty="0"/>
          </a:p>
        </p:txBody>
      </p:sp>
      <p:sp>
        <p:nvSpPr>
          <p:cNvPr id="23" name="Text 20"/>
          <p:cNvSpPr/>
          <p:nvPr/>
        </p:nvSpPr>
        <p:spPr>
          <a:xfrm>
            <a:off x="7463076" y="4163497"/>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Lets users ask natural questions about web history</a:t>
            </a:r>
            <a:endParaRPr lang="en-US" sz="1100" dirty="0"/>
          </a:p>
        </p:txBody>
      </p:sp>
      <p:sp>
        <p:nvSpPr>
          <p:cNvPr id="24" name="Text 21"/>
          <p:cNvSpPr/>
          <p:nvPr/>
        </p:nvSpPr>
        <p:spPr>
          <a:xfrm>
            <a:off x="10729198" y="4163497"/>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Works only for browsing history</a:t>
            </a:r>
            <a:endParaRPr lang="en-US" sz="1100" dirty="0"/>
          </a:p>
        </p:txBody>
      </p:sp>
      <p:sp>
        <p:nvSpPr>
          <p:cNvPr id="25" name="Shape 22"/>
          <p:cNvSpPr/>
          <p:nvPr/>
        </p:nvSpPr>
        <p:spPr>
          <a:xfrm>
            <a:off x="782836" y="4717971"/>
            <a:ext cx="13064728" cy="418147"/>
          </a:xfrm>
          <a:prstGeom prst="rect">
            <a:avLst/>
          </a:prstGeom>
          <a:solidFill>
            <a:srgbClr val="FFFFFF">
              <a:alpha val="4000"/>
            </a:srgbClr>
          </a:solidFill>
          <a:ln/>
        </p:spPr>
        <p:txBody>
          <a:bodyPr/>
          <a:lstStyle/>
          <a:p>
            <a:endParaRPr lang="en-US"/>
          </a:p>
        </p:txBody>
      </p:sp>
      <p:sp>
        <p:nvSpPr>
          <p:cNvPr id="26" name="Text 23"/>
          <p:cNvSpPr/>
          <p:nvPr/>
        </p:nvSpPr>
        <p:spPr>
          <a:xfrm>
            <a:off x="927021" y="4811911"/>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Review: Human-Centered AI for Wellbeing, - JMIR</a:t>
            </a:r>
            <a:endParaRPr lang="en-US" sz="1100" dirty="0"/>
          </a:p>
        </p:txBody>
      </p:sp>
      <p:sp>
        <p:nvSpPr>
          <p:cNvPr id="27" name="Text 24"/>
          <p:cNvSpPr/>
          <p:nvPr/>
        </p:nvSpPr>
        <p:spPr>
          <a:xfrm>
            <a:off x="4196953" y="4811911"/>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Compares AI digital wellbeing tools</a:t>
            </a:r>
            <a:endParaRPr lang="en-US" sz="1100" dirty="0"/>
          </a:p>
        </p:txBody>
      </p:sp>
      <p:sp>
        <p:nvSpPr>
          <p:cNvPr id="28" name="Text 25"/>
          <p:cNvSpPr/>
          <p:nvPr/>
        </p:nvSpPr>
        <p:spPr>
          <a:xfrm>
            <a:off x="7463076" y="4811911"/>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Shows AI can help manage screen time and habits</a:t>
            </a:r>
            <a:endParaRPr lang="en-US" sz="1100" dirty="0"/>
          </a:p>
        </p:txBody>
      </p:sp>
      <p:sp>
        <p:nvSpPr>
          <p:cNvPr id="29" name="Text 26"/>
          <p:cNvSpPr/>
          <p:nvPr/>
        </p:nvSpPr>
        <p:spPr>
          <a:xfrm>
            <a:off x="10729198" y="4811911"/>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Tools are often hard to customize</a:t>
            </a:r>
            <a:endParaRPr lang="en-US" sz="1100" dirty="0"/>
          </a:p>
        </p:txBody>
      </p:sp>
      <p:sp>
        <p:nvSpPr>
          <p:cNvPr id="30" name="Shape 27"/>
          <p:cNvSpPr/>
          <p:nvPr/>
        </p:nvSpPr>
        <p:spPr>
          <a:xfrm>
            <a:off x="782836" y="5136118"/>
            <a:ext cx="13064728" cy="418147"/>
          </a:xfrm>
          <a:prstGeom prst="rect">
            <a:avLst/>
          </a:prstGeom>
          <a:solidFill>
            <a:srgbClr val="000000">
              <a:alpha val="4000"/>
            </a:srgbClr>
          </a:solidFill>
          <a:ln/>
        </p:spPr>
        <p:txBody>
          <a:bodyPr/>
          <a:lstStyle/>
          <a:p>
            <a:endParaRPr lang="en-US"/>
          </a:p>
        </p:txBody>
      </p:sp>
      <p:sp>
        <p:nvSpPr>
          <p:cNvPr id="31" name="Text 28"/>
          <p:cNvSpPr/>
          <p:nvPr/>
        </p:nvSpPr>
        <p:spPr>
          <a:xfrm>
            <a:off x="927021" y="5230058"/>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Browsing Behaviour Analysis, IJ 2019- IEEE</a:t>
            </a:r>
            <a:endParaRPr lang="en-US" sz="1100" dirty="0"/>
          </a:p>
        </p:txBody>
      </p:sp>
      <p:sp>
        <p:nvSpPr>
          <p:cNvPr id="32" name="Text 29"/>
          <p:cNvSpPr/>
          <p:nvPr/>
        </p:nvSpPr>
        <p:spPr>
          <a:xfrm>
            <a:off x="4196953" y="5230058"/>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Data mining on browsing logs</a:t>
            </a:r>
            <a:endParaRPr lang="en-US" sz="1100" dirty="0"/>
          </a:p>
        </p:txBody>
      </p:sp>
      <p:sp>
        <p:nvSpPr>
          <p:cNvPr id="33" name="Text 30"/>
          <p:cNvSpPr/>
          <p:nvPr/>
        </p:nvSpPr>
        <p:spPr>
          <a:xfrm>
            <a:off x="7463076" y="5230058"/>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Finds patterns of focus and distraction online</a:t>
            </a:r>
            <a:endParaRPr lang="en-US" sz="1100" dirty="0"/>
          </a:p>
        </p:txBody>
      </p:sp>
      <p:sp>
        <p:nvSpPr>
          <p:cNvPr id="34" name="Text 31"/>
          <p:cNvSpPr/>
          <p:nvPr/>
        </p:nvSpPr>
        <p:spPr>
          <a:xfrm>
            <a:off x="10729198" y="5230058"/>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Only analyzes browser, not email</a:t>
            </a:r>
            <a:endParaRPr lang="en-US" sz="1100" dirty="0"/>
          </a:p>
        </p:txBody>
      </p:sp>
      <p:sp>
        <p:nvSpPr>
          <p:cNvPr id="35" name="Shape 32"/>
          <p:cNvSpPr/>
          <p:nvPr/>
        </p:nvSpPr>
        <p:spPr>
          <a:xfrm>
            <a:off x="782836" y="5554266"/>
            <a:ext cx="13064728" cy="418147"/>
          </a:xfrm>
          <a:prstGeom prst="rect">
            <a:avLst/>
          </a:prstGeom>
          <a:solidFill>
            <a:srgbClr val="FFFFFF">
              <a:alpha val="4000"/>
            </a:srgbClr>
          </a:solidFill>
          <a:ln/>
        </p:spPr>
        <p:txBody>
          <a:bodyPr/>
          <a:lstStyle/>
          <a:p>
            <a:endParaRPr lang="en-US"/>
          </a:p>
        </p:txBody>
      </p:sp>
      <p:sp>
        <p:nvSpPr>
          <p:cNvPr id="36" name="Text 33"/>
          <p:cNvSpPr/>
          <p:nvPr/>
        </p:nvSpPr>
        <p:spPr>
          <a:xfrm>
            <a:off x="927021" y="5648206"/>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PersonaRAG Contextual Agents, Li et al. - arXiv</a:t>
            </a:r>
            <a:endParaRPr lang="en-US" sz="1100" dirty="0"/>
          </a:p>
        </p:txBody>
      </p:sp>
      <p:sp>
        <p:nvSpPr>
          <p:cNvPr id="37" name="Text 34"/>
          <p:cNvSpPr/>
          <p:nvPr/>
        </p:nvSpPr>
        <p:spPr>
          <a:xfrm>
            <a:off x="4196953" y="5648206"/>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Agents tailor answers using user context</a:t>
            </a:r>
            <a:endParaRPr lang="en-US" sz="1100" dirty="0"/>
          </a:p>
        </p:txBody>
      </p:sp>
      <p:sp>
        <p:nvSpPr>
          <p:cNvPr id="38" name="Text 35"/>
          <p:cNvSpPr/>
          <p:nvPr/>
        </p:nvSpPr>
        <p:spPr>
          <a:xfrm>
            <a:off x="7463076" y="5648206"/>
            <a:ext cx="297060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Gives more personal and helpful recommendations</a:t>
            </a:r>
            <a:endParaRPr lang="en-US" sz="1100" dirty="0"/>
          </a:p>
        </p:txBody>
      </p:sp>
      <p:sp>
        <p:nvSpPr>
          <p:cNvPr id="39" name="Text 36"/>
          <p:cNvSpPr/>
          <p:nvPr/>
        </p:nvSpPr>
        <p:spPr>
          <a:xfrm>
            <a:off x="10729198" y="5648206"/>
            <a:ext cx="2974419" cy="230267"/>
          </a:xfrm>
          <a:prstGeom prst="rect">
            <a:avLst/>
          </a:prstGeom>
          <a:noFill/>
          <a:ln/>
        </p:spPr>
        <p:txBody>
          <a:bodyPr wrap="non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Prototype, not in wide use</a:t>
            </a:r>
            <a:endParaRPr lang="en-US" sz="1100" dirty="0"/>
          </a:p>
        </p:txBody>
      </p:sp>
      <p:sp>
        <p:nvSpPr>
          <p:cNvPr id="40" name="Shape 37"/>
          <p:cNvSpPr/>
          <p:nvPr/>
        </p:nvSpPr>
        <p:spPr>
          <a:xfrm>
            <a:off x="782836" y="5972413"/>
            <a:ext cx="13064728" cy="878681"/>
          </a:xfrm>
          <a:prstGeom prst="rect">
            <a:avLst/>
          </a:prstGeom>
          <a:solidFill>
            <a:srgbClr val="000000">
              <a:alpha val="4000"/>
            </a:srgbClr>
          </a:solidFill>
          <a:ln/>
        </p:spPr>
        <p:txBody>
          <a:bodyPr/>
          <a:lstStyle/>
          <a:p>
            <a:endParaRPr lang="en-US"/>
          </a:p>
        </p:txBody>
      </p:sp>
      <p:sp>
        <p:nvSpPr>
          <p:cNvPr id="41" name="Text 38"/>
          <p:cNvSpPr/>
          <p:nvPr/>
        </p:nvSpPr>
        <p:spPr>
          <a:xfrm>
            <a:off x="927021" y="6066353"/>
            <a:ext cx="2974419" cy="690801"/>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On Memory Construction and Retrieval for Personalized Conversational Agents, Zhang et al. - arXiv</a:t>
            </a:r>
            <a:endParaRPr lang="en-US" sz="1100" dirty="0"/>
          </a:p>
        </p:txBody>
      </p:sp>
      <p:sp>
        <p:nvSpPr>
          <p:cNvPr id="42" name="Text 39"/>
          <p:cNvSpPr/>
          <p:nvPr/>
        </p:nvSpPr>
        <p:spPr>
          <a:xfrm>
            <a:off x="4196953" y="6066353"/>
            <a:ext cx="297060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Segments conversation by topic and compresses/denoises each segment</a:t>
            </a:r>
            <a:endParaRPr lang="en-US" sz="1100" dirty="0"/>
          </a:p>
        </p:txBody>
      </p:sp>
      <p:sp>
        <p:nvSpPr>
          <p:cNvPr id="43" name="Text 40"/>
          <p:cNvSpPr/>
          <p:nvPr/>
        </p:nvSpPr>
        <p:spPr>
          <a:xfrm>
            <a:off x="7463076" y="6066353"/>
            <a:ext cx="297060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Finds relevant, noise-free memories for better personalized agent responses</a:t>
            </a:r>
            <a:endParaRPr lang="en-US" sz="1100" dirty="0"/>
          </a:p>
        </p:txBody>
      </p:sp>
      <p:sp>
        <p:nvSpPr>
          <p:cNvPr id="44" name="Text 41"/>
          <p:cNvSpPr/>
          <p:nvPr/>
        </p:nvSpPr>
        <p:spPr>
          <a:xfrm>
            <a:off x="10729198" y="6066353"/>
            <a:ext cx="297441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Needs accurate topic detection and good compression; newer method</a:t>
            </a:r>
            <a:endParaRPr lang="en-US" sz="1100" dirty="0"/>
          </a:p>
        </p:txBody>
      </p:sp>
      <p:sp>
        <p:nvSpPr>
          <p:cNvPr id="45" name="Shape 42"/>
          <p:cNvSpPr/>
          <p:nvPr/>
        </p:nvSpPr>
        <p:spPr>
          <a:xfrm>
            <a:off x="782836" y="6851094"/>
            <a:ext cx="13064728" cy="648414"/>
          </a:xfrm>
          <a:prstGeom prst="rect">
            <a:avLst/>
          </a:prstGeom>
          <a:solidFill>
            <a:srgbClr val="FFFFFF">
              <a:alpha val="4000"/>
            </a:srgbClr>
          </a:solidFill>
          <a:ln/>
        </p:spPr>
        <p:txBody>
          <a:bodyPr/>
          <a:lstStyle/>
          <a:p>
            <a:endParaRPr lang="en-US"/>
          </a:p>
        </p:txBody>
      </p:sp>
      <p:sp>
        <p:nvSpPr>
          <p:cNvPr id="46" name="Text 43"/>
          <p:cNvSpPr/>
          <p:nvPr/>
        </p:nvSpPr>
        <p:spPr>
          <a:xfrm>
            <a:off x="927021" y="6945035"/>
            <a:ext cx="297441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Machine Learning for Web Content Classification, Proc. IEEE ICMLA, 2020</a:t>
            </a:r>
            <a:endParaRPr lang="en-US" sz="1100" dirty="0"/>
          </a:p>
        </p:txBody>
      </p:sp>
      <p:sp>
        <p:nvSpPr>
          <p:cNvPr id="47" name="Text 44"/>
          <p:cNvSpPr/>
          <p:nvPr/>
        </p:nvSpPr>
        <p:spPr>
          <a:xfrm>
            <a:off x="4196953" y="6945035"/>
            <a:ext cx="297060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SVM, Naive Bayes, Random Forest comparison. TF-IDF (10K features). 9 web categories</a:t>
            </a:r>
            <a:endParaRPr lang="en-US" sz="1100" dirty="0"/>
          </a:p>
        </p:txBody>
      </p:sp>
      <p:sp>
        <p:nvSpPr>
          <p:cNvPr id="48" name="Text 45"/>
          <p:cNvSpPr/>
          <p:nvPr/>
        </p:nvSpPr>
        <p:spPr>
          <a:xfrm>
            <a:off x="7463076" y="6945035"/>
            <a:ext cx="297060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SVM: 91.2% accuracy (best). Per-category: Adult 96.8%, News 94.2%, Shopping 92.1%</a:t>
            </a:r>
            <a:endParaRPr lang="en-US" sz="1100" dirty="0"/>
          </a:p>
        </p:txBody>
      </p:sp>
      <p:sp>
        <p:nvSpPr>
          <p:cNvPr id="49" name="Text 46"/>
          <p:cNvSpPr/>
          <p:nvPr/>
        </p:nvSpPr>
        <p:spPr>
          <a:xfrm>
            <a:off x="10729198" y="6945035"/>
            <a:ext cx="2974419" cy="460534"/>
          </a:xfrm>
          <a:prstGeom prst="rect">
            <a:avLst/>
          </a:prstGeom>
          <a:noFill/>
          <a:ln/>
        </p:spPr>
        <p:txBody>
          <a:bodyPr wrap="square" lIns="0" tIns="0" rIns="0" bIns="0" rtlCol="0" anchor="t"/>
          <a:lstStyle/>
          <a:p>
            <a:pPr marL="0" indent="0" algn="l">
              <a:lnSpc>
                <a:spcPts val="1800"/>
              </a:lnSpc>
              <a:buNone/>
            </a:pPr>
            <a:r>
              <a:rPr lang="en-US" sz="1100" dirty="0">
                <a:solidFill>
                  <a:srgbClr val="55575A"/>
                </a:solidFill>
                <a:latin typeface="Roboto Condensed" pitchFamily="34" charset="0"/>
                <a:ea typeface="Roboto Condensed" pitchFamily="34" charset="-122"/>
                <a:cs typeface="Roboto Condensed" pitchFamily="34" charset="-120"/>
              </a:rPr>
              <a:t>Fixed categories; no personalization; static model; web-only</a:t>
            </a:r>
            <a:endParaRPr lang="en-US" sz="1100" dirty="0"/>
          </a:p>
        </p:txBody>
      </p:sp>
      <p:pic>
        <p:nvPicPr>
          <p:cNvPr id="51" name="Picture 50">
            <a:extLst>
              <a:ext uri="{FF2B5EF4-FFF2-40B4-BE49-F238E27FC236}">
                <a16:creationId xmlns:a16="http://schemas.microsoft.com/office/drawing/2014/main" id="{6DCDCEB3-5C54-F8C6-30F3-E525BA1EBAFF}"/>
              </a:ext>
            </a:extLst>
          </p:cNvPr>
          <p:cNvPicPr>
            <a:picLocks noChangeAspect="1"/>
          </p:cNvPicPr>
          <p:nvPr/>
        </p:nvPicPr>
        <p:blipFill>
          <a:blip r:embed="rId4"/>
          <a:stretch>
            <a:fillRect/>
          </a:stretch>
        </p:blipFill>
        <p:spPr>
          <a:xfrm>
            <a:off x="12595013" y="7517726"/>
            <a:ext cx="3029373" cy="7621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958995" y="1240274"/>
            <a:ext cx="1877616" cy="615077"/>
          </a:xfrm>
          <a:prstGeom prst="rect">
            <a:avLst/>
          </a:prstGeom>
        </p:spPr>
      </p:pic>
      <p:sp>
        <p:nvSpPr>
          <p:cNvPr id="3" name="Text 0"/>
          <p:cNvSpPr/>
          <p:nvPr/>
        </p:nvSpPr>
        <p:spPr>
          <a:xfrm>
            <a:off x="793790" y="2195513"/>
            <a:ext cx="7316867" cy="708779"/>
          </a:xfrm>
          <a:prstGeom prst="rect">
            <a:avLst/>
          </a:prstGeom>
          <a:noFill/>
          <a:ln/>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DATASET EXPLORATION</a:t>
            </a:r>
            <a:endParaRPr lang="en-US" sz="4450" dirty="0"/>
          </a:p>
        </p:txBody>
      </p:sp>
      <p:sp>
        <p:nvSpPr>
          <p:cNvPr id="4" name="Text 1"/>
          <p:cNvSpPr/>
          <p:nvPr/>
        </p:nvSpPr>
        <p:spPr>
          <a:xfrm>
            <a:off x="793790" y="347126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C0D0F"/>
                </a:solidFill>
                <a:latin typeface="Hubot Sans Bold" pitchFamily="34" charset="0"/>
                <a:ea typeface="Hubot Sans Bold" pitchFamily="34" charset="-122"/>
                <a:cs typeface="Hubot Sans Bold" pitchFamily="34" charset="-120"/>
              </a:rPr>
              <a:t>AVAILABILITY</a:t>
            </a:r>
            <a:endParaRPr lang="en-US" sz="2200" dirty="0"/>
          </a:p>
        </p:txBody>
      </p:sp>
      <p:sp>
        <p:nvSpPr>
          <p:cNvPr id="5" name="Text 2"/>
          <p:cNvSpPr/>
          <p:nvPr/>
        </p:nvSpPr>
        <p:spPr>
          <a:xfrm>
            <a:off x="793790" y="4052411"/>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Real-time, dynamically generated</a:t>
            </a:r>
            <a:endParaRPr lang="en-US" sz="1750" dirty="0"/>
          </a:p>
        </p:txBody>
      </p:sp>
      <p:sp>
        <p:nvSpPr>
          <p:cNvPr id="6" name="Text 3"/>
          <p:cNvSpPr/>
          <p:nvPr/>
        </p:nvSpPr>
        <p:spPr>
          <a:xfrm>
            <a:off x="793790" y="4494609"/>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Private &amp; user-specific</a:t>
            </a:r>
            <a:endParaRPr lang="en-US" sz="1750" dirty="0"/>
          </a:p>
        </p:txBody>
      </p:sp>
      <p:sp>
        <p:nvSpPr>
          <p:cNvPr id="7" name="Text 4"/>
          <p:cNvSpPr/>
          <p:nvPr/>
        </p:nvSpPr>
        <p:spPr>
          <a:xfrm>
            <a:off x="793790" y="4936808"/>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Never publicly accessible</a:t>
            </a:r>
            <a:endParaRPr lang="en-US" sz="1750" dirty="0"/>
          </a:p>
        </p:txBody>
      </p:sp>
      <p:sp>
        <p:nvSpPr>
          <p:cNvPr id="8" name="Text 5"/>
          <p:cNvSpPr/>
          <p:nvPr/>
        </p:nvSpPr>
        <p:spPr>
          <a:xfrm>
            <a:off x="793790" y="5379006"/>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Continuously updating data stream</a:t>
            </a:r>
            <a:endParaRPr lang="en-US" sz="1750" dirty="0"/>
          </a:p>
        </p:txBody>
      </p:sp>
      <p:sp>
        <p:nvSpPr>
          <p:cNvPr id="9" name="Text 6"/>
          <p:cNvSpPr/>
          <p:nvPr/>
        </p:nvSpPr>
        <p:spPr>
          <a:xfrm>
            <a:off x="793790" y="5821204"/>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Not sourced from static repositories</a:t>
            </a:r>
            <a:endParaRPr lang="en-US" sz="1750" dirty="0"/>
          </a:p>
        </p:txBody>
      </p:sp>
      <p:sp>
        <p:nvSpPr>
          <p:cNvPr id="10" name="Text 7"/>
          <p:cNvSpPr/>
          <p:nvPr/>
        </p:nvSpPr>
        <p:spPr>
          <a:xfrm>
            <a:off x="5332928" y="347126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C0D0F"/>
                </a:solidFill>
                <a:latin typeface="Hubot Sans Bold" pitchFamily="34" charset="0"/>
                <a:ea typeface="Hubot Sans Bold" pitchFamily="34" charset="-122"/>
                <a:cs typeface="Hubot Sans Bold" pitchFamily="34" charset="-120"/>
              </a:rPr>
              <a:t>SOURCE</a:t>
            </a:r>
            <a:endParaRPr lang="en-US" sz="2200" dirty="0"/>
          </a:p>
        </p:txBody>
      </p:sp>
      <p:sp>
        <p:nvSpPr>
          <p:cNvPr id="11" name="Text 8"/>
          <p:cNvSpPr/>
          <p:nvPr/>
        </p:nvSpPr>
        <p:spPr>
          <a:xfrm>
            <a:off x="5332928" y="4052411"/>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Chrome browsing activity (URLs, metadata)</a:t>
            </a:r>
            <a:endParaRPr lang="en-US" sz="1750" dirty="0"/>
          </a:p>
        </p:txBody>
      </p:sp>
      <p:sp>
        <p:nvSpPr>
          <p:cNvPr id="12" name="Text 9"/>
          <p:cNvSpPr/>
          <p:nvPr/>
        </p:nvSpPr>
        <p:spPr>
          <a:xfrm>
            <a:off x="5332928" y="4857512"/>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Gmail threads &amp; message metadata</a:t>
            </a:r>
            <a:endParaRPr lang="en-US" sz="1750" dirty="0"/>
          </a:p>
        </p:txBody>
      </p:sp>
      <p:sp>
        <p:nvSpPr>
          <p:cNvPr id="13" name="Text 10"/>
          <p:cNvSpPr/>
          <p:nvPr/>
        </p:nvSpPr>
        <p:spPr>
          <a:xfrm>
            <a:off x="5332928" y="5299710"/>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YouTube watch history &amp; video data</a:t>
            </a:r>
            <a:endParaRPr lang="en-US" sz="1750" dirty="0"/>
          </a:p>
        </p:txBody>
      </p:sp>
      <p:sp>
        <p:nvSpPr>
          <p:cNvPr id="14" name="Text 11"/>
          <p:cNvSpPr/>
          <p:nvPr/>
        </p:nvSpPr>
        <p:spPr>
          <a:xfrm>
            <a:off x="5332928" y="5741908"/>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Chrome Extension content scripts</a:t>
            </a:r>
            <a:endParaRPr lang="en-US" sz="1750" dirty="0"/>
          </a:p>
        </p:txBody>
      </p:sp>
      <p:sp>
        <p:nvSpPr>
          <p:cNvPr id="15" name="Text 12"/>
          <p:cNvSpPr/>
          <p:nvPr/>
        </p:nvSpPr>
        <p:spPr>
          <a:xfrm>
            <a:off x="5332928" y="6184106"/>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API-based ingestion (History, Gmail, YT APIs)</a:t>
            </a:r>
            <a:endParaRPr lang="en-US" sz="1750" dirty="0"/>
          </a:p>
        </p:txBody>
      </p:sp>
      <p:sp>
        <p:nvSpPr>
          <p:cNvPr id="16" name="Text 13"/>
          <p:cNvSpPr/>
          <p:nvPr/>
        </p:nvSpPr>
        <p:spPr>
          <a:xfrm>
            <a:off x="9872067" y="347126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C0D0F"/>
                </a:solidFill>
                <a:latin typeface="Hubot Sans Bold" pitchFamily="34" charset="0"/>
                <a:ea typeface="Hubot Sans Bold" pitchFamily="34" charset="-122"/>
                <a:cs typeface="Hubot Sans Bold" pitchFamily="34" charset="-120"/>
              </a:rPr>
              <a:t>SIZE</a:t>
            </a:r>
            <a:endParaRPr lang="en-US" sz="2200" dirty="0"/>
          </a:p>
        </p:txBody>
      </p:sp>
      <p:sp>
        <p:nvSpPr>
          <p:cNvPr id="17" name="Text 14"/>
          <p:cNvSpPr/>
          <p:nvPr/>
        </p:nvSpPr>
        <p:spPr>
          <a:xfrm>
            <a:off x="9872067" y="4052411"/>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Grows continuously with usage</a:t>
            </a:r>
            <a:endParaRPr lang="en-US" sz="1750" dirty="0"/>
          </a:p>
        </p:txBody>
      </p:sp>
      <p:sp>
        <p:nvSpPr>
          <p:cNvPr id="18" name="Text 15"/>
          <p:cNvSpPr/>
          <p:nvPr/>
        </p:nvSpPr>
        <p:spPr>
          <a:xfrm>
            <a:off x="9872067" y="4494609"/>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High-dimensional (text + embeddings)</a:t>
            </a:r>
            <a:endParaRPr lang="en-US" sz="1750" dirty="0"/>
          </a:p>
        </p:txBody>
      </p:sp>
      <p:sp>
        <p:nvSpPr>
          <p:cNvPr id="19" name="Text 16"/>
          <p:cNvSpPr/>
          <p:nvPr/>
        </p:nvSpPr>
        <p:spPr>
          <a:xfrm>
            <a:off x="9872067" y="4936808"/>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Includes behavioural interaction logs</a:t>
            </a:r>
            <a:endParaRPr lang="en-US" sz="1750" dirty="0"/>
          </a:p>
        </p:txBody>
      </p:sp>
      <p:sp>
        <p:nvSpPr>
          <p:cNvPr id="20" name="Text 17"/>
          <p:cNvSpPr/>
          <p:nvPr/>
        </p:nvSpPr>
        <p:spPr>
          <a:xfrm>
            <a:off x="9872067" y="5379006"/>
            <a:ext cx="39781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Scales to thousands of events weekly</a:t>
            </a:r>
            <a:endParaRPr lang="en-US" sz="1750" dirty="0"/>
          </a:p>
        </p:txBody>
      </p:sp>
      <p:sp>
        <p:nvSpPr>
          <p:cNvPr id="21" name="Text 18"/>
          <p:cNvSpPr/>
          <p:nvPr/>
        </p:nvSpPr>
        <p:spPr>
          <a:xfrm>
            <a:off x="9872067" y="5821204"/>
            <a:ext cx="39781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Designed for heavy user activity patterns</a:t>
            </a:r>
            <a:endParaRPr lang="en-US" sz="1750" dirty="0"/>
          </a:p>
        </p:txBody>
      </p:sp>
      <p:pic>
        <p:nvPicPr>
          <p:cNvPr id="23" name="Picture 22">
            <a:extLst>
              <a:ext uri="{FF2B5EF4-FFF2-40B4-BE49-F238E27FC236}">
                <a16:creationId xmlns:a16="http://schemas.microsoft.com/office/drawing/2014/main" id="{5F29BBD4-F674-F854-DEC1-A6C9E251FD53}"/>
              </a:ext>
            </a:extLst>
          </p:cNvPr>
          <p:cNvPicPr>
            <a:picLocks noChangeAspect="1"/>
          </p:cNvPicPr>
          <p:nvPr/>
        </p:nvPicPr>
        <p:blipFill>
          <a:blip r:embed="rId4"/>
          <a:stretch>
            <a:fillRect/>
          </a:stretch>
        </p:blipFill>
        <p:spPr>
          <a:xfrm>
            <a:off x="11861125" y="7467494"/>
            <a:ext cx="3029373" cy="76210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732181" y="753785"/>
            <a:ext cx="2104430" cy="689372"/>
          </a:xfrm>
          <a:prstGeom prst="rect">
            <a:avLst/>
          </a:prstGeom>
        </p:spPr>
      </p:pic>
      <p:sp>
        <p:nvSpPr>
          <p:cNvPr id="3" name="Text 0"/>
          <p:cNvSpPr/>
          <p:nvPr/>
        </p:nvSpPr>
        <p:spPr>
          <a:xfrm>
            <a:off x="793790" y="1783318"/>
            <a:ext cx="7003375" cy="708779"/>
          </a:xfrm>
          <a:prstGeom prst="rect">
            <a:avLst/>
          </a:prstGeom>
          <a:noFill/>
          <a:ln/>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DATA PREPROCESSING</a:t>
            </a:r>
            <a:endParaRPr lang="en-US" sz="4450" dirty="0"/>
          </a:p>
        </p:txBody>
      </p:sp>
      <p:sp>
        <p:nvSpPr>
          <p:cNvPr id="4" name="Text 1"/>
          <p:cNvSpPr/>
          <p:nvPr/>
        </p:nvSpPr>
        <p:spPr>
          <a:xfrm>
            <a:off x="793790" y="283225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Based on the nature and sources of the data (web pages, emails, video metadata), the required preprocessing for the AI model:</a:t>
            </a:r>
            <a:endParaRPr lang="en-US" sz="1750" dirty="0"/>
          </a:p>
        </p:txBody>
      </p:sp>
      <p:sp>
        <p:nvSpPr>
          <p:cNvPr id="5" name="Text 2"/>
          <p:cNvSpPr/>
          <p:nvPr/>
        </p:nvSpPr>
        <p:spPr>
          <a:xfrm>
            <a:off x="793790" y="3450312"/>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Data Ingestion and Synchronization</a:t>
            </a:r>
            <a:endParaRPr lang="en-US" sz="1750" dirty="0"/>
          </a:p>
        </p:txBody>
      </p:sp>
      <p:sp>
        <p:nvSpPr>
          <p:cNvPr id="6" name="Text 3"/>
          <p:cNvSpPr/>
          <p:nvPr/>
        </p:nvSpPr>
        <p:spPr>
          <a:xfrm>
            <a:off x="793790" y="3892510"/>
            <a:ext cx="13042821" cy="725805"/>
          </a:xfrm>
          <a:prstGeom prst="rect">
            <a:avLst/>
          </a:prstGeom>
          <a:noFill/>
          <a:ln/>
        </p:spPr>
        <p:txBody>
          <a:bodyPr wrap="square" lIns="0" tIns="0" rIns="0" bIns="0" rtlCol="0" anchor="t"/>
          <a:lstStyle/>
          <a:p>
            <a:pPr marL="685800" lvl="1" indent="-342900" algn="l">
              <a:lnSpc>
                <a:spcPts val="2850"/>
              </a:lnSpc>
              <a:buSzPct val="100000"/>
              <a:buFont typeface="+mj-lt"/>
              <a:buAutoNum type="arabicPeriod"/>
            </a:pPr>
            <a:r>
              <a:rPr lang="en-US" sz="1750" dirty="0">
                <a:solidFill>
                  <a:srgbClr val="55575A"/>
                </a:solidFill>
                <a:latin typeface="Roboto Condensed" pitchFamily="34" charset="0"/>
                <a:ea typeface="Roboto Condensed" pitchFamily="34" charset="-122"/>
                <a:cs typeface="Roboto Condensed" pitchFamily="34" charset="-120"/>
              </a:rPr>
              <a:t> API/Extension Polling and Synchronization: Implementing reliable mechanisms to ingest and synchronize data in real-time from different APIs (Gmail, YouTube, Chrome History) and the Chrome Extension scripts. This ensures all fragmented data is collected accurately.</a:t>
            </a:r>
            <a:endParaRPr lang="en-US" sz="1750" dirty="0"/>
          </a:p>
        </p:txBody>
      </p:sp>
      <p:sp>
        <p:nvSpPr>
          <p:cNvPr id="7" name="Text 4"/>
          <p:cNvSpPr/>
          <p:nvPr/>
        </p:nvSpPr>
        <p:spPr>
          <a:xfrm>
            <a:off x="793790" y="469761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55575A"/>
                </a:solidFill>
                <a:latin typeface="Roboto Condensed" pitchFamily="34" charset="0"/>
                <a:ea typeface="Roboto Condensed" pitchFamily="34" charset="-122"/>
                <a:cs typeface="Roboto Condensed" pitchFamily="34" charset="-120"/>
              </a:rPr>
              <a:t>Cleaning and Standardization  </a:t>
            </a:r>
            <a:endParaRPr lang="en-US" sz="1750" dirty="0"/>
          </a:p>
        </p:txBody>
      </p:sp>
      <p:sp>
        <p:nvSpPr>
          <p:cNvPr id="8" name="Text 5"/>
          <p:cNvSpPr/>
          <p:nvPr/>
        </p:nvSpPr>
        <p:spPr>
          <a:xfrm>
            <a:off x="793790" y="5139809"/>
            <a:ext cx="13042821" cy="725805"/>
          </a:xfrm>
          <a:prstGeom prst="rect">
            <a:avLst/>
          </a:prstGeom>
          <a:noFill/>
          <a:ln/>
        </p:spPr>
        <p:txBody>
          <a:bodyPr wrap="square" lIns="0" tIns="0" rIns="0" bIns="0" rtlCol="0" anchor="t"/>
          <a:lstStyle/>
          <a:p>
            <a:pPr marL="685800" lvl="1" indent="-342900" algn="l">
              <a:lnSpc>
                <a:spcPts val="2850"/>
              </a:lnSpc>
              <a:buSzPct val="100000"/>
              <a:buFont typeface="+mj-lt"/>
              <a:buAutoNum type="arabicPeriod"/>
            </a:pPr>
            <a:r>
              <a:rPr lang="en-US" sz="1750" dirty="0">
                <a:solidFill>
                  <a:srgbClr val="55575A"/>
                </a:solidFill>
                <a:latin typeface="Roboto Condensed" pitchFamily="34" charset="0"/>
                <a:ea typeface="Roboto Condensed" pitchFamily="34" charset="-122"/>
                <a:cs typeface="Roboto Condensed" pitchFamily="34" charset="-120"/>
              </a:rPr>
              <a:t>Noise Removal: Removing elements from scraped web content and emails that are irrelevant to the context (e.g., website headers/footers, ads, email signatures, redundant forwarding text). </a:t>
            </a:r>
            <a:endParaRPr lang="en-US" sz="1750" dirty="0"/>
          </a:p>
        </p:txBody>
      </p:sp>
      <p:sp>
        <p:nvSpPr>
          <p:cNvPr id="9" name="Text 6"/>
          <p:cNvSpPr/>
          <p:nvPr/>
        </p:nvSpPr>
        <p:spPr>
          <a:xfrm>
            <a:off x="793790" y="5944910"/>
            <a:ext cx="13042821" cy="725805"/>
          </a:xfrm>
          <a:prstGeom prst="rect">
            <a:avLst/>
          </a:prstGeom>
          <a:noFill/>
          <a:ln/>
        </p:spPr>
        <p:txBody>
          <a:bodyPr wrap="square" lIns="0" tIns="0" rIns="0" bIns="0" rtlCol="0" anchor="t"/>
          <a:lstStyle/>
          <a:p>
            <a:pPr marL="685800" lvl="1" indent="-342900" algn="l">
              <a:lnSpc>
                <a:spcPts val="2850"/>
              </a:lnSpc>
              <a:buSzPct val="100000"/>
              <a:buFont typeface="+mj-lt"/>
              <a:buAutoNum type="arabicPeriod" startAt="2"/>
            </a:pPr>
            <a:r>
              <a:rPr lang="en-US" sz="1750" dirty="0">
                <a:solidFill>
                  <a:srgbClr val="55575A"/>
                </a:solidFill>
                <a:latin typeface="Roboto Condensed" pitchFamily="34" charset="0"/>
                <a:ea typeface="Roboto Condensed" pitchFamily="34" charset="-122"/>
                <a:cs typeface="Roboto Condensed" pitchFamily="34" charset="-120"/>
              </a:rPr>
              <a:t>URL Standardization: Canonicalizing URLs (e.g., removing tracking parameters or utm tags) to treat the same page accessed slightly differently as a single memory item. </a:t>
            </a:r>
            <a:endParaRPr lang="en-US" sz="1750" dirty="0"/>
          </a:p>
        </p:txBody>
      </p:sp>
      <p:sp>
        <p:nvSpPr>
          <p:cNvPr id="10" name="Text 7"/>
          <p:cNvSpPr/>
          <p:nvPr/>
        </p:nvSpPr>
        <p:spPr>
          <a:xfrm>
            <a:off x="793790" y="6750010"/>
            <a:ext cx="13042821" cy="725805"/>
          </a:xfrm>
          <a:prstGeom prst="rect">
            <a:avLst/>
          </a:prstGeom>
          <a:noFill/>
          <a:ln/>
        </p:spPr>
        <p:txBody>
          <a:bodyPr wrap="square" lIns="0" tIns="0" rIns="0" bIns="0" rtlCol="0" anchor="t"/>
          <a:lstStyle/>
          <a:p>
            <a:pPr marL="685800" lvl="1" indent="-342900" algn="l">
              <a:lnSpc>
                <a:spcPts val="2850"/>
              </a:lnSpc>
              <a:buSzPct val="100000"/>
              <a:buFont typeface="+mj-lt"/>
              <a:buAutoNum type="arabicPeriod" startAt="3"/>
            </a:pPr>
            <a:r>
              <a:rPr lang="en-US" sz="1750" dirty="0">
                <a:solidFill>
                  <a:srgbClr val="55575A"/>
                </a:solidFill>
                <a:latin typeface="Roboto Condensed" pitchFamily="34" charset="0"/>
                <a:ea typeface="Roboto Condensed" pitchFamily="34" charset="-122"/>
                <a:cs typeface="Roboto Condensed" pitchFamily="34" charset="-120"/>
              </a:rPr>
              <a:t>Timestamp Normalization: Ensuring all activity logs (from Chrome, Gmail, YouTube) use a uniform time zone and format for accurate timeline analysis.</a:t>
            </a:r>
            <a:endParaRPr lang="en-US" sz="1750" dirty="0"/>
          </a:p>
        </p:txBody>
      </p:sp>
      <p:pic>
        <p:nvPicPr>
          <p:cNvPr id="12" name="Picture 11">
            <a:extLst>
              <a:ext uri="{FF2B5EF4-FFF2-40B4-BE49-F238E27FC236}">
                <a16:creationId xmlns:a16="http://schemas.microsoft.com/office/drawing/2014/main" id="{2D7B803D-851F-C834-C4E7-2A51AFCF0A78}"/>
              </a:ext>
            </a:extLst>
          </p:cNvPr>
          <p:cNvPicPr>
            <a:picLocks noChangeAspect="1"/>
          </p:cNvPicPr>
          <p:nvPr/>
        </p:nvPicPr>
        <p:blipFill>
          <a:blip r:embed="rId4"/>
          <a:stretch>
            <a:fillRect/>
          </a:stretch>
        </p:blipFill>
        <p:spPr>
          <a:xfrm>
            <a:off x="11732181" y="7467494"/>
            <a:ext cx="3029373" cy="76210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854696" y="625316"/>
            <a:ext cx="1981914" cy="649248"/>
          </a:xfrm>
          <a:prstGeom prst="rect">
            <a:avLst/>
          </a:prstGeom>
        </p:spPr>
      </p:pic>
      <p:sp>
        <p:nvSpPr>
          <p:cNvPr id="3" name="Text 0"/>
          <p:cNvSpPr/>
          <p:nvPr/>
        </p:nvSpPr>
        <p:spPr>
          <a:xfrm>
            <a:off x="793790" y="1597700"/>
            <a:ext cx="6653332" cy="673418"/>
          </a:xfrm>
          <a:prstGeom prst="rect">
            <a:avLst/>
          </a:prstGeom>
          <a:noFill/>
          <a:ln/>
        </p:spPr>
        <p:txBody>
          <a:bodyPr wrap="none" lIns="0" tIns="0" rIns="0" bIns="0" rtlCol="0" anchor="t"/>
          <a:lstStyle/>
          <a:p>
            <a:pPr marL="0" indent="0" algn="l">
              <a:lnSpc>
                <a:spcPts val="5300"/>
              </a:lnSpc>
              <a:buNone/>
            </a:pPr>
            <a:r>
              <a:rPr lang="en-US" sz="4200" b="1" dirty="0">
                <a:solidFill>
                  <a:srgbClr val="0C0D0F"/>
                </a:solidFill>
                <a:latin typeface="Hubot Sans Bold" pitchFamily="34" charset="0"/>
                <a:ea typeface="Hubot Sans Bold" pitchFamily="34" charset="-122"/>
                <a:cs typeface="Hubot Sans Bold" pitchFamily="34" charset="-120"/>
              </a:rPr>
              <a:t>DATA PREPROCESSING</a:t>
            </a:r>
            <a:endParaRPr lang="en-US" sz="4200" dirty="0"/>
          </a:p>
        </p:txBody>
      </p:sp>
      <p:sp>
        <p:nvSpPr>
          <p:cNvPr id="4" name="Text 1"/>
          <p:cNvSpPr/>
          <p:nvPr/>
        </p:nvSpPr>
        <p:spPr>
          <a:xfrm>
            <a:off x="793790" y="2594253"/>
            <a:ext cx="13042821" cy="344805"/>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55575A"/>
                </a:solidFill>
                <a:latin typeface="Roboto Condensed" pitchFamily="34" charset="0"/>
                <a:ea typeface="Roboto Condensed" pitchFamily="34" charset="-122"/>
                <a:cs typeface="Roboto Condensed" pitchFamily="34" charset="-120"/>
              </a:rPr>
              <a:t>Feature Extraction and Natural Language Processing (NLP)</a:t>
            </a:r>
            <a:endParaRPr lang="en-US" sz="1650" dirty="0"/>
          </a:p>
        </p:txBody>
      </p:sp>
      <p:sp>
        <p:nvSpPr>
          <p:cNvPr id="5" name="Text 2"/>
          <p:cNvSpPr/>
          <p:nvPr/>
        </p:nvSpPr>
        <p:spPr>
          <a:xfrm>
            <a:off x="793790" y="3014424"/>
            <a:ext cx="13042821" cy="344805"/>
          </a:xfrm>
          <a:prstGeom prst="rect">
            <a:avLst/>
          </a:prstGeom>
          <a:noFill/>
          <a:ln/>
        </p:spPr>
        <p:txBody>
          <a:bodyPr wrap="none" lIns="0" tIns="0" rIns="0" bIns="0" rtlCol="0" anchor="t"/>
          <a:lstStyle/>
          <a:p>
            <a:pPr marL="685800" lvl="1" indent="-342900" algn="l">
              <a:lnSpc>
                <a:spcPts val="2700"/>
              </a:lnSpc>
              <a:buSzPct val="100000"/>
              <a:buFont typeface="+mj-lt"/>
              <a:buAutoNum type="arabicPeriod"/>
            </a:pPr>
            <a:r>
              <a:rPr lang="en-US" sz="1650" dirty="0">
                <a:solidFill>
                  <a:srgbClr val="55575A"/>
                </a:solidFill>
                <a:latin typeface="Roboto Condensed" pitchFamily="34" charset="0"/>
                <a:ea typeface="Roboto Condensed" pitchFamily="34" charset="-122"/>
                <a:cs typeface="Roboto Condensed" pitchFamily="34" charset="-120"/>
              </a:rPr>
              <a:t>Text Extraction: Extracting the main body text from web pages, the subject and body from emails, and titles/descriptions from videos. </a:t>
            </a:r>
            <a:endParaRPr lang="en-US" sz="1650" dirty="0"/>
          </a:p>
        </p:txBody>
      </p:sp>
      <p:sp>
        <p:nvSpPr>
          <p:cNvPr id="6" name="Text 3"/>
          <p:cNvSpPr/>
          <p:nvPr/>
        </p:nvSpPr>
        <p:spPr>
          <a:xfrm>
            <a:off x="793790" y="3434596"/>
            <a:ext cx="13042821" cy="344805"/>
          </a:xfrm>
          <a:prstGeom prst="rect">
            <a:avLst/>
          </a:prstGeom>
          <a:noFill/>
          <a:ln/>
        </p:spPr>
        <p:txBody>
          <a:bodyPr wrap="none" lIns="0" tIns="0" rIns="0" bIns="0" rtlCol="0" anchor="t"/>
          <a:lstStyle/>
          <a:p>
            <a:pPr marL="685800" lvl="1" indent="-342900" algn="l">
              <a:lnSpc>
                <a:spcPts val="2700"/>
              </a:lnSpc>
              <a:buSzPct val="100000"/>
              <a:buFont typeface="+mj-lt"/>
              <a:buAutoNum type="arabicPeriod" startAt="2"/>
            </a:pPr>
            <a:r>
              <a:rPr lang="en-US" sz="1650" dirty="0">
                <a:solidFill>
                  <a:srgbClr val="55575A"/>
                </a:solidFill>
                <a:latin typeface="Roboto Condensed" pitchFamily="34" charset="0"/>
                <a:ea typeface="Roboto Condensed" pitchFamily="34" charset="-122"/>
                <a:cs typeface="Roboto Condensed" pitchFamily="34" charset="-120"/>
              </a:rPr>
              <a:t>Tokenization: Breaking down the extracted text into words, sentences, or sub-word units, which is a prerequisite for most NLP tasks. </a:t>
            </a:r>
            <a:endParaRPr lang="en-US" sz="1650" dirty="0"/>
          </a:p>
        </p:txBody>
      </p:sp>
      <p:sp>
        <p:nvSpPr>
          <p:cNvPr id="7" name="Text 4"/>
          <p:cNvSpPr/>
          <p:nvPr/>
        </p:nvSpPr>
        <p:spPr>
          <a:xfrm>
            <a:off x="793790" y="3854768"/>
            <a:ext cx="13042821" cy="689610"/>
          </a:xfrm>
          <a:prstGeom prst="rect">
            <a:avLst/>
          </a:prstGeom>
          <a:noFill/>
          <a:ln/>
        </p:spPr>
        <p:txBody>
          <a:bodyPr wrap="square" lIns="0" tIns="0" rIns="0" bIns="0" rtlCol="0" anchor="t"/>
          <a:lstStyle/>
          <a:p>
            <a:pPr marL="685800" lvl="1" indent="-342900" algn="l">
              <a:lnSpc>
                <a:spcPts val="2700"/>
              </a:lnSpc>
              <a:buSzPct val="100000"/>
              <a:buFont typeface="+mj-lt"/>
              <a:buAutoNum type="arabicPeriod" startAt="3"/>
            </a:pPr>
            <a:r>
              <a:rPr lang="en-US" sz="1650" dirty="0">
                <a:solidFill>
                  <a:srgbClr val="55575A"/>
                </a:solidFill>
                <a:latin typeface="Roboto Condensed" pitchFamily="34" charset="0"/>
                <a:ea typeface="Roboto Condensed" pitchFamily="34" charset="-122"/>
                <a:cs typeface="Roboto Condensed" pitchFamily="34" charset="-120"/>
              </a:rPr>
              <a:t>Contextualization and Tagging: Generating metadata that goes beyond mere time tracking to capture intent and context. This could involve auto-tagging content (e.g., "Research," "Entertainment," "Work-related") or identifying key entities (names, dates, organizations). </a:t>
            </a:r>
            <a:endParaRPr lang="en-US" sz="1650" dirty="0"/>
          </a:p>
        </p:txBody>
      </p:sp>
      <p:sp>
        <p:nvSpPr>
          <p:cNvPr id="8" name="Text 5"/>
          <p:cNvSpPr/>
          <p:nvPr/>
        </p:nvSpPr>
        <p:spPr>
          <a:xfrm>
            <a:off x="793790" y="4619744"/>
            <a:ext cx="13042821" cy="689610"/>
          </a:xfrm>
          <a:prstGeom prst="rect">
            <a:avLst/>
          </a:prstGeom>
          <a:noFill/>
          <a:ln/>
        </p:spPr>
        <p:txBody>
          <a:bodyPr wrap="square" lIns="0" tIns="0" rIns="0" bIns="0" rtlCol="0" anchor="t"/>
          <a:lstStyle/>
          <a:p>
            <a:pPr marL="685800" lvl="1" indent="-342900" algn="l">
              <a:lnSpc>
                <a:spcPts val="2700"/>
              </a:lnSpc>
              <a:buSzPct val="100000"/>
              <a:buFont typeface="+mj-lt"/>
              <a:buAutoNum type="arabicPeriod" startAt="4"/>
            </a:pPr>
            <a:r>
              <a:rPr lang="en-US" sz="1650" dirty="0">
                <a:solidFill>
                  <a:srgbClr val="55575A"/>
                </a:solidFill>
                <a:latin typeface="Roboto Condensed" pitchFamily="34" charset="0"/>
                <a:ea typeface="Roboto Condensed" pitchFamily="34" charset="-122"/>
                <a:cs typeface="Roboto Condensed" pitchFamily="34" charset="-120"/>
              </a:rPr>
              <a:t>Text Embedding Generation: Using techniques like Large Language Models (LLMs) or other advanced AI models to convert the textual data into high-dimensional vectors (embeddings). These embeddings are crucial for semantic understanding and natural language search/recall.</a:t>
            </a:r>
            <a:endParaRPr lang="en-US" sz="1650" dirty="0"/>
          </a:p>
        </p:txBody>
      </p:sp>
      <p:sp>
        <p:nvSpPr>
          <p:cNvPr id="9" name="Text 6"/>
          <p:cNvSpPr/>
          <p:nvPr/>
        </p:nvSpPr>
        <p:spPr>
          <a:xfrm>
            <a:off x="793790" y="5384721"/>
            <a:ext cx="13042821" cy="344805"/>
          </a:xfrm>
          <a:prstGeom prst="rect">
            <a:avLst/>
          </a:prstGeom>
          <a:noFill/>
          <a:ln/>
        </p:spPr>
        <p:txBody>
          <a:bodyPr wrap="none" lIns="0" tIns="0" rIns="0" bIns="0" rtlCol="0" anchor="t"/>
          <a:lstStyle/>
          <a:p>
            <a:pPr marL="342900" indent="-342900" algn="l">
              <a:lnSpc>
                <a:spcPts val="2700"/>
              </a:lnSpc>
              <a:buSzPct val="100000"/>
              <a:buChar char="•"/>
            </a:pPr>
            <a:r>
              <a:rPr lang="en-US" sz="1650" dirty="0">
                <a:solidFill>
                  <a:srgbClr val="55575A"/>
                </a:solidFill>
                <a:latin typeface="Roboto Condensed" pitchFamily="34" charset="0"/>
                <a:ea typeface="Roboto Condensed" pitchFamily="34" charset="-122"/>
                <a:cs typeface="Roboto Condensed" pitchFamily="34" charset="-120"/>
              </a:rPr>
              <a:t>Privacy and Security Preprocessing </a:t>
            </a:r>
            <a:endParaRPr lang="en-US" sz="1650" dirty="0"/>
          </a:p>
        </p:txBody>
      </p:sp>
      <p:sp>
        <p:nvSpPr>
          <p:cNvPr id="10" name="Text 7"/>
          <p:cNvSpPr/>
          <p:nvPr/>
        </p:nvSpPr>
        <p:spPr>
          <a:xfrm>
            <a:off x="793790" y="5804892"/>
            <a:ext cx="13042821" cy="689610"/>
          </a:xfrm>
          <a:prstGeom prst="rect">
            <a:avLst/>
          </a:prstGeom>
          <a:noFill/>
          <a:ln/>
        </p:spPr>
        <p:txBody>
          <a:bodyPr wrap="square" lIns="0" tIns="0" rIns="0" bIns="0" rtlCol="0" anchor="t"/>
          <a:lstStyle/>
          <a:p>
            <a:pPr marL="685800" lvl="1" indent="-342900" algn="l">
              <a:lnSpc>
                <a:spcPts val="2700"/>
              </a:lnSpc>
              <a:buSzPct val="100000"/>
              <a:buFont typeface="+mj-lt"/>
              <a:buAutoNum type="arabicPeriod"/>
            </a:pPr>
            <a:r>
              <a:rPr lang="en-US" sz="1650" dirty="0">
                <a:solidFill>
                  <a:srgbClr val="55575A"/>
                </a:solidFill>
                <a:latin typeface="Roboto Condensed" pitchFamily="34" charset="0"/>
                <a:ea typeface="Roboto Condensed" pitchFamily="34" charset="-122"/>
                <a:cs typeface="Roboto Condensed" pitchFamily="34" charset="-120"/>
              </a:rPr>
              <a:t>Encryption: Implementing strong encryption on the data, especially since the project emphasizes on-device or serverless secure storage and robust privacy controls. </a:t>
            </a:r>
            <a:endParaRPr lang="en-US" sz="1650" dirty="0"/>
          </a:p>
        </p:txBody>
      </p:sp>
      <p:sp>
        <p:nvSpPr>
          <p:cNvPr id="11" name="Text 8"/>
          <p:cNvSpPr/>
          <p:nvPr/>
        </p:nvSpPr>
        <p:spPr>
          <a:xfrm>
            <a:off x="793790" y="6569869"/>
            <a:ext cx="13042821" cy="1034415"/>
          </a:xfrm>
          <a:prstGeom prst="rect">
            <a:avLst/>
          </a:prstGeom>
          <a:noFill/>
          <a:ln/>
        </p:spPr>
        <p:txBody>
          <a:bodyPr wrap="square" lIns="0" tIns="0" rIns="0" bIns="0" rtlCol="0" anchor="t"/>
          <a:lstStyle/>
          <a:p>
            <a:pPr marL="685800" lvl="1" indent="-342900" algn="l">
              <a:lnSpc>
                <a:spcPts val="2700"/>
              </a:lnSpc>
              <a:buSzPct val="100000"/>
              <a:buFont typeface="+mj-lt"/>
              <a:buAutoNum type="arabicPeriod" startAt="2"/>
            </a:pPr>
            <a:r>
              <a:rPr lang="en-US" sz="1650" dirty="0">
                <a:solidFill>
                  <a:srgbClr val="55575A"/>
                </a:solidFill>
                <a:latin typeface="Roboto Condensed" pitchFamily="34" charset="0"/>
                <a:ea typeface="Roboto Condensed" pitchFamily="34" charset="-122"/>
                <a:cs typeface="Roboto Condensed" pitchFamily="34" charset="-120"/>
              </a:rPr>
              <a:t>Anonymization/Pseudonymization (If Needed): While the data is user-specific, if any part of the processing requires sharing information across services or models, techniques to de-identify highly sensitive personal information would be necessary to ensure compliance with privacy regulations.</a:t>
            </a:r>
            <a:endParaRPr lang="en-US" sz="1650" dirty="0"/>
          </a:p>
        </p:txBody>
      </p:sp>
      <p:pic>
        <p:nvPicPr>
          <p:cNvPr id="13" name="Picture 12">
            <a:extLst>
              <a:ext uri="{FF2B5EF4-FFF2-40B4-BE49-F238E27FC236}">
                <a16:creationId xmlns:a16="http://schemas.microsoft.com/office/drawing/2014/main" id="{16178735-650F-CC94-CF6A-C95F1BEB10E8}"/>
              </a:ext>
            </a:extLst>
          </p:cNvPr>
          <p:cNvPicPr>
            <a:picLocks noChangeAspect="1"/>
          </p:cNvPicPr>
          <p:nvPr/>
        </p:nvPicPr>
        <p:blipFill>
          <a:blip r:embed="rId4"/>
          <a:stretch>
            <a:fillRect/>
          </a:stretch>
        </p:blipFill>
        <p:spPr>
          <a:xfrm>
            <a:off x="11770718" y="7467494"/>
            <a:ext cx="3029373" cy="76210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2618482" y="523518"/>
            <a:ext cx="1345644" cy="440769"/>
          </a:xfrm>
          <a:prstGeom prst="rect">
            <a:avLst/>
          </a:prstGeom>
        </p:spPr>
      </p:pic>
      <p:sp>
        <p:nvSpPr>
          <p:cNvPr id="3" name="Text 0"/>
          <p:cNvSpPr/>
          <p:nvPr/>
        </p:nvSpPr>
        <p:spPr>
          <a:xfrm>
            <a:off x="666274" y="1149906"/>
            <a:ext cx="5768935" cy="386596"/>
          </a:xfrm>
          <a:prstGeom prst="rect">
            <a:avLst/>
          </a:prstGeom>
          <a:noFill/>
          <a:ln/>
        </p:spPr>
        <p:txBody>
          <a:bodyPr wrap="none" lIns="0" tIns="0" rIns="0" bIns="0" rtlCol="0" anchor="t"/>
          <a:lstStyle/>
          <a:p>
            <a:pPr marL="0" indent="0" algn="l">
              <a:lnSpc>
                <a:spcPts val="3000"/>
              </a:lnSpc>
              <a:buNone/>
            </a:pPr>
            <a:r>
              <a:rPr lang="en-US" sz="2400" b="1" dirty="0">
                <a:solidFill>
                  <a:srgbClr val="0C0D0F"/>
                </a:solidFill>
                <a:latin typeface="Hubot Sans Bold" pitchFamily="34" charset="0"/>
                <a:ea typeface="Hubot Sans Bold" pitchFamily="34" charset="-122"/>
                <a:cs typeface="Hubot Sans Bold" pitchFamily="34" charset="-120"/>
              </a:rPr>
              <a:t>Capstone Phases and Timeline</a:t>
            </a:r>
            <a:endParaRPr lang="en-US" sz="2400" dirty="0"/>
          </a:p>
        </p:txBody>
      </p:sp>
      <p:pic>
        <p:nvPicPr>
          <p:cNvPr id="4" name="Image 1" descr="preencoded.png"/>
          <p:cNvPicPr>
            <a:picLocks noChangeAspect="1"/>
          </p:cNvPicPr>
          <p:nvPr/>
        </p:nvPicPr>
        <p:blipFill>
          <a:blip r:embed="rId4"/>
          <a:stretch>
            <a:fillRect/>
          </a:stretch>
        </p:blipFill>
        <p:spPr>
          <a:xfrm>
            <a:off x="2993350" y="1722120"/>
            <a:ext cx="8643580" cy="4767977"/>
          </a:xfrm>
          <a:prstGeom prst="rect">
            <a:avLst/>
          </a:prstGeom>
        </p:spPr>
      </p:pic>
      <p:sp>
        <p:nvSpPr>
          <p:cNvPr id="5" name="Text 1"/>
          <p:cNvSpPr/>
          <p:nvPr/>
        </p:nvSpPr>
        <p:spPr>
          <a:xfrm>
            <a:off x="666274" y="6629281"/>
            <a:ext cx="13297852" cy="197882"/>
          </a:xfrm>
          <a:prstGeom prst="rect">
            <a:avLst/>
          </a:prstGeom>
          <a:noFill/>
          <a:ln/>
        </p:spPr>
        <p:txBody>
          <a:bodyPr wrap="none" lIns="0" tIns="0" rIns="0" bIns="0" rtlCol="0" anchor="t"/>
          <a:lstStyle/>
          <a:p>
            <a:pPr marL="0" indent="0" algn="l">
              <a:lnSpc>
                <a:spcPts val="1550"/>
              </a:lnSpc>
              <a:buNone/>
            </a:pPr>
            <a:endParaRPr lang="en-US" sz="950" dirty="0"/>
          </a:p>
        </p:txBody>
      </p:sp>
      <p:sp>
        <p:nvSpPr>
          <p:cNvPr id="6" name="Text 2"/>
          <p:cNvSpPr/>
          <p:nvPr/>
        </p:nvSpPr>
        <p:spPr>
          <a:xfrm>
            <a:off x="666274" y="7012781"/>
            <a:ext cx="3093601" cy="773192"/>
          </a:xfrm>
          <a:prstGeom prst="rect">
            <a:avLst/>
          </a:prstGeom>
          <a:noFill/>
          <a:ln/>
        </p:spPr>
        <p:txBody>
          <a:bodyPr wrap="square" lIns="0" tIns="0" rIns="0" bIns="0" rtlCol="0" anchor="t"/>
          <a:lstStyle/>
          <a:p>
            <a:pPr marL="0" indent="0" algn="l">
              <a:lnSpc>
                <a:spcPts val="3000"/>
              </a:lnSpc>
              <a:buNone/>
            </a:pPr>
            <a:endParaRPr lang="en-US" sz="2400" dirty="0"/>
          </a:p>
        </p:txBody>
      </p:sp>
      <p:sp>
        <p:nvSpPr>
          <p:cNvPr id="7" name="Text 3"/>
          <p:cNvSpPr/>
          <p:nvPr/>
        </p:nvSpPr>
        <p:spPr>
          <a:xfrm>
            <a:off x="666274" y="7971592"/>
            <a:ext cx="13297852" cy="197882"/>
          </a:xfrm>
          <a:prstGeom prst="rect">
            <a:avLst/>
          </a:prstGeom>
          <a:noFill/>
          <a:ln/>
        </p:spPr>
        <p:txBody>
          <a:bodyPr wrap="none" lIns="0" tIns="0" rIns="0" bIns="0" rtlCol="0" anchor="t"/>
          <a:lstStyle/>
          <a:p>
            <a:pPr marL="0" indent="0" algn="l">
              <a:lnSpc>
                <a:spcPts val="1550"/>
              </a:lnSpc>
              <a:buNone/>
            </a:pPr>
            <a:endParaRPr lang="en-US" sz="950" dirty="0"/>
          </a:p>
        </p:txBody>
      </p:sp>
      <p:pic>
        <p:nvPicPr>
          <p:cNvPr id="9" name="Picture 8">
            <a:extLst>
              <a:ext uri="{FF2B5EF4-FFF2-40B4-BE49-F238E27FC236}">
                <a16:creationId xmlns:a16="http://schemas.microsoft.com/office/drawing/2014/main" id="{3478CADA-5C95-8A42-1939-6C147DB2BE36}"/>
              </a:ext>
            </a:extLst>
          </p:cNvPr>
          <p:cNvPicPr>
            <a:picLocks noChangeAspect="1"/>
          </p:cNvPicPr>
          <p:nvPr/>
        </p:nvPicPr>
        <p:blipFill>
          <a:blip r:embed="rId5"/>
          <a:stretch>
            <a:fillRect/>
          </a:stretch>
        </p:blipFill>
        <p:spPr>
          <a:xfrm>
            <a:off x="12010813" y="7454794"/>
            <a:ext cx="3029373" cy="76210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52713" y="591383"/>
            <a:ext cx="6519743" cy="436721"/>
          </a:xfrm>
          <a:prstGeom prst="rect">
            <a:avLst/>
          </a:prstGeom>
          <a:noFill/>
          <a:ln/>
        </p:spPr>
        <p:txBody>
          <a:bodyPr wrap="none" lIns="0" tIns="0" rIns="0" bIns="0" rtlCol="0" anchor="t"/>
          <a:lstStyle/>
          <a:p>
            <a:pPr marL="0" indent="0" algn="l">
              <a:lnSpc>
                <a:spcPts val="3400"/>
              </a:lnSpc>
              <a:buNone/>
            </a:pPr>
            <a:r>
              <a:rPr lang="en-US" sz="2750" b="1" dirty="0">
                <a:solidFill>
                  <a:srgbClr val="0C0D0F"/>
                </a:solidFill>
                <a:latin typeface="Hubot Sans Bold" pitchFamily="34" charset="0"/>
                <a:ea typeface="Hubot Sans Bold" pitchFamily="34" charset="-122"/>
                <a:cs typeface="Hubot Sans Bold" pitchFamily="34" charset="-120"/>
              </a:rPr>
              <a:t>Capstone Phases and Timeline</a:t>
            </a:r>
            <a:endParaRPr lang="en-US" sz="2750" dirty="0"/>
          </a:p>
        </p:txBody>
      </p:sp>
      <p:sp>
        <p:nvSpPr>
          <p:cNvPr id="3" name="Shape 1"/>
          <p:cNvSpPr/>
          <p:nvPr/>
        </p:nvSpPr>
        <p:spPr>
          <a:xfrm>
            <a:off x="752713" y="1237774"/>
            <a:ext cx="6492597" cy="1895594"/>
          </a:xfrm>
          <a:prstGeom prst="roundRect">
            <a:avLst>
              <a:gd name="adj" fmla="val 1106"/>
            </a:avLst>
          </a:prstGeom>
          <a:solidFill>
            <a:srgbClr val="D8D9D2"/>
          </a:solidFill>
          <a:ln/>
        </p:spPr>
        <p:txBody>
          <a:bodyPr/>
          <a:lstStyle/>
          <a:p>
            <a:endParaRPr lang="en-US"/>
          </a:p>
        </p:txBody>
      </p:sp>
      <p:sp>
        <p:nvSpPr>
          <p:cNvPr id="4" name="Shape 2"/>
          <p:cNvSpPr/>
          <p:nvPr/>
        </p:nvSpPr>
        <p:spPr>
          <a:xfrm>
            <a:off x="892493" y="1377553"/>
            <a:ext cx="419338" cy="419338"/>
          </a:xfrm>
          <a:prstGeom prst="roundRect">
            <a:avLst>
              <a:gd name="adj" fmla="val 21803618"/>
            </a:avLst>
          </a:prstGeom>
          <a:solidFill>
            <a:srgbClr val="C8CAC1"/>
          </a:solidFill>
          <a:ln/>
        </p:spPr>
        <p:txBody>
          <a:bodyPr/>
          <a:lstStyle/>
          <a:p>
            <a:endParaRPr lang="en-US"/>
          </a:p>
        </p:txBody>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7745" y="1492806"/>
            <a:ext cx="188714" cy="188714"/>
          </a:xfrm>
          <a:prstGeom prst="rect">
            <a:avLst/>
          </a:prstGeom>
        </p:spPr>
      </p:pic>
      <p:sp>
        <p:nvSpPr>
          <p:cNvPr id="6" name="Text 3"/>
          <p:cNvSpPr/>
          <p:nvPr/>
        </p:nvSpPr>
        <p:spPr>
          <a:xfrm>
            <a:off x="892493" y="1936671"/>
            <a:ext cx="1747480" cy="218480"/>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Hubot Sans Bold" pitchFamily="34" charset="0"/>
                <a:ea typeface="Hubot Sans Bold" pitchFamily="34" charset="-122"/>
                <a:cs typeface="Hubot Sans Bold" pitchFamily="34" charset="-120"/>
              </a:rPr>
              <a:t>Arjun Sai N</a:t>
            </a:r>
            <a:endParaRPr lang="en-US" sz="1350" dirty="0"/>
          </a:p>
        </p:txBody>
      </p:sp>
      <p:sp>
        <p:nvSpPr>
          <p:cNvPr id="7" name="Text 4"/>
          <p:cNvSpPr/>
          <p:nvPr/>
        </p:nvSpPr>
        <p:spPr>
          <a:xfrm>
            <a:off x="892493" y="2238970"/>
            <a:ext cx="6213038" cy="223599"/>
          </a:xfrm>
          <a:prstGeom prst="rect">
            <a:avLst/>
          </a:prstGeom>
          <a:noFill/>
          <a:ln/>
        </p:spPr>
        <p:txBody>
          <a:bodyPr wrap="non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Main Responsibility:</a:t>
            </a:r>
            <a:r>
              <a:rPr lang="en-US" sz="1100" dirty="0">
                <a:solidFill>
                  <a:srgbClr val="000000"/>
                </a:solidFill>
                <a:latin typeface="Roboto Condensed" pitchFamily="34" charset="0"/>
                <a:ea typeface="Roboto Condensed" pitchFamily="34" charset="-122"/>
                <a:cs typeface="Roboto Condensed" pitchFamily="34" charset="-120"/>
              </a:rPr>
              <a:t> Chrome Extension &amp; Unified Search</a:t>
            </a:r>
            <a:endParaRPr lang="en-US" sz="1100" dirty="0"/>
          </a:p>
        </p:txBody>
      </p:sp>
      <p:sp>
        <p:nvSpPr>
          <p:cNvPr id="8" name="Text 5"/>
          <p:cNvSpPr/>
          <p:nvPr/>
        </p:nvSpPr>
        <p:spPr>
          <a:xfrm>
            <a:off x="892493" y="2546390"/>
            <a:ext cx="6213038" cy="223599"/>
          </a:xfrm>
          <a:prstGeom prst="rect">
            <a:avLst/>
          </a:prstGeom>
          <a:noFill/>
          <a:ln/>
        </p:spPr>
        <p:txBody>
          <a:bodyPr wrap="non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Key Tasks and Deliverables:</a:t>
            </a:r>
            <a:r>
              <a:rPr lang="en-US" sz="1100" dirty="0">
                <a:solidFill>
                  <a:srgbClr val="000000"/>
                </a:solidFill>
                <a:latin typeface="Roboto Condensed" pitchFamily="34" charset="0"/>
                <a:ea typeface="Roboto Condensed" pitchFamily="34" charset="-122"/>
                <a:cs typeface="Roboto Condensed" pitchFamily="34" charset="-120"/>
              </a:rPr>
              <a:t> Setup extension, API integration, unified search features, data flow, permissions</a:t>
            </a:r>
            <a:endParaRPr lang="en-US" sz="1100" dirty="0"/>
          </a:p>
        </p:txBody>
      </p:sp>
      <p:sp>
        <p:nvSpPr>
          <p:cNvPr id="9" name="Shape 6"/>
          <p:cNvSpPr/>
          <p:nvPr/>
        </p:nvSpPr>
        <p:spPr>
          <a:xfrm>
            <a:off x="7385090" y="1237774"/>
            <a:ext cx="6492597" cy="1895594"/>
          </a:xfrm>
          <a:prstGeom prst="roundRect">
            <a:avLst>
              <a:gd name="adj" fmla="val 1106"/>
            </a:avLst>
          </a:prstGeom>
          <a:solidFill>
            <a:srgbClr val="D8D9D2"/>
          </a:solidFill>
          <a:ln/>
        </p:spPr>
        <p:txBody>
          <a:bodyPr/>
          <a:lstStyle/>
          <a:p>
            <a:endParaRPr lang="en-US"/>
          </a:p>
        </p:txBody>
      </p:sp>
      <p:sp>
        <p:nvSpPr>
          <p:cNvPr id="10" name="Shape 7"/>
          <p:cNvSpPr/>
          <p:nvPr/>
        </p:nvSpPr>
        <p:spPr>
          <a:xfrm>
            <a:off x="7524869" y="1377553"/>
            <a:ext cx="419338" cy="419338"/>
          </a:xfrm>
          <a:prstGeom prst="roundRect">
            <a:avLst>
              <a:gd name="adj" fmla="val 21803618"/>
            </a:avLst>
          </a:prstGeom>
          <a:solidFill>
            <a:srgbClr val="C8CAC1"/>
          </a:solidFill>
          <a:ln/>
        </p:spPr>
        <p:txBody>
          <a:bodyPr/>
          <a:lstStyle/>
          <a:p>
            <a:endParaRPr lang="en-US"/>
          </a:p>
        </p:txBody>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40122" y="1492806"/>
            <a:ext cx="188714" cy="188714"/>
          </a:xfrm>
          <a:prstGeom prst="rect">
            <a:avLst/>
          </a:prstGeom>
        </p:spPr>
      </p:pic>
      <p:sp>
        <p:nvSpPr>
          <p:cNvPr id="12" name="Text 8"/>
          <p:cNvSpPr/>
          <p:nvPr/>
        </p:nvSpPr>
        <p:spPr>
          <a:xfrm>
            <a:off x="7524869" y="1936671"/>
            <a:ext cx="2742962" cy="218480"/>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Hubot Sans Bold" pitchFamily="34" charset="0"/>
                <a:ea typeface="Hubot Sans Bold" pitchFamily="34" charset="-122"/>
                <a:cs typeface="Hubot Sans Bold" pitchFamily="34" charset="-120"/>
              </a:rPr>
              <a:t>Mohammed Mir Fazlai Ali</a:t>
            </a:r>
            <a:endParaRPr lang="en-US" sz="1350" dirty="0"/>
          </a:p>
        </p:txBody>
      </p:sp>
      <p:sp>
        <p:nvSpPr>
          <p:cNvPr id="13" name="Text 9"/>
          <p:cNvSpPr/>
          <p:nvPr/>
        </p:nvSpPr>
        <p:spPr>
          <a:xfrm>
            <a:off x="7524869" y="2238970"/>
            <a:ext cx="6213038" cy="223599"/>
          </a:xfrm>
          <a:prstGeom prst="rect">
            <a:avLst/>
          </a:prstGeom>
          <a:noFill/>
          <a:ln/>
        </p:spPr>
        <p:txBody>
          <a:bodyPr wrap="non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Main Responsibility:</a:t>
            </a:r>
            <a:r>
              <a:rPr lang="en-US" sz="1100" dirty="0">
                <a:solidFill>
                  <a:srgbClr val="000000"/>
                </a:solidFill>
                <a:latin typeface="Roboto Condensed" pitchFamily="34" charset="0"/>
                <a:ea typeface="Roboto Condensed" pitchFamily="34" charset="-122"/>
                <a:cs typeface="Roboto Condensed" pitchFamily="34" charset="-120"/>
              </a:rPr>
              <a:t> Analytics &amp; Digital Wellbeing Module</a:t>
            </a:r>
            <a:endParaRPr lang="en-US" sz="1100" dirty="0"/>
          </a:p>
        </p:txBody>
      </p:sp>
      <p:sp>
        <p:nvSpPr>
          <p:cNvPr id="14" name="Text 10"/>
          <p:cNvSpPr/>
          <p:nvPr/>
        </p:nvSpPr>
        <p:spPr>
          <a:xfrm>
            <a:off x="7524869" y="2546390"/>
            <a:ext cx="6213038" cy="447199"/>
          </a:xfrm>
          <a:prstGeom prst="rect">
            <a:avLst/>
          </a:prstGeom>
          <a:noFill/>
          <a:ln/>
        </p:spPr>
        <p:txBody>
          <a:bodyPr wrap="squar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Key Tasks and Deliverables:</a:t>
            </a:r>
            <a:r>
              <a:rPr lang="en-US" sz="1100" dirty="0">
                <a:solidFill>
                  <a:srgbClr val="000000"/>
                </a:solidFill>
                <a:latin typeface="Roboto Condensed" pitchFamily="34" charset="0"/>
                <a:ea typeface="Roboto Condensed" pitchFamily="34" charset="-122"/>
                <a:cs typeface="Roboto Condensed" pitchFamily="34" charset="-120"/>
              </a:rPr>
              <a:t> Design and implement activity analytics, wellbeing reports, regret button, summaries, dashboard for behavioral nudges</a:t>
            </a:r>
            <a:endParaRPr lang="en-US" sz="1100" dirty="0"/>
          </a:p>
        </p:txBody>
      </p:sp>
      <p:sp>
        <p:nvSpPr>
          <p:cNvPr id="15" name="Shape 11"/>
          <p:cNvSpPr/>
          <p:nvPr/>
        </p:nvSpPr>
        <p:spPr>
          <a:xfrm>
            <a:off x="752713" y="3273147"/>
            <a:ext cx="6492597" cy="1895594"/>
          </a:xfrm>
          <a:prstGeom prst="roundRect">
            <a:avLst>
              <a:gd name="adj" fmla="val 1106"/>
            </a:avLst>
          </a:prstGeom>
          <a:solidFill>
            <a:srgbClr val="D8D9D2"/>
          </a:solidFill>
          <a:ln/>
        </p:spPr>
        <p:txBody>
          <a:bodyPr/>
          <a:lstStyle/>
          <a:p>
            <a:endParaRPr lang="en-US"/>
          </a:p>
        </p:txBody>
      </p:sp>
      <p:sp>
        <p:nvSpPr>
          <p:cNvPr id="16" name="Shape 12"/>
          <p:cNvSpPr/>
          <p:nvPr/>
        </p:nvSpPr>
        <p:spPr>
          <a:xfrm>
            <a:off x="892493" y="3412927"/>
            <a:ext cx="419338" cy="419338"/>
          </a:xfrm>
          <a:prstGeom prst="roundRect">
            <a:avLst>
              <a:gd name="adj" fmla="val 21803618"/>
            </a:avLst>
          </a:prstGeom>
          <a:solidFill>
            <a:srgbClr val="C8CAC1"/>
          </a:solidFill>
          <a:ln/>
        </p:spPr>
        <p:txBody>
          <a:bodyPr/>
          <a:lstStyle/>
          <a:p>
            <a:endParaRPr lang="en-US"/>
          </a:p>
        </p:txBody>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7745" y="3528179"/>
            <a:ext cx="188714" cy="188714"/>
          </a:xfrm>
          <a:prstGeom prst="rect">
            <a:avLst/>
          </a:prstGeom>
        </p:spPr>
      </p:pic>
      <p:sp>
        <p:nvSpPr>
          <p:cNvPr id="18" name="Text 13"/>
          <p:cNvSpPr/>
          <p:nvPr/>
        </p:nvSpPr>
        <p:spPr>
          <a:xfrm>
            <a:off x="892493" y="3972044"/>
            <a:ext cx="2829639" cy="218480"/>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Hubot Sans Bold" pitchFamily="34" charset="0"/>
                <a:ea typeface="Hubot Sans Bold" pitchFamily="34" charset="-122"/>
                <a:cs typeface="Hubot Sans Bold" pitchFamily="34" charset="-120"/>
              </a:rPr>
              <a:t>Mohammed Shehzaad Khan</a:t>
            </a:r>
            <a:endParaRPr lang="en-US" sz="1350" dirty="0"/>
          </a:p>
        </p:txBody>
      </p:sp>
      <p:sp>
        <p:nvSpPr>
          <p:cNvPr id="19" name="Text 14"/>
          <p:cNvSpPr/>
          <p:nvPr/>
        </p:nvSpPr>
        <p:spPr>
          <a:xfrm>
            <a:off x="892493" y="4274344"/>
            <a:ext cx="6213038" cy="223599"/>
          </a:xfrm>
          <a:prstGeom prst="rect">
            <a:avLst/>
          </a:prstGeom>
          <a:noFill/>
          <a:ln/>
        </p:spPr>
        <p:txBody>
          <a:bodyPr wrap="non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Main Responsibility:</a:t>
            </a:r>
            <a:r>
              <a:rPr lang="en-US" sz="1100" dirty="0">
                <a:solidFill>
                  <a:srgbClr val="000000"/>
                </a:solidFill>
                <a:latin typeface="Roboto Condensed" pitchFamily="34" charset="0"/>
                <a:ea typeface="Roboto Condensed" pitchFamily="34" charset="-122"/>
                <a:cs typeface="Roboto Condensed" pitchFamily="34" charset="-120"/>
              </a:rPr>
              <a:t> UI/UX &amp; AI/ML Integration</a:t>
            </a:r>
            <a:endParaRPr lang="en-US" sz="1100" dirty="0"/>
          </a:p>
        </p:txBody>
      </p:sp>
      <p:sp>
        <p:nvSpPr>
          <p:cNvPr id="20" name="Text 15"/>
          <p:cNvSpPr/>
          <p:nvPr/>
        </p:nvSpPr>
        <p:spPr>
          <a:xfrm>
            <a:off x="892493" y="4581763"/>
            <a:ext cx="6213038" cy="447199"/>
          </a:xfrm>
          <a:prstGeom prst="rect">
            <a:avLst/>
          </a:prstGeom>
          <a:noFill/>
          <a:ln/>
        </p:spPr>
        <p:txBody>
          <a:bodyPr wrap="squar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Key Tasks and Deliverables:</a:t>
            </a:r>
            <a:r>
              <a:rPr lang="en-US" sz="1100" dirty="0">
                <a:solidFill>
                  <a:srgbClr val="000000"/>
                </a:solidFill>
                <a:latin typeface="Roboto Condensed" pitchFamily="34" charset="0"/>
                <a:ea typeface="Roboto Condensed" pitchFamily="34" charset="-122"/>
                <a:cs typeface="Roboto Condensed" pitchFamily="34" charset="-120"/>
              </a:rPr>
              <a:t> Create interface mockups/design, frontend widgets/dashboard, notifications, natural language module/AI engine, “One-Click AI Summarizer”, browser automation features</a:t>
            </a:r>
            <a:endParaRPr lang="en-US" sz="1100" dirty="0"/>
          </a:p>
        </p:txBody>
      </p:sp>
      <p:sp>
        <p:nvSpPr>
          <p:cNvPr id="21" name="Shape 16"/>
          <p:cNvSpPr/>
          <p:nvPr/>
        </p:nvSpPr>
        <p:spPr>
          <a:xfrm>
            <a:off x="7385090" y="3273147"/>
            <a:ext cx="6492597" cy="1895594"/>
          </a:xfrm>
          <a:prstGeom prst="roundRect">
            <a:avLst>
              <a:gd name="adj" fmla="val 1106"/>
            </a:avLst>
          </a:prstGeom>
          <a:solidFill>
            <a:srgbClr val="D8D9D2"/>
          </a:solidFill>
          <a:ln/>
        </p:spPr>
        <p:txBody>
          <a:bodyPr/>
          <a:lstStyle/>
          <a:p>
            <a:endParaRPr lang="en-US"/>
          </a:p>
        </p:txBody>
      </p:sp>
      <p:sp>
        <p:nvSpPr>
          <p:cNvPr id="22" name="Shape 17"/>
          <p:cNvSpPr/>
          <p:nvPr/>
        </p:nvSpPr>
        <p:spPr>
          <a:xfrm>
            <a:off x="7524869" y="3412927"/>
            <a:ext cx="419338" cy="419338"/>
          </a:xfrm>
          <a:prstGeom prst="roundRect">
            <a:avLst>
              <a:gd name="adj" fmla="val 21803618"/>
            </a:avLst>
          </a:prstGeom>
          <a:solidFill>
            <a:srgbClr val="C8CAC1"/>
          </a:solidFill>
          <a:ln/>
        </p:spPr>
        <p:txBody>
          <a:bodyPr/>
          <a:lstStyle/>
          <a:p>
            <a:endParaRPr lang="en-US"/>
          </a:p>
        </p:txBody>
      </p:sp>
      <p:pic>
        <p:nvPicPr>
          <p:cNvPr id="2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640122" y="3528179"/>
            <a:ext cx="188714" cy="188714"/>
          </a:xfrm>
          <a:prstGeom prst="rect">
            <a:avLst/>
          </a:prstGeom>
        </p:spPr>
      </p:pic>
      <p:sp>
        <p:nvSpPr>
          <p:cNvPr id="24" name="Text 18"/>
          <p:cNvSpPr/>
          <p:nvPr/>
        </p:nvSpPr>
        <p:spPr>
          <a:xfrm>
            <a:off x="7524869" y="3972044"/>
            <a:ext cx="1747480" cy="218480"/>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Hubot Sans Bold" pitchFamily="34" charset="0"/>
                <a:ea typeface="Hubot Sans Bold" pitchFamily="34" charset="-122"/>
                <a:cs typeface="Hubot Sans Bold" pitchFamily="34" charset="-120"/>
              </a:rPr>
              <a:t>Mrigank Jain</a:t>
            </a:r>
            <a:endParaRPr lang="en-US" sz="1350" dirty="0"/>
          </a:p>
        </p:txBody>
      </p:sp>
      <p:sp>
        <p:nvSpPr>
          <p:cNvPr id="25" name="Text 19"/>
          <p:cNvSpPr/>
          <p:nvPr/>
        </p:nvSpPr>
        <p:spPr>
          <a:xfrm>
            <a:off x="7524869" y="4274344"/>
            <a:ext cx="6213038" cy="223599"/>
          </a:xfrm>
          <a:prstGeom prst="rect">
            <a:avLst/>
          </a:prstGeom>
          <a:noFill/>
          <a:ln/>
        </p:spPr>
        <p:txBody>
          <a:bodyPr wrap="non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Main Responsibility:</a:t>
            </a:r>
            <a:r>
              <a:rPr lang="en-US" sz="1100" dirty="0">
                <a:solidFill>
                  <a:srgbClr val="000000"/>
                </a:solidFill>
                <a:latin typeface="Roboto Condensed" pitchFamily="34" charset="0"/>
                <a:ea typeface="Roboto Condensed" pitchFamily="34" charset="-122"/>
                <a:cs typeface="Roboto Condensed" pitchFamily="34" charset="-120"/>
              </a:rPr>
              <a:t> Testing, Documentation &amp; Security</a:t>
            </a:r>
            <a:endParaRPr lang="en-US" sz="1100" dirty="0"/>
          </a:p>
        </p:txBody>
      </p:sp>
      <p:sp>
        <p:nvSpPr>
          <p:cNvPr id="26" name="Text 20"/>
          <p:cNvSpPr/>
          <p:nvPr/>
        </p:nvSpPr>
        <p:spPr>
          <a:xfrm>
            <a:off x="7524869" y="4581763"/>
            <a:ext cx="6213038" cy="447199"/>
          </a:xfrm>
          <a:prstGeom prst="rect">
            <a:avLst/>
          </a:prstGeom>
          <a:noFill/>
          <a:ln/>
        </p:spPr>
        <p:txBody>
          <a:bodyPr wrap="square" lIns="0" tIns="0" rIns="0" bIns="0" rtlCol="0" anchor="t"/>
          <a:lstStyle/>
          <a:p>
            <a:pPr marL="0" indent="0" algn="l">
              <a:lnSpc>
                <a:spcPts val="1750"/>
              </a:lnSpc>
              <a:buNone/>
            </a:pPr>
            <a:r>
              <a:rPr lang="en-US" sz="1100" b="1" dirty="0">
                <a:solidFill>
                  <a:srgbClr val="000000"/>
                </a:solidFill>
                <a:latin typeface="Roboto Condensed" pitchFamily="34" charset="0"/>
                <a:ea typeface="Roboto Condensed" pitchFamily="34" charset="-122"/>
                <a:cs typeface="Roboto Condensed" pitchFamily="34" charset="-120"/>
              </a:rPr>
              <a:t>Key Tasks and Deliverables:</a:t>
            </a:r>
            <a:r>
              <a:rPr lang="en-US" sz="1100" dirty="0">
                <a:solidFill>
                  <a:srgbClr val="000000"/>
                </a:solidFill>
                <a:latin typeface="Roboto Condensed" pitchFamily="34" charset="0"/>
                <a:ea typeface="Roboto Condensed" pitchFamily="34" charset="-122"/>
                <a:cs typeface="Roboto Condensed" pitchFamily="34" charset="-120"/>
              </a:rPr>
              <a:t> Oversee security/privacy practices, coordinate comprehensive testing (unit/integration), write and maintain documentation, support onboarding new features/add-ons</a:t>
            </a:r>
            <a:endParaRPr lang="en-US" sz="1100" dirty="0"/>
          </a:p>
        </p:txBody>
      </p:sp>
      <p:sp>
        <p:nvSpPr>
          <p:cNvPr id="27" name="Text 21"/>
          <p:cNvSpPr/>
          <p:nvPr/>
        </p:nvSpPr>
        <p:spPr>
          <a:xfrm>
            <a:off x="752713" y="5325904"/>
            <a:ext cx="139779" cy="174665"/>
          </a:xfrm>
          <a:prstGeom prst="rect">
            <a:avLst/>
          </a:prstGeom>
          <a:noFill/>
          <a:ln/>
        </p:spPr>
        <p:txBody>
          <a:bodyPr wrap="none" lIns="0" tIns="0" rIns="0" bIns="0" rtlCol="0" anchor="t"/>
          <a:lstStyle/>
          <a:p>
            <a:pPr marL="0" indent="0" algn="l">
              <a:lnSpc>
                <a:spcPts val="1750"/>
              </a:lnSpc>
              <a:buNone/>
            </a:pPr>
            <a:r>
              <a:rPr lang="en-US" sz="1100" dirty="0">
                <a:solidFill>
                  <a:srgbClr val="55575A"/>
                </a:solidFill>
                <a:latin typeface="Hubot Sans Light" pitchFamily="34" charset="0"/>
                <a:ea typeface="Hubot Sans Light" pitchFamily="34" charset="-122"/>
                <a:cs typeface="Hubot Sans Light" pitchFamily="34" charset="-120"/>
              </a:rPr>
              <a:t>01</a:t>
            </a:r>
            <a:endParaRPr lang="en-US" sz="1100" dirty="0"/>
          </a:p>
        </p:txBody>
      </p:sp>
      <p:sp>
        <p:nvSpPr>
          <p:cNvPr id="28" name="Shape 22"/>
          <p:cNvSpPr/>
          <p:nvPr/>
        </p:nvSpPr>
        <p:spPr>
          <a:xfrm>
            <a:off x="752713" y="5548074"/>
            <a:ext cx="4281726" cy="15240"/>
          </a:xfrm>
          <a:prstGeom prst="rect">
            <a:avLst/>
          </a:prstGeom>
          <a:solidFill>
            <a:srgbClr val="C8CAC1"/>
          </a:solidFill>
          <a:ln/>
        </p:spPr>
        <p:txBody>
          <a:bodyPr/>
          <a:lstStyle/>
          <a:p>
            <a:endParaRPr lang="en-US"/>
          </a:p>
        </p:txBody>
      </p:sp>
      <p:sp>
        <p:nvSpPr>
          <p:cNvPr id="29" name="Text 23"/>
          <p:cNvSpPr/>
          <p:nvPr/>
        </p:nvSpPr>
        <p:spPr>
          <a:xfrm>
            <a:off x="752713" y="5648444"/>
            <a:ext cx="2527221" cy="218480"/>
          </a:xfrm>
          <a:prstGeom prst="rect">
            <a:avLst/>
          </a:prstGeom>
          <a:noFill/>
          <a:ln/>
        </p:spPr>
        <p:txBody>
          <a:bodyPr wrap="none" lIns="0" tIns="0" rIns="0" bIns="0" rtlCol="0" anchor="t"/>
          <a:lstStyle/>
          <a:p>
            <a:pPr marL="0" indent="0" algn="l">
              <a:lnSpc>
                <a:spcPts val="1700"/>
              </a:lnSpc>
              <a:buNone/>
            </a:pPr>
            <a:r>
              <a:rPr lang="en-US" sz="1350" b="1" dirty="0">
                <a:solidFill>
                  <a:srgbClr val="55575A"/>
                </a:solidFill>
                <a:latin typeface="Hubot Sans Bold" pitchFamily="34" charset="0"/>
                <a:ea typeface="Hubot Sans Bold" pitchFamily="34" charset="-122"/>
                <a:cs typeface="Hubot Sans Bold" pitchFamily="34" charset="-120"/>
              </a:rPr>
              <a:t>Capstone-I: Foundation</a:t>
            </a:r>
            <a:endParaRPr lang="en-US" sz="1350" dirty="0"/>
          </a:p>
        </p:txBody>
      </p:sp>
      <p:sp>
        <p:nvSpPr>
          <p:cNvPr id="30" name="Text 24"/>
          <p:cNvSpPr/>
          <p:nvPr/>
        </p:nvSpPr>
        <p:spPr>
          <a:xfrm>
            <a:off x="752713" y="5950744"/>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Literature Review &amp; Gap Analysis</a:t>
            </a:r>
            <a:endParaRPr lang="en-US" sz="1100" dirty="0"/>
          </a:p>
        </p:txBody>
      </p:sp>
      <p:sp>
        <p:nvSpPr>
          <p:cNvPr id="31" name="Text 25"/>
          <p:cNvSpPr/>
          <p:nvPr/>
        </p:nvSpPr>
        <p:spPr>
          <a:xfrm>
            <a:off x="752713" y="6223159"/>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UI Prototype (History/Recall)</a:t>
            </a:r>
            <a:endParaRPr lang="en-US" sz="1100" dirty="0"/>
          </a:p>
        </p:txBody>
      </p:sp>
      <p:sp>
        <p:nvSpPr>
          <p:cNvPr id="32" name="Text 26"/>
          <p:cNvSpPr/>
          <p:nvPr/>
        </p:nvSpPr>
        <p:spPr>
          <a:xfrm>
            <a:off x="752713" y="6495574"/>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Data Flow &amp; Security Design</a:t>
            </a:r>
            <a:endParaRPr lang="en-US" sz="1100" dirty="0"/>
          </a:p>
        </p:txBody>
      </p:sp>
      <p:sp>
        <p:nvSpPr>
          <p:cNvPr id="33" name="Text 27"/>
          <p:cNvSpPr/>
          <p:nvPr/>
        </p:nvSpPr>
        <p:spPr>
          <a:xfrm>
            <a:off x="752713" y="6767989"/>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Initial Privacy Testing</a:t>
            </a:r>
            <a:endParaRPr lang="en-US" sz="1100" dirty="0"/>
          </a:p>
        </p:txBody>
      </p:sp>
      <p:sp>
        <p:nvSpPr>
          <p:cNvPr id="34" name="Text 28"/>
          <p:cNvSpPr/>
          <p:nvPr/>
        </p:nvSpPr>
        <p:spPr>
          <a:xfrm>
            <a:off x="752713" y="7040404"/>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API Integration (Gmail, Chrome, YouTube)</a:t>
            </a:r>
            <a:endParaRPr lang="en-US" sz="1100" dirty="0"/>
          </a:p>
        </p:txBody>
      </p:sp>
      <p:sp>
        <p:nvSpPr>
          <p:cNvPr id="35" name="Text 29"/>
          <p:cNvSpPr/>
          <p:nvPr/>
        </p:nvSpPr>
        <p:spPr>
          <a:xfrm>
            <a:off x="752713" y="7312819"/>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First Proof of Concept (History + Email)</a:t>
            </a:r>
            <a:endParaRPr lang="en-US" sz="1100" dirty="0"/>
          </a:p>
        </p:txBody>
      </p:sp>
      <p:sp>
        <p:nvSpPr>
          <p:cNvPr id="36" name="Text 30"/>
          <p:cNvSpPr/>
          <p:nvPr/>
        </p:nvSpPr>
        <p:spPr>
          <a:xfrm>
            <a:off x="5174218" y="5325904"/>
            <a:ext cx="139779" cy="174665"/>
          </a:xfrm>
          <a:prstGeom prst="rect">
            <a:avLst/>
          </a:prstGeom>
          <a:noFill/>
          <a:ln/>
        </p:spPr>
        <p:txBody>
          <a:bodyPr wrap="none" lIns="0" tIns="0" rIns="0" bIns="0" rtlCol="0" anchor="t"/>
          <a:lstStyle/>
          <a:p>
            <a:pPr marL="0" indent="0" algn="l">
              <a:lnSpc>
                <a:spcPts val="1750"/>
              </a:lnSpc>
              <a:buNone/>
            </a:pPr>
            <a:r>
              <a:rPr lang="en-US" sz="1100" dirty="0">
                <a:solidFill>
                  <a:srgbClr val="55575A"/>
                </a:solidFill>
                <a:latin typeface="Hubot Sans Light" pitchFamily="34" charset="0"/>
                <a:ea typeface="Hubot Sans Light" pitchFamily="34" charset="-122"/>
                <a:cs typeface="Hubot Sans Light" pitchFamily="34" charset="-120"/>
              </a:rPr>
              <a:t>02</a:t>
            </a:r>
            <a:endParaRPr lang="en-US" sz="1100" dirty="0"/>
          </a:p>
        </p:txBody>
      </p:sp>
      <p:sp>
        <p:nvSpPr>
          <p:cNvPr id="37" name="Shape 31"/>
          <p:cNvSpPr/>
          <p:nvPr/>
        </p:nvSpPr>
        <p:spPr>
          <a:xfrm>
            <a:off x="5174218" y="5548074"/>
            <a:ext cx="4281845" cy="15240"/>
          </a:xfrm>
          <a:prstGeom prst="rect">
            <a:avLst/>
          </a:prstGeom>
          <a:solidFill>
            <a:srgbClr val="C8CAC1"/>
          </a:solidFill>
          <a:ln/>
        </p:spPr>
        <p:txBody>
          <a:bodyPr/>
          <a:lstStyle/>
          <a:p>
            <a:endParaRPr lang="en-US"/>
          </a:p>
        </p:txBody>
      </p:sp>
      <p:sp>
        <p:nvSpPr>
          <p:cNvPr id="38" name="Text 32"/>
          <p:cNvSpPr/>
          <p:nvPr/>
        </p:nvSpPr>
        <p:spPr>
          <a:xfrm>
            <a:off x="5174218" y="5648444"/>
            <a:ext cx="2885122" cy="218480"/>
          </a:xfrm>
          <a:prstGeom prst="rect">
            <a:avLst/>
          </a:prstGeom>
          <a:noFill/>
          <a:ln/>
        </p:spPr>
        <p:txBody>
          <a:bodyPr wrap="none" lIns="0" tIns="0" rIns="0" bIns="0" rtlCol="0" anchor="t"/>
          <a:lstStyle/>
          <a:p>
            <a:pPr marL="0" indent="0" algn="l">
              <a:lnSpc>
                <a:spcPts val="1700"/>
              </a:lnSpc>
              <a:buNone/>
            </a:pPr>
            <a:r>
              <a:rPr lang="en-US" sz="1350" b="1" dirty="0">
                <a:solidFill>
                  <a:srgbClr val="55575A"/>
                </a:solidFill>
                <a:latin typeface="Hubot Sans Bold" pitchFamily="34" charset="0"/>
                <a:ea typeface="Hubot Sans Bold" pitchFamily="34" charset="-122"/>
                <a:cs typeface="Hubot Sans Bold" pitchFamily="34" charset="-120"/>
              </a:rPr>
              <a:t>Capstone-II: Core Features</a:t>
            </a:r>
            <a:endParaRPr lang="en-US" sz="1350" dirty="0"/>
          </a:p>
        </p:txBody>
      </p:sp>
      <p:sp>
        <p:nvSpPr>
          <p:cNvPr id="39" name="Text 33"/>
          <p:cNvSpPr/>
          <p:nvPr/>
        </p:nvSpPr>
        <p:spPr>
          <a:xfrm>
            <a:off x="5174218" y="5950744"/>
            <a:ext cx="4281845"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Unified Memory System (Chrome, Gmail, YouTube)</a:t>
            </a:r>
            <a:endParaRPr lang="en-US" sz="1100" dirty="0"/>
          </a:p>
        </p:txBody>
      </p:sp>
      <p:sp>
        <p:nvSpPr>
          <p:cNvPr id="40" name="Text 34"/>
          <p:cNvSpPr/>
          <p:nvPr/>
        </p:nvSpPr>
        <p:spPr>
          <a:xfrm>
            <a:off x="5174218" y="6223159"/>
            <a:ext cx="4281845"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LLM-powered Recall &amp; Summarization</a:t>
            </a:r>
            <a:endParaRPr lang="en-US" sz="1100" dirty="0"/>
          </a:p>
        </p:txBody>
      </p:sp>
      <p:sp>
        <p:nvSpPr>
          <p:cNvPr id="41" name="Text 35"/>
          <p:cNvSpPr/>
          <p:nvPr/>
        </p:nvSpPr>
        <p:spPr>
          <a:xfrm>
            <a:off x="5174218" y="6495574"/>
            <a:ext cx="4281845"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User Analytics &amp; Behavior Tracking</a:t>
            </a:r>
            <a:endParaRPr lang="en-US" sz="1100" dirty="0"/>
          </a:p>
        </p:txBody>
      </p:sp>
      <p:sp>
        <p:nvSpPr>
          <p:cNvPr id="42" name="Text 36"/>
          <p:cNvSpPr/>
          <p:nvPr/>
        </p:nvSpPr>
        <p:spPr>
          <a:xfrm>
            <a:off x="5174218" y="6767989"/>
            <a:ext cx="4281845"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Intermediate Testing &amp; Validation</a:t>
            </a:r>
            <a:endParaRPr lang="en-US" sz="1100" dirty="0"/>
          </a:p>
        </p:txBody>
      </p:sp>
      <p:sp>
        <p:nvSpPr>
          <p:cNvPr id="43" name="Text 37"/>
          <p:cNvSpPr/>
          <p:nvPr/>
        </p:nvSpPr>
        <p:spPr>
          <a:xfrm>
            <a:off x="5174218" y="7040404"/>
            <a:ext cx="4281845"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System Design &amp; Testing Documentation</a:t>
            </a:r>
            <a:endParaRPr lang="en-US" sz="1100" dirty="0"/>
          </a:p>
        </p:txBody>
      </p:sp>
      <p:sp>
        <p:nvSpPr>
          <p:cNvPr id="44" name="Text 38"/>
          <p:cNvSpPr/>
          <p:nvPr/>
        </p:nvSpPr>
        <p:spPr>
          <a:xfrm>
            <a:off x="9595842" y="5325904"/>
            <a:ext cx="139779" cy="174665"/>
          </a:xfrm>
          <a:prstGeom prst="rect">
            <a:avLst/>
          </a:prstGeom>
          <a:noFill/>
          <a:ln/>
        </p:spPr>
        <p:txBody>
          <a:bodyPr wrap="none" lIns="0" tIns="0" rIns="0" bIns="0" rtlCol="0" anchor="t"/>
          <a:lstStyle/>
          <a:p>
            <a:pPr marL="0" indent="0" algn="l">
              <a:lnSpc>
                <a:spcPts val="1750"/>
              </a:lnSpc>
              <a:buNone/>
            </a:pPr>
            <a:r>
              <a:rPr lang="en-US" sz="1100" dirty="0">
                <a:solidFill>
                  <a:srgbClr val="55575A"/>
                </a:solidFill>
                <a:latin typeface="Hubot Sans Light" pitchFamily="34" charset="0"/>
                <a:ea typeface="Hubot Sans Light" pitchFamily="34" charset="-122"/>
                <a:cs typeface="Hubot Sans Light" pitchFamily="34" charset="-120"/>
              </a:rPr>
              <a:t>03</a:t>
            </a:r>
            <a:endParaRPr lang="en-US" sz="1100" dirty="0"/>
          </a:p>
        </p:txBody>
      </p:sp>
      <p:sp>
        <p:nvSpPr>
          <p:cNvPr id="45" name="Shape 39"/>
          <p:cNvSpPr/>
          <p:nvPr/>
        </p:nvSpPr>
        <p:spPr>
          <a:xfrm>
            <a:off x="9595842" y="5548074"/>
            <a:ext cx="4281726" cy="15240"/>
          </a:xfrm>
          <a:prstGeom prst="rect">
            <a:avLst/>
          </a:prstGeom>
          <a:solidFill>
            <a:srgbClr val="C8CAC1"/>
          </a:solidFill>
          <a:ln/>
        </p:spPr>
        <p:txBody>
          <a:bodyPr/>
          <a:lstStyle/>
          <a:p>
            <a:endParaRPr lang="en-US"/>
          </a:p>
        </p:txBody>
      </p:sp>
      <p:sp>
        <p:nvSpPr>
          <p:cNvPr id="46" name="Text 40"/>
          <p:cNvSpPr/>
          <p:nvPr/>
        </p:nvSpPr>
        <p:spPr>
          <a:xfrm>
            <a:off x="9595842" y="5648444"/>
            <a:ext cx="3989903" cy="218480"/>
          </a:xfrm>
          <a:prstGeom prst="rect">
            <a:avLst/>
          </a:prstGeom>
          <a:noFill/>
          <a:ln/>
        </p:spPr>
        <p:txBody>
          <a:bodyPr wrap="none" lIns="0" tIns="0" rIns="0" bIns="0" rtlCol="0" anchor="t"/>
          <a:lstStyle/>
          <a:p>
            <a:pPr marL="0" indent="0" algn="l">
              <a:lnSpc>
                <a:spcPts val="1700"/>
              </a:lnSpc>
              <a:buNone/>
            </a:pPr>
            <a:r>
              <a:rPr lang="en-US" sz="1350" b="1" dirty="0">
                <a:solidFill>
                  <a:srgbClr val="55575A"/>
                </a:solidFill>
                <a:latin typeface="Hubot Sans Bold" pitchFamily="34" charset="0"/>
                <a:ea typeface="Hubot Sans Bold" pitchFamily="34" charset="-122"/>
                <a:cs typeface="Hubot Sans Bold" pitchFamily="34" charset="-120"/>
              </a:rPr>
              <a:t>Capstone-III: Advanced &amp; Deployment</a:t>
            </a:r>
            <a:endParaRPr lang="en-US" sz="1350" dirty="0"/>
          </a:p>
        </p:txBody>
      </p:sp>
      <p:sp>
        <p:nvSpPr>
          <p:cNvPr id="47" name="Text 41"/>
          <p:cNvSpPr/>
          <p:nvPr/>
        </p:nvSpPr>
        <p:spPr>
          <a:xfrm>
            <a:off x="9595842" y="5950744"/>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Full Chrome Extension (Regret/Reminder)</a:t>
            </a:r>
            <a:endParaRPr lang="en-US" sz="1100" dirty="0"/>
          </a:p>
        </p:txBody>
      </p:sp>
      <p:sp>
        <p:nvSpPr>
          <p:cNvPr id="48" name="Text 42"/>
          <p:cNvSpPr/>
          <p:nvPr/>
        </p:nvSpPr>
        <p:spPr>
          <a:xfrm>
            <a:off x="9595842" y="6223159"/>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Cross-device Synchronization</a:t>
            </a:r>
            <a:endParaRPr lang="en-US" sz="1100" dirty="0"/>
          </a:p>
        </p:txBody>
      </p:sp>
      <p:sp>
        <p:nvSpPr>
          <p:cNvPr id="49" name="Text 43"/>
          <p:cNvSpPr/>
          <p:nvPr/>
        </p:nvSpPr>
        <p:spPr>
          <a:xfrm>
            <a:off x="9595842" y="6495574"/>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User Pilot Study &amp; Feedback</a:t>
            </a:r>
            <a:endParaRPr lang="en-US" sz="1100" dirty="0"/>
          </a:p>
        </p:txBody>
      </p:sp>
      <p:sp>
        <p:nvSpPr>
          <p:cNvPr id="50" name="Text 44"/>
          <p:cNvSpPr/>
          <p:nvPr/>
        </p:nvSpPr>
        <p:spPr>
          <a:xfrm>
            <a:off x="9595842" y="6767989"/>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Final Stable Deployment</a:t>
            </a:r>
            <a:endParaRPr lang="en-US" sz="1100" dirty="0"/>
          </a:p>
        </p:txBody>
      </p:sp>
      <p:sp>
        <p:nvSpPr>
          <p:cNvPr id="51" name="Text 45"/>
          <p:cNvSpPr/>
          <p:nvPr/>
        </p:nvSpPr>
        <p:spPr>
          <a:xfrm>
            <a:off x="9595842" y="7040404"/>
            <a:ext cx="4281726" cy="223599"/>
          </a:xfrm>
          <a:prstGeom prst="rect">
            <a:avLst/>
          </a:prstGeom>
          <a:noFill/>
          <a:ln/>
        </p:spPr>
        <p:txBody>
          <a:bodyPr wrap="none" lIns="0" tIns="0" rIns="0" bIns="0" rtlCol="0" anchor="t"/>
          <a:lstStyle/>
          <a:p>
            <a:pPr marL="342900" indent="-342900" algn="l">
              <a:lnSpc>
                <a:spcPts val="1750"/>
              </a:lnSpc>
              <a:buSzPct val="100000"/>
              <a:buChar char="•"/>
            </a:pPr>
            <a:r>
              <a:rPr lang="en-US" sz="1100" dirty="0">
                <a:solidFill>
                  <a:srgbClr val="55575A"/>
                </a:solidFill>
                <a:latin typeface="Roboto Condensed" pitchFamily="34" charset="0"/>
                <a:ea typeface="Roboto Condensed" pitchFamily="34" charset="-122"/>
                <a:cs typeface="Roboto Condensed" pitchFamily="34" charset="-120"/>
              </a:rPr>
              <a:t>Technical Report &amp; Presentation</a:t>
            </a:r>
            <a:endParaRPr lang="en-US" sz="1100" dirty="0"/>
          </a:p>
        </p:txBody>
      </p:sp>
      <p:pic>
        <p:nvPicPr>
          <p:cNvPr id="53" name="Picture 52">
            <a:extLst>
              <a:ext uri="{FF2B5EF4-FFF2-40B4-BE49-F238E27FC236}">
                <a16:creationId xmlns:a16="http://schemas.microsoft.com/office/drawing/2014/main" id="{D572D6A7-AF02-CBBD-362B-5BF55F94D052}"/>
              </a:ext>
            </a:extLst>
          </p:cNvPr>
          <p:cNvPicPr>
            <a:picLocks noChangeAspect="1"/>
          </p:cNvPicPr>
          <p:nvPr/>
        </p:nvPicPr>
        <p:blipFill>
          <a:blip r:embed="rId11"/>
          <a:stretch>
            <a:fillRect/>
          </a:stretch>
        </p:blipFill>
        <p:spPr>
          <a:xfrm>
            <a:off x="12223220" y="7696147"/>
            <a:ext cx="3029373" cy="76210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703778"/>
            <a:ext cx="7540228" cy="460772"/>
          </a:xfrm>
          <a:prstGeom prst="rect">
            <a:avLst/>
          </a:prstGeom>
          <a:noFill/>
          <a:ln/>
        </p:spPr>
        <p:txBody>
          <a:bodyPr wrap="none" lIns="0" tIns="0" rIns="0" bIns="0" rtlCol="0" anchor="t"/>
          <a:lstStyle/>
          <a:p>
            <a:pPr marL="0" indent="0" algn="l">
              <a:lnSpc>
                <a:spcPts val="3600"/>
              </a:lnSpc>
              <a:buNone/>
            </a:pPr>
            <a:r>
              <a:rPr lang="en-US" sz="2900" b="1" dirty="0">
                <a:solidFill>
                  <a:srgbClr val="0C0D0F"/>
                </a:solidFill>
                <a:latin typeface="Hubot Sans Bold" pitchFamily="34" charset="0"/>
                <a:ea typeface="Hubot Sans Bold" pitchFamily="34" charset="-122"/>
                <a:cs typeface="Hubot Sans Bold" pitchFamily="34" charset="-120"/>
              </a:rPr>
              <a:t>Echo: Redefining Digital Memory</a:t>
            </a:r>
            <a:endParaRPr lang="en-US" sz="2900" dirty="0"/>
          </a:p>
        </p:txBody>
      </p:sp>
      <p:sp>
        <p:nvSpPr>
          <p:cNvPr id="3" name="Text 1"/>
          <p:cNvSpPr/>
          <p:nvPr/>
        </p:nvSpPr>
        <p:spPr>
          <a:xfrm>
            <a:off x="793790" y="1459349"/>
            <a:ext cx="13042821"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Over the past few months, tech giants like Microsoft, Google, and others have launched ambitious tools, validating the critical need for digital memory solutions. However, despite the hype, these systems consistently fall short of achieving true unified recall across browsing, email, and video platforms. Here's why:</a:t>
            </a:r>
            <a:endParaRPr lang="en-US" sz="115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9035" y="2101215"/>
            <a:ext cx="221099" cy="221099"/>
          </a:xfrm>
          <a:prstGeom prst="rect">
            <a:avLst/>
          </a:prstGeom>
        </p:spPr>
      </p:pic>
      <p:sp>
        <p:nvSpPr>
          <p:cNvPr id="5" name="Text 2"/>
          <p:cNvSpPr/>
          <p:nvPr/>
        </p:nvSpPr>
        <p:spPr>
          <a:xfrm>
            <a:off x="1272897" y="2096691"/>
            <a:ext cx="2033468"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Microsoft Recall</a:t>
            </a:r>
            <a:endParaRPr lang="en-US" sz="1450" dirty="0"/>
          </a:p>
        </p:txBody>
      </p:sp>
      <p:sp>
        <p:nvSpPr>
          <p:cNvPr id="6" name="Text 3"/>
          <p:cNvSpPr/>
          <p:nvPr/>
        </p:nvSpPr>
        <p:spPr>
          <a:xfrm>
            <a:off x="1272897" y="2415421"/>
            <a:ext cx="5950148"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Relies on </a:t>
            </a:r>
            <a:r>
              <a:rPr lang="en-US" sz="1150" b="1" dirty="0">
                <a:solidFill>
                  <a:srgbClr val="55575A"/>
                </a:solidFill>
                <a:latin typeface="Roboto Condensed" pitchFamily="34" charset="0"/>
                <a:ea typeface="Roboto Condensed" pitchFamily="34" charset="-122"/>
                <a:cs typeface="Roboto Condensed" pitchFamily="34" charset="-120"/>
              </a:rPr>
              <a:t>continuous screenshots</a:t>
            </a:r>
            <a:r>
              <a:rPr lang="en-US" sz="1150" dirty="0">
                <a:solidFill>
                  <a:srgbClr val="55575A"/>
                </a:solidFill>
                <a:latin typeface="Roboto Condensed" pitchFamily="34" charset="0"/>
                <a:ea typeface="Roboto Condensed" pitchFamily="34" charset="-122"/>
                <a:cs typeface="Roboto Condensed" pitchFamily="34" charset="-120"/>
              </a:rPr>
              <a:t>, failing to link emails, browsing, or video history. Struggles with context and raises </a:t>
            </a:r>
            <a:r>
              <a:rPr lang="en-US" sz="1150" b="1" dirty="0">
                <a:solidFill>
                  <a:srgbClr val="55575A"/>
                </a:solidFill>
                <a:latin typeface="Roboto Condensed" pitchFamily="34" charset="0"/>
                <a:ea typeface="Roboto Condensed" pitchFamily="34" charset="-122"/>
                <a:cs typeface="Roboto Condensed" pitchFamily="34" charset="-120"/>
              </a:rPr>
              <a:t>significant privacy concerns</a:t>
            </a:r>
            <a:r>
              <a:rPr lang="en-US" sz="1150" dirty="0">
                <a:solidFill>
                  <a:srgbClr val="55575A"/>
                </a:solidFill>
                <a:latin typeface="Roboto Condensed" pitchFamily="34" charset="0"/>
                <a:ea typeface="Roboto Condensed" pitchFamily="34" charset="-122"/>
                <a:cs typeface="Roboto Condensed" pitchFamily="34" charset="-120"/>
              </a:rPr>
              <a:t> due to its data collection methods.</a:t>
            </a:r>
            <a:endParaRPr lang="en-US" sz="1150" dirty="0"/>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62480" y="2101215"/>
            <a:ext cx="221099" cy="221099"/>
          </a:xfrm>
          <a:prstGeom prst="rect">
            <a:avLst/>
          </a:prstGeom>
        </p:spPr>
      </p:pic>
      <p:sp>
        <p:nvSpPr>
          <p:cNvPr id="8" name="Text 4"/>
          <p:cNvSpPr/>
          <p:nvPr/>
        </p:nvSpPr>
        <p:spPr>
          <a:xfrm>
            <a:off x="7886343" y="2096691"/>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Comet Browser</a:t>
            </a:r>
            <a:endParaRPr lang="en-US" sz="1450" dirty="0"/>
          </a:p>
        </p:txBody>
      </p:sp>
      <p:sp>
        <p:nvSpPr>
          <p:cNvPr id="9" name="Text 5"/>
          <p:cNvSpPr/>
          <p:nvPr/>
        </p:nvSpPr>
        <p:spPr>
          <a:xfrm>
            <a:off x="7886343" y="2415421"/>
            <a:ext cx="5950268"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Connects Gmail and YouTube but uses </a:t>
            </a:r>
            <a:r>
              <a:rPr lang="en-US" sz="1150" b="1" dirty="0">
                <a:solidFill>
                  <a:srgbClr val="55575A"/>
                </a:solidFill>
                <a:latin typeface="Roboto Condensed" pitchFamily="34" charset="0"/>
                <a:ea typeface="Roboto Condensed" pitchFamily="34" charset="-122"/>
                <a:cs typeface="Roboto Condensed" pitchFamily="34" charset="-120"/>
              </a:rPr>
              <a:t>isolated API calls</a:t>
            </a:r>
            <a:r>
              <a:rPr lang="en-US" sz="1150" dirty="0">
                <a:solidFill>
                  <a:srgbClr val="55575A"/>
                </a:solidFill>
                <a:latin typeface="Roboto Condensed" pitchFamily="34" charset="0"/>
                <a:ea typeface="Roboto Condensed" pitchFamily="34" charset="-122"/>
                <a:cs typeface="Roboto Condensed" pitchFamily="34" charset="-120"/>
              </a:rPr>
              <a:t>, preventing genuine cross-source insights like "emails related to videos I watched." Heavily dependent on </a:t>
            </a:r>
            <a:r>
              <a:rPr lang="en-US" sz="1150" b="1" dirty="0">
                <a:solidFill>
                  <a:srgbClr val="55575A"/>
                </a:solidFill>
                <a:latin typeface="Roboto Condensed" pitchFamily="34" charset="0"/>
                <a:ea typeface="Roboto Condensed" pitchFamily="34" charset="-122"/>
                <a:cs typeface="Roboto Condensed" pitchFamily="34" charset="-120"/>
              </a:rPr>
              <a:t>cloud infrastructure and tracking</a:t>
            </a:r>
            <a:r>
              <a:rPr lang="en-US" sz="1150" dirty="0">
                <a:solidFill>
                  <a:srgbClr val="55575A"/>
                </a:solidFill>
                <a:latin typeface="Roboto Condensed" pitchFamily="34" charset="0"/>
                <a:ea typeface="Roboto Condensed" pitchFamily="34" charset="-122"/>
                <a:cs typeface="Roboto Condensed" pitchFamily="34" charset="-120"/>
              </a:rPr>
              <a:t>.</a:t>
            </a:r>
            <a:endParaRPr lang="en-US" sz="1150" dirty="0"/>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9035" y="3186232"/>
            <a:ext cx="221099" cy="221099"/>
          </a:xfrm>
          <a:prstGeom prst="rect">
            <a:avLst/>
          </a:prstGeom>
        </p:spPr>
      </p:pic>
      <p:sp>
        <p:nvSpPr>
          <p:cNvPr id="11" name="Text 6"/>
          <p:cNvSpPr/>
          <p:nvPr/>
        </p:nvSpPr>
        <p:spPr>
          <a:xfrm>
            <a:off x="1272897" y="3181707"/>
            <a:ext cx="4085868"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ChatGPT Atlas / Browser Assistants</a:t>
            </a:r>
            <a:endParaRPr lang="en-US" sz="1450" dirty="0"/>
          </a:p>
        </p:txBody>
      </p:sp>
      <p:sp>
        <p:nvSpPr>
          <p:cNvPr id="12" name="Text 7"/>
          <p:cNvSpPr/>
          <p:nvPr/>
        </p:nvSpPr>
        <p:spPr>
          <a:xfrm>
            <a:off x="1272897" y="3500438"/>
            <a:ext cx="5950148"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Offers AI assistance but critically </a:t>
            </a:r>
            <a:r>
              <a:rPr lang="en-US" sz="1150" b="1" dirty="0">
                <a:solidFill>
                  <a:srgbClr val="55575A"/>
                </a:solidFill>
                <a:latin typeface="Roboto Condensed" pitchFamily="34" charset="0"/>
                <a:ea typeface="Roboto Condensed" pitchFamily="34" charset="-122"/>
                <a:cs typeface="Roboto Condensed" pitchFamily="34" charset="-120"/>
              </a:rPr>
              <a:t>lacks integration</a:t>
            </a:r>
            <a:r>
              <a:rPr lang="en-US" sz="1150" dirty="0">
                <a:solidFill>
                  <a:srgbClr val="55575A"/>
                </a:solidFill>
                <a:latin typeface="Roboto Condensed" pitchFamily="34" charset="0"/>
                <a:ea typeface="Roboto Condensed" pitchFamily="34" charset="-122"/>
                <a:cs typeface="Roboto Condensed" pitchFamily="34" charset="-120"/>
              </a:rPr>
              <a:t> with Gmail history, YouTube watch data, or comprehensive Chrome browsing history, providing an incomplete memory solution.</a:t>
            </a:r>
            <a:endParaRPr lang="en-US" sz="1150" dirty="0"/>
          </a:p>
        </p:txBody>
      </p:sp>
      <p:pic>
        <p:nvPicPr>
          <p:cNvPr id="13"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62480" y="3186232"/>
            <a:ext cx="221099" cy="221099"/>
          </a:xfrm>
          <a:prstGeom prst="rect">
            <a:avLst/>
          </a:prstGeom>
        </p:spPr>
      </p:pic>
      <p:sp>
        <p:nvSpPr>
          <p:cNvPr id="14" name="Text 8"/>
          <p:cNvSpPr/>
          <p:nvPr/>
        </p:nvSpPr>
        <p:spPr>
          <a:xfrm>
            <a:off x="7886343" y="3181707"/>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Google Gemini</a:t>
            </a:r>
            <a:endParaRPr lang="en-US" sz="1450" dirty="0"/>
          </a:p>
        </p:txBody>
      </p:sp>
      <p:sp>
        <p:nvSpPr>
          <p:cNvPr id="15" name="Text 9"/>
          <p:cNvSpPr/>
          <p:nvPr/>
        </p:nvSpPr>
        <p:spPr>
          <a:xfrm>
            <a:off x="7886343" y="3500438"/>
            <a:ext cx="5950268"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Currently supports only </a:t>
            </a:r>
            <a:r>
              <a:rPr lang="en-US" sz="1150" b="1" dirty="0">
                <a:solidFill>
                  <a:srgbClr val="55575A"/>
                </a:solidFill>
                <a:latin typeface="Roboto Condensed" pitchFamily="34" charset="0"/>
                <a:ea typeface="Roboto Condensed" pitchFamily="34" charset="-122"/>
                <a:cs typeface="Roboto Condensed" pitchFamily="34" charset="-120"/>
              </a:rPr>
              <a:t>limited Gmail tasks</a:t>
            </a:r>
            <a:r>
              <a:rPr lang="en-US" sz="1150" dirty="0">
                <a:solidFill>
                  <a:srgbClr val="55575A"/>
                </a:solidFill>
                <a:latin typeface="Roboto Condensed" pitchFamily="34" charset="0"/>
                <a:ea typeface="Roboto Condensed" pitchFamily="34" charset="-122"/>
                <a:cs typeface="Roboto Condensed" pitchFamily="34" charset="-120"/>
              </a:rPr>
              <a:t>, offering no multi-platform recall capabilities for a truly unified digital memory experience.</a:t>
            </a:r>
            <a:endParaRPr lang="en-US" sz="1150" dirty="0"/>
          </a:p>
        </p:txBody>
      </p:sp>
      <p:sp>
        <p:nvSpPr>
          <p:cNvPr id="16" name="Text 10"/>
          <p:cNvSpPr/>
          <p:nvPr/>
        </p:nvSpPr>
        <p:spPr>
          <a:xfrm>
            <a:off x="793790" y="4193024"/>
            <a:ext cx="8477250" cy="368618"/>
          </a:xfrm>
          <a:prstGeom prst="rect">
            <a:avLst/>
          </a:prstGeom>
          <a:noFill/>
          <a:ln/>
        </p:spPr>
        <p:txBody>
          <a:bodyPr wrap="none" lIns="0" tIns="0" rIns="0" bIns="0" rtlCol="0" anchor="t"/>
          <a:lstStyle/>
          <a:p>
            <a:pPr marL="0" indent="0" algn="l">
              <a:lnSpc>
                <a:spcPts val="2900"/>
              </a:lnSpc>
              <a:buNone/>
            </a:pPr>
            <a:r>
              <a:rPr lang="en-US" sz="2300" b="1" dirty="0">
                <a:solidFill>
                  <a:srgbClr val="0C0D0F"/>
                </a:solidFill>
                <a:latin typeface="Hubot Sans Bold" pitchFamily="34" charset="0"/>
                <a:ea typeface="Hubot Sans Bold" pitchFamily="34" charset="-122"/>
                <a:cs typeface="Hubot Sans Bold" pitchFamily="34" charset="-120"/>
              </a:rPr>
              <a:t>Why Echo Stands Alone: Unmatched Innovation</a:t>
            </a:r>
            <a:endParaRPr lang="en-US" sz="2300" dirty="0"/>
          </a:p>
        </p:txBody>
      </p:sp>
      <p:sp>
        <p:nvSpPr>
          <p:cNvPr id="17" name="Text 11"/>
          <p:cNvSpPr/>
          <p:nvPr/>
        </p:nvSpPr>
        <p:spPr>
          <a:xfrm>
            <a:off x="793790" y="4782741"/>
            <a:ext cx="13042821" cy="235744"/>
          </a:xfrm>
          <a:prstGeom prst="rect">
            <a:avLst/>
          </a:prstGeom>
          <a:noFill/>
          <a:ln/>
        </p:spPr>
        <p:txBody>
          <a:bodyPr wrap="non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Echo doesn't just fill the gaps; it redefines what's possible in personal digital memory. We offer a comprehensive, privacy-first solution that truly unifies your digital world:</a:t>
            </a:r>
            <a:endParaRPr lang="en-US" sz="1150" dirty="0"/>
          </a:p>
        </p:txBody>
      </p:sp>
      <p:sp>
        <p:nvSpPr>
          <p:cNvPr id="18" name="Shape 12"/>
          <p:cNvSpPr/>
          <p:nvPr/>
        </p:nvSpPr>
        <p:spPr>
          <a:xfrm>
            <a:off x="793790" y="5262622"/>
            <a:ext cx="73700" cy="73700"/>
          </a:xfrm>
          <a:prstGeom prst="roundRect">
            <a:avLst>
              <a:gd name="adj" fmla="val 620353"/>
            </a:avLst>
          </a:prstGeom>
          <a:solidFill>
            <a:srgbClr val="C8CAC1"/>
          </a:solidFill>
          <a:ln/>
        </p:spPr>
        <p:txBody>
          <a:bodyPr/>
          <a:lstStyle/>
          <a:p>
            <a:endParaRPr lang="en-US"/>
          </a:p>
        </p:txBody>
      </p:sp>
      <p:sp>
        <p:nvSpPr>
          <p:cNvPr id="19" name="Text 13"/>
          <p:cNvSpPr/>
          <p:nvPr/>
        </p:nvSpPr>
        <p:spPr>
          <a:xfrm>
            <a:off x="1014889" y="5184338"/>
            <a:ext cx="3626048"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True Cross-Source Correlation</a:t>
            </a:r>
            <a:endParaRPr lang="en-US" sz="1450" dirty="0"/>
          </a:p>
        </p:txBody>
      </p:sp>
      <p:sp>
        <p:nvSpPr>
          <p:cNvPr id="20" name="Text 14"/>
          <p:cNvSpPr/>
          <p:nvPr/>
        </p:nvSpPr>
        <p:spPr>
          <a:xfrm>
            <a:off x="1014889" y="5503069"/>
            <a:ext cx="4003715"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Achieve seamless recall across </a:t>
            </a:r>
            <a:r>
              <a:rPr lang="en-US" sz="1150" b="1" dirty="0">
                <a:solidFill>
                  <a:srgbClr val="55575A"/>
                </a:solidFill>
                <a:latin typeface="Roboto Condensed" pitchFamily="34" charset="0"/>
                <a:ea typeface="Roboto Condensed" pitchFamily="34" charset="-122"/>
                <a:cs typeface="Roboto Condensed" pitchFamily="34" charset="-120"/>
              </a:rPr>
              <a:t>Gmail, YouTube, and browser history</a:t>
            </a:r>
            <a:r>
              <a:rPr lang="en-US" sz="1150" dirty="0">
                <a:solidFill>
                  <a:srgbClr val="55575A"/>
                </a:solidFill>
                <a:latin typeface="Roboto Condensed" pitchFamily="34" charset="0"/>
                <a:ea typeface="Roboto Condensed" pitchFamily="34" charset="-122"/>
                <a:cs typeface="Roboto Condensed" pitchFamily="34" charset="-120"/>
              </a:rPr>
              <a:t>, all indexed in one powerful, unified system.</a:t>
            </a:r>
            <a:endParaRPr lang="en-US" sz="1150" dirty="0"/>
          </a:p>
        </p:txBody>
      </p:sp>
      <p:sp>
        <p:nvSpPr>
          <p:cNvPr id="21" name="Shape 15"/>
          <p:cNvSpPr/>
          <p:nvPr/>
        </p:nvSpPr>
        <p:spPr>
          <a:xfrm>
            <a:off x="5202793" y="5262622"/>
            <a:ext cx="73700" cy="73700"/>
          </a:xfrm>
          <a:prstGeom prst="roundRect">
            <a:avLst>
              <a:gd name="adj" fmla="val 620353"/>
            </a:avLst>
          </a:prstGeom>
          <a:solidFill>
            <a:srgbClr val="C8CAC1"/>
          </a:solidFill>
          <a:ln/>
        </p:spPr>
        <p:txBody>
          <a:bodyPr/>
          <a:lstStyle/>
          <a:p>
            <a:endParaRPr lang="en-US"/>
          </a:p>
        </p:txBody>
      </p:sp>
      <p:sp>
        <p:nvSpPr>
          <p:cNvPr id="22" name="Text 16"/>
          <p:cNvSpPr/>
          <p:nvPr/>
        </p:nvSpPr>
        <p:spPr>
          <a:xfrm>
            <a:off x="5423892" y="5184338"/>
            <a:ext cx="3810000"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Local-First, Privacy-First Design</a:t>
            </a:r>
            <a:endParaRPr lang="en-US" sz="1450" dirty="0"/>
          </a:p>
        </p:txBody>
      </p:sp>
      <p:sp>
        <p:nvSpPr>
          <p:cNvPr id="23" name="Text 17"/>
          <p:cNvSpPr/>
          <p:nvPr/>
        </p:nvSpPr>
        <p:spPr>
          <a:xfrm>
            <a:off x="5423892" y="5503069"/>
            <a:ext cx="4003715"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Enjoy unparalleled privacy with our architecture that operates </a:t>
            </a:r>
            <a:r>
              <a:rPr lang="en-US" sz="1150" b="1" dirty="0">
                <a:solidFill>
                  <a:srgbClr val="55575A"/>
                </a:solidFill>
                <a:latin typeface="Roboto Condensed" pitchFamily="34" charset="0"/>
                <a:ea typeface="Roboto Condensed" pitchFamily="34" charset="-122"/>
                <a:cs typeface="Roboto Condensed" pitchFamily="34" charset="-120"/>
              </a:rPr>
              <a:t>without screenshot capture </a:t>
            </a:r>
            <a:r>
              <a:rPr lang="en-US" sz="1150" dirty="0">
                <a:solidFill>
                  <a:srgbClr val="55575A"/>
                </a:solidFill>
                <a:latin typeface="Roboto Condensed" pitchFamily="34" charset="0"/>
                <a:ea typeface="Roboto Condensed" pitchFamily="34" charset="-122"/>
                <a:cs typeface="Roboto Condensed" pitchFamily="34" charset="-120"/>
              </a:rPr>
              <a:t>, keeping your data secure and personal.</a:t>
            </a:r>
            <a:endParaRPr lang="en-US" sz="1150" dirty="0"/>
          </a:p>
        </p:txBody>
      </p:sp>
      <p:sp>
        <p:nvSpPr>
          <p:cNvPr id="24" name="Shape 18"/>
          <p:cNvSpPr/>
          <p:nvPr/>
        </p:nvSpPr>
        <p:spPr>
          <a:xfrm>
            <a:off x="9611797" y="5262622"/>
            <a:ext cx="73700" cy="73700"/>
          </a:xfrm>
          <a:prstGeom prst="roundRect">
            <a:avLst>
              <a:gd name="adj" fmla="val 620353"/>
            </a:avLst>
          </a:prstGeom>
          <a:solidFill>
            <a:srgbClr val="C8CAC1"/>
          </a:solidFill>
          <a:ln/>
        </p:spPr>
        <p:txBody>
          <a:bodyPr/>
          <a:lstStyle/>
          <a:p>
            <a:endParaRPr lang="en-US"/>
          </a:p>
        </p:txBody>
      </p:sp>
      <p:sp>
        <p:nvSpPr>
          <p:cNvPr id="25" name="Text 19"/>
          <p:cNvSpPr/>
          <p:nvPr/>
        </p:nvSpPr>
        <p:spPr>
          <a:xfrm>
            <a:off x="9832896" y="5184338"/>
            <a:ext cx="4003715" cy="460772"/>
          </a:xfrm>
          <a:prstGeom prst="rect">
            <a:avLst/>
          </a:prstGeom>
          <a:noFill/>
          <a:ln/>
        </p:spPr>
        <p:txBody>
          <a:bodyPr wrap="squar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Insightful Wellbeing &amp; Behavioral Analytics</a:t>
            </a:r>
            <a:endParaRPr lang="en-US" sz="1450" dirty="0"/>
          </a:p>
        </p:txBody>
      </p:sp>
      <p:sp>
        <p:nvSpPr>
          <p:cNvPr id="26" name="Text 20"/>
          <p:cNvSpPr/>
          <p:nvPr/>
        </p:nvSpPr>
        <p:spPr>
          <a:xfrm>
            <a:off x="9832896" y="5733455"/>
            <a:ext cx="4003715" cy="707231"/>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Gain valuable insights into your digital habits with metrics on </a:t>
            </a:r>
            <a:r>
              <a:rPr lang="en-US" sz="1150" b="1" dirty="0">
                <a:solidFill>
                  <a:srgbClr val="55575A"/>
                </a:solidFill>
                <a:latin typeface="Roboto Condensed" pitchFamily="34" charset="0"/>
                <a:ea typeface="Roboto Condensed" pitchFamily="34" charset="-122"/>
                <a:cs typeface="Roboto Condensed" pitchFamily="34" charset="-120"/>
              </a:rPr>
              <a:t>focus time, media consumption, and overload indicators</a:t>
            </a:r>
            <a:r>
              <a:rPr lang="en-US" sz="1150" dirty="0">
                <a:solidFill>
                  <a:srgbClr val="55575A"/>
                </a:solidFill>
                <a:latin typeface="Roboto Condensed" pitchFamily="34" charset="0"/>
                <a:ea typeface="Roboto Condensed" pitchFamily="34" charset="-122"/>
                <a:cs typeface="Roboto Condensed" pitchFamily="34" charset="-120"/>
              </a:rPr>
              <a:t>, empowering healthier digital choices.</a:t>
            </a:r>
            <a:endParaRPr lang="en-US" sz="1150" dirty="0"/>
          </a:p>
        </p:txBody>
      </p:sp>
      <p:sp>
        <p:nvSpPr>
          <p:cNvPr id="27" name="Shape 21"/>
          <p:cNvSpPr/>
          <p:nvPr/>
        </p:nvSpPr>
        <p:spPr>
          <a:xfrm>
            <a:off x="793790" y="6813768"/>
            <a:ext cx="73700" cy="73700"/>
          </a:xfrm>
          <a:prstGeom prst="roundRect">
            <a:avLst>
              <a:gd name="adj" fmla="val 620353"/>
            </a:avLst>
          </a:prstGeom>
          <a:solidFill>
            <a:srgbClr val="C8CAC1"/>
          </a:solidFill>
          <a:ln/>
        </p:spPr>
        <p:txBody>
          <a:bodyPr/>
          <a:lstStyle/>
          <a:p>
            <a:endParaRPr lang="en-US"/>
          </a:p>
        </p:txBody>
      </p:sp>
      <p:sp>
        <p:nvSpPr>
          <p:cNvPr id="28" name="Text 22"/>
          <p:cNvSpPr/>
          <p:nvPr/>
        </p:nvSpPr>
        <p:spPr>
          <a:xfrm>
            <a:off x="1014889" y="6735485"/>
            <a:ext cx="4488775"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Academic Value &amp; Advanced Technology</a:t>
            </a:r>
            <a:endParaRPr lang="en-US" sz="1450" dirty="0"/>
          </a:p>
        </p:txBody>
      </p:sp>
      <p:sp>
        <p:nvSpPr>
          <p:cNvPr id="29" name="Text 23"/>
          <p:cNvSpPr/>
          <p:nvPr/>
        </p:nvSpPr>
        <p:spPr>
          <a:xfrm>
            <a:off x="1014889" y="7054215"/>
            <a:ext cx="6208157"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Built on cutting-edge research, featuring </a:t>
            </a:r>
            <a:r>
              <a:rPr lang="en-US" sz="1150" b="1" dirty="0">
                <a:solidFill>
                  <a:srgbClr val="55575A"/>
                </a:solidFill>
                <a:latin typeface="Roboto Condensed" pitchFamily="34" charset="0"/>
                <a:ea typeface="Roboto Condensed" pitchFamily="34" charset="-122"/>
                <a:cs typeface="Roboto Condensed" pitchFamily="34" charset="-120"/>
              </a:rPr>
              <a:t>optimal O(log N) search, privacy-preserving RAG, and multi-source semantic indexing</a:t>
            </a:r>
            <a:r>
              <a:rPr lang="en-US" sz="1150" dirty="0">
                <a:solidFill>
                  <a:srgbClr val="55575A"/>
                </a:solidFill>
                <a:latin typeface="Roboto Condensed" pitchFamily="34" charset="0"/>
                <a:ea typeface="Roboto Condensed" pitchFamily="34" charset="-122"/>
                <a:cs typeface="Roboto Condensed" pitchFamily="34" charset="-120"/>
              </a:rPr>
              <a:t> for superior performance.</a:t>
            </a:r>
            <a:endParaRPr lang="en-US" sz="1150" dirty="0"/>
          </a:p>
        </p:txBody>
      </p:sp>
      <p:sp>
        <p:nvSpPr>
          <p:cNvPr id="30" name="Shape 24"/>
          <p:cNvSpPr/>
          <p:nvPr/>
        </p:nvSpPr>
        <p:spPr>
          <a:xfrm>
            <a:off x="7407235" y="6813768"/>
            <a:ext cx="73700" cy="73700"/>
          </a:xfrm>
          <a:prstGeom prst="roundRect">
            <a:avLst>
              <a:gd name="adj" fmla="val 620353"/>
            </a:avLst>
          </a:prstGeom>
          <a:solidFill>
            <a:srgbClr val="C8CAC1"/>
          </a:solidFill>
          <a:ln/>
        </p:spPr>
        <p:txBody>
          <a:bodyPr/>
          <a:lstStyle/>
          <a:p>
            <a:endParaRPr lang="en-US"/>
          </a:p>
        </p:txBody>
      </p:sp>
      <p:sp>
        <p:nvSpPr>
          <p:cNvPr id="31" name="Text 25"/>
          <p:cNvSpPr/>
          <p:nvPr/>
        </p:nvSpPr>
        <p:spPr>
          <a:xfrm>
            <a:off x="7628334" y="6735485"/>
            <a:ext cx="5780127" cy="230386"/>
          </a:xfrm>
          <a:prstGeom prst="rect">
            <a:avLst/>
          </a:prstGeom>
          <a:noFill/>
          <a:ln/>
        </p:spPr>
        <p:txBody>
          <a:bodyPr wrap="none" lIns="0" tIns="0" rIns="0" bIns="0" rtlCol="0" anchor="t"/>
          <a:lstStyle/>
          <a:p>
            <a:pPr marL="0" indent="0" algn="l">
              <a:lnSpc>
                <a:spcPts val="1800"/>
              </a:lnSpc>
              <a:buNone/>
            </a:pPr>
            <a:r>
              <a:rPr lang="en-US" sz="1450" b="1" dirty="0">
                <a:solidFill>
                  <a:srgbClr val="55575A"/>
                </a:solidFill>
                <a:latin typeface="Hubot Sans Bold" pitchFamily="34" charset="0"/>
                <a:ea typeface="Hubot Sans Bold" pitchFamily="34" charset="-122"/>
                <a:cs typeface="Hubot Sans Bold" pitchFamily="34" charset="-120"/>
              </a:rPr>
              <a:t>Hardware-Agnostic &amp; Cross-Device Compatibility</a:t>
            </a:r>
            <a:endParaRPr lang="en-US" sz="1450" dirty="0"/>
          </a:p>
        </p:txBody>
      </p:sp>
      <p:sp>
        <p:nvSpPr>
          <p:cNvPr id="32" name="Text 26"/>
          <p:cNvSpPr/>
          <p:nvPr/>
        </p:nvSpPr>
        <p:spPr>
          <a:xfrm>
            <a:off x="7628334" y="7054215"/>
            <a:ext cx="6208276" cy="471488"/>
          </a:xfrm>
          <a:prstGeom prst="rect">
            <a:avLst/>
          </a:prstGeom>
          <a:noFill/>
          <a:ln/>
        </p:spPr>
        <p:txBody>
          <a:bodyPr wrap="square" lIns="0" tIns="0" rIns="0" bIns="0" rtlCol="0" anchor="t"/>
          <a:lstStyle/>
          <a:p>
            <a:pPr marL="0" indent="0" algn="l">
              <a:lnSpc>
                <a:spcPts val="1850"/>
              </a:lnSpc>
              <a:buNone/>
            </a:pPr>
            <a:r>
              <a:rPr lang="en-US" sz="1150" dirty="0">
                <a:solidFill>
                  <a:srgbClr val="55575A"/>
                </a:solidFill>
                <a:latin typeface="Roboto Condensed" pitchFamily="34" charset="0"/>
                <a:ea typeface="Roboto Condensed" pitchFamily="34" charset="-122"/>
                <a:cs typeface="Roboto Condensed" pitchFamily="34" charset="-120"/>
              </a:rPr>
              <a:t>Unlike competitors tied to specific hardware or browsers, Echo works seamlessly across </a:t>
            </a:r>
            <a:r>
              <a:rPr lang="en-US" sz="1150" b="1" dirty="0">
                <a:solidFill>
                  <a:srgbClr val="55575A"/>
                </a:solidFill>
                <a:latin typeface="Roboto Condensed" pitchFamily="34" charset="0"/>
                <a:ea typeface="Roboto Condensed" pitchFamily="34" charset="-122"/>
                <a:cs typeface="Roboto Condensed" pitchFamily="34" charset="-120"/>
              </a:rPr>
              <a:t>all your devices</a:t>
            </a:r>
            <a:r>
              <a:rPr lang="en-US" sz="1150" dirty="0">
                <a:solidFill>
                  <a:srgbClr val="55575A"/>
                </a:solidFill>
                <a:latin typeface="Roboto Condensed" pitchFamily="34" charset="0"/>
                <a:ea typeface="Roboto Condensed" pitchFamily="34" charset="-122"/>
                <a:cs typeface="Roboto Condensed" pitchFamily="34" charset="-120"/>
              </a:rPr>
              <a:t>, adapting to modern browsing patterns like YouTube Shorts.</a:t>
            </a:r>
            <a:endParaRPr lang="en-US" sz="1150" dirty="0"/>
          </a:p>
        </p:txBody>
      </p:sp>
      <p:pic>
        <p:nvPicPr>
          <p:cNvPr id="34" name="Picture 33">
            <a:extLst>
              <a:ext uri="{FF2B5EF4-FFF2-40B4-BE49-F238E27FC236}">
                <a16:creationId xmlns:a16="http://schemas.microsoft.com/office/drawing/2014/main" id="{804CBE6A-E464-F251-E0EE-942BD5237D7B}"/>
              </a:ext>
            </a:extLst>
          </p:cNvPr>
          <p:cNvPicPr>
            <a:picLocks noChangeAspect="1"/>
          </p:cNvPicPr>
          <p:nvPr/>
        </p:nvPicPr>
        <p:blipFill>
          <a:blip r:embed="rId11"/>
          <a:stretch>
            <a:fillRect/>
          </a:stretch>
        </p:blipFill>
        <p:spPr>
          <a:xfrm>
            <a:off x="12417213" y="7675193"/>
            <a:ext cx="3029373" cy="76210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1369873" y="844629"/>
            <a:ext cx="2466737" cy="807958"/>
          </a:xfrm>
          <a:prstGeom prst="rect">
            <a:avLst/>
          </a:prstGeom>
        </p:spPr>
      </p:pic>
      <p:sp>
        <p:nvSpPr>
          <p:cNvPr id="3" name="Text 0"/>
          <p:cNvSpPr/>
          <p:nvPr/>
        </p:nvSpPr>
        <p:spPr>
          <a:xfrm>
            <a:off x="793790" y="1992749"/>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Conclusion</a:t>
            </a:r>
            <a:endParaRPr lang="en-US" sz="4450" dirty="0"/>
          </a:p>
        </p:txBody>
      </p:sp>
      <p:sp>
        <p:nvSpPr>
          <p:cNvPr id="4" name="Text 1"/>
          <p:cNvSpPr/>
          <p:nvPr/>
        </p:nvSpPr>
        <p:spPr>
          <a:xfrm>
            <a:off x="793790" y="3041690"/>
            <a:ext cx="13042821" cy="1451610"/>
          </a:xfrm>
          <a:prstGeom prst="rect">
            <a:avLst/>
          </a:prstGeom>
          <a:noFill/>
          <a:ln/>
        </p:spPr>
        <p:txBody>
          <a:bodyPr wrap="squar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The current wave of "unified recall" tools confirms the urgency of this problem. However, none achieve true unification, often relying on flawed methods like screenshots or lacking personal data integration. Echo uniquely delivers a privacy-preserving, semantically unified, cross-platform personal memory system, backed by rigorous academic research. While competitors validate the market, Echo claims the uncharted territory: true unified recall with wellbeing intelligence, designed through principled research rather than rushed commercial deployment.</a:t>
            </a:r>
            <a:endParaRPr lang="en-US" sz="1750" dirty="0"/>
          </a:p>
        </p:txBody>
      </p:sp>
      <p:sp>
        <p:nvSpPr>
          <p:cNvPr id="5" name="Text 2"/>
          <p:cNvSpPr/>
          <p:nvPr/>
        </p:nvSpPr>
        <p:spPr>
          <a:xfrm>
            <a:off x="793790" y="4833461"/>
            <a:ext cx="9107924" cy="425291"/>
          </a:xfrm>
          <a:prstGeom prst="rect">
            <a:avLst/>
          </a:prstGeom>
          <a:noFill/>
          <a:ln/>
        </p:spPr>
        <p:txBody>
          <a:bodyPr wrap="none" lIns="0" tIns="0" rIns="0" bIns="0" rtlCol="0" anchor="t"/>
          <a:lstStyle/>
          <a:p>
            <a:pPr marL="0" indent="0" algn="l">
              <a:lnSpc>
                <a:spcPts val="3300"/>
              </a:lnSpc>
              <a:buNone/>
            </a:pPr>
            <a:r>
              <a:rPr lang="en-US" sz="2650" b="1" dirty="0">
                <a:solidFill>
                  <a:srgbClr val="0C0D0F"/>
                </a:solidFill>
                <a:latin typeface="Hubot Sans Bold" pitchFamily="34" charset="0"/>
                <a:ea typeface="Hubot Sans Bold" pitchFamily="34" charset="-122"/>
                <a:cs typeface="Hubot Sans Bold" pitchFamily="34" charset="-120"/>
              </a:rPr>
              <a:t>Future Vision (Planned &amp; Possible Add-Ons):</a:t>
            </a:r>
            <a:endParaRPr lang="en-US" sz="2650" dirty="0"/>
          </a:p>
        </p:txBody>
      </p:sp>
      <p:sp>
        <p:nvSpPr>
          <p:cNvPr id="6" name="Text 3"/>
          <p:cNvSpPr/>
          <p:nvPr/>
        </p:nvSpPr>
        <p:spPr>
          <a:xfrm>
            <a:off x="793790" y="5598914"/>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55575A"/>
                </a:solidFill>
                <a:latin typeface="Roboto Condensed" pitchFamily="34" charset="0"/>
                <a:ea typeface="Roboto Condensed" pitchFamily="34" charset="-122"/>
                <a:cs typeface="Roboto Condensed" pitchFamily="34" charset="-120"/>
              </a:rPr>
              <a:t>One-Click AI Summaries:</a:t>
            </a:r>
            <a:r>
              <a:rPr lang="en-US" sz="1750" dirty="0">
                <a:solidFill>
                  <a:srgbClr val="55575A"/>
                </a:solidFill>
                <a:latin typeface="Roboto Condensed" pitchFamily="34" charset="0"/>
                <a:ea typeface="Roboto Condensed" pitchFamily="34" charset="-122"/>
                <a:cs typeface="Roboto Condensed" pitchFamily="34" charset="-120"/>
              </a:rPr>
              <a:t> Instantly summarize any webpage or video you're viewing with a single click—no copy-paste needed.</a:t>
            </a:r>
            <a:endParaRPr lang="en-US" sz="1750" dirty="0"/>
          </a:p>
        </p:txBody>
      </p:sp>
      <p:sp>
        <p:nvSpPr>
          <p:cNvPr id="7" name="Text 4"/>
          <p:cNvSpPr/>
          <p:nvPr/>
        </p:nvSpPr>
        <p:spPr>
          <a:xfrm>
            <a:off x="793790" y="6041112"/>
            <a:ext cx="13042821"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55575A"/>
                </a:solidFill>
                <a:latin typeface="Roboto Condensed" pitchFamily="34" charset="0"/>
                <a:ea typeface="Roboto Condensed" pitchFamily="34" charset="-122"/>
                <a:cs typeface="Roboto Condensed" pitchFamily="34" charset="-120"/>
              </a:rPr>
              <a:t>Automation of Common Tasks:</a:t>
            </a:r>
            <a:r>
              <a:rPr lang="en-US" sz="1750" dirty="0">
                <a:solidFill>
                  <a:srgbClr val="55575A"/>
                </a:solidFill>
                <a:latin typeface="Roboto Condensed" pitchFamily="34" charset="0"/>
                <a:ea typeface="Roboto Condensed" pitchFamily="34" charset="-122"/>
                <a:cs typeface="Roboto Condensed" pitchFamily="34" charset="-120"/>
              </a:rPr>
              <a:t> Seamlessly order food, book tickets, save important resources, or schedule meetings without ever leaving Echo.</a:t>
            </a:r>
            <a:endParaRPr lang="en-US" sz="1750" dirty="0"/>
          </a:p>
        </p:txBody>
      </p:sp>
      <p:sp>
        <p:nvSpPr>
          <p:cNvPr id="8" name="Text 5"/>
          <p:cNvSpPr/>
          <p:nvPr/>
        </p:nvSpPr>
        <p:spPr>
          <a:xfrm>
            <a:off x="793790" y="7022068"/>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55575A"/>
                </a:solidFill>
                <a:latin typeface="Roboto Condensed" pitchFamily="34" charset="0"/>
                <a:ea typeface="Roboto Condensed" pitchFamily="34" charset="-122"/>
                <a:cs typeface="Roboto Condensed" pitchFamily="34" charset="-120"/>
              </a:rPr>
              <a:t>Echo: Because your digital memory deserves to be more than just a grain lost in the husk. It deserves to be a powerful, organized, and truly yours.</a:t>
            </a:r>
            <a:endParaRPr lang="en-US" sz="1750" dirty="0"/>
          </a:p>
        </p:txBody>
      </p:sp>
      <p:pic>
        <p:nvPicPr>
          <p:cNvPr id="10" name="Picture 9">
            <a:extLst>
              <a:ext uri="{FF2B5EF4-FFF2-40B4-BE49-F238E27FC236}">
                <a16:creationId xmlns:a16="http://schemas.microsoft.com/office/drawing/2014/main" id="{584197F2-B13D-50A0-5D7E-DFED88B23779}"/>
              </a:ext>
            </a:extLst>
          </p:cNvPr>
          <p:cNvPicPr>
            <a:picLocks noChangeAspect="1"/>
          </p:cNvPicPr>
          <p:nvPr/>
        </p:nvPicPr>
        <p:blipFill>
          <a:blip r:embed="rId4"/>
          <a:stretch>
            <a:fillRect/>
          </a:stretch>
        </p:blipFill>
        <p:spPr>
          <a:xfrm>
            <a:off x="12321923" y="7640122"/>
            <a:ext cx="3029373" cy="76210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93790" y="982623"/>
            <a:ext cx="10459522" cy="362903"/>
          </a:xfrm>
          <a:prstGeom prst="rect">
            <a:avLst/>
          </a:prstGeom>
          <a:noFill/>
          <a:ln/>
        </p:spPr>
        <p:txBody>
          <a:bodyPr wrap="none" lIns="0" tIns="0" rIns="0" bIns="0" rtlCol="0" anchor="t"/>
          <a:lstStyle/>
          <a:p>
            <a:pPr marL="0" indent="0" algn="l">
              <a:lnSpc>
                <a:spcPts val="2850"/>
              </a:lnSpc>
              <a:buNone/>
            </a:pPr>
            <a:endParaRPr lang="en-US" sz="1750" dirty="0"/>
          </a:p>
        </p:txBody>
      </p:sp>
      <p:pic>
        <p:nvPicPr>
          <p:cNvPr id="3" name="Image 0" descr="preencoded.png"/>
          <p:cNvPicPr>
            <a:picLocks noChangeAspect="1"/>
          </p:cNvPicPr>
          <p:nvPr/>
        </p:nvPicPr>
        <p:blipFill>
          <a:blip r:embed="rId3"/>
          <a:stretch>
            <a:fillRect/>
          </a:stretch>
        </p:blipFill>
        <p:spPr>
          <a:xfrm>
            <a:off x="11814334" y="1033701"/>
            <a:ext cx="2029778" cy="664845"/>
          </a:xfrm>
          <a:prstGeom prst="rect">
            <a:avLst/>
          </a:prstGeom>
        </p:spPr>
      </p:pic>
      <p:sp>
        <p:nvSpPr>
          <p:cNvPr id="4" name="Text 1"/>
          <p:cNvSpPr/>
          <p:nvPr/>
        </p:nvSpPr>
        <p:spPr>
          <a:xfrm>
            <a:off x="793790" y="2293858"/>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C0D0F"/>
                </a:solidFill>
                <a:latin typeface="Hubot Sans Bold" pitchFamily="34" charset="0"/>
                <a:ea typeface="Hubot Sans Bold" pitchFamily="34" charset="-122"/>
                <a:cs typeface="Hubot Sans Bold" pitchFamily="34" charset="-120"/>
              </a:rPr>
              <a:t>References</a:t>
            </a:r>
            <a:endParaRPr lang="en-US" sz="4450" dirty="0"/>
          </a:p>
        </p:txBody>
      </p:sp>
      <p:sp>
        <p:nvSpPr>
          <p:cNvPr id="5" name="Text 2"/>
          <p:cNvSpPr/>
          <p:nvPr/>
        </p:nvSpPr>
        <p:spPr>
          <a:xfrm>
            <a:off x="793790" y="3342799"/>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[1]</a:t>
            </a:r>
            <a:r>
              <a:rPr lang="en-US" sz="1400" dirty="0">
                <a:solidFill>
                  <a:srgbClr val="55575A"/>
                </a:solidFill>
                <a:latin typeface="Roboto Condensed" pitchFamily="34" charset="0"/>
                <a:ea typeface="Roboto Condensed" pitchFamily="34" charset="-122"/>
                <a:cs typeface="Roboto Condensed" pitchFamily="34" charset="-120"/>
              </a:rPr>
              <a:t> P. Lewis et al., "Retrieval-augmented generation for knowledge-intensive NLP tasks," in </a:t>
            </a:r>
            <a:r>
              <a:rPr lang="en-US" sz="1400" i="1" dirty="0">
                <a:solidFill>
                  <a:srgbClr val="55575A"/>
                </a:solidFill>
                <a:latin typeface="Roboto Condensed" pitchFamily="34" charset="0"/>
                <a:ea typeface="Roboto Condensed" pitchFamily="34" charset="-122"/>
                <a:cs typeface="Roboto Condensed" pitchFamily="34" charset="-120"/>
              </a:rPr>
              <a:t>Proc. NeurIPS</a:t>
            </a:r>
            <a:r>
              <a:rPr lang="en-US" sz="1400" dirty="0">
                <a:solidFill>
                  <a:srgbClr val="55575A"/>
                </a:solidFill>
                <a:latin typeface="Roboto Condensed" pitchFamily="34" charset="0"/>
                <a:ea typeface="Roboto Condensed" pitchFamily="34" charset="-122"/>
                <a:cs typeface="Roboto Condensed" pitchFamily="34" charset="-120"/>
              </a:rPr>
              <a:t>, 2020.</a:t>
            </a:r>
            <a:endParaRPr lang="en-US" sz="1400" dirty="0"/>
          </a:p>
        </p:txBody>
      </p:sp>
      <p:sp>
        <p:nvSpPr>
          <p:cNvPr id="6" name="Text 3"/>
          <p:cNvSpPr/>
          <p:nvPr/>
        </p:nvSpPr>
        <p:spPr>
          <a:xfrm>
            <a:off x="793790" y="3888224"/>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[2]</a:t>
            </a:r>
            <a:r>
              <a:rPr lang="en-US" sz="1400" dirty="0">
                <a:solidFill>
                  <a:srgbClr val="55575A"/>
                </a:solidFill>
                <a:latin typeface="Roboto Condensed" pitchFamily="34" charset="0"/>
                <a:ea typeface="Roboto Condensed" pitchFamily="34" charset="-122"/>
                <a:cs typeface="Roboto Condensed" pitchFamily="34" charset="-120"/>
              </a:rPr>
              <a:t> K. Chen et al., "Cognitive Workspace: Active Memory Management for LLMs—An Empirical Study of Functional Infinite Context," </a:t>
            </a:r>
            <a:r>
              <a:rPr lang="en-US" sz="1400" i="1" dirty="0">
                <a:solidFill>
                  <a:srgbClr val="55575A"/>
                </a:solidFill>
                <a:latin typeface="Roboto Condensed" pitchFamily="34" charset="0"/>
                <a:ea typeface="Roboto Condensed" pitchFamily="34" charset="-122"/>
                <a:cs typeface="Roboto Condensed" pitchFamily="34" charset="-120"/>
              </a:rPr>
              <a:t>arXiv preprint</a:t>
            </a:r>
            <a:r>
              <a:rPr lang="en-US" sz="1400" dirty="0">
                <a:solidFill>
                  <a:srgbClr val="55575A"/>
                </a:solidFill>
                <a:latin typeface="Roboto Condensed" pitchFamily="34" charset="0"/>
                <a:ea typeface="Roboto Condensed" pitchFamily="34" charset="-122"/>
                <a:cs typeface="Roboto Condensed" pitchFamily="34" charset="-120"/>
              </a:rPr>
              <a:t> arXiv:2508.13171, 2025.</a:t>
            </a:r>
            <a:endParaRPr lang="en-US" sz="1400" dirty="0"/>
          </a:p>
        </p:txBody>
      </p:sp>
      <p:sp>
        <p:nvSpPr>
          <p:cNvPr id="7" name="Text 4"/>
          <p:cNvSpPr/>
          <p:nvPr/>
        </p:nvSpPr>
        <p:spPr>
          <a:xfrm>
            <a:off x="793790" y="4433649"/>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[3]</a:t>
            </a:r>
            <a:r>
              <a:rPr lang="en-US" sz="1400" dirty="0">
                <a:solidFill>
                  <a:srgbClr val="55575A"/>
                </a:solidFill>
                <a:latin typeface="Roboto Condensed" pitchFamily="34" charset="0"/>
                <a:ea typeface="Roboto Condensed" pitchFamily="34" charset="-122"/>
                <a:cs typeface="Roboto Condensed" pitchFamily="34" charset="-120"/>
              </a:rPr>
              <a:t> J. Li, T. Zhao, and W. Xu, "PersonaRAG: Enhancing retrieval-augmented generation systems with user-centric agents," </a:t>
            </a:r>
            <a:r>
              <a:rPr lang="en-US" sz="1400" i="1" dirty="0">
                <a:solidFill>
                  <a:srgbClr val="55575A"/>
                </a:solidFill>
                <a:latin typeface="Roboto Condensed" pitchFamily="34" charset="0"/>
                <a:ea typeface="Roboto Condensed" pitchFamily="34" charset="-122"/>
                <a:cs typeface="Roboto Condensed" pitchFamily="34" charset="-120"/>
              </a:rPr>
              <a:t>arXiv preprint</a:t>
            </a:r>
            <a:r>
              <a:rPr lang="en-US" sz="1400" dirty="0">
                <a:solidFill>
                  <a:srgbClr val="55575A"/>
                </a:solidFill>
                <a:latin typeface="Roboto Condensed" pitchFamily="34" charset="0"/>
                <a:ea typeface="Roboto Condensed" pitchFamily="34" charset="-122"/>
                <a:cs typeface="Roboto Condensed" pitchFamily="34" charset="-120"/>
              </a:rPr>
              <a:t> arXiv:2407.09394, 2024.</a:t>
            </a:r>
            <a:endParaRPr lang="en-US" sz="1400" dirty="0"/>
          </a:p>
        </p:txBody>
      </p:sp>
      <p:sp>
        <p:nvSpPr>
          <p:cNvPr id="8" name="Text 5"/>
          <p:cNvSpPr/>
          <p:nvPr/>
        </p:nvSpPr>
        <p:spPr>
          <a:xfrm>
            <a:off x="793790" y="4979075"/>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[4]</a:t>
            </a:r>
            <a:r>
              <a:rPr lang="en-US" sz="1400" dirty="0">
                <a:solidFill>
                  <a:srgbClr val="55575A"/>
                </a:solidFill>
                <a:latin typeface="Roboto Condensed" pitchFamily="34" charset="0"/>
                <a:ea typeface="Roboto Condensed" pitchFamily="34" charset="-122"/>
                <a:cs typeface="Roboto Condensed" pitchFamily="34" charset="-120"/>
              </a:rPr>
              <a:t> Microsoft, "Smart Browser History Search," U.S. Patent WO2022265744A1, 2022.</a:t>
            </a:r>
            <a:endParaRPr lang="en-US" sz="1400" dirty="0"/>
          </a:p>
        </p:txBody>
      </p:sp>
      <p:sp>
        <p:nvSpPr>
          <p:cNvPr id="9" name="Text 6"/>
          <p:cNvSpPr/>
          <p:nvPr/>
        </p:nvSpPr>
        <p:spPr>
          <a:xfrm>
            <a:off x="793790" y="5524500"/>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[5]</a:t>
            </a:r>
            <a:r>
              <a:rPr lang="en-US" sz="1400" dirty="0">
                <a:solidFill>
                  <a:srgbClr val="55575A"/>
                </a:solidFill>
                <a:latin typeface="Roboto Condensed" pitchFamily="34" charset="0"/>
                <a:ea typeface="Roboto Condensed" pitchFamily="34" charset="-122"/>
                <a:cs typeface="Roboto Condensed" pitchFamily="34" charset="-120"/>
              </a:rPr>
              <a:t> "Browsing Behaviour Analysis," in </a:t>
            </a:r>
            <a:r>
              <a:rPr lang="en-US" sz="1400" i="1" dirty="0">
                <a:solidFill>
                  <a:srgbClr val="55575A"/>
                </a:solidFill>
                <a:latin typeface="Roboto Condensed" pitchFamily="34" charset="0"/>
                <a:ea typeface="Roboto Condensed" pitchFamily="34" charset="-122"/>
                <a:cs typeface="Roboto Condensed" pitchFamily="34" charset="-120"/>
              </a:rPr>
              <a:t>Proc. IJ Conf.</a:t>
            </a:r>
            <a:r>
              <a:rPr lang="en-US" sz="1400" dirty="0">
                <a:solidFill>
                  <a:srgbClr val="55575A"/>
                </a:solidFill>
                <a:latin typeface="Roboto Condensed" pitchFamily="34" charset="0"/>
                <a:ea typeface="Roboto Condensed" pitchFamily="34" charset="-122"/>
                <a:cs typeface="Roboto Condensed" pitchFamily="34" charset="-120"/>
              </a:rPr>
              <a:t>, IEEE, 2019.</a:t>
            </a:r>
            <a:endParaRPr lang="en-US" sz="1400" dirty="0"/>
          </a:p>
        </p:txBody>
      </p:sp>
      <p:sp>
        <p:nvSpPr>
          <p:cNvPr id="10" name="Text 7"/>
          <p:cNvSpPr/>
          <p:nvPr/>
        </p:nvSpPr>
        <p:spPr>
          <a:xfrm>
            <a:off x="793790" y="6069925"/>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[6]</a:t>
            </a:r>
            <a:r>
              <a:rPr lang="en-US" sz="1400" dirty="0">
                <a:solidFill>
                  <a:srgbClr val="55575A"/>
                </a:solidFill>
                <a:latin typeface="Roboto Condensed" pitchFamily="34" charset="0"/>
                <a:ea typeface="Roboto Condensed" pitchFamily="34" charset="-122"/>
                <a:cs typeface="Roboto Condensed" pitchFamily="34" charset="-120"/>
              </a:rPr>
              <a:t> "Review: Human-Centered AI for Wellbeing," </a:t>
            </a:r>
            <a:r>
              <a:rPr lang="en-US" sz="1400" i="1" dirty="0">
                <a:solidFill>
                  <a:srgbClr val="55575A"/>
                </a:solidFill>
                <a:latin typeface="Roboto Condensed" pitchFamily="34" charset="0"/>
                <a:ea typeface="Roboto Condensed" pitchFamily="34" charset="-122"/>
                <a:cs typeface="Roboto Condensed" pitchFamily="34" charset="-120"/>
              </a:rPr>
              <a:t>J. Medical Internet Research (JMIR)</a:t>
            </a:r>
            <a:r>
              <a:rPr lang="en-US" sz="1400" dirty="0">
                <a:solidFill>
                  <a:srgbClr val="55575A"/>
                </a:solidFill>
                <a:latin typeface="Roboto Condensed" pitchFamily="34" charset="0"/>
                <a:ea typeface="Roboto Condensed" pitchFamily="34" charset="-122"/>
                <a:cs typeface="Roboto Condensed" pitchFamily="34" charset="-120"/>
              </a:rPr>
              <a:t>, 2024.</a:t>
            </a:r>
            <a:endParaRPr lang="en-US" sz="1400" dirty="0"/>
          </a:p>
        </p:txBody>
      </p:sp>
      <p:sp>
        <p:nvSpPr>
          <p:cNvPr id="11" name="Text 8"/>
          <p:cNvSpPr/>
          <p:nvPr/>
        </p:nvSpPr>
        <p:spPr>
          <a:xfrm>
            <a:off x="793790" y="6615351"/>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[7]</a:t>
            </a:r>
            <a:r>
              <a:rPr lang="en-US" sz="1400" dirty="0">
                <a:solidFill>
                  <a:srgbClr val="55575A"/>
                </a:solidFill>
                <a:latin typeface="Roboto Condensed" pitchFamily="34" charset="0"/>
                <a:ea typeface="Roboto Condensed" pitchFamily="34" charset="-122"/>
                <a:cs typeface="Roboto Condensed" pitchFamily="34" charset="-120"/>
              </a:rPr>
              <a:t> H. Zhang, Y. Li, and W. Xu, "On memory construction and retrieval for personalized conversational agents," </a:t>
            </a:r>
            <a:r>
              <a:rPr lang="en-US" sz="1400" i="1" dirty="0">
                <a:solidFill>
                  <a:srgbClr val="55575A"/>
                </a:solidFill>
                <a:latin typeface="Roboto Condensed" pitchFamily="34" charset="0"/>
                <a:ea typeface="Roboto Condensed" pitchFamily="34" charset="-122"/>
                <a:cs typeface="Roboto Condensed" pitchFamily="34" charset="-120"/>
              </a:rPr>
              <a:t>arXiv preprint</a:t>
            </a:r>
            <a:r>
              <a:rPr lang="en-US" sz="1400" dirty="0">
                <a:solidFill>
                  <a:srgbClr val="55575A"/>
                </a:solidFill>
                <a:latin typeface="Roboto Condensed" pitchFamily="34" charset="0"/>
                <a:ea typeface="Roboto Condensed" pitchFamily="34" charset="-122"/>
                <a:cs typeface="Roboto Condensed" pitchFamily="34" charset="-120"/>
              </a:rPr>
              <a:t> arXiv:2502.05589, 2025.</a:t>
            </a:r>
            <a:endParaRPr lang="en-US" sz="1400" dirty="0"/>
          </a:p>
        </p:txBody>
      </p:sp>
      <p:sp>
        <p:nvSpPr>
          <p:cNvPr id="12" name="Text 9"/>
          <p:cNvSpPr/>
          <p:nvPr/>
        </p:nvSpPr>
        <p:spPr>
          <a:xfrm>
            <a:off x="793790" y="7160776"/>
            <a:ext cx="13042821" cy="290274"/>
          </a:xfrm>
          <a:prstGeom prst="rect">
            <a:avLst/>
          </a:prstGeom>
          <a:noFill/>
          <a:ln/>
        </p:spPr>
        <p:txBody>
          <a:bodyPr wrap="none" lIns="0" tIns="0" rIns="0" bIns="0" rtlCol="0" anchor="t"/>
          <a:lstStyle/>
          <a:p>
            <a:pPr marL="0" indent="0" algn="l">
              <a:lnSpc>
                <a:spcPts val="2250"/>
              </a:lnSpc>
              <a:buNone/>
            </a:pPr>
            <a:r>
              <a:rPr lang="en-US" sz="1400" b="1" dirty="0">
                <a:solidFill>
                  <a:srgbClr val="55575A"/>
                </a:solidFill>
                <a:latin typeface="Roboto Condensed" pitchFamily="34" charset="0"/>
                <a:ea typeface="Roboto Condensed" pitchFamily="34" charset="-122"/>
                <a:cs typeface="Roboto Condensed" pitchFamily="34" charset="-120"/>
              </a:rPr>
              <a:t>[8]</a:t>
            </a:r>
            <a:r>
              <a:rPr lang="en-US" sz="1400" dirty="0">
                <a:solidFill>
                  <a:srgbClr val="55575A"/>
                </a:solidFill>
                <a:latin typeface="Roboto Condensed" pitchFamily="34" charset="0"/>
                <a:ea typeface="Roboto Condensed" pitchFamily="34" charset="-122"/>
                <a:cs typeface="Roboto Condensed" pitchFamily="34" charset="-120"/>
              </a:rPr>
              <a:t> "Machine Learning for Web Content Classification," in Proc. IEEE Int. Conf. Machine Learning and Applications (ICMLA), 2020, DOI: 10.1109/ICMLA52953.2020.9259833.</a:t>
            </a:r>
            <a:endParaRPr lang="en-US" sz="1400" dirty="0"/>
          </a:p>
        </p:txBody>
      </p:sp>
      <p:pic>
        <p:nvPicPr>
          <p:cNvPr id="14" name="Picture 13">
            <a:extLst>
              <a:ext uri="{FF2B5EF4-FFF2-40B4-BE49-F238E27FC236}">
                <a16:creationId xmlns:a16="http://schemas.microsoft.com/office/drawing/2014/main" id="{2FA6DC19-666F-2EF4-F3EB-88B899030913}"/>
              </a:ext>
            </a:extLst>
          </p:cNvPr>
          <p:cNvPicPr>
            <a:picLocks noChangeAspect="1"/>
          </p:cNvPicPr>
          <p:nvPr/>
        </p:nvPicPr>
        <p:blipFill>
          <a:blip r:embed="rId4"/>
          <a:stretch>
            <a:fillRect/>
          </a:stretch>
        </p:blipFill>
        <p:spPr>
          <a:xfrm>
            <a:off x="12329425" y="7619325"/>
            <a:ext cx="3029373" cy="7621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3694</Words>
  <Application>Microsoft Office PowerPoint</Application>
  <PresentationFormat>Custom</PresentationFormat>
  <Paragraphs>282</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Hubot Sans Bold</vt:lpstr>
      <vt:lpstr>Roboto Condensed</vt:lpstr>
      <vt:lpstr>Arial</vt:lpstr>
      <vt:lpstr>Hubot Sans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Mohammed Mir Fazlai Ali</dc:creator>
  <cp:lastModifiedBy>Mohammed Mir Fazlai Ali</cp:lastModifiedBy>
  <cp:revision>2</cp:revision>
  <cp:lastPrinted>2025-11-22T11:07:25Z</cp:lastPrinted>
  <dcterms:created xsi:type="dcterms:W3CDTF">2025-11-22T10:54:54Z</dcterms:created>
  <dcterms:modified xsi:type="dcterms:W3CDTF">2025-11-22T11:12:42Z</dcterms:modified>
</cp:coreProperties>
</file>