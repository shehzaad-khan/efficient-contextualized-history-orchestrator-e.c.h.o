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4630400" cy="8229600"/>
  <p:notesSz cx="8229600" cy="14630400"/>
  <p:embeddedFontLst>
    <p:embeddedFont>
      <p:font typeface="Consolas" panose="020B0609020204030204" pitchFamily="49" charset="0"/>
      <p:regular r:id="rId32"/>
      <p:bold r:id="rId33"/>
      <p:italic r:id="rId34"/>
      <p:boldItalic r:id="rId35"/>
    </p:embeddedFont>
    <p:embeddedFont>
      <p:font typeface="IBM Plex Sans Medium" panose="020F0502020204030204" pitchFamily="34" charset="0"/>
      <p:regular r:id="rId36"/>
    </p:embeddedFont>
    <p:embeddedFont>
      <p:font typeface="Roboto" panose="02000000000000000000" pitchFamily="2" charset="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85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1174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index.is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9242" y="628055"/>
            <a:ext cx="1809512" cy="52304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1647" y="1404818"/>
            <a:ext cx="2751058" cy="424577"/>
          </a:xfrm>
          <a:prstGeom prst="roundRect">
            <a:avLst>
              <a:gd name="adj" fmla="val 6393"/>
            </a:avLst>
          </a:prstGeom>
          <a:solidFill>
            <a:srgbClr val="4D1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927259" y="1472565"/>
            <a:ext cx="2479834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UE23CS320B · PROJECT ID: 92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1647" y="1919526"/>
            <a:ext cx="13047107" cy="1413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E.C.H.O – Efficient Contextualized History Orchestrator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791647" y="3671530"/>
            <a:ext cx="13047107" cy="361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Capstone Project Phase 2 · Progress Review #2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1647" y="4399593"/>
            <a:ext cx="13047107" cy="35838"/>
          </a:xfrm>
          <a:prstGeom prst="rect">
            <a:avLst/>
          </a:prstGeom>
          <a:solidFill>
            <a:srgbClr val="D4D4D1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91647" y="4689038"/>
            <a:ext cx="13047107" cy="361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Guide:</a:t>
            </a: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Dr. M. Shalima Sulthana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91647" y="5304115"/>
            <a:ext cx="13047107" cy="361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Team: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1647" y="5919192"/>
            <a:ext cx="13047107" cy="1682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Arjun Sai N (PES2UG23CS091)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Mohammed Mir Fazlai Ali (PES2UG23CS346)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Mohammed Shehzaad Khan (PES2UG23CS349)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Mrigank Jain (PES2UG23CS352)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2098" y="1393508"/>
            <a:ext cx="1814513" cy="52447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2173129"/>
            <a:ext cx="1674495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FFBC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937498" y="2248733"/>
            <a:ext cx="138707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FFBC8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SCOPE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270533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What is E.C.H.O?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793790" y="375427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</a:t>
            </a: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local-first, intent-aware personal memory system</a:t>
            </a: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that captures digital activity across Gmail, Chrome, and YouTube — unifying it into one searchable memory and reflecting on time usage without judgment.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30436" y="4735235"/>
            <a:ext cx="6571417" cy="2100739"/>
          </a:xfrm>
          <a:prstGeom prst="roundRect">
            <a:avLst>
              <a:gd name="adj" fmla="val 1620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57250" y="49620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57250" y="5543193"/>
            <a:ext cx="611778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 research for an interview — receive emails, read articles, watch tutorials. A week later, it is scattered across Gmail, Chrome, and YouTube with no unified search.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599521" y="49620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E.C.H.O's Answer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599521" y="554319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natural language query returns emails, web pages, and videos together — across all three sources simultaneously.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508403"/>
            <a:ext cx="1674495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FFBC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37498" y="1584008"/>
            <a:ext cx="138707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FFBC8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SCOPE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04061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What Echo Captures</a:t>
            </a:r>
            <a:endParaRPr lang="en-US" sz="4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3089553"/>
            <a:ext cx="566976" cy="5669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4253" y="30895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Gmail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644253" y="3579971"/>
            <a:ext cx="3308152" cy="3141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emails saved on arrival — read and unread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Engagement tracking for opened emails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Thread context enrichment for replies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Attachments: PDF, DOC, DOCX, TXT, images (OCR)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3089553"/>
            <a:ext cx="566976" cy="5669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86356" y="30895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Chrome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6086356" y="3579971"/>
            <a:ext cx="3308152" cy="2698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Intent-filtered capture via custom MV3 Extension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Foreground time, scroll depth, interaction tracking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 pages (Slack, Jira) — session duration only, zero content extracted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77995" y="3089553"/>
            <a:ext cx="566976" cy="56697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28459" y="30895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YouTube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10528459" y="3579971"/>
            <a:ext cx="3308152" cy="2698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Desktop Chrome browser videos tracked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Long-form and Shorts tracked separately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Metadata via YouTube Data API + best-effort transcript fetch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196578"/>
            <a:ext cx="1674495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FFBC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37498" y="1272183"/>
            <a:ext cx="138707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FFBC8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SCOPE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728787"/>
            <a:ext cx="125040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Intent-Aware Capture — Not Everything is Saved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30045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Gmail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585686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intent filter — all emails saved. Push-based; the user did not choose to receive them.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538305"/>
            <a:ext cx="35010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Chrome — Two-Phase Gate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3790" y="5119449"/>
            <a:ext cx="6244709" cy="1168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 1:</a:t>
            </a: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Page in foreground ≥ 5 seconds (exposure)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 2:</a:t>
            </a: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≥10s active time / ≥25% scroll / interaction / revisit signal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3004542"/>
            <a:ext cx="455807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YouTube Intent Gate — Any One Of: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99521" y="3585686"/>
            <a:ext cx="6244709" cy="161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≥20 seconds foreground playback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interaction: pause, seek, speed change, like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Revisit: same video opened earlier today (Redis 24hr memory)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599521" y="5451038"/>
            <a:ext cx="6244709" cy="1326713"/>
          </a:xfrm>
          <a:prstGeom prst="roundRect">
            <a:avLst>
              <a:gd name="adj" fmla="val 2565"/>
            </a:avLst>
          </a:prstGeom>
          <a:solidFill>
            <a:srgbClr val="4D1F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6335" y="5795129"/>
            <a:ext cx="283488" cy="22681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336637" y="5734526"/>
            <a:ext cx="528077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Accidental clicks and quick glances are discarded. Only genuinely engaged content is saved.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74978"/>
            <a:ext cx="1591389" cy="413147"/>
          </a:xfrm>
          <a:prstGeom prst="roundRect">
            <a:avLst>
              <a:gd name="adj" fmla="val 6259"/>
            </a:avLst>
          </a:prstGeom>
          <a:noFill/>
          <a:ln w="7620">
            <a:solidFill>
              <a:srgbClr val="FFBC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30592" y="847130"/>
            <a:ext cx="1317784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FFBC8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SCOPE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93790" y="1269921"/>
            <a:ext cx="8217575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Three-Layer Storage Architecture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793790" y="2250400"/>
            <a:ext cx="13042821" cy="2738795"/>
          </a:xfrm>
          <a:prstGeom prst="roundRect">
            <a:avLst>
              <a:gd name="adj" fmla="val 1180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01410" y="2258020"/>
            <a:ext cx="13027581" cy="59686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17151" y="2388394"/>
            <a:ext cx="2431375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Layer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3886914" y="2388394"/>
            <a:ext cx="2427565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Technology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752868" y="2388394"/>
            <a:ext cx="4511993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Role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1703248" y="2388394"/>
            <a:ext cx="191035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Rebuildable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801410" y="2854881"/>
            <a:ext cx="13027581" cy="59686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17151" y="2985254"/>
            <a:ext cx="2431375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Permanent Truth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3886914" y="2985254"/>
            <a:ext cx="2427565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PostgreSQL 16+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752868" y="2985254"/>
            <a:ext cx="4511993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data — 15-table schema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1703248" y="2985254"/>
            <a:ext cx="191035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801410" y="3451741"/>
            <a:ext cx="13027581" cy="93297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017151" y="3582114"/>
            <a:ext cx="2431375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Semantic Search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886914" y="3582114"/>
            <a:ext cx="2427565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FAISS (local)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752868" y="3582114"/>
            <a:ext cx="4511993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384-dim vector index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1703248" y="3582114"/>
            <a:ext cx="1910358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YES — from PostgreSQL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801410" y="4384715"/>
            <a:ext cx="13027581" cy="59686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017151" y="4515088"/>
            <a:ext cx="2431375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Temporary Cache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3886914" y="4515088"/>
            <a:ext cx="2427565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Redis 7+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6752868" y="4515088"/>
            <a:ext cx="4511993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Revisit signals (24hr), attachment cache (1hr)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1703248" y="4515088"/>
            <a:ext cx="191035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YES — disposable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793790" y="5219462"/>
            <a:ext cx="4211122" cy="2235041"/>
          </a:xfrm>
          <a:prstGeom prst="roundRect">
            <a:avLst>
              <a:gd name="adj" fmla="val 1446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009174" y="5434846"/>
            <a:ext cx="3780353" cy="673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PostgreSQL is the Single Source of Truth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009174" y="6230779"/>
            <a:ext cx="3780353" cy="100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only storage that cannot be recovered if lost. All other layers are derived from it.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5209580" y="5219462"/>
            <a:ext cx="4211122" cy="2235041"/>
          </a:xfrm>
          <a:prstGeom prst="roundRect">
            <a:avLst>
              <a:gd name="adj" fmla="val 1446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424964" y="5434846"/>
            <a:ext cx="3780353" cy="673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FAISS &amp; Redis are Fully Rebuildable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5424964" y="6230779"/>
            <a:ext cx="3780353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Both can be regenerated entirely from PostgreSQL data at any time.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9625370" y="5219462"/>
            <a:ext cx="4211122" cy="2235041"/>
          </a:xfrm>
          <a:prstGeom prst="roundRect">
            <a:avLst>
              <a:gd name="adj" fmla="val 1446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9840754" y="5434846"/>
            <a:ext cx="3780353" cy="673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100% Local — Nothing in the Cloud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9840754" y="6230779"/>
            <a:ext cx="3780353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storage resides on the user's machine. No permanent cloud data.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9264" y="612338"/>
            <a:ext cx="1236464" cy="300752"/>
          </a:xfrm>
          <a:prstGeom prst="roundRect">
            <a:avLst>
              <a:gd name="adj" fmla="val 6664"/>
            </a:avLst>
          </a:prstGeom>
          <a:noFill/>
          <a:ln w="7620">
            <a:solidFill>
              <a:srgbClr val="FFBC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87016" y="669965"/>
            <a:ext cx="1020961" cy="185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FFBC8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SCOPE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9264" y="962263"/>
            <a:ext cx="6251972" cy="521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Background Enrichment Pipeline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779264" y="1668542"/>
            <a:ext cx="13071872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Runs entirely in the background — never blocks data capture. </a:t>
            </a:r>
            <a:r>
              <a:rPr lang="en-US" sz="13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Crash-safe:</a:t>
            </a:r>
            <a:r>
              <a:rPr lang="en-US" sz="13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raw data is already saved before enrichment begins.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7822" y="2038707"/>
            <a:ext cx="7574756" cy="522005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717536" y="5286813"/>
            <a:ext cx="2069977" cy="27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Source Clean</a:t>
            </a:r>
            <a:endParaRPr lang="en-US" sz="1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1561" y="3957022"/>
            <a:ext cx="490189" cy="49018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1451" y="3094749"/>
            <a:ext cx="2137224" cy="27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Extract Keywords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51018" y="4255884"/>
            <a:ext cx="490189" cy="49018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916173" y="5928807"/>
            <a:ext cx="2069976" cy="55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Generate Embedding</a:t>
            </a:r>
            <a:endParaRPr lang="en-US" sz="1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00628" y="4554746"/>
            <a:ext cx="490189" cy="49018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753615" y="3671793"/>
            <a:ext cx="2069977" cy="275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Index &amp; Flag</a:t>
            </a:r>
            <a:endParaRPr lang="en-US" sz="17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49808" y="4875667"/>
            <a:ext cx="490189" cy="49018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79264" y="7396996"/>
            <a:ext cx="13071872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source is cleaned using its own method, then all items undergo keyword extraction, classification, embedding generation, and FAISS indexing.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812244"/>
            <a:ext cx="1425893" cy="358854"/>
          </a:xfrm>
          <a:prstGeom prst="roundRect">
            <a:avLst>
              <a:gd name="adj" fmla="val 6447"/>
            </a:avLst>
          </a:prstGeom>
          <a:noFill/>
          <a:ln w="7620">
            <a:solidFill>
              <a:srgbClr val="FFBC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17019" y="877610"/>
            <a:ext cx="1179433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FFBC8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SCOPE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93790" y="1236583"/>
            <a:ext cx="7113865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4-Stage System Group Classifier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793790" y="2084784"/>
            <a:ext cx="13042821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item assigned exactly one of: </a:t>
            </a:r>
            <a:r>
              <a:rPr lang="en-US" sz="15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 | study | entertainment | personal | misc</a:t>
            </a: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</a:t>
            </a:r>
            <a:r>
              <a:rPr lang="en-US" sz="1500" dirty="0">
                <a:solidFill>
                  <a:srgbClr val="D4D4D1"/>
                </a:solidFill>
                <a:highlight>
                  <a:srgbClr val="3639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system_group_id</a:t>
            </a: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never NULL — fallback is always </a:t>
            </a:r>
            <a:r>
              <a:rPr lang="en-US" sz="1500" dirty="0">
                <a:solidFill>
                  <a:srgbClr val="D4D4D1"/>
                </a:solidFill>
                <a:highlight>
                  <a:srgbClr val="3639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misc</a:t>
            </a: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93790" y="2561987"/>
            <a:ext cx="1630323" cy="1070253"/>
          </a:xfrm>
          <a:prstGeom prst="roundRect">
            <a:avLst>
              <a:gd name="adj" fmla="val 2702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473398" y="2927628"/>
            <a:ext cx="271105" cy="338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616875" y="2754749"/>
            <a:ext cx="3114199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Stage 1 — Structural (~50%)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2616875" y="3154204"/>
            <a:ext cx="867894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Gmail labels, YouTube categoryId, known domains → instant classification. Confidence 1.0, zero cost.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520434" y="3622715"/>
            <a:ext cx="11219855" cy="11430"/>
          </a:xfrm>
          <a:prstGeom prst="roundRect">
            <a:avLst>
              <a:gd name="adj" fmla="val 253023"/>
            </a:avLst>
          </a:prstGeom>
          <a:solidFill>
            <a:srgbClr val="6164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3790" y="3728561"/>
            <a:ext cx="3260646" cy="1070253"/>
          </a:xfrm>
          <a:prstGeom prst="roundRect">
            <a:avLst>
              <a:gd name="adj" fmla="val 2702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288500" y="4094202"/>
            <a:ext cx="271105" cy="338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247198" y="3921323"/>
            <a:ext cx="4704398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Stage 2 — Domain Lookup, Chrome (~25%)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4247198" y="4320778"/>
            <a:ext cx="8256627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200+ domain-to-category map. Ambiguous domains pass to Stage 3. Confidence 0.95, zero cost.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150757" y="4789289"/>
            <a:ext cx="9589532" cy="11430"/>
          </a:xfrm>
          <a:prstGeom prst="roundRect">
            <a:avLst>
              <a:gd name="adj" fmla="val 253023"/>
            </a:avLst>
          </a:prstGeom>
          <a:solidFill>
            <a:srgbClr val="6164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93790" y="4895136"/>
            <a:ext cx="4890968" cy="1070253"/>
          </a:xfrm>
          <a:prstGeom prst="roundRect">
            <a:avLst>
              <a:gd name="adj" fmla="val 2702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103721" y="5260777"/>
            <a:ext cx="271105" cy="338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877520" y="5087898"/>
            <a:ext cx="388060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Stage 3 — Nearest Centroid (~15%)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5877520" y="5487353"/>
            <a:ext cx="737032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Cosine similarity to 5 category centroid vectors. Centroids improve monthly. Zero cost.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781080" y="5955863"/>
            <a:ext cx="7959209" cy="11430"/>
          </a:xfrm>
          <a:prstGeom prst="roundRect">
            <a:avLst>
              <a:gd name="adj" fmla="val 253023"/>
            </a:avLst>
          </a:prstGeom>
          <a:solidFill>
            <a:srgbClr val="6164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93790" y="6061710"/>
            <a:ext cx="6521410" cy="1355527"/>
          </a:xfrm>
          <a:prstGeom prst="roundRect">
            <a:avLst>
              <a:gd name="adj" fmla="val 2134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918942" y="6569988"/>
            <a:ext cx="271105" cy="338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4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7507962" y="6254472"/>
            <a:ext cx="4571167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Stage 4 — LLM Fallback (~10%, declining)</a:t>
            </a: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7507962" y="6653927"/>
            <a:ext cx="6135886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Batched title + 300-char snippet → LLM returns one label; feeds centroid update.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22352"/>
            <a:ext cx="1343144" cy="333018"/>
          </a:xfrm>
          <a:prstGeom prst="roundRect">
            <a:avLst>
              <a:gd name="adj" fmla="val 6539"/>
            </a:avLst>
          </a:prstGeom>
          <a:noFill/>
          <a:ln w="7620">
            <a:solidFill>
              <a:srgbClr val="FFBC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10233" y="784384"/>
            <a:ext cx="111025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FFBC8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SCOPE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3790" y="1113353"/>
            <a:ext cx="829163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LangGraph Retrieval &amp; Synthesis Engine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793790" y="1897975"/>
            <a:ext cx="1304282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 called exactly </a:t>
            </a:r>
            <a:r>
              <a:rPr lang="en-US" sz="14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times per query</a:t>
            </a: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everything in between is deterministic Python.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93790" y="2467570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Call 1 — parse_intent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2896195"/>
            <a:ext cx="6300073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Query + conversation history → structured JSON: sources, time_filter, query_clean, fetch_attachment flag.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3790" y="3563779"/>
            <a:ext cx="32588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Deterministic Pipeline (No LLM)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3992404"/>
            <a:ext cx="6300073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postgres_search → faiss_search → evaluate_quality → widen_scope (max 3 attempts)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93790" y="4659987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Call 2 — synthesize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5088612"/>
            <a:ext cx="6300073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Top-10 re-ranked results + attachments + history → readable answer with source citations.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544157" y="2467570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Self-Correcting Loop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544157" y="2914293"/>
            <a:ext cx="6300073" cy="1098471"/>
          </a:xfrm>
          <a:prstGeom prst="roundRect">
            <a:avLst>
              <a:gd name="adj" fmla="val 9989"/>
            </a:avLst>
          </a:prstGeom>
          <a:solidFill>
            <a:srgbClr val="292C32"/>
          </a:solidFill>
          <a:ln w="22860">
            <a:solidFill>
              <a:srgbClr val="6164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7521297" y="2914293"/>
            <a:ext cx="91440" cy="1098471"/>
          </a:xfrm>
          <a:prstGeom prst="roundRect">
            <a:avLst>
              <a:gd name="adj" fmla="val 29767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817048" y="3118604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Attempt 1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817048" y="3547229"/>
            <a:ext cx="582287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Widen time window or open additional sources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544157" y="4157901"/>
            <a:ext cx="6300073" cy="1098471"/>
          </a:xfrm>
          <a:prstGeom prst="roundRect">
            <a:avLst>
              <a:gd name="adj" fmla="val 9989"/>
            </a:avLst>
          </a:prstGeom>
          <a:solidFill>
            <a:srgbClr val="292C32"/>
          </a:solidFill>
          <a:ln w="22860">
            <a:solidFill>
              <a:srgbClr val="6164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521297" y="4157901"/>
            <a:ext cx="91440" cy="1098471"/>
          </a:xfrm>
          <a:prstGeom prst="roundRect">
            <a:avLst>
              <a:gd name="adj" fmla="val 29767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817048" y="4362212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Attempt 2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817048" y="4790837"/>
            <a:ext cx="582287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Remove all filters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544157" y="5401508"/>
            <a:ext cx="6300073" cy="1098471"/>
          </a:xfrm>
          <a:prstGeom prst="roundRect">
            <a:avLst>
              <a:gd name="adj" fmla="val 9989"/>
            </a:avLst>
          </a:prstGeom>
          <a:solidFill>
            <a:srgbClr val="292C32"/>
          </a:solidFill>
          <a:ln w="22860">
            <a:solidFill>
              <a:srgbClr val="6164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521297" y="5401508"/>
            <a:ext cx="91440" cy="1098471"/>
          </a:xfrm>
          <a:prstGeom prst="roundRect">
            <a:avLst>
              <a:gd name="adj" fmla="val 29767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817048" y="5605820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Attempt 3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7817048" y="6034445"/>
            <a:ext cx="582287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FAISS scan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544157" y="6663214"/>
            <a:ext cx="6300073" cy="680680"/>
          </a:xfrm>
          <a:prstGeom prst="roundRect">
            <a:avLst>
              <a:gd name="adj" fmla="val 3999"/>
            </a:avLst>
          </a:prstGeom>
          <a:solidFill>
            <a:srgbClr val="4D1F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5608" y="6921698"/>
            <a:ext cx="226814" cy="181451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133874" y="6853714"/>
            <a:ext cx="5528905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After 3 failures: </a:t>
            </a:r>
            <a:r>
              <a:rPr lang="en-US" sz="1400" dirty="0">
                <a:solidFill>
                  <a:srgbClr val="FFFFFF"/>
                </a:solidFill>
                <a:highlight>
                  <a:srgbClr val="3639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no_results_found</a:t>
            </a: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message returned.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094423"/>
            <a:ext cx="1674495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FFBC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37498" y="1170027"/>
            <a:ext cx="138707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FFBC8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SCOPE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626632"/>
            <a:ext cx="85035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Re-Ranking &amp; Multi-Turn Queries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2902387"/>
            <a:ext cx="55778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Multi-Signal Re-Ranking (Before Synthesis)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483531"/>
            <a:ext cx="6244709" cy="2052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40%</a:t>
            </a: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Semantic similarity (FAISS cosine score)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30%</a:t>
            </a: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Engagement depth (dwell time + scroll depth)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20%</a:t>
            </a: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Recency (exponential decay from last accessed)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10%</a:t>
            </a: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Effort score (revisits + completion rate + topic clustering)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2902387"/>
            <a:ext cx="42346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Multi-Turn Conversation Memory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3483531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chat history stored in local PostgreSQL, injected into every LLM call. Follow-up queries resolve references from prior turns.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599521" y="4827389"/>
            <a:ext cx="6244709" cy="2052518"/>
          </a:xfrm>
          <a:prstGeom prst="roundRect">
            <a:avLst>
              <a:gd name="adj" fmla="val 1658"/>
            </a:avLst>
          </a:prstGeom>
          <a:solidFill>
            <a:srgbClr val="4D1F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6335" y="5171480"/>
            <a:ext cx="283488" cy="22681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336637" y="5110877"/>
            <a:ext cx="528077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Turn 1:</a:t>
            </a:r>
            <a:r>
              <a:rPr lang="en-US" sz="1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"Find my TechCorp interview email" → returns email with timestamp T1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Turn 2:</a:t>
            </a:r>
            <a:r>
              <a:rPr lang="en-US" sz="1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"Show Chrome pages about that topic after that email" → resolves topic and T1 from Turn 1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60797"/>
            <a:ext cx="1674495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FFBC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37498" y="736402"/>
            <a:ext cx="138707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FFBC8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SCOPE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193006"/>
            <a:ext cx="1246953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Digital Wellbeing — Descriptive, Not Judgmental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630436" y="2241947"/>
            <a:ext cx="6571417" cy="5326856"/>
          </a:xfrm>
          <a:prstGeom prst="roundRect">
            <a:avLst>
              <a:gd name="adj" fmla="val 639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57250" y="24687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Echo DOES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7250" y="3049905"/>
            <a:ext cx="6117788" cy="161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Show time by category: "You spent 2 hours on Shorts this week"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Reflect regret: "You marked 5 items as regretful"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 patterns: "Regret often occurs after 11 PM"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24687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Echo DOES NOT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99521" y="3049905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Score productivity or assign wellness scores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Judge behaviour or use prescriptive language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 addiction or block content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45240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Session Analytics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599521" y="5105162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Items within 5-minute gap = one session. Focus score and fragmentation metric computed per session.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60577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LLM Privacy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599521" y="6638925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Aggregated numbers only sent to LLM — never raw emails, pages, or video titles.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8670" y="633889"/>
            <a:ext cx="11156037" cy="669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Project Scope: Regret System &amp; User Groups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88670" y="1707118"/>
            <a:ext cx="13053060" cy="332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Title: Regret System &amp; User-Defined Groups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88670" y="2267307"/>
            <a:ext cx="13053060" cy="332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Regret System: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88670" y="2827496"/>
            <a:ext cx="13053060" cy="1543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Entirely user-declared — Echo never decides what is regretful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mark/unmark creates a new row — full toggle history preserved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Odd row count = currently regretted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Granularity: email-level (Gmail), page/session-level (Chrome), video-level (YouTube), session-level (Shorts)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88670" y="4598551"/>
            <a:ext cx="13053060" cy="332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Groups (intent-based, e.g. "Capstone Project", "Placement Prep"):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88670" y="5158740"/>
            <a:ext cx="13053060" cy="1543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 1: user manually seeds ≥6 items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 2: hybrid KNN + rule engine auto-assigns new items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 3: weekly batch review every Sunday — user removes wrong assignments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 4: KNN improves with each review cycle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88670" y="6929795"/>
            <a:ext cx="13053060" cy="66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Persistent group_rules: keyword / domain / channel / sender / time_window No item enters memory_user_groups without explicit human approval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19964"/>
            <a:ext cx="952916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Review 1: Suggestions &amp; Responses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8237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Suggestion 1:</a:t>
            </a: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presentation did not cover the full project scope and relied too heavily on verbal explanation.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40042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Response:</a:t>
            </a: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Slides 2–12 now explicitly cover the full scope of Echo, with every module, feature, and design decision shown on the slides.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38138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Suggestion 2:</a:t>
            </a: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Consider fine-tuning the LLM to improve results.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999434"/>
            <a:ext cx="13042821" cy="161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did not fine-tune because small personal datasets often reduce generalization without improving personalization.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scope issue made the system seem simpler than it was; once the architecture was fully shown, the panel confirmed the complexity was appropriate.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Instead, we improved results with LangGraph for stateful retrieval, memory, and deterministic execution.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444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Objectives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07456"/>
            <a:ext cx="4069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Title: Project Objectives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5424011" y="2507456"/>
            <a:ext cx="8420100" cy="438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Unified cross-source search — one query returns emails, web pages, and videos together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Intent-aware capture — only content the user genuinely engaged with is saved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Deterministic retrieval — LangGraph RSE with LLM parsing once and Python executing all retrieval logic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4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Non-judgmental wellbeing — time patterns shown descriptively; no scoring, no blocking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5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Local-first privacy — all personal data stays on device; LLM receives only query snippets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6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Multi-turn conversational queries — follow-up questions resolve references from prior turns</a:t>
            </a: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55727"/>
            <a:ext cx="771096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Methodology: Ingestion Flow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1813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Title: Methodology — How Data Enters Echo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83618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 1: Data arrives (email / page visit / video watch) Step 2: Intent gate evaluated per source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454241"/>
            <a:ext cx="130428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Gmail: save immediately, no gate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Chrome: two-phase gate (exposure → engagement signals)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YouTube: playback gate (≥20s or manual interaction or revisit)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95669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 3: If intent confirmed → INSERT into PostgreSQL (raw, crash-safe, atomic transaction)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57474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memory_items + source_metadata + memory_engagement in one BEGIN/COMMIT block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619279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 4: UNIQUE(source_type, source_id) constraint prevents duplicate ingestion on restart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681085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 5: Enrichment Pipeline picks up preprocessed=FALSE records in background</a:t>
            </a:r>
            <a:endParaRPr lang="en-US" sz="1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956" y="636032"/>
            <a:ext cx="9943981" cy="633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Methodology: Enrichment &amp; Classification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87956" y="1631275"/>
            <a:ext cx="13054489" cy="30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Title: Methodology — Enrichment Pipeline &amp; Classification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87956" y="2141815"/>
            <a:ext cx="13054489" cy="30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Background worker — never blocks ingestion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87956" y="2652355"/>
            <a:ext cx="13054489" cy="30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 item: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87956" y="3162895"/>
            <a:ext cx="13054489" cy="2528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 cleaned (HTML stripped, signatures removed, Readability for Chrome)</a:t>
            </a:r>
            <a:endParaRPr lang="en-US" sz="155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Keywords extracted</a:t>
            </a:r>
            <a:endParaRPr lang="en-US" sz="155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 group classified via 4-stage pipeline</a:t>
            </a:r>
            <a:endParaRPr lang="en-US" sz="155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384-dim embedding generated (all-MiniLM-L6-v2)</a:t>
            </a:r>
            <a:endParaRPr lang="en-US" sz="155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Embedding added to FAISS index</a:t>
            </a:r>
            <a:endParaRPr lang="en-US" sz="155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embedding_index table updated</a:t>
            </a:r>
            <a:endParaRPr lang="en-US" sz="155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preprocessed = TRUE set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87956" y="5895142"/>
            <a:ext cx="13054489" cy="30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4-Stage Classifier flow: Structural signals → Domain lookup → Nearest centroid → LLM fallback (batched)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87956" y="6405682"/>
            <a:ext cx="13054489" cy="30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Attachment processing (on-demand):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87956" y="6916222"/>
            <a:ext cx="13054489" cy="677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Triggered only when email ranks in top 3 and query suggests file content</a:t>
            </a:r>
            <a:endParaRPr lang="en-US" sz="155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text extracted → cached in Redis (1hr TTL) → binary never stored permanently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7859"/>
            <a:ext cx="930580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Methodology: LangGraph RSE Flow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302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Title: Methodology — LangGraph Retrieval Flow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74832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Query enters → parse_intent (LLM Call 1) → structured JSON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36637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postgres_search: SQL across memory_items + source metadata + engagement → up to 1,000 candidates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98442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faiss_search: query embedded → cosine similarity within Postgres candidate IDs → top 20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60248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evaluate_quality (pure Python, no LLM):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220533"/>
            <a:ext cx="13042821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Checks: result count, source match, time window match, top result similarity score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Output: STRONG / WEAK / EMPTY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628078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STRONG → re-rank → check_attachments → synthesize (LLM Call 2) → answer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689883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WEAK/EMPTY → widen_scope → loop back (max 3 attempts) → no_results_found if all fail</a:t>
            </a:r>
            <a:endParaRPr lang="en-US" sz="1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3552"/>
            <a:ext cx="7650242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Expected Deliverables: 8 Modules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1723668"/>
            <a:ext cx="1304282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Title: Expected Deliverables — Module Overview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93790" y="2193250"/>
            <a:ext cx="13042821" cy="4487942"/>
          </a:xfrm>
          <a:prstGeom prst="roundRect">
            <a:avLst>
              <a:gd name="adj" fmla="val 644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01410" y="2200870"/>
            <a:ext cx="13027581" cy="49696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94172" y="2306717"/>
            <a:ext cx="61244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Code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11772" y="2306717"/>
            <a:ext cx="61244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01410" y="2697837"/>
            <a:ext cx="13027581" cy="49696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94172" y="2803684"/>
            <a:ext cx="61244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GMC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511772" y="2803684"/>
            <a:ext cx="61244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Gmail Connector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1410" y="3194804"/>
            <a:ext cx="13027581" cy="49696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94172" y="3300651"/>
            <a:ext cx="61244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CHC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511772" y="3300651"/>
            <a:ext cx="61244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Chrome Browsing Connector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1410" y="3691771"/>
            <a:ext cx="13027581" cy="49696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94172" y="3797618"/>
            <a:ext cx="61244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YTC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511772" y="3797618"/>
            <a:ext cx="61244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YouTube Connector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01410" y="4188738"/>
            <a:ext cx="13027581" cy="49696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94172" y="4294584"/>
            <a:ext cx="61244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511772" y="4294584"/>
            <a:ext cx="61244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Storage Engine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01410" y="4685705"/>
            <a:ext cx="13027581" cy="49696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94172" y="4791551"/>
            <a:ext cx="61244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ENP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511772" y="4791551"/>
            <a:ext cx="61244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Enrichment Pipeline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01410" y="5182672"/>
            <a:ext cx="13027581" cy="49696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994172" y="5288518"/>
            <a:ext cx="61244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RSE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511772" y="5288518"/>
            <a:ext cx="61244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Retrieval &amp; Synthesis Engine (LangGraph)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01410" y="5679638"/>
            <a:ext cx="13027581" cy="49696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994172" y="5785485"/>
            <a:ext cx="61244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WBA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511772" y="5785485"/>
            <a:ext cx="61244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Digital Wellbeing &amp; Analytics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01410" y="6176605"/>
            <a:ext cx="13027581" cy="49696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994172" y="6282452"/>
            <a:ext cx="61244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UIL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511772" y="6282452"/>
            <a:ext cx="61244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Interface Layer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93790" y="6865501"/>
            <a:ext cx="13042821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8 modules are defined, scoped, and have assigned key files. Ingestion modules (GMC, CHC, YTC) have zero dependency on RSE — parallel development is possible.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5701"/>
            <a:ext cx="8094226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Module Detail: Gmail &amp; YouTube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3790" y="1928455"/>
            <a:ext cx="1304282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Title: Module Detail — Gmail &amp; YouTube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93790" y="2494836"/>
            <a:ext cx="1304282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Gmail (GMC):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93790" y="3061216"/>
            <a:ext cx="13042821" cy="1559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Gmail API OAuth 2.0 — polling and webhook support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emails saved on arrival — engagement tracked via Chrome Extension when opened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Thread enrichment: reply emails inherit topic keywords from prior emails in thread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Two-tier attachment: lightweight extract always; full on-demand when ranked top 3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93790" y="4850606"/>
            <a:ext cx="1304282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YouTube (YTC):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93790" y="5416987"/>
            <a:ext cx="13042821" cy="1966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URL pattern detection: /watch?v= (long-form) and /shorts/ (Shorts)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Intent gate: ≥20s playback / manual interaction / revisit within 24hr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Shorts auto-classified as entertainment; regret at session level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Metadata: YouTube Data API v3 (title, channel, duration, categoryId)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Transcript: best-effort; title + description used as fallback</a:t>
            </a:r>
            <a:endParaRPr lang="en-US" sz="1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5701"/>
            <a:ext cx="10221754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Module Detail: Chrome &amp; Storage Engine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3790" y="1928455"/>
            <a:ext cx="1304282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Title: Module Detail — Chrome &amp; Storage Engine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93790" y="2494836"/>
            <a:ext cx="1304282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Chrome (CHC):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93790" y="3061216"/>
            <a:ext cx="13042821" cy="1559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 MV3 Extension — NOT Chrome History API (no engagement signals in History API)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 1: ≥5s exposure. Phase 2: ≥10s foreground / ≥25% scroll / interaction / revisit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Canonical URL (UTM-stripped) used for revisit deduplication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Application pages: session duration only, zero content captured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93790" y="4850606"/>
            <a:ext cx="1304282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Storage Engine (STE):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93790" y="5416987"/>
            <a:ext cx="13042821" cy="1966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PostgreSQL CRUD across 15 tables, all with proper constraints and indexes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FAISS local index management — rebuild via embedding_</a:t>
            </a:r>
            <a:r>
              <a:rPr lang="en-US" sz="1650" u="sng" dirty="0">
                <a:solidFill>
                  <a:srgbClr val="FFBC8F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index.is</a:t>
            </a: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_active flag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Redis coordination — revisit TTL management, attachment cache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UNIQUE(source_type, source_id) on memory_items — restart-safe deduplication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Soft delete only: is_deleted = TRUE cascades to 6 subtables</a:t>
            </a:r>
            <a:endParaRPr lang="en-US" sz="1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0483"/>
            <a:ext cx="1016877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Module Detail: Enrichment &amp; Retrieval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7289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Title: Module Detail — Enrichment &amp; Retrieval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79094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Enrichment Pipeline (ENP):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408998"/>
            <a:ext cx="130428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Polls preprocessed=FALSE queue continuously in background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Cleans text, classifies group, generates embedding, indexes FAISS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Attachment processing on-demand: PyPDF2 / pdfplumber / python-docx / Tesseract OCR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91144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Retrieval &amp; Synthesis Engine (RSE):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529501"/>
            <a:ext cx="1304282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LangGraph stateful graph: 9 nodes, exactly 2 LLM calls per query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Conversation memory: PostgresChatMessageHistory — stored locally, never in cloud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Re-ranking: semantic (40%) + engagement (30%) + recency (20%) + effort (10%)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 plug-and-play: Anthropic / Google Gemini / Ollama — one config line to switch</a:t>
            </a:r>
            <a:endParaRPr lang="en-US" sz="1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1866"/>
            <a:ext cx="7586782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Module Detail: Wellbeing &amp; UI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3790" y="1724620"/>
            <a:ext cx="1304282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Title: Module Detail — Wellbeing &amp; UI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93790" y="2291001"/>
            <a:ext cx="1304282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Wellbeing Analytics (WBA):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93790" y="2857381"/>
            <a:ext cx="13042821" cy="1966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 aggregation by system group and user-defined group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Session computation: 5-minute gap rule, focus score, fragmentation metric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Regret system: user-declared, 1:N event table, pattern detection by hour and day of week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groups: manual seed → hybrid KNN + rule auto-assign → weekly review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 insights: aggregated numbers only — no raw content ever sent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93790" y="5054441"/>
            <a:ext cx="1304282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UI Layer (UIL):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93790" y="5620822"/>
            <a:ext cx="13042821" cy="1966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 18+ dashboard: search, daily summary, heatmap, regret analytics, group management, settings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Chrome Extension popup: quick search, recent items, pause/resume toggle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FastAPI gateway: all backend routes consumed by frontend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export: JSON / CSV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Original emails accessible via iframe or link in search results</a:t>
            </a:r>
            <a:endParaRPr lang="en-US" sz="1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78694"/>
            <a:ext cx="5387102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endParaRPr lang="en-US" sz="4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89440"/>
            <a:ext cx="5816560" cy="4815126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1973" y="2189440"/>
            <a:ext cx="5682139" cy="431077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449979" y="6730484"/>
            <a:ext cx="6394133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endParaRPr lang="en-US" sz="16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84371"/>
            <a:ext cx="3203853" cy="358854"/>
          </a:xfrm>
          <a:prstGeom prst="roundRect">
            <a:avLst>
              <a:gd name="adj" fmla="val 6447"/>
            </a:avLst>
          </a:prstGeom>
          <a:noFill/>
          <a:ln w="7620">
            <a:solidFill>
              <a:srgbClr val="FFBC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17019" y="749737"/>
            <a:ext cx="2957393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FFBC8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TITLE: INDIVIDUAL TEAM CONTRIBUTIONS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93790" y="1108710"/>
            <a:ext cx="5532596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Individual Contributions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793790" y="1956911"/>
            <a:ext cx="1304282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Title: Individual Team Contributions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93790" y="2426494"/>
            <a:ext cx="13042821" cy="1156811"/>
          </a:xfrm>
          <a:prstGeom prst="roundRect">
            <a:avLst>
              <a:gd name="adj" fmla="val 2500"/>
            </a:avLst>
          </a:prstGeom>
          <a:solidFill>
            <a:srgbClr val="292C32"/>
          </a:solidFill>
          <a:ln w="22860">
            <a:solidFill>
              <a:srgbClr val="6164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16650" y="2449354"/>
            <a:ext cx="771168" cy="1111091"/>
          </a:xfrm>
          <a:prstGeom prst="roundRect">
            <a:avLst>
              <a:gd name="adj" fmla="val 193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751648" y="2642116"/>
            <a:ext cx="4990981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Mohammed Mir Fazlai Ali (PES2UG23CS346):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1751648" y="3041571"/>
            <a:ext cx="1186934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YouTube ingestion module (YTC) — videos watched on test account recorded in PostgreSQL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3790" y="3747135"/>
            <a:ext cx="13042821" cy="1156811"/>
          </a:xfrm>
          <a:prstGeom prst="roundRect">
            <a:avLst>
              <a:gd name="adj" fmla="val 2500"/>
            </a:avLst>
          </a:prstGeom>
          <a:solidFill>
            <a:srgbClr val="292C32"/>
          </a:solidFill>
          <a:ln w="22860">
            <a:solidFill>
              <a:srgbClr val="6164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16650" y="3769995"/>
            <a:ext cx="771168" cy="1111091"/>
          </a:xfrm>
          <a:prstGeom prst="roundRect">
            <a:avLst>
              <a:gd name="adj" fmla="val 193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751648" y="3962757"/>
            <a:ext cx="3450431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Arjun Sai N (PES2UG23CS091):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1751648" y="4362212"/>
            <a:ext cx="1186934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Gmail ingestion module (GMC) — all sent/received emails recorded in PostgreSQL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93790" y="5067776"/>
            <a:ext cx="13042821" cy="1156811"/>
          </a:xfrm>
          <a:prstGeom prst="roundRect">
            <a:avLst>
              <a:gd name="adj" fmla="val 2500"/>
            </a:avLst>
          </a:prstGeom>
          <a:solidFill>
            <a:srgbClr val="292C32"/>
          </a:solidFill>
          <a:ln w="22860">
            <a:solidFill>
              <a:srgbClr val="6164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16650" y="5090636"/>
            <a:ext cx="771168" cy="1111091"/>
          </a:xfrm>
          <a:prstGeom prst="roundRect">
            <a:avLst>
              <a:gd name="adj" fmla="val 193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751648" y="5283398"/>
            <a:ext cx="3635693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Mrigank Jain (PES2UG23CS352):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1751648" y="5682853"/>
            <a:ext cx="1186934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Chrome browsing module (CHC) — tabs passing intent gate recorded in PostgreSQL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93790" y="6388417"/>
            <a:ext cx="13042821" cy="1156811"/>
          </a:xfrm>
          <a:prstGeom prst="roundRect">
            <a:avLst>
              <a:gd name="adj" fmla="val 2500"/>
            </a:avLst>
          </a:prstGeom>
          <a:solidFill>
            <a:srgbClr val="292C32"/>
          </a:solidFill>
          <a:ln w="22860">
            <a:solidFill>
              <a:srgbClr val="6164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16650" y="6411278"/>
            <a:ext cx="771168" cy="1111091"/>
          </a:xfrm>
          <a:prstGeom prst="roundRect">
            <a:avLst>
              <a:gd name="adj" fmla="val 193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751648" y="6604040"/>
            <a:ext cx="5300782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Mohammed Shehzaad Khan (PES2UG23CS349):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1751648" y="7003494"/>
            <a:ext cx="1186934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PostgreSQL schema (15 tables) on Neon, Redis caching on Upstash, Google Cloud OAuth &amp; APIs configured, GitHub repo setup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1286"/>
            <a:ext cx="5387102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SDKs, APIs &amp; Tools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3790" y="1844040"/>
            <a:ext cx="1304282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Title: Technologies Used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93790" y="2410420"/>
            <a:ext cx="484823" cy="484823"/>
          </a:xfrm>
          <a:prstGeom prst="roundRect">
            <a:avLst>
              <a:gd name="adj" fmla="val 6667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483281" y="2484477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APIs &amp; Cloud: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483281" y="2943820"/>
            <a:ext cx="5703927" cy="1151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Gmail API v1 and YouTube Data API v3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Cloud OAuth 2.0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Anthropic Claude and Google Gemini APIs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443073" y="2410420"/>
            <a:ext cx="484823" cy="484823"/>
          </a:xfrm>
          <a:prstGeom prst="roundRect">
            <a:avLst>
              <a:gd name="adj" fmla="val 6667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132564" y="2484477"/>
            <a:ext cx="3089672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Storage &amp; Infrastructure: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132564" y="2943820"/>
            <a:ext cx="5704046" cy="1151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PostgreSQL 16+ and Redis 7+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FAISS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Neon, Upstash and GitHub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793790" y="4504611"/>
            <a:ext cx="484823" cy="484823"/>
          </a:xfrm>
          <a:prstGeom prst="roundRect">
            <a:avLst>
              <a:gd name="adj" fmla="val 6667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483281" y="4578668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Backend &amp; ML: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483281" y="5038011"/>
            <a:ext cx="5703927" cy="1151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3.10+, FastAPI, SQLAlchemy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LangGraph and LangChain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sentence-transformers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443073" y="4504611"/>
            <a:ext cx="484823" cy="484823"/>
          </a:xfrm>
          <a:prstGeom prst="roundRect">
            <a:avLst>
              <a:gd name="adj" fmla="val 6667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132564" y="4578668"/>
            <a:ext cx="2735104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Frontend &amp; Extension: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132564" y="5038011"/>
            <a:ext cx="5704046" cy="743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 18+ and TailwindCSS 3.x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Chrome Extension (Manifest V3)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793790" y="6598801"/>
            <a:ext cx="484823" cy="484823"/>
          </a:xfrm>
          <a:prstGeom prst="roundRect">
            <a:avLst>
              <a:gd name="adj" fmla="val 6667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483281" y="6672858"/>
            <a:ext cx="3171230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Local LLM (offline option):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483281" y="7132201"/>
            <a:ext cx="5703927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Ollama with Llama 3.1 8B / Mistral 7B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7443073" y="6598801"/>
            <a:ext cx="484823" cy="484823"/>
          </a:xfrm>
          <a:prstGeom prst="roundRect">
            <a:avLst>
              <a:gd name="adj" fmla="val 6667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132564" y="6672858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Testing: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132564" y="7132201"/>
            <a:ext cx="5704046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pytest, Jest, Postman</a:t>
            </a:r>
            <a:endParaRPr lang="en-US" sz="16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0483"/>
            <a:ext cx="90212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10% Implementation: Foundation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7289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Title: 10% Implementation — What Has Been Built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79094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Foundation (Mohammed Shehzaad Khan):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408998"/>
            <a:ext cx="1304282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15-table PostgreSQL schema live on Neon.tech — all tables, constraints, and indexes created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Redis running — revisit detection and attachment caching infrastructure ready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Cloud OAuth configured — Gmail API and YouTube Data API v3 fully authenticated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GitHub set up — all teammates have credentials to begin parallel development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35364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three ingestion modules functional and verified in PostgreSQL: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971699"/>
            <a:ext cx="130428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Gmail (Arjun) → emails live in PostgreSQL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YouTube (Mir Fazlai) → videos live in PostgreSQL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Chrome (Mrigank) → tabs live in PostgreSQL</a:t>
            </a:r>
            <a:endParaRPr lang="en-US" sz="1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89384"/>
            <a:ext cx="93500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10% Implementation: Justification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5179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Title: Why This Constitutes 10%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56984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raw ingestion layer across all 3 sources is complete. This is the foundational 10% because: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187898"/>
            <a:ext cx="130428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15-table schema is the backbone every other module writes to and reads from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OAuth and API authentication are prerequisites for any data to enter the system at all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3 connectors are independently functional and verified — data is flowing into PostgreSQL correctly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69034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Remaining ~90% to be built: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308402"/>
            <a:ext cx="13042821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Enrichment Pipeline (text cleaning, classification, embeddings, FAISS indexing)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LangGraph RSE (9 nodes, LLM integration, conversation memory, re-ranking)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Digital Wellbeing module (analytics, sessions, regret, user groups)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 Dashboard and Chrome Extension popup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End-to-end integration, testing, performance benchmarking, and privacy audit</a:t>
            </a:r>
            <a:endParaRPr lang="en-US" sz="1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10383"/>
            <a:ext cx="599694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Any Other Information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7279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Title: Any Other Information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89084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FKCCI Inno Manthan: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508897"/>
            <a:ext cx="13042821" cy="161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team participated in FKCCI Inno Manthan — an annual startup presentation competition open to university and college students across Karnataka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attended a two-day workshop as part of the competition and have been issued certified certificates for participation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are the only team representing PES University in this competition</a:t>
            </a:r>
            <a:endParaRPr lang="en-US" sz="1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2954"/>
            <a:ext cx="482000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References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1703070"/>
            <a:ext cx="1304282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Title: References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93790" y="2172653"/>
            <a:ext cx="13042821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[1] Y. Zhang, S. Liu, and J. Wang, "Are There Fundamental Limitations in Supporting Vector Data Management in Relational Databases? A Case Study of PostgreSQL," in Proc. IEEE Int. Conf. Data Eng. (ICDE), 2024, pp. 3640–3653.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93790" y="2927509"/>
            <a:ext cx="13042821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[2] R. Islambouli, S. Ingram, and D. Gillet, "Understanding Digital Wellbeing Through Smartphone Usage Intentions and Regrettable Patterns," in Proc. IEEE Int. Conf. Healthcare Informatics (ICHI), 2024.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93790" y="3682365"/>
            <a:ext cx="13042821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[3] N. Reimers and I. Gurevych, "Sentence-BERT: Sentence Embeddings using Siamese BERT-Networks," in Proc. Conf. Empirical Methods Nat. Lang. Process. (EMNLP), 2019.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3790" y="4437221"/>
            <a:ext cx="1304282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[4] J. Johnson, M. Douze, and H. Jégou, "Billion-Scale Similarity Search with GPUs," IEEE Trans. Big Data, vol. 7, no. 3, pp. 535–547, 2021.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3790" y="4906804"/>
            <a:ext cx="13042821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[5] M. Kleppmann et al., "Local-First Software: You Own Your Data, in Spite of the Cloud," in Proc. ACM SIGPLAN Symp. New Ideas, New Paradigms, Reflections Program. Softw. (Onward!), 2019, pp. 154–178.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3790" y="5661660"/>
            <a:ext cx="13042821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[6] V. Kostakos, A. Giannoulis, and M. Langheinrich, "Privacy-Preserving Data Storage and Processing: A Survey of Modern Approaches," ACM Comput. Surv., vol. 54, no. 6, 2021.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3790" y="6416516"/>
            <a:ext cx="1304282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[7] Y. Sun, A. Dubey, and E. P. Xing, "Lifelong Learning with Retrieval-Augmented Memory," in Proc. Adv. Neural Inf. Process. Syst. (NeurIPS), vol. 33, 2020.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93790" y="6886099"/>
            <a:ext cx="13042821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[8] V. Karpukhin et al., "Dense Passage Retrieval for Open-Domain Question Answering," in Proc. Conf. Empirical Methods Nat. Lang. Process. (EMNLP), 2020.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35208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Thank You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5144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E.C.H.O — Efficient Contextualized History Orchestrator Project ID: 92 | Guide: Dr. M. Shalima Sulthana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3357</Words>
  <Application>Microsoft Office PowerPoint</Application>
  <PresentationFormat>Custom</PresentationFormat>
  <Paragraphs>369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IBM Plex Sans Medium</vt:lpstr>
      <vt:lpstr>Arial</vt:lpstr>
      <vt:lpstr>Consolas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mrigank jain</cp:lastModifiedBy>
  <cp:revision>2</cp:revision>
  <dcterms:created xsi:type="dcterms:W3CDTF">2026-04-06T12:11:00Z</dcterms:created>
  <dcterms:modified xsi:type="dcterms:W3CDTF">2026-04-07T15:07:22Z</dcterms:modified>
</cp:coreProperties>
</file>