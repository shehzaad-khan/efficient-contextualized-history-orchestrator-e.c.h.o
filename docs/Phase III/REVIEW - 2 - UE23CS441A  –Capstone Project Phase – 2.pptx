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9"/>
  </p:notesMasterIdLst>
  <p:handoutMasterIdLst>
    <p:handoutMasterId r:id="rId20"/>
  </p:handoutMasterIdLst>
  <p:sldIdLst>
    <p:sldId id="582" r:id="rId2"/>
    <p:sldId id="535" r:id="rId3"/>
    <p:sldId id="583" r:id="rId4"/>
    <p:sldId id="569" r:id="rId5"/>
    <p:sldId id="568" r:id="rId6"/>
    <p:sldId id="581" r:id="rId7"/>
    <p:sldId id="571" r:id="rId8"/>
    <p:sldId id="570" r:id="rId9"/>
    <p:sldId id="572" r:id="rId10"/>
    <p:sldId id="575" r:id="rId11"/>
    <p:sldId id="573" r:id="rId12"/>
    <p:sldId id="574" r:id="rId13"/>
    <p:sldId id="580" r:id="rId14"/>
    <p:sldId id="577" r:id="rId15"/>
    <p:sldId id="579" r:id="rId16"/>
    <p:sldId id="545" r:id="rId17"/>
    <p:sldId id="549" r:id="rId18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 autoAdjust="0"/>
    <p:restoredTop sz="86811" autoAdjust="0"/>
  </p:normalViewPr>
  <p:slideViewPr>
    <p:cSldViewPr>
      <p:cViewPr varScale="1">
        <p:scale>
          <a:sx n="63" d="100"/>
          <a:sy n="63" d="100"/>
        </p:scale>
        <p:origin x="796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5ECE-BFD8-E061-AF1D-425C6ABC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AFB49-B8F0-F90E-2DD6-4C4B33E34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691D1-15EF-559E-18FC-701F897FD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F9367-1D7F-8711-9830-AE9A485BE8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99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3728FDCA-2BCC-C6D2-944C-DE172626AE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0344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3600" y="914400"/>
            <a:ext cx="7924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rebuchet MS" pitchFamily="34" charset="0"/>
              </a:rPr>
              <a:t>UE23CS441A – Capstone Project Phase – 3</a:t>
            </a:r>
          </a:p>
          <a:p>
            <a:pPr algn="ctr"/>
            <a:endParaRPr lang="en-US" sz="2800" dirty="0">
              <a:latin typeface="Trebuchet MS" pitchFamily="34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Trebuchet MS" pitchFamily="34" charset="0"/>
              </a:rPr>
              <a:t>Project Progress Review #2</a:t>
            </a:r>
          </a:p>
        </p:txBody>
      </p:sp>
      <p:sp>
        <p:nvSpPr>
          <p:cNvPr id="4" name="Google Shape;26;p3"/>
          <p:cNvSpPr txBox="1"/>
          <p:nvPr/>
        </p:nvSpPr>
        <p:spPr>
          <a:xfrm>
            <a:off x="1828800" y="3733800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41747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600200" y="1676400"/>
            <a:ext cx="85344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Guide Approval 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2D469-CF42-B051-2E73-9FEE7C9D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2D0409-9E2E-60A9-3EAA-B40554728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E205762-3CD2-0386-90EC-021E1A8C2F3F}"/>
              </a:ext>
            </a:extLst>
          </p:cNvPr>
          <p:cNvSpPr txBox="1">
            <a:spLocks/>
          </p:cNvSpPr>
          <p:nvPr/>
        </p:nvSpPr>
        <p:spPr>
          <a:xfrm>
            <a:off x="381000" y="1676400"/>
            <a:ext cx="115062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 of the Project. (1 slide)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Review –1 of Phase-3.(1 slide)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and Demonstration post Review-1(Phase-3)(7-8 slides)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Timeline for Pending Tasks.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References.</a:t>
            </a: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D9C6B2DA-A2C9-4D7C-D3E2-CBB02FFF1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16081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 basic introduction of the project and also an overview of scope it entails.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the suggestions and remarks given by the panel members. 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Suggestions from Review - 1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Add as many slides as required to cover the following aspects: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Explain the Model Architecture or Framework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Basic Approach and Algorithms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results obtained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Is there a need for changing the approach?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Details of the new approach- benefits/drawbacks</a:t>
            </a: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0000"/>
                </a:solidFill>
                <a:latin typeface="Trebuchet MS"/>
              </a:rPr>
              <a:t>Note: Applicable to Research projects</a:t>
            </a:r>
            <a:endParaRPr lang="en-US" sz="2400" b="1" dirty="0">
              <a:solidFill>
                <a:srgbClr val="0033CC"/>
              </a:solidFill>
              <a:latin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Approach / Methodology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design approach followed? And Why?</a:t>
            </a: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Benefits of this approach &amp; are there any drawbacks?</a:t>
            </a: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Alternate design approaches, if any.</a:t>
            </a: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0000"/>
                </a:solidFill>
                <a:latin typeface="Trebuchet MS"/>
              </a:rPr>
              <a:t>Note: Applicable to prototype/product based project</a:t>
            </a:r>
            <a:endParaRPr lang="en-US" sz="2400" b="1" dirty="0">
              <a:solidFill>
                <a:srgbClr val="0033CC"/>
              </a:solidFill>
              <a:latin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Approach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114300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&amp; Dependencies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71600" y="1752600"/>
            <a:ext cx="8839200" cy="4724400"/>
          </a:xfrm>
          <a:prstGeom prst="rect">
            <a:avLst/>
          </a:prstGeom>
        </p:spPr>
        <p:txBody>
          <a:bodyPr/>
          <a:lstStyle/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Discuss the design constraints and assumptions that you have made to select the design approach.</a:t>
            </a: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Discuss any dependencies that your design approach has and their impact on the project.</a:t>
            </a: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0000"/>
                </a:solidFill>
                <a:latin typeface="Trebuchet MS"/>
              </a:rPr>
              <a:t>Note: Applicable to prototype/product based project</a:t>
            </a:r>
            <a:endParaRPr lang="en-US" sz="2400" b="1" dirty="0">
              <a:solidFill>
                <a:srgbClr val="0033CC"/>
              </a:solidFill>
              <a:latin typeface="Trebuchet MS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Add as many slides as required to cover the following aspects:</a:t>
            </a:r>
          </a:p>
          <a:p>
            <a:pPr lv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900" lvl="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Master class diagram </a:t>
            </a:r>
          </a:p>
          <a:p>
            <a:pPr marL="342900" lvl="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User case Diagram</a:t>
            </a:r>
          </a:p>
          <a:p>
            <a:pPr marL="342900" lvl="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Sequence, Packaging and Deployment Diagrams</a:t>
            </a:r>
          </a:p>
          <a:p>
            <a:pPr marL="342900" lvl="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0000"/>
                </a:solidFill>
                <a:latin typeface="Trebuchet MS"/>
              </a:rPr>
              <a:t>Note: Applicable to prototype/product based project</a:t>
            </a:r>
            <a:endParaRPr lang="en-US" sz="2400" b="1" dirty="0">
              <a:solidFill>
                <a:srgbClr val="0033CC"/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Algorithm &amp; Pseudocode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Add details on the Algorithm used and write Pseudocode to explain the logical workflow of the project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0000"/>
                </a:solidFill>
                <a:latin typeface="Trebuchet MS"/>
              </a:rPr>
              <a:t>Note: Applicable to Research projects</a:t>
            </a:r>
            <a:endParaRPr lang="en-US" sz="2400" b="1" dirty="0">
              <a:solidFill>
                <a:srgbClr val="0033CC"/>
              </a:solidFill>
              <a:latin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So far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project progress so far?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percentage completion of the project?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Demonstration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Prepare for a demo of the project:</a:t>
            </a:r>
          </a:p>
          <a:p>
            <a:pPr marL="719138" lvl="0" indent="-269875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itchFamily="2" charset="2"/>
              <a:buChar char="§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Need to show working of all portions of the project individually</a:t>
            </a:r>
          </a:p>
          <a:p>
            <a:pPr marL="719138" lvl="0" indent="-269875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itchFamily="2" charset="2"/>
              <a:buChar char="§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Data set creation needs to be demoed wherever applicable</a:t>
            </a:r>
          </a:p>
          <a:p>
            <a:pPr marL="719138" lvl="0" indent="-269875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itchFamily="2" charset="2"/>
              <a:buChar char="§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Show the demo of additions done post review-1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Timeline – Update on Pending Tasks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The timeline for execution of tasks that are pending.</a:t>
            </a:r>
          </a:p>
          <a:p>
            <a:pPr marL="685791" lvl="1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(In reference to the milestones and timeline mentioned in Review 1 of Capstone Phase – 3).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Summarize the key points.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437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Provide references pertaining to your research according to IEEE format.</a:t>
            </a:r>
          </a:p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Example:</a:t>
            </a: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US" sz="2400" dirty="0"/>
              <a:t>G. Eason, B. Noble, and I. N. </a:t>
            </a:r>
            <a:r>
              <a:rPr lang="en-US" sz="2400" dirty="0" err="1"/>
              <a:t>Sneddon</a:t>
            </a:r>
            <a:r>
              <a:rPr lang="en-US" sz="2400" dirty="0"/>
              <a:t>, “On certain integrals of </a:t>
            </a:r>
            <a:r>
              <a:rPr lang="en-US" sz="2400" dirty="0" err="1"/>
              <a:t>Lipschitz-Hankel</a:t>
            </a:r>
            <a:r>
              <a:rPr lang="en-US" sz="2400" dirty="0"/>
              <a:t> type involving products of Bessel functions,” Phil. Trans. Roy. Soc. London, vol. A247, pp. 529–551, April 1955. </a:t>
            </a:r>
            <a:r>
              <a:rPr lang="en-US" sz="2400" i="1" dirty="0"/>
              <a:t>(references)</a:t>
            </a:r>
            <a:endParaRPr lang="en-US" sz="2400" dirty="0"/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any other information you wish to add on.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Note: Changes can be made in the template, with the consent of the guide for inclusion of any other information.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468</TotalTime>
  <Words>517</Words>
  <Application>Microsoft Office PowerPoint</Application>
  <PresentationFormat>Widescreen</PresentationFormat>
  <Paragraphs>122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gulshan vaswani</cp:lastModifiedBy>
  <cp:revision>1</cp:revision>
  <dcterms:created xsi:type="dcterms:W3CDTF">2020-11-22T08:14:37Z</dcterms:created>
  <dcterms:modified xsi:type="dcterms:W3CDTF">2026-09-27T18:45:30Z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