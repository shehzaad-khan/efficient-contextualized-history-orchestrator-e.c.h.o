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1"/>
  </p:sldMasterIdLst>
  <p:notesMasterIdLst>
    <p:notesMasterId r:id="rId19"/>
  </p:notesMasterIdLst>
  <p:handoutMasterIdLst>
    <p:handoutMasterId r:id="rId20"/>
  </p:handoutMasterIdLst>
  <p:sldIdLst>
    <p:sldId id="582" r:id="rId2"/>
    <p:sldId id="535" r:id="rId3"/>
    <p:sldId id="583" r:id="rId4"/>
    <p:sldId id="584" r:id="rId25"/>
    <p:sldId id="585" r:id="rId26"/>
    <p:sldId id="586" r:id="rId27"/>
    <p:sldId id="587" r:id="rId28"/>
    <p:sldId id="588" r:id="rId29"/>
    <p:sldId id="589" r:id="rId30"/>
    <p:sldId id="590" r:id="rId31"/>
    <p:sldId id="591" r:id="rId32"/>
    <p:sldId id="592" r:id="rId33"/>
    <p:sldId id="593" r:id="rId34"/>
    <p:sldId id="594" r:id="rId35"/>
    <p:sldId id="595" r:id="rId36"/>
    <p:sldId id="596" r:id="rId37"/>
    <p:sldId id="597" r:id="rId38"/>
    <p:sldId id="598" r:id="rId39"/>
    <p:sldId id="599" r:id="rId40"/>
    <p:sldId id="600" r:id="rId41"/>
    <p:sldId id="601" r:id="rId42"/>
    <p:sldId id="602" r:id="rId43"/>
    <p:sldId id="603" r:id="rId44"/>
    <p:sldId id="604" r:id="rId45"/>
    <p:sldId id="549" r:id="rId18"/>
  </p:sldIdLst>
  <p:sldSz cx="12192000" cy="6858000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CC"/>
    <a:srgbClr val="FF0066"/>
    <a:srgbClr val="0000FF"/>
    <a:srgbClr val="33CC33"/>
    <a:srgbClr val="00FFFF"/>
    <a:srgbClr val="6600FF"/>
    <a:srgbClr val="CC66FF"/>
    <a:srgbClr val="62832D"/>
    <a:srgbClr val="0066FF"/>
    <a:srgbClr val="33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37" autoAdjust="0"/>
    <p:restoredTop sz="86811" autoAdjust="0"/>
  </p:normalViewPr>
  <p:slideViewPr>
    <p:cSldViewPr>
      <p:cViewPr varScale="1">
        <p:scale>
          <a:sx n="63" d="100"/>
          <a:sy n="63" d="100"/>
        </p:scale>
        <p:origin x="796" y="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90" d="100"/>
        <a:sy n="90" d="100"/>
      </p:scale>
      <p:origin x="0" y="1308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135" y="0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6A7C97D-3554-44E0-8E72-665D45387ACC}" type="datetimeFigureOut">
              <a:rPr lang="en-US"/>
              <a:pPr>
                <a:defRPr/>
              </a:pPr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829675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135" y="8829675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1486DC43-659C-4A17-BDC0-5684401D4FA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135" y="0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973BE83-6A1D-4DA3-83D0-ED76C71EFE38}" type="datetimeFigureOut">
              <a:rPr lang="en-US"/>
              <a:pPr>
                <a:defRPr/>
              </a:pPr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696913"/>
            <a:ext cx="6196012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848" y="4416426"/>
            <a:ext cx="5608320" cy="41830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675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135" y="8829675"/>
            <a:ext cx="3038648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01C81575-24DE-4F6C-A73E-0331B3B2E4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7988" y="696913"/>
            <a:ext cx="6196012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1C81575-24DE-4F6C-A73E-0331B3B2E41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35ECE-BFD8-E061-AF1D-425C6ABCF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AFB49-B8F0-F90E-2DD6-4C4B33E34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07988" y="696913"/>
            <a:ext cx="6196012" cy="34861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8691D1-15EF-559E-18FC-701F897FD4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F9367-1D7F-8711-9830-AE9A485BE8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1C81575-24DE-4F6C-A73E-0331B3B2E418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9929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713C8-F183-1D43-AE77-BF9BD4D2AE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7AF752-0EC0-CF4D-965A-5129A9135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E32540-0688-DC4A-809A-52FB3313D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CA43E-0611-D047-BC7B-31F920B65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E4123-5713-BC41-BBD0-42ADF35D9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070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DED43-C903-1F44-A779-40DF9AEFD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975D8-34AD-544B-B0E2-83FA77D2F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24DD5-B8E0-534E-B68A-EF415575E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96688-5BB1-5E48-BD14-BBC9FA67D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C407C-3003-DB44-98B5-0DEC6272B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16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5630D-09E2-0742-AED8-D3F732546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5B2CD3-A564-8044-A4EC-7EBA26298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A64EE-79C1-8B46-BA9C-199117C7B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1AAB2-DA47-AE48-A088-6FC7C1694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8FF9C-19C9-FA46-8C21-74202499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791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CBAF5-C913-024F-8BE6-64C58F970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E6DB7-D3D7-1443-A583-8730715E25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CEB82F-3E99-7441-9B06-6D7C2156A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6D282-1572-D344-87D1-785DA8576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23D760-065F-6442-AF7E-1A7AAFFCA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BF4C15-EC3A-7E41-A2B3-D2AB7D70E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704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2CC90-B8AE-8A46-A8A5-F7E8DA615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152C5-AA77-4B47-965C-21A00C1EE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466F8D-3502-5242-9160-E1CDE38E0A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754302-8F9A-5648-9C5E-6D037F1C75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9FC9CD-8823-F145-9952-EFBA9ACD2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5EF4D9-655F-4842-A6B8-D44A05012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E68A74-725F-8F40-8F80-E96287703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D868FA-8565-A740-9B9C-B3CD6AB3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854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CE3-1C1E-7448-AF7E-5E46BB140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9D5C9-50F6-8546-8D8C-AFACC1BC1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EA0D0C-FCAF-4F4C-AAF5-C9B78C03C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68836A-EEA3-7347-A63C-8E66DF7B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287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7A43C1-2303-5A41-B234-90D15E2A4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A77971-B281-6149-9884-0E9C45F81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0F6F3-1061-E842-B540-6BD0D6CB8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732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B970D-13D5-B346-968D-400B0BCCF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9FFE0-37CD-7644-A007-76E5304F1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210BE7-EA92-B44F-9EEC-94E6F6955C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6D810-D2A1-B549-A5BC-25CCA5CDC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872D2-2005-3043-A02D-3E2DB9334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9F01D-1164-4249-AD67-1D51D33C0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386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D3B30-2A71-A043-9BD7-3B8C66BF7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2B08A9-6B45-4340-8859-996D9B9490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B1F4B2-96C1-614B-9110-8D1AEE080D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7DF3EB-6252-5845-AE7D-FB94ECF9F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D65DB7-EFE7-7446-8DEC-69F1FB47A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A0E09F-0F32-5644-881A-A61CD8246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5944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6E61B7-8DCD-1544-BC5D-B4592F60C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AB61D9-7FB3-1343-9555-936FC6036D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C2A79E-2DF5-4E41-BDCF-90E9D26B7E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1A7037-0853-0447-B5BA-F1548123F733}" type="datetimeFigureOut">
              <a:rPr lang="en-US" smtClean="0"/>
              <a:pPr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D5DC5-E1CB-B84F-BCAB-EB319B3718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12A2C-5C91-4B43-A114-209348A10C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2F0E29-F314-934F-92DB-8EEB8DA6883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2" descr="PESSAT - All India Online Entrance Exam for Admission to PES University">
            <a:extLst>
              <a:ext uri="{FF2B5EF4-FFF2-40B4-BE49-F238E27FC236}">
                <a16:creationId xmlns:a16="http://schemas.microsoft.com/office/drawing/2014/main" id="{3728FDCA-2BCC-C6D2-944C-DE172626AE8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7336" y="203449"/>
            <a:ext cx="116205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238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33600" y="914400"/>
            <a:ext cx="79248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Trebuchet MS" pitchFamily="34" charset="0"/>
              </a:rPr>
              <a:t>UE23CS441A – Capstone Project Phase – 3</a:t>
            </a:r>
          </a:p>
          <a:p>
            <a:pPr algn="ctr"/>
            <a:endParaRPr lang="en-US" sz="2800" dirty="0">
              <a:latin typeface="Trebuchet MS" pitchFamily="34" charset="0"/>
            </a:endParaRPr>
          </a:p>
          <a:p>
            <a:pPr algn="ctr"/>
            <a:r>
              <a:rPr lang="en-US" sz="3200" b="1" dirty="0">
                <a:solidFill>
                  <a:srgbClr val="FF0000"/>
                </a:solidFill>
                <a:latin typeface="Trebuchet MS" pitchFamily="34" charset="0"/>
              </a:rPr>
              <a:t>Project Progress Review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71800"/>
            <a:ext cx="2148840" cy="329184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Project Title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Project ID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Project Guide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Project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6120" y="2971800"/>
            <a:ext cx="274320" cy="329184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: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: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: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2971800"/>
            <a:ext cx="7680960" cy="329184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E.C.H.O. – Efficient Contextualized History Orchestrator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92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Dr. M. Shalima Sulthana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Mrigank Jain — PES2UG23CS352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Mohammed Mir Fazlai Ali — PES2UG23CS346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Mohammed Shehzaad Khan — PES2UG23CS349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33CC"/>
                </a:solidFill>
                <a:latin typeface="Trebuchet MS"/>
              </a:rPr>
              <a:t>Arjun Sai N — PES2UG23CS091</a:t>
            </a:r>
          </a:p>
        </p:txBody>
      </p:sp>
    </p:spTree>
    <p:extLst>
      <p:ext uri="{BB962C8B-B14F-4D97-AF65-F5344CB8AC3E}">
        <p14:creationId xmlns:p14="http://schemas.microsoft.com/office/powerpoint/2010/main" val="1441747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1600200" y="1676400"/>
            <a:ext cx="8534400" cy="4724400"/>
          </a:xfrm>
          <a:prstGeom prst="rect">
            <a:avLst/>
          </a:prstGeom>
        </p:spPr>
        <p:txBody>
          <a:bodyPr/>
          <a:lstStyle/>
          <a:p>
            <a:pPr marL="685791" indent="-342900" algn="just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endParaRPr lang="en-IN" sz="2000" kern="0" dirty="0">
              <a:solidFill>
                <a:srgbClr val="0000FF"/>
              </a:solidFill>
              <a:latin typeface="Trebuchet MS" pitchFamily="34" charset="0"/>
            </a:endParaRPr>
          </a:p>
          <a:p>
            <a:pPr marL="685791" indent="-342900" algn="just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endParaRPr lang="en-IN" sz="2000" kern="0" dirty="0">
              <a:solidFill>
                <a:srgbClr val="0000FF"/>
              </a:solidFill>
              <a:latin typeface="Trebuchet MS" pitchFamily="34" charset="0"/>
            </a:endParaRPr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4191000" y="1143002"/>
            <a:ext cx="64770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Guide Approval Mail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2D469-CF42-B051-2E73-9FEE7C9D6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A2D0409-9E2E-60A9-3EAA-B405547282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E205762-3CD2-0386-90EC-021E1A8C2F3F}"/>
              </a:ext>
            </a:extLst>
          </p:cNvPr>
          <p:cNvSpPr txBox="1">
            <a:spLocks/>
          </p:cNvSpPr>
          <p:nvPr/>
        </p:nvSpPr>
        <p:spPr>
          <a:xfrm>
            <a:off x="381000" y="1676400"/>
            <a:ext cx="11506200" cy="4724400"/>
          </a:xfrm>
          <a:prstGeom prst="rect">
            <a:avLst/>
          </a:prstGeom>
        </p:spPr>
        <p:txBody>
          <a:bodyPr/>
          <a:lstStyle/>
          <a:p>
            <a:pPr marL="685791" indent="-342900" algn="just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endParaRPr lang="en-IN" sz="2000" kern="0" dirty="0">
              <a:solidFill>
                <a:srgbClr val="0000FF"/>
              </a:solidFill>
              <a:latin typeface="Trebuchet MS" pitchFamily="34" charset="0"/>
            </a:endParaRPr>
          </a:p>
          <a:p>
            <a:pPr marL="685791" indent="-342900" algn="just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endParaRPr lang="en-IN" sz="2000" kern="0" dirty="0">
              <a:solidFill>
                <a:srgbClr val="0000FF"/>
              </a:solidFill>
              <a:latin typeface="Trebuchet MS" pitchFamily="34" charset="0"/>
            </a:endParaRPr>
          </a:p>
          <a:p>
            <a:pPr marL="685791" indent="-342900" algn="just" eaLnBrk="0" hangingPunct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sz="2400" dirty="0">
                <a:solidFill>
                  <a:srgbClr val="0033CC"/>
                </a:solidFill>
                <a:latin typeface="Trebuchet MS"/>
                <a:ea typeface="Trebuchet MS"/>
                <a:cs typeface="Trebuchet MS"/>
                <a:sym typeface="Trebuchet MS"/>
              </a:rPr>
              <a:t>Abstract and Scope of the Project. (1 slide)</a:t>
            </a:r>
          </a:p>
          <a:p>
            <a:pPr marL="685791" indent="-342900" algn="just" eaLnBrk="0" hangingPunct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sz="2400" dirty="0">
                <a:solidFill>
                  <a:srgbClr val="0033CC"/>
                </a:solidFill>
                <a:latin typeface="Trebuchet MS"/>
                <a:ea typeface="Trebuchet MS"/>
                <a:cs typeface="Trebuchet MS"/>
                <a:sym typeface="Trebuchet MS"/>
              </a:rPr>
              <a:t>Suggestions from Review –1 of Phase-3.(1 slide)</a:t>
            </a:r>
          </a:p>
          <a:p>
            <a:pPr marL="685791" indent="-342900" algn="just" eaLnBrk="0" hangingPunct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sz="2400" dirty="0">
                <a:solidFill>
                  <a:srgbClr val="0033CC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Progress and Demonstration post Review-1(Phase-3)(7-8 slides)</a:t>
            </a:r>
          </a:p>
          <a:p>
            <a:pPr marL="685791" indent="-342900" algn="just" eaLnBrk="0" hangingPunct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sz="2400" dirty="0">
                <a:solidFill>
                  <a:srgbClr val="0033CC"/>
                </a:solidFill>
                <a:latin typeface="Trebuchet MS"/>
                <a:ea typeface="Trebuchet MS"/>
                <a:cs typeface="Trebuchet MS"/>
                <a:sym typeface="Trebuchet MS"/>
              </a:rPr>
              <a:t>Timeline for Pending Tasks.</a:t>
            </a:r>
          </a:p>
          <a:p>
            <a:pPr marL="685791" indent="-342900" algn="just" eaLnBrk="0" hangingPunct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sz="2400" dirty="0">
                <a:solidFill>
                  <a:srgbClr val="0033CC"/>
                </a:solidFill>
                <a:latin typeface="Trebuchet MS"/>
                <a:ea typeface="Trebuchet MS"/>
                <a:cs typeface="Trebuchet MS"/>
                <a:sym typeface="Trebuchet MS"/>
              </a:rPr>
              <a:t>Conclusion.</a:t>
            </a:r>
          </a:p>
          <a:p>
            <a:pPr marL="685791" indent="-342900" algn="just" eaLnBrk="0" hangingPunct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sz="2400" dirty="0">
                <a:solidFill>
                  <a:srgbClr val="0033CC"/>
                </a:solidFill>
                <a:latin typeface="Trebuchet MS"/>
                <a:ea typeface="Trebuchet MS"/>
                <a:cs typeface="Trebuchet MS"/>
                <a:sym typeface="Trebuchet MS"/>
              </a:rPr>
              <a:t>References.</a:t>
            </a:r>
          </a:p>
        </p:txBody>
      </p:sp>
      <p:sp>
        <p:nvSpPr>
          <p:cNvPr id="14" name="Text Box 34">
            <a:extLst>
              <a:ext uri="{FF2B5EF4-FFF2-40B4-BE49-F238E27FC236}">
                <a16:creationId xmlns:a16="http://schemas.microsoft.com/office/drawing/2014/main" id="{D9C6B2DA-A2C9-4D7C-D3E2-CBB02FFF1B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1000" y="1143002"/>
            <a:ext cx="64770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160815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371485" y="3352800"/>
            <a:ext cx="250658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4000" dirty="0">
                <a:solidFill>
                  <a:srgbClr val="FF0000"/>
                </a:solidFill>
                <a:latin typeface="Trebuchet MS" pitchFamily="34" charset="0"/>
              </a:rPr>
              <a:t>Thank You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Abstract and Scope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512" y="1851331"/>
            <a:ext cx="5669280" cy="10156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3017520"/>
            <a:ext cx="9747504" cy="24688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ABSTRACT: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E.C.H.O. addresses fragmented personal digital history across Gmail, Chrome, and YouTube. Instead of forcing users to remember which application contained a previous interaction, the system creates a unified, searchable memory layer.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The system captures meaningful activity, stores source-aware canonical records, enriches them for semantic search, retrieves context through hybrid deterministic retrieval, and presents results through a React dashboard and Chrome extension popup.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577840"/>
            <a:ext cx="9747504" cy="77724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8755" bIns="98755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Phase III focus: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system integration, reliable enrichment/indexing, retrieval-quality improvements, digital wellbeing analytics, and UI completion.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Abstract and Scope – Project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47088"/>
            <a:ext cx="9747504" cy="4114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The E.C.H.O. system encompasses: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377440"/>
            <a:ext cx="566928" cy="713232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72768" y="2377440"/>
            <a:ext cx="4078224" cy="713232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Gmail, Chrome, and YouTube activity capture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236976"/>
            <a:ext cx="566928" cy="713232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72768" y="3236976"/>
            <a:ext cx="4078224" cy="713232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Canonical memory storage with source-specific metadata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96512"/>
            <a:ext cx="566928" cy="713232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72768" y="4096512"/>
            <a:ext cx="4078224" cy="713232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Intent-aware capture and revisit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956048"/>
            <a:ext cx="566928" cy="713232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2768" y="4956048"/>
            <a:ext cx="4078224" cy="713232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Background enrichment, classification, and FAISS semantic indexing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25312" y="2377440"/>
            <a:ext cx="566928" cy="713232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79" y="2377440"/>
            <a:ext cx="4078224" cy="713232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Natural-language hybrid retrieval with conversational context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25312" y="3236976"/>
            <a:ext cx="566928" cy="713232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06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79" y="3236976"/>
            <a:ext cx="4078224" cy="713232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Digital wellbeing analytics and user-controlled reflections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25312" y="4096512"/>
            <a:ext cx="566928" cy="713232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Trebuchet MS"/>
              </a:rPr>
              <a:t>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79" y="4096512"/>
            <a:ext cx="4078224" cy="713232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React dashboard, browser extension popup, settings, 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956048"/>
            <a:ext cx="4736592" cy="713232"/>
          </a:xfrm>
          <a:prstGeom prst="rect">
            <a:avLst/>
          </a:prstGeom>
          <a:noFill/>
        </p:spPr>
        <p:txBody>
          <a:bodyPr wrap="square" anchor="ctr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0033CC"/>
                </a:solidFill>
                <a:latin typeface="Trebuchet MS"/>
              </a:rPr>
              <a:t>All functionality is designed with privacy-first principles and local-first architecture.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Suggestions from Review - 1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47088"/>
            <a:ext cx="9747504" cy="4114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Suggestions and remarks given by the panel members: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377440"/>
            <a:ext cx="9747504" cy="1298448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Data retention timeline:</a:t>
            </a:r>
            <a:r>
              <a:rPr sz="1500" b="0" i="0">
                <a:solidFill>
                  <a:srgbClr val="0033CC"/>
                </a:solidFill>
                <a:latin typeface="Trebuchet MS"/>
              </a:rPr>
              <a:t> keep captured data for a fixed period (6 months or 1 year), then delete it automatically to save storage, as production systems do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0000"/>
                </a:solidFill>
                <a:latin typeface="Trebuchet MS"/>
              </a:rPr>
              <a:t>Response: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Planned as future work — a configurable auto-delete window (6 or 12 months).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803904"/>
            <a:ext cx="9747504" cy="1298448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Spam filtering:</a:t>
            </a:r>
            <a:r>
              <a:rPr sz="1500" b="0" i="0">
                <a:solidFill>
                  <a:srgbClr val="0033CC"/>
                </a:solidFill>
                <a:latin typeface="Trebuchet MS"/>
              </a:rPr>
              <a:t> add a model that filters out spam emails before they are captured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0000"/>
                </a:solidFill>
                <a:latin typeface="Trebuchet MS"/>
              </a:rPr>
              <a:t>Response: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Mail that Gmail already flags as spam is never captured, since the connector reads mail without the Spam folder; a dedicated spam model is planned as future 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230368"/>
            <a:ext cx="9747504" cy="1298448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Focused presentation:</a:t>
            </a:r>
            <a:r>
              <a:rPr sz="1500" b="0" i="0">
                <a:solidFill>
                  <a:srgbClr val="0033CC"/>
                </a:solidFill>
                <a:latin typeface="Trebuchet MS"/>
              </a:rPr>
              <a:t> frame the demo to show only what is needed and leave out what isn't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0000"/>
                </a:solidFill>
                <a:latin typeface="Trebuchet MS"/>
              </a:rPr>
              <a:t>Response: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We have kept this review to the point — it shows only what is needed, up to the Digital Wellbeing module.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Proposed Approach / Methodology – Framework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65446"/>
            <a:ext cx="10728655" cy="3670106"/>
          </a:xfrm>
          <a:prstGeom prst="rect">
            <a:avLst/>
          </a:prstGeom>
          <a:ln w="9525">
            <a:solidFill>
              <a:srgbClr val="8FA3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31520" y="6208776"/>
            <a:ext cx="10728655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A647A"/>
                </a:solidFill>
                <a:latin typeface="Trebuchet MS"/>
              </a:rPr>
              <a:t>E.C.H.O. layered architecture — capture → storage → enrichment → retrieval &amp; wellbeing → interface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Proposed Approach / Methodology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1938528"/>
            <a:ext cx="4736592" cy="459943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33CC"/>
                </a:solidFill>
                <a:latin typeface="Trebuchet MS"/>
              </a:rPr>
              <a:t>Basic approach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1 </a:t>
            </a:r>
            <a:r>
              <a:rPr sz="1600" b="0" i="0">
                <a:solidFill>
                  <a:srgbClr val="0033CC"/>
                </a:solidFill>
                <a:latin typeface="Trebuchet MS"/>
              </a:rPr>
              <a:t>Capture only engaged activity (intent gates)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2 </a:t>
            </a:r>
            <a:r>
              <a:rPr sz="1600" b="0" i="0">
                <a:solidFill>
                  <a:srgbClr val="0033CC"/>
                </a:solidFill>
                <a:latin typeface="Trebuchet MS"/>
              </a:rPr>
              <a:t>Store atomically in PostgreSQL — the source of truth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3 </a:t>
            </a:r>
            <a:r>
              <a:rPr sz="1600" b="0" i="0">
                <a:solidFill>
                  <a:srgbClr val="0033CC"/>
                </a:solidFill>
                <a:latin typeface="Trebuchet MS"/>
              </a:rPr>
              <a:t>Enrich in the background: clean → embed → classify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4 </a:t>
            </a:r>
            <a:r>
              <a:rPr sz="1600" b="0" i="0">
                <a:solidFill>
                  <a:srgbClr val="0033CC"/>
                </a:solidFill>
                <a:latin typeface="Trebuchet MS"/>
              </a:rPr>
              <a:t>Answer with hybrid search and exactly 2 LLM calls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5 </a:t>
            </a:r>
            <a:r>
              <a:rPr sz="1600" b="0" i="0">
                <a:solidFill>
                  <a:srgbClr val="0033CC"/>
                </a:solidFill>
                <a:latin typeface="Trebuchet MS"/>
              </a:rPr>
              <a:t>Reflect on time use — descriptive, never judgmental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25312" y="1938528"/>
            <a:ext cx="4736592" cy="459943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33CC"/>
                </a:solidFill>
                <a:latin typeface="Trebuchet MS"/>
              </a:rPr>
              <a:t>Results obtained</a:t>
            </a:r>
          </a:p>
          <a:p>
            <a:pPr algn="l" marL="182880" indent="-182880">
              <a:spcAft>
                <a:spcPts val="1000"/>
              </a:spcAft>
              <a:buFont typeface="Arial"/>
              <a:buChar char="•"/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All three sources captured into one PostgreSQL store</a:t>
            </a:r>
          </a:p>
          <a:p>
            <a:pPr algn="l" marL="182880" indent="-182880">
              <a:spcAft>
                <a:spcPts val="1000"/>
              </a:spcAft>
              <a:buFont typeface="Arial"/>
              <a:buChar char="•"/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Enrichment tracks pending / processed / failed; failed items are retried on demand</a:t>
            </a:r>
          </a:p>
          <a:p>
            <a:pPr algn="l" marL="182880" indent="-182880">
              <a:spcAft>
                <a:spcPts val="1000"/>
              </a:spcAft>
              <a:buFont typeface="Arial"/>
              <a:buChar char="•"/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Multi-turn natural-language questions answered</a:t>
            </a:r>
          </a:p>
          <a:p>
            <a:pPr algn="l" marL="182880" indent="-182880">
              <a:spcAft>
                <a:spcPts val="1000"/>
              </a:spcAft>
              <a:buFont typeface="Arial"/>
              <a:buChar char="•"/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Wellbeing analytics implemented — live-data validation pending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Proposed Approach / 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47088"/>
            <a:ext cx="9747504" cy="4114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Is there a need for changing the approach? </a:t>
            </a:r>
            <a:r>
              <a:rPr sz="1600" b="0" i="0">
                <a:solidFill>
                  <a:srgbClr val="0033CC"/>
                </a:solidFill>
                <a:latin typeface="Trebuchet MS"/>
              </a:rPr>
              <a:t>Yes — three changes since Phase II.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3160" y="2331720"/>
            <a:ext cx="3291840" cy="347472"/>
          </a:xfrm>
          <a:prstGeom prst="rect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Trebuchet MS"/>
              </a:rPr>
              <a:t>Phase II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2331720"/>
            <a:ext cx="4855464" cy="347472"/>
          </a:xfrm>
          <a:prstGeom prst="rect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Trebuchet MS"/>
              </a:rPr>
              <a:t>Phase III approach — and why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752344"/>
            <a:ext cx="1417320" cy="932688"/>
          </a:xfrm>
          <a:prstGeom prst="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33CC"/>
                </a:solidFill>
                <a:latin typeface="Trebuchet MS"/>
              </a:rPr>
              <a:t>Ranking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752344"/>
            <a:ext cx="3291840" cy="932688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47A"/>
                </a:solidFill>
                <a:latin typeface="Trebuchet MS"/>
              </a:rPr>
              <a:t>One weighted sum: 40% semantic + 30% engagement + 20% recency + 10% effort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06440" y="2752344"/>
            <a:ext cx="4855464" cy="932688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Merge keyword and semantic lists by rank (RRF, k = 60), then re-score: 0.8 × cross-encoder + 0.2 × effort.</a:t>
            </a:r>
          </a:p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0033CC"/>
                </a:solidFill>
                <a:latin typeface="Trebuchet MS"/>
              </a:rPr>
              <a:t>Why: the two searches score on different scales, so adding raw scores is unfair.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758183"/>
            <a:ext cx="1417320" cy="566928"/>
          </a:xfrm>
          <a:prstGeom prst="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33CC"/>
                </a:solidFill>
                <a:latin typeface="Trebuchet MS"/>
              </a:rPr>
              <a:t>Recency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23160" y="3758183"/>
            <a:ext cx="3291840" cy="566928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47A"/>
                </a:solidFill>
                <a:latin typeface="Trebuchet MS"/>
              </a:rPr>
              <a:t>20% boost for recent items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3758183"/>
            <a:ext cx="4855464" cy="566928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Dropped on purpose, so older but still-relevant memories are not pushed down.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398264"/>
            <a:ext cx="1417320" cy="566928"/>
          </a:xfrm>
          <a:prstGeom prst="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33CC"/>
                </a:solidFill>
                <a:latin typeface="Trebuchet MS"/>
              </a:rPr>
              <a:t>User groups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4398264"/>
            <a:ext cx="3291840" cy="566928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47A"/>
                </a:solidFill>
                <a:latin typeface="Trebuchet MS"/>
              </a:rPr>
              <a:t>Suggested items auto-accepted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4398264"/>
            <a:ext cx="4855464" cy="566928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Suggestions start as pending; an item joins a group only after the user accepts.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5166359"/>
            <a:ext cx="4759452" cy="1371600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0033CC"/>
                </a:solidFill>
                <a:latin typeface="Trebuchet MS"/>
              </a:rPr>
              <a:t>Benefits</a:t>
            </a:r>
          </a:p>
          <a:p>
            <a:pPr algn="l" marL="182880" indent="-182880">
              <a:spcAft>
                <a:spcPts val="2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Fairer merge of keyword and semantic results</a:t>
            </a:r>
          </a:p>
          <a:p>
            <a:pPr algn="l" marL="182880" indent="-182880">
              <a:spcAft>
                <a:spcPts val="2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Candidates re-scored against the actual question</a:t>
            </a:r>
          </a:p>
          <a:p>
            <a:pPr algn="l" marL="182880" indent="-182880">
              <a:spcAft>
                <a:spcPts val="2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Still exactly 2 LLM calls; user stays in control of groups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2452" y="5166359"/>
            <a:ext cx="4759452" cy="1371600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FF0000"/>
                </a:solidFill>
                <a:latin typeface="Trebuchet MS"/>
              </a:rPr>
              <a:t>Drawbacks</a:t>
            </a:r>
          </a:p>
          <a:p>
            <a:pPr algn="l" marL="182880" indent="-182880">
              <a:spcAft>
                <a:spcPts val="2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Cross-encoder adds CPU time to every query</a:t>
            </a:r>
          </a:p>
          <a:p>
            <a:pPr algn="l" marL="182880" indent="-182880">
              <a:spcAft>
                <a:spcPts val="2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One more local model to download and load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Approach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1847088"/>
            <a:ext cx="9747504" cy="1024128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8755" bIns="98755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033CC"/>
                </a:solidFill>
                <a:latin typeface="Trebuchet MS"/>
              </a:rPr>
              <a:t>Approach: </a:t>
            </a:r>
            <a:r>
              <a:rPr sz="1350" b="0" i="0">
                <a:solidFill>
                  <a:srgbClr val="0033CC"/>
                </a:solidFill>
                <a:latin typeface="Trebuchet MS"/>
              </a:rPr>
              <a:t>a layered, modular monolith — private, intent-aware memory with deterministic retrieval-augmented generation (fixed Python search steps; the LLM only writes the final answer).</a:t>
            </a:r>
          </a:p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33CC"/>
                </a:solidFill>
                <a:latin typeface="Trebuchet MS"/>
              </a:rPr>
              <a:t>Why: </a:t>
            </a:r>
            <a:r>
              <a:rPr sz="1350" b="0" i="0">
                <a:solidFill>
                  <a:srgbClr val="0033CC"/>
                </a:solidFill>
                <a:latin typeface="Trebuchet MS"/>
              </a:rPr>
              <a:t>keeps data on the device, cuts noise, unifies search across sources, makes results explainable, and let four people build modules in parallel.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017520"/>
            <a:ext cx="4759452" cy="2084831"/>
          </a:xfrm>
          <a:prstGeom prst="roundRect">
            <a:avLst>
              <a:gd name="adj" fmla="val 5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0033CC"/>
                </a:solidFill>
                <a:latin typeface="Trebuchet MS"/>
              </a:rPr>
              <a:t>Benefits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Privacy-preserving: </a:t>
            </a:r>
            <a:r>
              <a:rPr sz="1250" b="0" i="0">
                <a:solidFill>
                  <a:srgbClr val="0033CC"/>
                </a:solidFill>
                <a:latin typeface="Trebuchet MS"/>
              </a:rPr>
              <a:t>sensitive data stays on the device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Relevant results: </a:t>
            </a:r>
            <a:r>
              <a:rPr sz="1250" b="0" i="0">
                <a:solidFill>
                  <a:srgbClr val="0033CC"/>
                </a:solidFill>
                <a:latin typeface="Trebuchet MS"/>
              </a:rPr>
              <a:t>meaning-based search plus engagement signals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Explainable: </a:t>
            </a:r>
            <a:r>
              <a:rPr sz="1250" b="0" i="0">
                <a:solidFill>
                  <a:srgbClr val="0033CC"/>
                </a:solidFill>
                <a:latin typeface="Trebuchet MS"/>
              </a:rPr>
              <a:t>deterministic ranking, every step visible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Modular: </a:t>
            </a:r>
            <a:r>
              <a:rPr sz="1250" b="0" i="0">
                <a:solidFill>
                  <a:srgbClr val="0033CC"/>
                </a:solidFill>
                <a:latin typeface="Trebuchet MS"/>
              </a:rPr>
              <a:t>independent modules, easy to maintain and extend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Low-latency design: </a:t>
            </a:r>
            <a:r>
              <a:rPr sz="1250" b="0" i="0">
                <a:solidFill>
                  <a:srgbClr val="0033CC"/>
                </a:solidFill>
                <a:latin typeface="Trebuchet MS"/>
              </a:rPr>
              <a:t>in-memory vector index and caching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02452" y="3017520"/>
            <a:ext cx="4759452" cy="2084831"/>
          </a:xfrm>
          <a:prstGeom prst="roundRect">
            <a:avLst>
              <a:gd name="adj" fmla="val 5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FF0000"/>
                </a:solidFill>
                <a:latin typeface="Trebuchet MS"/>
              </a:rPr>
              <a:t>Drawbacks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Tight coupling within the monolith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Limited horizontal scalability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Deterministic pipeline limits autonomy</a:t>
            </a:r>
          </a:p>
          <a:p>
            <a:pPr algn="l" marL="182880" indent="-182880">
              <a:spcAft>
                <a:spcPts val="100"/>
              </a:spcAft>
              <a:buFont typeface="Arial"/>
              <a:buChar char="•"/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Desktop dependency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9747504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33CC"/>
                </a:solidFill>
                <a:latin typeface="Trebuchet MS"/>
              </a:rPr>
              <a:t>Alternate design approaches considered and rejected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522976"/>
            <a:ext cx="2313432" cy="1014984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5836" bIns="6583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Cloud-centric logging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033CC"/>
                </a:solidFill>
                <a:latin typeface="Trebuchet MS"/>
              </a:rPr>
              <a:t>Easier sync — rejected for privacy risk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5522976"/>
            <a:ext cx="2313432" cy="1014984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5836" bIns="6583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Keyword-only search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033CC"/>
                </a:solidFill>
                <a:latin typeface="Trebuchet MS"/>
              </a:rPr>
              <a:t>Simple — rejected for poor semantic understanding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0448" y="5522976"/>
            <a:ext cx="2313432" cy="1014984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5836" bIns="6583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Agentic LLM retrieval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033CC"/>
                </a:solidFill>
                <a:latin typeface="Trebuchet MS"/>
              </a:rPr>
              <a:t>Flexible — rejected as unpredictable, not explainable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8472" y="5522976"/>
            <a:ext cx="2313432" cy="1014984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5836" bIns="6583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Capture everything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033CC"/>
                </a:solidFill>
                <a:latin typeface="Trebuchet MS"/>
              </a:rPr>
              <a:t>Maximum recall — rejected for noise and privacy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Constraints, Assumptions &amp; Dependencies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1847088"/>
            <a:ext cx="3127248" cy="469087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Design constraints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Local-first; no permanent cloud copy of personal data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No capture of typed text, incognito tabs or app pages (Slack, Notion)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Exactly 2 LLM calls per query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LLM sees only the question, prior turns, short snippets and aggregated numbers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16-table schema is locked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Wellbeing language stays descriptive — no scores, no "wasted time"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No item joins a user group without the user's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1847088"/>
            <a:ext cx="3127248" cy="469087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Assumptions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A single user on desktop Chrome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Gmail, Chrome and YouTube cover most relevant activity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Engagement (time, scroll, revisits) approximates effort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0033CC"/>
                </a:solidFill>
                <a:latin typeface="Trebuchet MS"/>
              </a:rPr>
              <a:t>Google APIs stay available and stable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34656" y="1847088"/>
            <a:ext cx="3127248" cy="469087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Dependencies → impact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Gmail API, YouTube Data API v3: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capture stops if an API or its OAuth token fails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Chrome MV3 extension APIs: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Chrome and YouTube capture rely on them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PostgreSQL, Redis, FAISS: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storage layers; FAISS can be rebuilt from PostgreSQL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Local models (MiniLM, cross-encoder):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one-time download on first run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OpenAI gpt-4.1-mini (swappable):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paid API, a small cost per query; switching provider is one config change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Description – Master Class Diagram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64" y="1847088"/>
            <a:ext cx="6532166" cy="4306824"/>
          </a:xfrm>
          <a:prstGeom prst="rect">
            <a:avLst/>
          </a:prstGeom>
          <a:ln w="9525">
            <a:solidFill>
              <a:srgbClr val="8FA3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31520" y="6208776"/>
            <a:ext cx="10728655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A647A"/>
                </a:solidFill>
                <a:latin typeface="Trebuchet MS"/>
              </a:rPr>
              <a:t>Master class diagram (from Phase II design)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Description – Use Case Diagram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317" y="1847088"/>
            <a:ext cx="8127059" cy="4306824"/>
          </a:xfrm>
          <a:prstGeom prst="rect">
            <a:avLst/>
          </a:prstGeom>
          <a:ln w="9525">
            <a:solidFill>
              <a:srgbClr val="8FA3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31520" y="6208776"/>
            <a:ext cx="10728655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A647A"/>
                </a:solidFill>
                <a:latin typeface="Trebuchet MS"/>
              </a:rPr>
              <a:t>Use case diagram (from Phase II design)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Description – Sequence Diagram (1/3)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299" y="1847088"/>
            <a:ext cx="10635096" cy="4306824"/>
          </a:xfrm>
          <a:prstGeom prst="rect">
            <a:avLst/>
          </a:prstGeom>
          <a:ln w="9525">
            <a:solidFill>
              <a:srgbClr val="8FA3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31520" y="6208776"/>
            <a:ext cx="10728655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A647A"/>
                </a:solidFill>
                <a:latin typeface="Trebuchet MS"/>
              </a:rPr>
              <a:t>Capture and enrichment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Description – Sequence Diagram (2/3)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268" y="1847088"/>
            <a:ext cx="7191159" cy="4306824"/>
          </a:xfrm>
          <a:prstGeom prst="rect">
            <a:avLst/>
          </a:prstGeom>
          <a:ln w="9525">
            <a:solidFill>
              <a:srgbClr val="8FA3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31520" y="6208776"/>
            <a:ext cx="10728655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A647A"/>
                </a:solidFill>
                <a:latin typeface="Trebuchet MS"/>
              </a:rPr>
              <a:t>Recall — exactly 2 LLM calls per query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Description – Sequence Diagram (3/3)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0491"/>
            <a:ext cx="10728655" cy="3800017"/>
          </a:xfrm>
          <a:prstGeom prst="rect">
            <a:avLst/>
          </a:prstGeom>
          <a:ln w="9525">
            <a:solidFill>
              <a:srgbClr val="8FA3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31520" y="6208776"/>
            <a:ext cx="10728655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5A647A"/>
                </a:solidFill>
                <a:latin typeface="Trebuchet MS"/>
              </a:rPr>
              <a:t>Wellbeing — descriptive analytics, human-in-the-loop groups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Design Description – Packaging &amp; Deployment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14600"/>
            <a:ext cx="2148840" cy="2743200"/>
          </a:xfrm>
          <a:prstGeom prst="roundRect">
            <a:avLst>
              <a:gd name="adj" fmla="val 3000"/>
            </a:avLst>
          </a:prstGeom>
          <a:solidFill>
            <a:srgbClr val="F5F7FD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542032"/>
            <a:ext cx="2002536" cy="27432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0204A"/>
                </a:solidFill>
                <a:latin typeface="Trebuchet MS"/>
              </a:rPr>
              <a:t>Chrome browser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880360"/>
            <a:ext cx="1874519" cy="96012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extension/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Manifest V3 · intent gate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069080"/>
            <a:ext cx="1874519" cy="96012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frontend/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React + TypeScript · port 3000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1828800"/>
            <a:ext cx="4754880" cy="4709160"/>
          </a:xfrm>
          <a:prstGeom prst="roundRect">
            <a:avLst>
              <a:gd name="adj" fmla="val 3000"/>
            </a:avLst>
          </a:prstGeom>
          <a:solidFill>
            <a:srgbClr val="F5F7FD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9272" y="1856231"/>
            <a:ext cx="4608576" cy="27432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0204A"/>
                </a:solidFill>
                <a:latin typeface="Trebuchet MS"/>
              </a:rPr>
              <a:t>User's laptop — local-first runtime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2176272"/>
            <a:ext cx="4480560" cy="2651760"/>
          </a:xfrm>
          <a:prstGeom prst="roundRect">
            <a:avLst>
              <a:gd name="adj" fmla="val 3000"/>
            </a:avLst>
          </a:prstGeom>
          <a:solidFill>
            <a:srgbClr val="F5F7FD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56432" y="2203703"/>
            <a:ext cx="4334256" cy="27432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0204A"/>
                </a:solidFill>
                <a:latin typeface="Trebuchet MS"/>
              </a:rPr>
              <a:t>uvicorn process — FastAPI :8000 request handlers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2514600"/>
            <a:ext cx="4206240" cy="45720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backend/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API gateway · routes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3063240"/>
            <a:ext cx="2057400" cy="77724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ingestion/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Gmail · Chrome · YouTube connectors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3063240"/>
            <a:ext cx="2057400" cy="77724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ste/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storage engine · Redis · settings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3931920"/>
            <a:ext cx="2057400" cy="77724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rse/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LangGraph retrieval · cross-encoder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931920"/>
            <a:ext cx="2057400" cy="77724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wba/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time · sessions · groups · regret · insights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983480"/>
            <a:ext cx="2148840" cy="1417320"/>
          </a:xfrm>
          <a:prstGeom prst="roundRect">
            <a:avLst>
              <a:gd name="adj" fmla="val 3000"/>
            </a:avLst>
          </a:prstGeom>
          <a:solidFill>
            <a:srgbClr val="F5F7FD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6432" y="5010912"/>
            <a:ext cx="2002536" cy="27432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0204A"/>
                </a:solidFill>
                <a:latin typeface="Trebuchet MS"/>
              </a:rPr>
              <a:t>Background thread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20440" y="5330952"/>
            <a:ext cx="1874519" cy="932688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«package» enp/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ENP worker: clean · embed · classify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0" y="4983480"/>
            <a:ext cx="2148840" cy="1417320"/>
          </a:xfrm>
          <a:prstGeom prst="roundRect">
            <a:avLst>
              <a:gd name="adj" fmla="val 3000"/>
            </a:avLst>
          </a:prstGeom>
          <a:solidFill>
            <a:srgbClr val="F5F7FD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88152" y="5010912"/>
            <a:ext cx="2002536" cy="27432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0204A"/>
                </a:solidFill>
                <a:latin typeface="Trebuchet MS"/>
              </a:rPr>
              <a:t>Local files</a:t>
            </a:r>
          </a:p>
        </p:txBody>
      </p:sp>
      <p:sp>
        <p:nvSpPr>
          <p:cNvPr id="33" name="Can 32"/>
          <p:cNvSpPr/>
          <p:nvPr/>
        </p:nvSpPr>
        <p:spPr>
          <a:xfrm>
            <a:off x="5833872" y="5303520"/>
            <a:ext cx="1920240" cy="502920"/>
          </a:xfrm>
          <a:prstGeom prst="can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FAISS index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384-d vectors</a:t>
            </a:r>
          </a:p>
        </p:txBody>
      </p:sp>
      <p:sp>
        <p:nvSpPr>
          <p:cNvPr id="34" name="Can 33"/>
          <p:cNvSpPr/>
          <p:nvPr/>
        </p:nvSpPr>
        <p:spPr>
          <a:xfrm>
            <a:off x="5833872" y="5852160"/>
            <a:ext cx="1920240" cy="502920"/>
          </a:xfrm>
          <a:prstGeom prst="can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Local models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MiniLM · cross-encoder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1828800"/>
            <a:ext cx="3154680" cy="2423160"/>
          </a:xfrm>
          <a:prstGeom prst="roundRect">
            <a:avLst>
              <a:gd name="adj" fmla="val 3000"/>
            </a:avLst>
          </a:prstGeom>
          <a:solidFill>
            <a:srgbClr val="F5F7FD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77072" y="1856231"/>
            <a:ext cx="3008376" cy="27432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0204A"/>
                </a:solidFill>
                <a:latin typeface="Trebuchet MS"/>
              </a:rPr>
              <a:t>Data stores</a:t>
            </a:r>
          </a:p>
        </p:txBody>
      </p:sp>
      <p:sp>
        <p:nvSpPr>
          <p:cNvPr id="37" name="Can 36"/>
          <p:cNvSpPr/>
          <p:nvPr/>
        </p:nvSpPr>
        <p:spPr>
          <a:xfrm>
            <a:off x="8641080" y="2176272"/>
            <a:ext cx="2880360" cy="1051560"/>
          </a:xfrm>
          <a:prstGeom prst="can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PostgreSQL 16 · 16 tables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source of truth (Neon during development)</a:t>
            </a:r>
          </a:p>
        </p:txBody>
      </p:sp>
      <p:sp>
        <p:nvSpPr>
          <p:cNvPr id="38" name="Can 37"/>
          <p:cNvSpPr/>
          <p:nvPr/>
        </p:nvSpPr>
        <p:spPr>
          <a:xfrm>
            <a:off x="8641080" y="3319272"/>
            <a:ext cx="2880360" cy="822960"/>
          </a:xfrm>
          <a:prstGeom prst="can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Redis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revisit · cache · settings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0" y="4434840"/>
            <a:ext cx="3154680" cy="2103120"/>
          </a:xfrm>
          <a:prstGeom prst="roundRect">
            <a:avLst>
              <a:gd name="adj" fmla="val 3000"/>
            </a:avLst>
          </a:prstGeom>
          <a:solidFill>
            <a:srgbClr val="F5F7FD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77072" y="4462272"/>
            <a:ext cx="3008376" cy="27432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0204A"/>
                </a:solidFill>
                <a:latin typeface="Trebuchet MS"/>
              </a:rPr>
              <a:t>External APIs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41080" y="4773168"/>
            <a:ext cx="2880360" cy="45720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Gmail API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OAuth 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41080" y="5321808"/>
            <a:ext cx="2880360" cy="45720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YouTube Data API v3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video metadata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41080" y="5870448"/>
            <a:ext cx="2880360" cy="548640"/>
          </a:xfrm>
          <a:prstGeom prst="rect">
            <a:avLst/>
          </a:prstGeom>
          <a:solidFill>
            <a:srgbClr val="EAF0FF"/>
          </a:solidFill>
          <a:ln w="12700">
            <a:solidFill>
              <a:srgbClr val="003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10204A"/>
                </a:solidFill>
                <a:latin typeface="Trebuchet MS"/>
              </a:rPr>
              <a:t>OpenAI gpt-4.1-mini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0204A"/>
                </a:solidFill>
                <a:latin typeface="Trebuchet MS"/>
              </a:rPr>
              <a:t>2 calls per query · swappable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697480" y="3657600"/>
            <a:ext cx="685800" cy="0"/>
          </a:xfrm>
          <a:prstGeom prst="line">
            <a:avLst/>
          </a:prstGeom>
          <a:ln w="19050">
            <a:solidFill>
              <a:srgbClr val="1020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1760" y="3703320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A647A"/>
                </a:solidFill>
                <a:latin typeface="Trebuchet MS"/>
              </a:rPr>
              <a:t>HTTP JSON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001000" y="3017520"/>
            <a:ext cx="502920" cy="0"/>
          </a:xfrm>
          <a:prstGeom prst="line">
            <a:avLst/>
          </a:prstGeom>
          <a:ln w="19050">
            <a:solidFill>
              <a:srgbClr val="1020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001000" y="5486400"/>
            <a:ext cx="502920" cy="0"/>
          </a:xfrm>
          <a:prstGeom prst="line">
            <a:avLst/>
          </a:prstGeom>
          <a:ln w="19050">
            <a:solidFill>
              <a:srgbClr val="1020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766560" y="4828032"/>
            <a:ext cx="0" cy="155448"/>
          </a:xfrm>
          <a:prstGeom prst="line">
            <a:avLst/>
          </a:prstGeom>
          <a:ln w="19050">
            <a:solidFill>
              <a:srgbClr val="1020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394960" y="5797296"/>
            <a:ext cx="320040" cy="0"/>
          </a:xfrm>
          <a:prstGeom prst="line">
            <a:avLst/>
          </a:prstGeom>
          <a:ln w="19050">
            <a:solidFill>
              <a:srgbClr val="10204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Algorithm &amp; Pseudocode – Retrieval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847088"/>
            <a:ext cx="6903720" cy="4690872"/>
          </a:xfrm>
          <a:prstGeom prst="roundRect">
            <a:avLst>
              <a:gd name="adj" fmla="val 3000"/>
            </a:avLst>
          </a:prstGeom>
          <a:solidFill>
            <a:srgbClr val="F3F5FA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function answer(question, history):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intent = LLM.parse_intent(question, history)   # LLM call 1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intent = resolve_time_anchor(intent)  # 'after that email' → date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attempts = 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loop: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in parallel: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  kw  = postgres_fulltext_search(intent)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  sem = faiss_search(embed(intent.query))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pool = RRF(kw, sem)       # score = Σ 1 / (60 + rank)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quality = evaluate(pool)  # 5 checks → strong/weak/empty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if quality == strong: break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if attempts == 3: return no_results_found()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  intent = widen_scope(intent); attempts += 1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top = rerank(pool)   # 0.8·cross-encoder + 0.2·effort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top = add_neighbours(top)    # same thread / session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ctx = fetch_attachment_or_live_gmail(top)  # if asked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04A"/>
                </a:solidFill>
                <a:latin typeface="Consolas"/>
              </a:rPr>
              <a:t>  return LLM.synthesize(question, top, ctx)  # LLM call 2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914" y="1847088"/>
            <a:ext cx="3159731" cy="4370832"/>
          </a:xfrm>
          <a:prstGeom prst="rect">
            <a:avLst/>
          </a:prstGeom>
          <a:ln w="9525">
            <a:solidFill>
              <a:srgbClr val="8FA3D9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863840" y="6245352"/>
            <a:ext cx="3611880" cy="292608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1">
                <a:solidFill>
                  <a:srgbClr val="5A647A"/>
                </a:solidFill>
                <a:latin typeface="Trebuchet MS"/>
              </a:rPr>
              <a:t>Live LangGraph: 14 nodes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Algorithm &amp; Pseudocode – Wellbeing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847088"/>
            <a:ext cx="10113264" cy="3886200"/>
          </a:xfrm>
          <a:prstGeom prst="roundRect">
            <a:avLst>
              <a:gd name="adj" fmla="val 3000"/>
            </a:avLst>
          </a:prstGeom>
          <a:solidFill>
            <a:srgbClr val="F3F5FA"/>
          </a:solidFill>
          <a:ln w="12700">
            <a:solidFill>
              <a:srgbClr val="8FA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64592" bIns="164592"/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# User-group suggestions — hybrid rules + KNN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for each recent item, for each active group: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  if group has &lt; 6 confirmed items: skip     # not enough examples yet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  rule  = rules matched / total rules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  knn   = mean cosine similarity of the 3 most similar confirmed members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  score = 0.5·rule + 0.5·knn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  if score &gt; 0.70 or rule &gt; 0: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    add suggestion with decision = 'pending'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# weekly review:  accept → item joins the group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0204A"/>
                </a:solidFill>
                <a:latin typeface="Consolas"/>
              </a:rPr>
              <a:t>#                 reject → item is never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888736"/>
            <a:ext cx="10113264" cy="649224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8755" bIns="98755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Human-in-the-loop by design: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an item enters a user group only through an explicit user action — adding it by hand, or accepting a suggestion in the review queue.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Project Progress So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92807"/>
            <a:ext cx="3200400" cy="1143000"/>
          </a:xfrm>
          <a:prstGeom prst="rect">
            <a:avLst/>
          </a:prstGeom>
          <a:noFill/>
        </p:spPr>
        <p:txBody>
          <a:bodyPr wrap="square" anchor="ctr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6600" b="1" i="0">
                <a:solidFill>
                  <a:srgbClr val="0033CC"/>
                </a:solidFill>
                <a:latin typeface="Trebuchet MS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035808"/>
            <a:ext cx="3200400" cy="36576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10204A"/>
                </a:solidFill>
                <a:latin typeface="Trebuchet MS"/>
              </a:rPr>
              <a:t>of E.C.H.O. 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584448"/>
            <a:ext cx="2560320" cy="384048"/>
          </a:xfrm>
          <a:prstGeom prst="rect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3584448"/>
            <a:ext cx="320040" cy="384048"/>
          </a:xfrm>
          <a:prstGeom prst="rect">
            <a:avLst/>
          </a:prstGeom>
          <a:solidFill>
            <a:srgbClr val="6F8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94760" y="3584448"/>
            <a:ext cx="320040" cy="384048"/>
          </a:xfrm>
          <a:prstGeom prst="rect">
            <a:avLst/>
          </a:prstGeom>
          <a:solidFill>
            <a:srgbClr val="B9C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" y="4197096"/>
            <a:ext cx="201168" cy="201168"/>
          </a:xfrm>
          <a:prstGeom prst="rect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4133087"/>
            <a:ext cx="2816352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0204A"/>
                </a:solidFill>
                <a:latin typeface="Trebuchet MS"/>
              </a:rPr>
              <a:t>Done — 80%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4544568"/>
            <a:ext cx="201168" cy="201168"/>
          </a:xfrm>
          <a:prstGeom prst="rect">
            <a:avLst/>
          </a:prstGeom>
          <a:solidFill>
            <a:srgbClr val="6F8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4480559"/>
            <a:ext cx="2816352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0204A"/>
                </a:solidFill>
                <a:latin typeface="Trebuchet MS"/>
              </a:rPr>
              <a:t>UI — 10%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92040"/>
            <a:ext cx="201168" cy="201168"/>
          </a:xfrm>
          <a:prstGeom prst="rect">
            <a:avLst/>
          </a:prstGeom>
          <a:solidFill>
            <a:srgbClr val="B9C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828031"/>
            <a:ext cx="2816352" cy="329184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0204A"/>
                </a:solidFill>
                <a:latin typeface="Trebuchet MS"/>
              </a:rPr>
              <a:t>Cleanup &amp; hardening — 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577840"/>
            <a:ext cx="3200400" cy="96012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33CC"/>
                </a:solidFill>
                <a:latin typeface="Trebuchet MS"/>
              </a:rPr>
              <a:t>Wellbeing module implemented; validation on live data is pending (scheduled in October).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1847088"/>
            <a:ext cx="6227064" cy="89611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0033CC"/>
                </a:solidFill>
                <a:latin typeface="Trebuchet MS"/>
              </a:rPr>
              <a:t>Done — shown at Review 1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033CC"/>
                </a:solidFill>
                <a:latin typeface="Trebuchet MS"/>
              </a:rPr>
              <a:t>Capture (Gmail, Chrome, YouTube) · Storage engine · Enrichment · 14-node hybrid retrieval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34840" y="2852928"/>
            <a:ext cx="6227064" cy="2487168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33CC"/>
                </a:solidFill>
                <a:latin typeface="Trebuchet MS"/>
              </a:rPr>
              <a:t>New since Review 1 — Wellbeing module (WBA)</a:t>
            </a:r>
          </a:p>
          <a:p>
            <a:pPr algn="l" marL="182880" indent="-182880"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Regret marking, patterns by hour and category, gentle reminders (max 2 a day)</a:t>
            </a:r>
          </a:p>
          <a:p>
            <a:pPr algn="l" marL="182880" indent="-182880"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User groups: rules + KNN suggestions, weekly review queue, suggested rules</a:t>
            </a:r>
          </a:p>
          <a:p>
            <a:pPr algn="l" marL="182880" indent="-182880"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Wellbeing API routes for the dashboard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5458968"/>
            <a:ext cx="6227064" cy="1078992"/>
          </a:xfrm>
          <a:prstGeom prst="roundRect">
            <a:avLst>
              <a:gd name="adj" fmla="val 5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6809" bIns="76809"/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FF0000"/>
                </a:solidFill>
                <a:latin typeface="Trebuchet MS"/>
              </a:rPr>
              <a:t>Remaining — 20%</a:t>
            </a:r>
          </a:p>
          <a:p>
            <a:pPr algn="l" marL="182880" indent="-182880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UI (10%): </a:t>
            </a:r>
            <a:r>
              <a:rPr sz="1250" b="0" i="0">
                <a:solidFill>
                  <a:srgbClr val="0033CC"/>
                </a:solidFill>
                <a:latin typeface="Trebuchet MS"/>
              </a:rPr>
              <a:t>finish the dashboard screens and the extension popup</a:t>
            </a:r>
          </a:p>
          <a:p>
            <a:pPr algn="l" marL="182880" indent="-182880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33CC"/>
                </a:solidFill>
                <a:latin typeface="Trebuchet MS"/>
              </a:rPr>
              <a:t>Cleanup (10%): </a:t>
            </a:r>
            <a:r>
              <a:rPr sz="1250" b="0" i="0">
                <a:solidFill>
                  <a:srgbClr val="0033CC"/>
                </a:solidFill>
                <a:latin typeface="Trebuchet MS"/>
              </a:rPr>
              <a:t>fix breaking paths, add logging, clean code, remove dead code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Project Demonstration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47088"/>
            <a:ext cx="9747504" cy="68580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033CC"/>
                </a:solidFill>
                <a:latin typeface="Trebuchet MS"/>
              </a:rPr>
              <a:t>Demo plan — </a:t>
            </a:r>
            <a:r>
              <a:rPr sz="1400" b="0" i="0">
                <a:solidFill>
                  <a:srgbClr val="0033CC"/>
                </a:solidFill>
                <a:latin typeface="Trebuchet MS"/>
              </a:rPr>
              <a:t>each part is shown on its own, in the order data flows through the system. There is no static dataset: data is created live by the user's own activity.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715768"/>
            <a:ext cx="2299716" cy="382219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5074" y="2944368"/>
            <a:ext cx="658368" cy="658368"/>
          </a:xfrm>
          <a:prstGeom prst="ellipse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739896"/>
            <a:ext cx="2080260" cy="4114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Dataset creation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97096"/>
            <a:ext cx="2025396" cy="2221992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 i="0">
                <a:solidFill>
                  <a:srgbClr val="0033CC"/>
                </a:solidFill>
                <a:latin typeface="Trebuchet MS"/>
              </a:rPr>
              <a:t>Open a web page, watch a YouTube video, receive an email.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0204A"/>
                </a:solidFill>
                <a:latin typeface="Trebuchet MS"/>
              </a:rPr>
              <a:t>Each engaged item appears as a new row in PostgreSQL.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32404" y="3273551"/>
            <a:ext cx="146304" cy="0"/>
          </a:xfrm>
          <a:prstGeom prst="line">
            <a:avLst/>
          </a:prstGeom>
          <a:ln w="25400">
            <a:solidFill>
              <a:srgbClr val="0033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6996" y="2715768"/>
            <a:ext cx="2299716" cy="382219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17670" y="2944368"/>
            <a:ext cx="658368" cy="658368"/>
          </a:xfrm>
          <a:prstGeom prst="ellipse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6724" y="3739896"/>
            <a:ext cx="2080260" cy="4114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Enrichment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4156" y="4197096"/>
            <a:ext cx="2025396" cy="2221992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 i="0">
                <a:solidFill>
                  <a:srgbClr val="0033CC"/>
                </a:solidFill>
                <a:latin typeface="Trebuchet MS"/>
              </a:rPr>
              <a:t>The background worker picks up new items.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0204A"/>
                </a:solidFill>
                <a:latin typeface="Trebuchet MS"/>
              </a:rPr>
              <a:t>Show an item move from pending to processed, with its category.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15000" y="3273551"/>
            <a:ext cx="146304" cy="0"/>
          </a:xfrm>
          <a:prstGeom prst="line">
            <a:avLst/>
          </a:prstGeom>
          <a:ln w="25400">
            <a:solidFill>
              <a:srgbClr val="0033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879592" y="2715768"/>
            <a:ext cx="2299716" cy="382219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00266" y="2944368"/>
            <a:ext cx="658368" cy="658368"/>
          </a:xfrm>
          <a:prstGeom prst="ellipse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3739896"/>
            <a:ext cx="2080260" cy="4114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Recall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6752" y="4197096"/>
            <a:ext cx="2025396" cy="2221992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 i="0">
                <a:solidFill>
                  <a:srgbClr val="0033CC"/>
                </a:solidFill>
                <a:latin typeface="Trebuchet MS"/>
              </a:rPr>
              <a:t>Ask a question, then a follow-up that refers to it.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0204A"/>
                </a:solidFill>
                <a:latin typeface="Trebuchet MS"/>
              </a:rPr>
              <a:t>Show the answer — 2 LLM calls.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97596" y="3273551"/>
            <a:ext cx="146304" cy="0"/>
          </a:xfrm>
          <a:prstGeom prst="line">
            <a:avLst/>
          </a:prstGeom>
          <a:ln w="25400">
            <a:solidFill>
              <a:srgbClr val="0033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62188" y="2715768"/>
            <a:ext cx="2299716" cy="3822192"/>
          </a:xfrm>
          <a:prstGeom prst="roundRect">
            <a:avLst>
              <a:gd name="adj" fmla="val 5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82862" y="2944368"/>
            <a:ext cx="658368" cy="658368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1916" y="3739896"/>
            <a:ext cx="2080260" cy="411480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Wellbeing (WBA)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99348" y="4197096"/>
            <a:ext cx="2025396" cy="2221992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 i="0">
                <a:solidFill>
                  <a:srgbClr val="0033CC"/>
                </a:solidFill>
                <a:latin typeface="Trebuchet MS"/>
              </a:rPr>
              <a:t>Today's summary and sessions; mark an item as regretted.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0204A"/>
                </a:solidFill>
                <a:latin typeface="Trebuchet MS"/>
              </a:rPr>
              <a:t>Accept a group suggestion; view a weekly insight.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2188" y="2386584"/>
            <a:ext cx="2299716" cy="292608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0000"/>
                </a:solidFill>
                <a:latin typeface="Trebuchet MS"/>
              </a:rPr>
              <a:t>NEW since Review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Timeline – Update on Pending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47088"/>
            <a:ext cx="9747504" cy="384048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3CC"/>
                </a:solidFill>
                <a:latin typeface="Trebuchet MS"/>
              </a:rPr>
              <a:t>Target: 100% complete in the last week of October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53512" y="2350008"/>
            <a:ext cx="1879092" cy="365760"/>
          </a:xfrm>
          <a:prstGeom prst="rect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October · Week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87468" y="2350008"/>
            <a:ext cx="1879092" cy="365760"/>
          </a:xfrm>
          <a:prstGeom prst="rect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October · Week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21424" y="2350008"/>
            <a:ext cx="1879092" cy="365760"/>
          </a:xfrm>
          <a:prstGeom prst="rect">
            <a:avLst/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October · Week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55380" y="2350008"/>
            <a:ext cx="1879092" cy="36576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Trebuchet MS"/>
              </a:rPr>
              <a:t>October · Week 4 · final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825496"/>
            <a:ext cx="1920240" cy="914400"/>
          </a:xfrm>
          <a:prstGeom prst="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3CC"/>
                </a:solidFill>
                <a:latin typeface="Trebuchet MS"/>
              </a:rPr>
              <a:t>UI completion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033CC"/>
                </a:solidFill>
                <a:latin typeface="Trebuchet MS"/>
              </a:rPr>
              <a:t>10%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2825496"/>
            <a:ext cx="7735824" cy="914400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71800" y="2916936"/>
            <a:ext cx="1842516" cy="731520"/>
          </a:xfrm>
          <a:prstGeom prst="roundRect">
            <a:avLst>
              <a:gd name="adj" fmla="val 12000"/>
            </a:avLst>
          </a:prstGeom>
          <a:solidFill>
            <a:srgbClr val="6F8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Trebuchet MS"/>
              </a:rPr>
              <a:t>Implement wellbeing screens and popup; connect to the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5756" y="2916936"/>
            <a:ext cx="1842516" cy="731520"/>
          </a:xfrm>
          <a:prstGeom prst="roundRect">
            <a:avLst>
              <a:gd name="adj" fmla="val 12000"/>
            </a:avLst>
          </a:prstGeom>
          <a:solidFill>
            <a:srgbClr val="6F8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Trebuchet MS"/>
              </a:rPr>
              <a:t>Citation cards, source-breakdown chart, group-review polish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3831336"/>
            <a:ext cx="1920240" cy="914400"/>
          </a:xfrm>
          <a:prstGeom prst="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3CC"/>
                </a:solidFill>
                <a:latin typeface="Trebuchet MS"/>
              </a:rPr>
              <a:t>Refactor &amp; hardening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033CC"/>
                </a:solidFill>
                <a:latin typeface="Trebuchet MS"/>
              </a:rPr>
              <a:t>10%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3831336"/>
            <a:ext cx="7735824" cy="914400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39712" y="3922776"/>
            <a:ext cx="1842516" cy="731520"/>
          </a:xfrm>
          <a:prstGeom prst="roundRect">
            <a:avLst>
              <a:gd name="adj" fmla="val 12000"/>
            </a:avLst>
          </a:prstGeom>
          <a:solidFill>
            <a:srgbClr val="6F8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Trebuchet MS"/>
              </a:rPr>
              <a:t>Fix breaking paths, add logging, remove dead code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837176"/>
            <a:ext cx="1920240" cy="914400"/>
          </a:xfrm>
          <a:prstGeom prst="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33CC"/>
                </a:solidFill>
                <a:latin typeface="Trebuchet MS"/>
              </a:rPr>
              <a:t>Validation &amp; finish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4837176"/>
            <a:ext cx="7735824" cy="914400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39712" y="4928616"/>
            <a:ext cx="1842516" cy="731520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Trebuchet MS"/>
              </a:rPr>
              <a:t>End-to-end run of all 3 sources; WBA on live 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3668" y="4928616"/>
            <a:ext cx="1842516" cy="731520"/>
          </a:xfrm>
          <a:prstGeom prst="roundRect">
            <a:avLst>
              <a:gd name="adj" fmla="val 12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Trebuchet MS"/>
              </a:rPr>
              <a:t>Final testing, retrieval quality check, privacy check, documentation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5888736"/>
            <a:ext cx="9747504" cy="649223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033CC"/>
                </a:solidFill>
                <a:latin typeface="Trebuchet MS"/>
              </a:rPr>
              <a:t>Carried forward from Review 1: </a:t>
            </a:r>
            <a:r>
              <a:rPr sz="1200" b="0" i="0">
                <a:solidFill>
                  <a:srgbClr val="0033CC"/>
                </a:solidFill>
                <a:latin typeface="Trebuchet MS"/>
              </a:rPr>
              <a:t>wellbeing validation, dashboard refinements, end-to-end validation, retrieval quality measurement, privacy audit and documentation — all covered above.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Conclusion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1984248"/>
            <a:ext cx="868680" cy="1188720"/>
          </a:xfrm>
          <a:prstGeom prst="roundRect">
            <a:avLst>
              <a:gd name="adj" fmla="val 10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1984248"/>
            <a:ext cx="8741664" cy="118872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33CC"/>
                </a:solidFill>
                <a:latin typeface="Trebuchet MS"/>
              </a:rPr>
              <a:t>80% complete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Capture, storage, enrichment, hybrid retrieval and — new since Review 1 — the Wellbeing module are implemented.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355848"/>
            <a:ext cx="868680" cy="1188720"/>
          </a:xfrm>
          <a:prstGeom prst="roundRect">
            <a:avLst>
              <a:gd name="adj" fmla="val 10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3355848"/>
            <a:ext cx="8741664" cy="118872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33CC"/>
                </a:solidFill>
                <a:latin typeface="Trebuchet MS"/>
              </a:rPr>
              <a:t>Two deliberate design changes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Rank-based fusion with cross-encoder re-ranking, and user approval before any item joins a group.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727448"/>
            <a:ext cx="868680" cy="1188720"/>
          </a:xfrm>
          <a:prstGeom prst="roundRect">
            <a:avLst>
              <a:gd name="adj" fmla="val 10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727448"/>
            <a:ext cx="8741664" cy="118872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33CC"/>
                </a:solidFill>
                <a:latin typeface="Trebuchet MS"/>
              </a:rPr>
              <a:t>Remaining 20%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33CC"/>
                </a:solidFill>
                <a:latin typeface="Trebuchet MS"/>
              </a:rPr>
              <a:t>UI completion and code hardening, finishing in the last week of October.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144768"/>
            <a:ext cx="9747504" cy="393192"/>
          </a:xfrm>
          <a:prstGeom prst="rect">
            <a:avLst/>
          </a:prstGeom>
          <a:noFill/>
        </p:spPr>
        <p:txBody>
          <a:bodyPr wrap="square" anchor="ctr" lIns="73152" rIns="73152" tIns="43891" bIns="43891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1">
                <a:solidFill>
                  <a:srgbClr val="0033CC"/>
                </a:solidFill>
                <a:latin typeface="Trebuchet MS"/>
              </a:rPr>
              <a:t>E.C.H.O. stays local-first and private: the LLM only ever sees the question, short snippets and aggregated numbers.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048000" y="1581155"/>
            <a:ext cx="7620000" cy="36513"/>
          </a:xfrm>
          <a:prstGeom prst="rect">
            <a:avLst/>
          </a:prstGeom>
          <a:solidFill>
            <a:srgbClr val="33CC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34"/>
          <p:cNvSpPr txBox="1">
            <a:spLocks noChangeArrowheads="1"/>
          </p:cNvSpPr>
          <p:nvPr/>
        </p:nvSpPr>
        <p:spPr bwMode="auto">
          <a:xfrm>
            <a:off x="2011680" y="1143002"/>
            <a:ext cx="86502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891" indent="-342891" algn="r" eaLnBrk="0" hangingPunct="0">
              <a:defRPr/>
            </a:pPr>
            <a:r>
              <a:rPr lang="en-US" sz="2400" dirty="0">
                <a:solidFill>
                  <a:srgbClr val="FF0000"/>
                </a:solidFill>
                <a:latin typeface="Trebuchet MS" pitchFamily="34" charset="0"/>
              </a:rPr>
              <a:t>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847088"/>
            <a:ext cx="9747504" cy="4690872"/>
          </a:xfrm>
          <a:prstGeom prst="rect">
            <a:avLst/>
          </a:prstGeom>
          <a:noFill/>
        </p:spPr>
        <p:txBody>
          <a:bodyPr wrap="square" anchor="t" lIns="73152" rIns="73152" tIns="43891" bIns="43891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0033CC"/>
                </a:solidFill>
                <a:latin typeface="Trebuchet MS"/>
              </a:rPr>
              <a:t>REFERENCES (IEEE Format):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[1] N. Reimers and I. Gurevych, "Sentence-BERT: Sentence embeddings using Siamese BERT-networks," in Proceedings of the 2019 Conference on Empirical Methods in Natural Language Processing, 2019.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[2] J. Johnson, M. Douze, and H. Jégou, "Billion-scale similarity search with GPUs," IEEE Transactions on Big Data, vol. 7, no. 3, pp. 535–547, 2021.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[3] LangChain and LangGraph Documentation, "Building language model applications with composable components," https://python.langchain.com, 2024.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033CC"/>
                </a:solidFill>
                <a:latin typeface="Trebuchet MS"/>
              </a:rPr>
              <a:t>[4] M. Kleppmann, A. Wiggins, P. van Hardenberg, and M. McGranaghan, "Local-first software: You own your data, in spite of the cloud," in Proceedings of the 2019 ACM SIGPLAN International Symposium on New Ideas, New Paradigms, and Reflections on Programming and Software, 2019.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apstone Project - Review 3 - Template.pptx" id="{77E64785-C4AC-D447-9F20-AA3556BA4DEA}" vid="{211B08FD-A304-1146-A3C3-5229E601B3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Capstone Project - Review 3 - Template (1)</Template>
  <TotalTime>468</TotalTime>
  <Words>517</Words>
  <Application>Microsoft Office PowerPoint</Application>
  <PresentationFormat>Widescreen</PresentationFormat>
  <Paragraphs>122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Trebuchet MS</vt:lpstr>
      <vt:lpstr>Wingdings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gulshan vaswani</cp:lastModifiedBy>
  <cp:revision>1</cp:revision>
  <dcterms:created xsi:type="dcterms:W3CDTF">2020-11-22T08:14:37Z</dcterms:created>
  <dcterms:modified xsi:type="dcterms:W3CDTF">2026-09-27T18:45:30Z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NewReviewCycle">
    <vt:lpwstr/>
  </property>
</Properties>
</file>