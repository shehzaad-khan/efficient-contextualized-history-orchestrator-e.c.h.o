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8"/>
  </p:notesMasterIdLst>
  <p:handoutMasterIdLst>
    <p:handoutMasterId r:id="rId29"/>
  </p:handoutMasterIdLst>
  <p:sldIdLst>
    <p:sldId id="605" r:id="rId2"/>
    <p:sldId id="582" r:id="rId3"/>
    <p:sldId id="535" r:id="rId4"/>
    <p:sldId id="583" r:id="rId5"/>
    <p:sldId id="584" r:id="rId6"/>
    <p:sldId id="585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596" r:id="rId18"/>
    <p:sldId id="597" r:id="rId19"/>
    <p:sldId id="598" r:id="rId20"/>
    <p:sldId id="599" r:id="rId21"/>
    <p:sldId id="600" r:id="rId22"/>
    <p:sldId id="601" r:id="rId23"/>
    <p:sldId id="602" r:id="rId24"/>
    <p:sldId id="603" r:id="rId25"/>
    <p:sldId id="604" r:id="rId26"/>
    <p:sldId id="549" r:id="rId27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98" d="100"/>
          <a:sy n="98" d="100"/>
        </p:scale>
        <p:origin x="10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5ECE-BFD8-E061-AF1D-425C6ABC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AFB49-B8F0-F90E-2DD6-4C4B33E34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691D1-15EF-559E-18FC-701F897FD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F9367-1D7F-8711-9830-AE9A485BE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9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3728FDCA-2BCC-C6D2-944C-DE172626A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0344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A90A4-5CE5-477F-A345-19703086C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46381-4D59-36DF-2085-FFFCEB72E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14B15-4428-EC57-8176-2694DC22E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3" y="521718"/>
            <a:ext cx="11933954" cy="58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9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914400"/>
            <a:ext cx="792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UE23CS441A – Capstone Project Phase – 3</a:t>
            </a:r>
          </a:p>
          <a:p>
            <a:pPr algn="ctr"/>
            <a:endParaRPr lang="en-US" sz="2800" dirty="0">
              <a:latin typeface="Trebuchet MS" pitchFamily="34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rebuchet MS" pitchFamily="34" charset="0"/>
              </a:rPr>
              <a:t>Project Progress Review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71800"/>
            <a:ext cx="2148840" cy="329184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Project Title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Project ID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Project Guide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2971800"/>
            <a:ext cx="274320" cy="329184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: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: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: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2971800"/>
            <a:ext cx="7680960" cy="329184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E.C.H.O. – Efficient Contextualized History Orchestrator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92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Dr. M. Shalima Sulthana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Mrigank Jain — PES2UG23CS352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Mohammed Mir Fazlai Ali — PES2UG23CS346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Mohammed Shehzaad Khan — PES2UG23CS349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33CC"/>
                </a:solidFill>
                <a:latin typeface="Trebuchet MS"/>
              </a:rPr>
              <a:t>Arjun Sai N — PES2UG23CS091</a:t>
            </a:r>
          </a:p>
        </p:txBody>
      </p:sp>
    </p:spTree>
    <p:extLst>
      <p:ext uri="{BB962C8B-B14F-4D97-AF65-F5344CB8AC3E}">
        <p14:creationId xmlns:p14="http://schemas.microsoft.com/office/powerpoint/2010/main" val="144174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00200" y="16764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Guide Approval Mail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51F351-2E78-05AC-D0F9-9F5995A8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88" y="1960708"/>
            <a:ext cx="9643628" cy="4155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D469-CF42-B051-2E73-9FEE7C9D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2D0409-9E2E-60A9-3EAA-B40554728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205762-3CD2-0386-90EC-021E1A8C2F3F}"/>
              </a:ext>
            </a:extLst>
          </p:cNvPr>
          <p:cNvSpPr txBox="1">
            <a:spLocks/>
          </p:cNvSpPr>
          <p:nvPr/>
        </p:nvSpPr>
        <p:spPr>
          <a:xfrm>
            <a:off x="381000" y="1676400"/>
            <a:ext cx="11506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Project. (1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Review –1 of Phase-3.(1 slide)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and Demonstration post Review-1(Phase-3)(7-8 slides)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Timeline for Pending Tasks.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References.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D9C6B2DA-A2C9-4D7C-D3E2-CBB02FFF1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6081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851331"/>
            <a:ext cx="5669280" cy="10156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3017520"/>
            <a:ext cx="9747504" cy="24688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ABSTRACT: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E.C.H.O. addresses fragmented personal digital history across Gmail, Chrome, and YouTube. Instead of forcing users to remember which application contained a previous interaction, the system creates a unified, searchable memory layer.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The system captures meaningful activity, stores source-aware canonical records, enriches them for semantic search, retrieves context through hybrid deterministic retrieval, and presents results through a React dashboard and Chrome extension popup.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77840"/>
            <a:ext cx="9747504" cy="77724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8755" rIns="164592" bIns="98755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Phase III focus: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system integration, reliable enrichment/indexing, retrieval-quality improvements, digital wellbeing analytics, and UI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 – Project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47088"/>
            <a:ext cx="9747504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The E.C.H.O. system encompasses: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377440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377440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Gmail, Chrome, and YouTube activity 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36976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72768" y="3236976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Canonical memory storage with source-specific metadata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96512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72768" y="4096512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Intent-aware capture and revisit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56048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4956048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Background enrichment, classification, and FAISS semantic indexing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25312" y="2377440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79" y="2377440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Natural-language hybrid retrieval with conversational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5312" y="3236976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79" y="3236976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Digital wellbeing analytics and user-controlled reflections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25312" y="4096512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79" y="4096512"/>
            <a:ext cx="4078224" cy="71323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React dashboard, browser extension popup, settings,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956048"/>
            <a:ext cx="4736592" cy="713232"/>
          </a:xfrm>
          <a:prstGeom prst="rect">
            <a:avLst/>
          </a:prstGeom>
          <a:noFill/>
        </p:spPr>
        <p:txBody>
          <a:bodyPr wrap="square" lIns="73152" tIns="43891" rIns="73152" bIns="43891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0033CC"/>
                </a:solidFill>
                <a:latin typeface="Trebuchet MS"/>
              </a:rPr>
              <a:t>All functionality is designed with privacy-first principles and local-first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47088"/>
            <a:ext cx="9747504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Suggestions and remarks given by the panel members: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377440"/>
            <a:ext cx="9747504" cy="1298448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Data retention timeline:</a:t>
            </a:r>
            <a:r>
              <a:rPr sz="1500" b="0" i="0">
                <a:solidFill>
                  <a:srgbClr val="0033CC"/>
                </a:solidFill>
                <a:latin typeface="Trebuchet MS"/>
              </a:rPr>
              <a:t> keep captured data for a fixed period (6 months or 1 year), then delete it automatically to save storage, as production systems do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0000"/>
                </a:solidFill>
                <a:latin typeface="Trebuchet MS"/>
              </a:rPr>
              <a:t>Response: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Planned as future work — a configurable auto-delete window (6 or 12 months).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03904"/>
            <a:ext cx="9747504" cy="1298448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Spam filtering:</a:t>
            </a:r>
            <a:r>
              <a:rPr sz="1500" b="0" i="0">
                <a:solidFill>
                  <a:srgbClr val="0033CC"/>
                </a:solidFill>
                <a:latin typeface="Trebuchet MS"/>
              </a:rPr>
              <a:t> add a model that filters out spam emails before they are captured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0000"/>
                </a:solidFill>
                <a:latin typeface="Trebuchet MS"/>
              </a:rPr>
              <a:t>Response: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Mail that Gmail already flags as spam is never captured, since the connector reads mail without the Spam folder; a dedicated spam model is planned as future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30368"/>
            <a:ext cx="9747504" cy="1298448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Focused presentation:</a:t>
            </a:r>
            <a:r>
              <a:rPr sz="1500" b="0" i="0">
                <a:solidFill>
                  <a:srgbClr val="0033CC"/>
                </a:solidFill>
                <a:latin typeface="Trebuchet MS"/>
              </a:rPr>
              <a:t> frame the demo to show only what is needed and leave out what isn't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0000"/>
                </a:solidFill>
                <a:latin typeface="Trebuchet MS"/>
              </a:rPr>
              <a:t>Response: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We have kept this review to the point — it shows only what is needed, up to the Digital Wellbeing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Proposed Approach / Methodology – Framework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65446"/>
            <a:ext cx="10728655" cy="3670106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08776"/>
            <a:ext cx="10728655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7A"/>
                </a:solidFill>
                <a:latin typeface="Trebuchet MS"/>
              </a:rPr>
              <a:t>E.C.H.O. layered architecture — capture → storage → enrichment → retrieval &amp; wellbeing →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Proposed Approach / Methodology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938528"/>
            <a:ext cx="4736592" cy="459943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33CC"/>
                </a:solidFill>
                <a:latin typeface="Trebuchet MS"/>
              </a:rPr>
              <a:t>Basic approach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1 </a:t>
            </a:r>
            <a:r>
              <a:rPr sz="1600" b="0" i="0">
                <a:solidFill>
                  <a:srgbClr val="0033CC"/>
                </a:solidFill>
                <a:latin typeface="Trebuchet MS"/>
              </a:rPr>
              <a:t>Capture only engaged activity (intent gates)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2 </a:t>
            </a:r>
            <a:r>
              <a:rPr sz="1600" b="0" i="0">
                <a:solidFill>
                  <a:srgbClr val="0033CC"/>
                </a:solidFill>
                <a:latin typeface="Trebuchet MS"/>
              </a:rPr>
              <a:t>Store atomically in PostgreSQL — the source of truth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3 </a:t>
            </a:r>
            <a:r>
              <a:rPr sz="1600" b="0" i="0">
                <a:solidFill>
                  <a:srgbClr val="0033CC"/>
                </a:solidFill>
                <a:latin typeface="Trebuchet MS"/>
              </a:rPr>
              <a:t>Enrich in the background: clean → embed → classify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4 </a:t>
            </a:r>
            <a:r>
              <a:rPr sz="1600" b="0" i="0">
                <a:solidFill>
                  <a:srgbClr val="0033CC"/>
                </a:solidFill>
                <a:latin typeface="Trebuchet MS"/>
              </a:rPr>
              <a:t>Answer with hybrid search and exactly 2 LLM calls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5 </a:t>
            </a:r>
            <a:r>
              <a:rPr sz="1600" b="0" i="0">
                <a:solidFill>
                  <a:srgbClr val="0033CC"/>
                </a:solidFill>
                <a:latin typeface="Trebuchet MS"/>
              </a:rPr>
              <a:t>Reflect on time use — descriptive, never judgmental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1938528"/>
            <a:ext cx="4736592" cy="459943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33CC"/>
                </a:solidFill>
                <a:latin typeface="Trebuchet MS"/>
              </a:rPr>
              <a:t>Results obtained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All three sources captured into one PostgreSQL store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Enrichment tracks pending / processed / failed; failed items are retried on demand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Multi-turn natural-language questions answered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Wellbeing analytics implemented — live-data validation 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Proposed Approach /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47088"/>
            <a:ext cx="9747504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Is there a need for changing the approach? </a:t>
            </a:r>
            <a:r>
              <a:rPr sz="1600" b="0" i="0">
                <a:solidFill>
                  <a:srgbClr val="0033CC"/>
                </a:solidFill>
                <a:latin typeface="Trebuchet MS"/>
              </a:rPr>
              <a:t>Yes — three changes since Phase II.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331720"/>
            <a:ext cx="3291840" cy="347472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Phase II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331720"/>
            <a:ext cx="4855464" cy="347472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Phase III approach — and why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752344"/>
            <a:ext cx="1417320" cy="932688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33CC"/>
                </a:solidFill>
                <a:latin typeface="Trebuchet MS"/>
              </a:rPr>
              <a:t>Ranking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752344"/>
            <a:ext cx="3291840" cy="932688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7A"/>
                </a:solidFill>
                <a:latin typeface="Trebuchet MS"/>
              </a:rPr>
              <a:t>One weighted sum: 40% semantic + 30% engagement + 20% recency + 10%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752344"/>
            <a:ext cx="4855464" cy="932688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Merge keyword and semantic lists by rank (RRF, k = 60), then re-score: 0.8 × cross-encoder + 0.2 × effort.</a:t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0033CC"/>
                </a:solidFill>
                <a:latin typeface="Trebuchet MS"/>
              </a:rPr>
              <a:t>Why: the two searches score on different scales, so adding raw scores is unfair.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758183"/>
            <a:ext cx="1417320" cy="566928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33CC"/>
                </a:solidFill>
                <a:latin typeface="Trebuchet MS"/>
              </a:rPr>
              <a:t>Recency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758183"/>
            <a:ext cx="3291840" cy="566928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7A"/>
                </a:solidFill>
                <a:latin typeface="Trebuchet MS"/>
              </a:rPr>
              <a:t>20% boost for recent items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3758183"/>
            <a:ext cx="4855464" cy="566928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Dropped on purpose, so older but still-relevant memories are not pushed down.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398264"/>
            <a:ext cx="1417320" cy="566928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33CC"/>
                </a:solidFill>
                <a:latin typeface="Trebuchet MS"/>
              </a:rPr>
              <a:t>User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4398264"/>
            <a:ext cx="3291840" cy="566928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A647A"/>
                </a:solidFill>
                <a:latin typeface="Trebuchet MS"/>
              </a:rPr>
              <a:t>Suggested items auto-accepted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4398264"/>
            <a:ext cx="4855464" cy="566928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Suggestions start as pending; an item joins a group only after the user accepts.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166359"/>
            <a:ext cx="4759452" cy="1371600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033CC"/>
                </a:solidFill>
                <a:latin typeface="Trebuchet MS"/>
              </a:rPr>
              <a:t>Benefits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Fairer merge of keyword and semantic results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Candidates re-scored against the actual question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Still exactly 2 LLM calls; user stays in control of groups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2452" y="5166359"/>
            <a:ext cx="4759452" cy="1371600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F0000"/>
                </a:solidFill>
                <a:latin typeface="Trebuchet MS"/>
              </a:rPr>
              <a:t>Drawbacks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Cross-encoder adds CPU time to every query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One more local model to download and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Approach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847088"/>
            <a:ext cx="9747504" cy="1024128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8755" rIns="164592" bIns="98755" rtlCol="0" anchor="ctr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033CC"/>
                </a:solidFill>
                <a:latin typeface="Trebuchet MS"/>
              </a:rPr>
              <a:t>Approach: </a:t>
            </a:r>
            <a:r>
              <a:rPr sz="1350" b="0" i="0">
                <a:solidFill>
                  <a:srgbClr val="0033CC"/>
                </a:solidFill>
                <a:latin typeface="Trebuchet MS"/>
              </a:rPr>
              <a:t>a layered, modular monolith — private, intent-aware memory with deterministic retrieval-augmented generation (fixed Python search steps; the LLM only writes the final answer).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33CC"/>
                </a:solidFill>
                <a:latin typeface="Trebuchet MS"/>
              </a:rPr>
              <a:t>Why: </a:t>
            </a:r>
            <a:r>
              <a:rPr sz="1350" b="0" i="0">
                <a:solidFill>
                  <a:srgbClr val="0033CC"/>
                </a:solidFill>
                <a:latin typeface="Trebuchet MS"/>
              </a:rPr>
              <a:t>keeps data on the device, cuts noise, unifies search across sources, makes results explainable, and let four people build modules in parallel.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4759452" cy="2084831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033CC"/>
                </a:solidFill>
                <a:latin typeface="Trebuchet MS"/>
              </a:rPr>
              <a:t>Benefits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Privacy-preserving: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sensitive data stays on the device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Relevant results: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meaning-based search plus engagement signals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Explainable: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deterministic ranking, every step visible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Modular: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independent modules, easy to maintain and extend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Low-latency design: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in-memory vector index and caching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02452" y="3017520"/>
            <a:ext cx="4759452" cy="2084831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F0000"/>
                </a:solidFill>
                <a:latin typeface="Trebuchet MS"/>
              </a:rPr>
              <a:t>Drawbacks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Tight coupling within the monolith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Limited horizontal scalability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Deterministic pipeline limits autonomy</a:t>
            </a:r>
          </a:p>
          <a:p>
            <a:pPr marL="182880" indent="-182880" algn="l">
              <a:spcAft>
                <a:spcPts val="100"/>
              </a:spcAft>
              <a:buFont typeface="Arial"/>
              <a:buChar char="•"/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Desktop 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9747504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33CC"/>
                </a:solidFill>
                <a:latin typeface="Trebuchet MS"/>
              </a:rPr>
              <a:t>Alternate design approaches considered and rejected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22976"/>
            <a:ext cx="2313432" cy="1014984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Cloud-centric logging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033CC"/>
                </a:solidFill>
                <a:latin typeface="Trebuchet MS"/>
              </a:rPr>
              <a:t>Easier sync — rejected for privacy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2424" y="5522976"/>
            <a:ext cx="2313432" cy="1014984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Keyword-only search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033CC"/>
                </a:solidFill>
                <a:latin typeface="Trebuchet MS"/>
              </a:rPr>
              <a:t>Simple — rejected for poor semantic understanding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5522976"/>
            <a:ext cx="2313432" cy="1014984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Agentic LLM retrieval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033CC"/>
                </a:solidFill>
                <a:latin typeface="Trebuchet MS"/>
              </a:rPr>
              <a:t>Flexible — rejected as unpredictable, not explainable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5522976"/>
            <a:ext cx="2313432" cy="1014984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Capture everything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033CC"/>
                </a:solidFill>
                <a:latin typeface="Trebuchet MS"/>
              </a:rPr>
              <a:t>Maximum recall — rejected for noise and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Constraints, Assumptions &amp; Dependencies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847088"/>
            <a:ext cx="3127248" cy="469087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Design constraints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Local-first; no permanent cloud copy of personal data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No capture of typed text, incognito tabs or app pages (Slack, Notion)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Exactly 2 LLM calls per query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LLM sees only the question, prior turns, short snippets and aggregated numbers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16-table schema is locked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Wellbeing language stays descriptive — no scores, no "wasted time"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No item joins a user group without the user's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1847088"/>
            <a:ext cx="3127248" cy="469087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Assumptions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A single user on desktop Chrome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Gmail, Chrome and YouTube cover most relevant activity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Engagement (time, scroll, revisits) approximates effort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0033CC"/>
                </a:solidFill>
                <a:latin typeface="Trebuchet MS"/>
              </a:rPr>
              <a:t>Google APIs stay available and 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1847088"/>
            <a:ext cx="3127248" cy="469087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Dependencies → impact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Gmail API, YouTube Data API v3: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capture stops if an API or its OAuth token fails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Chrome MV3 extension APIs: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Chrome and YouTube capture rely on them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PostgreSQL, Redis, FAISS: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storage layers; FAISS can be rebuilt from PostgreSQL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Local models (MiniLM, cross-encoder):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one-time download on first run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OpenAI gpt-4.1-mini (swappable):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paid API, a small cost per query; switching provider is one config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Description – Master Class Diagram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764" y="1847088"/>
            <a:ext cx="6532166" cy="4306824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08776"/>
            <a:ext cx="10728655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7A"/>
                </a:solidFill>
                <a:latin typeface="Trebuchet MS"/>
              </a:rPr>
              <a:t>Master class diagram (from Phase II design)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Description – Use Case Diagram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17" y="1847088"/>
            <a:ext cx="8127059" cy="4306824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08776"/>
            <a:ext cx="10728655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7A"/>
                </a:solidFill>
                <a:latin typeface="Trebuchet MS"/>
              </a:rPr>
              <a:t>Use case diagram (from Phase II design)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Description – Sequence Diagram (1/3)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99" y="1847088"/>
            <a:ext cx="10635096" cy="4306824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08776"/>
            <a:ext cx="10728655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7A"/>
                </a:solidFill>
                <a:latin typeface="Trebuchet MS"/>
              </a:rPr>
              <a:t>Capture and enrichment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Description – Sequence Diagram (2/3)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268" y="1847088"/>
            <a:ext cx="7191159" cy="4306824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08776"/>
            <a:ext cx="10728655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7A"/>
                </a:solidFill>
                <a:latin typeface="Trebuchet MS"/>
              </a:rPr>
              <a:t>Recall — exactly 2 LLM calls per query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Description – Sequence Diagram (3/3)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0491"/>
            <a:ext cx="10728655" cy="3800017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1520" y="6208776"/>
            <a:ext cx="10728655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7A"/>
                </a:solidFill>
                <a:latin typeface="Trebuchet MS"/>
              </a:rPr>
              <a:t>Wellbeing — descriptive analytics, human-in-the-loop groups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Design Description – Packaging &amp;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14600"/>
            <a:ext cx="2148840" cy="274320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542032"/>
            <a:ext cx="200253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Chrome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80360"/>
            <a:ext cx="1874519" cy="96012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extension/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Manifest V3 · intent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69080"/>
            <a:ext cx="1874519" cy="96012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frontend/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React + TypeScript · port 3000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828800"/>
            <a:ext cx="4754880" cy="470916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9272" y="1856231"/>
            <a:ext cx="460857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User's laptop — local-first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176272"/>
            <a:ext cx="4480560" cy="265176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6432" y="2203703"/>
            <a:ext cx="433425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uvicorn process — FastAPI :8000 request handlers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514600"/>
            <a:ext cx="4206240" cy="45720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backend/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API gateway · 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2057400" cy="77724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ingestion/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Gmail · Chrome · YouTube connectors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063240"/>
            <a:ext cx="2057400" cy="77724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ste/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storage engine · Redis ·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931920"/>
            <a:ext cx="2057400" cy="77724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rse/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LangGraph retrieval · cross-encoder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931920"/>
            <a:ext cx="2057400" cy="77724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wba/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time · sessions · groups · regret · insights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983480"/>
            <a:ext cx="2148840" cy="141732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56432" y="5010912"/>
            <a:ext cx="200253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Background thread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5330952"/>
            <a:ext cx="1874519" cy="932688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«package» enp/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ENP worker: clean · embed · classify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983480"/>
            <a:ext cx="2148840" cy="141732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88152" y="5010912"/>
            <a:ext cx="200253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Local files</a:t>
            </a:r>
          </a:p>
        </p:txBody>
      </p:sp>
      <p:sp>
        <p:nvSpPr>
          <p:cNvPr id="33" name="Can 32"/>
          <p:cNvSpPr/>
          <p:nvPr/>
        </p:nvSpPr>
        <p:spPr>
          <a:xfrm>
            <a:off x="5833872" y="5303520"/>
            <a:ext cx="1920240" cy="502920"/>
          </a:xfrm>
          <a:prstGeom prst="can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FAISS index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384-d vectors</a:t>
            </a:r>
          </a:p>
        </p:txBody>
      </p:sp>
      <p:sp>
        <p:nvSpPr>
          <p:cNvPr id="34" name="Can 33"/>
          <p:cNvSpPr/>
          <p:nvPr/>
        </p:nvSpPr>
        <p:spPr>
          <a:xfrm>
            <a:off x="5833872" y="5852160"/>
            <a:ext cx="1920240" cy="502920"/>
          </a:xfrm>
          <a:prstGeom prst="can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Local models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MiniLM · cross-encoder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1828800"/>
            <a:ext cx="3154680" cy="242316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77072" y="1856231"/>
            <a:ext cx="300837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Data stores</a:t>
            </a:r>
          </a:p>
        </p:txBody>
      </p:sp>
      <p:sp>
        <p:nvSpPr>
          <p:cNvPr id="37" name="Can 36"/>
          <p:cNvSpPr/>
          <p:nvPr/>
        </p:nvSpPr>
        <p:spPr>
          <a:xfrm>
            <a:off x="8641080" y="2176272"/>
            <a:ext cx="2880360" cy="1051560"/>
          </a:xfrm>
          <a:prstGeom prst="can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PostgreSQL 16 · 16 tables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source of truth (Neon during development)</a:t>
            </a:r>
          </a:p>
        </p:txBody>
      </p:sp>
      <p:sp>
        <p:nvSpPr>
          <p:cNvPr id="38" name="Can 37"/>
          <p:cNvSpPr/>
          <p:nvPr/>
        </p:nvSpPr>
        <p:spPr>
          <a:xfrm>
            <a:off x="8641080" y="3319272"/>
            <a:ext cx="2880360" cy="822960"/>
          </a:xfrm>
          <a:prstGeom prst="can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Redis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revisit · cache · settings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4434840"/>
            <a:ext cx="3154680" cy="2103120"/>
          </a:xfrm>
          <a:prstGeom prst="roundRect">
            <a:avLst>
              <a:gd name="adj" fmla="val 3000"/>
            </a:avLst>
          </a:prstGeom>
          <a:solidFill>
            <a:srgbClr val="F5F7FD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77072" y="4462272"/>
            <a:ext cx="3008376" cy="27432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0204A"/>
                </a:solidFill>
                <a:latin typeface="Trebuchet MS"/>
              </a:rPr>
              <a:t>External APIs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4773168"/>
            <a:ext cx="2880360" cy="45720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Gmail API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OAuth 2.0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1080" y="5321808"/>
            <a:ext cx="2880360" cy="45720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YouTube Data API v3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video metadata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5870448"/>
            <a:ext cx="2880360" cy="548640"/>
          </a:xfrm>
          <a:prstGeom prst="rect">
            <a:avLst/>
          </a:prstGeom>
          <a:solidFill>
            <a:srgbClr val="EAF0FF"/>
          </a:solidFill>
          <a:ln w="12700">
            <a:solidFill>
              <a:srgbClr val="003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0204A"/>
                </a:solidFill>
                <a:latin typeface="Trebuchet MS"/>
              </a:rPr>
              <a:t>OpenAI gpt-4.1-mini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04A"/>
                </a:solidFill>
                <a:latin typeface="Trebuchet MS"/>
              </a:rPr>
              <a:t>2 calls per query · swappable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97480" y="3657600"/>
            <a:ext cx="685800" cy="0"/>
          </a:xfrm>
          <a:prstGeom prst="line">
            <a:avLst/>
          </a:prstGeom>
          <a:ln w="19050">
            <a:solidFill>
              <a:srgbClr val="1020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1760" y="370332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A647A"/>
                </a:solidFill>
                <a:latin typeface="Trebuchet MS"/>
              </a:rPr>
              <a:t>HTTP JSON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01000" y="3017520"/>
            <a:ext cx="502920" cy="0"/>
          </a:xfrm>
          <a:prstGeom prst="line">
            <a:avLst/>
          </a:prstGeom>
          <a:ln w="19050">
            <a:solidFill>
              <a:srgbClr val="1020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01000" y="5486400"/>
            <a:ext cx="502920" cy="0"/>
          </a:xfrm>
          <a:prstGeom prst="line">
            <a:avLst/>
          </a:prstGeom>
          <a:ln w="19050">
            <a:solidFill>
              <a:srgbClr val="1020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766560" y="4828032"/>
            <a:ext cx="0" cy="155448"/>
          </a:xfrm>
          <a:prstGeom prst="line">
            <a:avLst/>
          </a:prstGeom>
          <a:ln w="19050">
            <a:solidFill>
              <a:srgbClr val="1020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94960" y="5797296"/>
            <a:ext cx="320040" cy="0"/>
          </a:xfrm>
          <a:prstGeom prst="line">
            <a:avLst/>
          </a:prstGeom>
          <a:ln w="19050">
            <a:solidFill>
              <a:srgbClr val="1020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Algorithm &amp; Pseudocode –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847088"/>
            <a:ext cx="6903720" cy="4690872"/>
          </a:xfrm>
          <a:prstGeom prst="roundRect">
            <a:avLst>
              <a:gd name="adj" fmla="val 3000"/>
            </a:avLst>
          </a:prstGeom>
          <a:solidFill>
            <a:srgbClr val="F3F5FA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function answer(question, history):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intent = LLM.parse_intent(question, history)   # LLM call 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intent = resolve_time_anchor(intent)  # 'after that email' → date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attempts = 0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loop: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in parallel: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  kw  = postgres_fulltext_search(intent)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  sem = faiss_search(embed(intent.query))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pool = RRF(kw, sem)       # score = Σ 1 / (60 + rank)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quality = evaluate(pool)  # 5 checks → strong/weak/empty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if quality == strong: break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if attempts == 3: return no_results_found()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  intent = widen_scope(intent); attempts += 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top = rerank(pool)   # 0.8·cross-encoder + 0.2·effort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top = add_neighbours(top)    # same thread / session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ctx = fetch_attachment_or_live_gmail(top)  # if asked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04A"/>
                </a:solidFill>
                <a:latin typeface="Consolas"/>
              </a:rPr>
              <a:t>  return LLM.synthesize(question, top, ctx)  # LLM call 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914" y="1847088"/>
            <a:ext cx="3159731" cy="4370832"/>
          </a:xfrm>
          <a:prstGeom prst="rect">
            <a:avLst/>
          </a:prstGeom>
          <a:ln w="9525">
            <a:solidFill>
              <a:srgbClr val="8FA3D9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863840" y="6245352"/>
            <a:ext cx="3611880" cy="292608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A647A"/>
                </a:solidFill>
                <a:latin typeface="Trebuchet MS"/>
              </a:rPr>
              <a:t>Live LangGraph: 14 nodes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Algorithm &amp; Pseudocode – Wellbeing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847088"/>
            <a:ext cx="10113264" cy="3886200"/>
          </a:xfrm>
          <a:prstGeom prst="roundRect">
            <a:avLst>
              <a:gd name="adj" fmla="val 3000"/>
            </a:avLst>
          </a:prstGeom>
          <a:solidFill>
            <a:srgbClr val="F3F5FA"/>
          </a:solidFill>
          <a:ln w="12700">
            <a:solidFill>
              <a:srgbClr val="8F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bIns="164592" rtlCol="0" anchor="ctr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# User-group suggestions — hybrid rules + KNN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for each recent item, for each active group: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  if group has &lt; 6 confirmed items: skip     # not enough examples yet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  rule  = rules matched / total rules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  knn   = mean cosine similarity of the 3 most similar confirmed members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  score = 0.5·rule + 0.5·knn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  if score &gt; 0.70 or rule &gt; 0: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    add suggestion with decision = 'pending'</a:t>
            </a:r>
          </a:p>
          <a:p>
            <a:pPr algn="l">
              <a:spcAft>
                <a:spcPts val="200"/>
              </a:spcAft>
            </a:pPr>
            <a:endParaRPr sz="1500" b="0" i="0">
              <a:solidFill>
                <a:srgbClr val="10204A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# weekly review:  accept → item joins the group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0204A"/>
                </a:solidFill>
                <a:latin typeface="Consolas"/>
              </a:rPr>
              <a:t>#                 reject → item is never added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88736"/>
            <a:ext cx="10113264" cy="649224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8755" rIns="164592" bIns="98755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Human-in-the-loop by design: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an item enters a user group only through an explicit user action — adding it by hand, or accepting a suggestion in the review queue.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Project Progress So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92807"/>
            <a:ext cx="3200400" cy="1143000"/>
          </a:xfrm>
          <a:prstGeom prst="rect">
            <a:avLst/>
          </a:prstGeom>
          <a:noFill/>
        </p:spPr>
        <p:txBody>
          <a:bodyPr wrap="square" lIns="73152" tIns="43891" rIns="73152" bIns="43891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6600" b="1" i="0">
                <a:solidFill>
                  <a:srgbClr val="0033CC"/>
                </a:solidFill>
                <a:latin typeface="Trebuchet MS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35808"/>
            <a:ext cx="3200400" cy="36576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10204A"/>
                </a:solidFill>
                <a:latin typeface="Trebuchet MS"/>
              </a:rPr>
              <a:t>of E.C.H.O.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84448"/>
            <a:ext cx="2560320" cy="384048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3584448"/>
            <a:ext cx="320040" cy="384048"/>
          </a:xfrm>
          <a:prstGeom prst="rect">
            <a:avLst/>
          </a:prstGeom>
          <a:solidFill>
            <a:srgbClr val="6F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94760" y="3584448"/>
            <a:ext cx="320040" cy="384048"/>
          </a:xfrm>
          <a:prstGeom prst="rect">
            <a:avLst/>
          </a:prstGeom>
          <a:solidFill>
            <a:srgbClr val="B9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4197096"/>
            <a:ext cx="201168" cy="201168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4133087"/>
            <a:ext cx="2816352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0204A"/>
                </a:solidFill>
                <a:latin typeface="Trebuchet MS"/>
              </a:rPr>
              <a:t>Done — 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544568"/>
            <a:ext cx="201168" cy="201168"/>
          </a:xfrm>
          <a:prstGeom prst="rect">
            <a:avLst/>
          </a:prstGeom>
          <a:solidFill>
            <a:srgbClr val="6F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480559"/>
            <a:ext cx="2816352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0204A"/>
                </a:solidFill>
                <a:latin typeface="Trebuchet MS"/>
              </a:rPr>
              <a:t>UI — 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892040"/>
            <a:ext cx="201168" cy="201168"/>
          </a:xfrm>
          <a:prstGeom prst="rect">
            <a:avLst/>
          </a:prstGeom>
          <a:solidFill>
            <a:srgbClr val="B9C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98448" y="4828031"/>
            <a:ext cx="2816352" cy="329184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0204A"/>
                </a:solidFill>
                <a:latin typeface="Trebuchet MS"/>
              </a:rPr>
              <a:t>Cleanup &amp; hardening — 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77840"/>
            <a:ext cx="3200400" cy="96012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33CC"/>
                </a:solidFill>
                <a:latin typeface="Trebuchet MS"/>
              </a:rPr>
              <a:t>Wellbeing module implemented; validation on live data is pending (scheduled in October).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1847088"/>
            <a:ext cx="6227064" cy="89611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033CC"/>
                </a:solidFill>
                <a:latin typeface="Trebuchet MS"/>
              </a:rPr>
              <a:t>Done — shown at Review 1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033CC"/>
                </a:solidFill>
                <a:latin typeface="Trebuchet MS"/>
              </a:rPr>
              <a:t>Capture (Gmail, Chrome, YouTube) · Storage engine · Enrichment · 14-node hybrid retrieval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2852928"/>
            <a:ext cx="6227064" cy="2487168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33CC"/>
                </a:solidFill>
                <a:latin typeface="Trebuchet MS"/>
              </a:rPr>
              <a:t>New since Review 1 — Wellbeing module (WBA)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Regret marking, patterns by hour and category, gentle reminders (max 2 a day)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User groups: rules + KNN suggestions, weekly review queue, suggested rules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Wellbeing API routes for the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5458968"/>
            <a:ext cx="6227064" cy="1078992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t"/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F0000"/>
                </a:solidFill>
                <a:latin typeface="Trebuchet MS"/>
              </a:rPr>
              <a:t>Remaining — 20%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UI (10%):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finish the dashboard screens and the extension popup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1" i="0">
                <a:solidFill>
                  <a:srgbClr val="0033CC"/>
                </a:solidFill>
                <a:latin typeface="Trebuchet MS"/>
              </a:rPr>
              <a:t>Cleanup (10%): </a:t>
            </a:r>
            <a:r>
              <a:rPr sz="1250" b="0" i="0">
                <a:solidFill>
                  <a:srgbClr val="0033CC"/>
                </a:solidFill>
                <a:latin typeface="Trebuchet MS"/>
              </a:rPr>
              <a:t>fix breaking paths, add logging, clean code, remove dead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Project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47088"/>
            <a:ext cx="9747504" cy="68580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3CC"/>
                </a:solidFill>
                <a:latin typeface="Trebuchet MS"/>
              </a:rPr>
              <a:t>Demo plan — </a:t>
            </a:r>
            <a:r>
              <a:rPr sz="1400" b="0" i="0">
                <a:solidFill>
                  <a:srgbClr val="0033CC"/>
                </a:solidFill>
                <a:latin typeface="Trebuchet MS"/>
              </a:rPr>
              <a:t>each part is shown on its own, in the order data flows through the system. There is no static dataset: data is created live by the user's own activity.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15768"/>
            <a:ext cx="2299716" cy="382219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35074" y="2944368"/>
            <a:ext cx="658368" cy="658368"/>
          </a:xfrm>
          <a:prstGeom prst="ellipse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739896"/>
            <a:ext cx="2080260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Dataset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97096"/>
            <a:ext cx="2025396" cy="2221992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0033CC"/>
                </a:solidFill>
                <a:latin typeface="Trebuchet MS"/>
              </a:rPr>
              <a:t>Open a web page, watch a YouTube video, receive an email.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0204A"/>
                </a:solidFill>
                <a:latin typeface="Trebuchet MS"/>
              </a:rPr>
              <a:t>Each engaged item appears as a new row in PostgreSQL.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32404" y="3273551"/>
            <a:ext cx="146304" cy="0"/>
          </a:xfrm>
          <a:prstGeom prst="line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96996" y="2715768"/>
            <a:ext cx="2299716" cy="382219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17670" y="2944368"/>
            <a:ext cx="658368" cy="658368"/>
          </a:xfrm>
          <a:prstGeom prst="ellipse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6724" y="3739896"/>
            <a:ext cx="2080260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4156" y="4197096"/>
            <a:ext cx="2025396" cy="2221992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0033CC"/>
                </a:solidFill>
                <a:latin typeface="Trebuchet MS"/>
              </a:rPr>
              <a:t>The background worker picks up new items.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0204A"/>
                </a:solidFill>
                <a:latin typeface="Trebuchet MS"/>
              </a:rPr>
              <a:t>Show an item move from pending to processed, with its category.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15000" y="3273551"/>
            <a:ext cx="146304" cy="0"/>
          </a:xfrm>
          <a:prstGeom prst="line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79592" y="2715768"/>
            <a:ext cx="2299716" cy="382219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700266" y="2944368"/>
            <a:ext cx="658368" cy="658368"/>
          </a:xfrm>
          <a:prstGeom prst="ellipse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739896"/>
            <a:ext cx="2080260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4197096"/>
            <a:ext cx="2025396" cy="2221992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0033CC"/>
                </a:solidFill>
                <a:latin typeface="Trebuchet MS"/>
              </a:rPr>
              <a:t>Ask a question, then a follow-up that refers to it.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0204A"/>
                </a:solidFill>
                <a:latin typeface="Trebuchet MS"/>
              </a:rPr>
              <a:t>Show the answer — 2 LLM calls.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97596" y="3273551"/>
            <a:ext cx="146304" cy="0"/>
          </a:xfrm>
          <a:prstGeom prst="line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62188" y="2715768"/>
            <a:ext cx="2299716" cy="3822192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82862" y="2944368"/>
            <a:ext cx="658368" cy="65836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1916" y="3739896"/>
            <a:ext cx="2080260" cy="411480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Wellbeing (WBA)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9348" y="4197096"/>
            <a:ext cx="2025396" cy="2221992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0033CC"/>
                </a:solidFill>
                <a:latin typeface="Trebuchet MS"/>
              </a:rPr>
              <a:t>Today's summary and sessions; mark an item as regretted.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0204A"/>
                </a:solidFill>
                <a:latin typeface="Trebuchet MS"/>
              </a:rPr>
              <a:t>Accept a group suggestion; view a weekly insight.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2188" y="2386584"/>
            <a:ext cx="2299716" cy="292608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0000"/>
                </a:solidFill>
                <a:latin typeface="Trebuchet MS"/>
              </a:rPr>
              <a:t>NEW since Review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Timeline – Update on Pending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47088"/>
            <a:ext cx="9747504" cy="384048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3CC"/>
                </a:solidFill>
                <a:latin typeface="Trebuchet MS"/>
              </a:rPr>
              <a:t>Target: 100% complete in the last week of October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53512" y="2350008"/>
            <a:ext cx="1879092" cy="365760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October · Week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87468" y="2350008"/>
            <a:ext cx="1879092" cy="365760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October · Week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21424" y="2350008"/>
            <a:ext cx="1879092" cy="365760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October · Week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5380" y="2350008"/>
            <a:ext cx="1879092" cy="36576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October · Week 4 · final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825496"/>
            <a:ext cx="1920240" cy="9144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33CC"/>
                </a:solidFill>
                <a:latin typeface="Trebuchet MS"/>
              </a:rPr>
              <a:t>UI completion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33CC"/>
                </a:solidFill>
                <a:latin typeface="Trebuchet MS"/>
              </a:rP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825496"/>
            <a:ext cx="7735824" cy="914400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71800" y="2916936"/>
            <a:ext cx="1842516" cy="731520"/>
          </a:xfrm>
          <a:prstGeom prst="roundRect">
            <a:avLst>
              <a:gd name="adj" fmla="val 12000"/>
            </a:avLst>
          </a:prstGeom>
          <a:solidFill>
            <a:srgbClr val="6F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Trebuchet MS"/>
              </a:rPr>
              <a:t>Implement wellbeing screens and popup; connect to the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5756" y="2916936"/>
            <a:ext cx="1842516" cy="731520"/>
          </a:xfrm>
          <a:prstGeom prst="roundRect">
            <a:avLst>
              <a:gd name="adj" fmla="val 12000"/>
            </a:avLst>
          </a:prstGeom>
          <a:solidFill>
            <a:srgbClr val="6F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Trebuchet MS"/>
              </a:rPr>
              <a:t>Citation cards, source-breakdown chart, group-review polish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831336"/>
            <a:ext cx="1920240" cy="9144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33CC"/>
                </a:solidFill>
                <a:latin typeface="Trebuchet MS"/>
              </a:rPr>
              <a:t>Refactor &amp; hardening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33CC"/>
                </a:solidFill>
                <a:latin typeface="Trebuchet MS"/>
              </a:rP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831336"/>
            <a:ext cx="7735824" cy="914400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39712" y="3922776"/>
            <a:ext cx="1842516" cy="731520"/>
          </a:xfrm>
          <a:prstGeom prst="roundRect">
            <a:avLst>
              <a:gd name="adj" fmla="val 12000"/>
            </a:avLst>
          </a:prstGeom>
          <a:solidFill>
            <a:srgbClr val="6F8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Trebuchet MS"/>
              </a:rPr>
              <a:t>Fix breaking paths, add logging, remove dead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837176"/>
            <a:ext cx="1920240" cy="9144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33CC"/>
                </a:solidFill>
                <a:latin typeface="Trebuchet MS"/>
              </a:rPr>
              <a:t>Validation &amp; finish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837176"/>
            <a:ext cx="7735824" cy="914400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39712" y="4928616"/>
            <a:ext cx="1842516" cy="731520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Trebuchet MS"/>
              </a:rPr>
              <a:t>End-to-end run of all 3 sources; WBA on live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3668" y="4928616"/>
            <a:ext cx="1842516" cy="731520"/>
          </a:xfrm>
          <a:prstGeom prst="roundRect">
            <a:avLst>
              <a:gd name="adj" fmla="val 12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Trebuchet MS"/>
              </a:rPr>
              <a:t>Final testing, retrieval quality check, privacy check, documentation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888736"/>
            <a:ext cx="9747504" cy="649223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ctr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3CC"/>
                </a:solidFill>
                <a:latin typeface="Trebuchet MS"/>
              </a:rPr>
              <a:t>Carried forward from Review 1: </a:t>
            </a:r>
            <a:r>
              <a:rPr sz="1200" b="0" i="0">
                <a:solidFill>
                  <a:srgbClr val="0033CC"/>
                </a:solidFill>
                <a:latin typeface="Trebuchet MS"/>
              </a:rPr>
              <a:t>wellbeing validation, dashboard refinements, end-to-end validation, retrieval quality measurement, privacy audit and documentation — all covered above.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Conclusion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984248"/>
            <a:ext cx="868680" cy="1188720"/>
          </a:xfrm>
          <a:prstGeom prst="roundRect">
            <a:avLst>
              <a:gd name="adj" fmla="val 10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1984248"/>
            <a:ext cx="8741664" cy="118872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33CC"/>
                </a:solidFill>
                <a:latin typeface="Trebuchet MS"/>
              </a:rPr>
              <a:t>80% complete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Capture, storage, enrichment, hybrid retrieval and — new since Review 1 — the Wellbeing module are implemented.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55848"/>
            <a:ext cx="868680" cy="1188720"/>
          </a:xfrm>
          <a:prstGeom prst="roundRect">
            <a:avLst>
              <a:gd name="adj" fmla="val 10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355848"/>
            <a:ext cx="8741664" cy="118872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33CC"/>
                </a:solidFill>
                <a:latin typeface="Trebuchet MS"/>
              </a:rPr>
              <a:t>Two deliberate design changes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Rank-based fusion with cross-encoder re-ranking, and user approval before any item joins a group.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27448"/>
            <a:ext cx="868680" cy="1188720"/>
          </a:xfrm>
          <a:prstGeom prst="roundRect">
            <a:avLst>
              <a:gd name="adj" fmla="val 10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727448"/>
            <a:ext cx="8741664" cy="118872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33CC"/>
                </a:solidFill>
                <a:latin typeface="Trebuchet MS"/>
              </a:rPr>
              <a:t>Remaining 20%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33CC"/>
                </a:solidFill>
                <a:latin typeface="Trebuchet MS"/>
              </a:rPr>
              <a:t>UI completion and code hardening, finishing in the last week of October.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44768"/>
            <a:ext cx="9747504" cy="393192"/>
          </a:xfrm>
          <a:prstGeom prst="rect">
            <a:avLst/>
          </a:prstGeom>
          <a:noFill/>
        </p:spPr>
        <p:txBody>
          <a:bodyPr wrap="square" lIns="73152" tIns="43891" rIns="73152" bIns="43891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0033CC"/>
                </a:solidFill>
                <a:latin typeface="Trebuchet MS"/>
              </a:rPr>
              <a:t>E.C.H.O. stays local-first and private: the LLM only ever sees the question, short snippets and aggregated numbers.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011680" y="1143002"/>
            <a:ext cx="8650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47088"/>
            <a:ext cx="9747504" cy="4690872"/>
          </a:xfrm>
          <a:prstGeom prst="rect">
            <a:avLst/>
          </a:prstGeom>
          <a:noFill/>
        </p:spPr>
        <p:txBody>
          <a:bodyPr wrap="square" lIns="73152" tIns="43891" rIns="73152" bIns="43891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033CC"/>
                </a:solidFill>
                <a:latin typeface="Trebuchet MS"/>
              </a:rPr>
              <a:t>REFERENCES (IEEE Format):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[1] N. Reimers and I. Gurevych, "Sentence-BERT: Sentence embeddings using Siamese BERT-networks," in Proceedings of the 2019 Conference on Empirical Methods in Natural Language Processing, 2019.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[2] J. Johnson, M. Douze, and H. Jégou, "Billion-scale similarity search with GPUs," IEEE Transactions on Big Data, vol. 7, no. 3, pp. 535–547, 2021.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[3] LangChain and LangGraph Documentation, "Building language model applications with composable components," https://python.langchain.com, 2024.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0033CC"/>
                </a:solidFill>
                <a:latin typeface="Trebuchet MS"/>
              </a:rPr>
              <a:t>[4] M. Kleppmann, A. Wiggins, P. van Hardenberg, and M. McGranaghan, "Local-first software: You own your data, in spite of the cloud," in Proceedings of the 2019 ACM SIGPLAN International Symposium on New Ideas, New Paradigms, and Reflections on Programming and Software, 2019.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481</TotalTime>
  <Words>2381</Words>
  <Application>Microsoft Office PowerPoint</Application>
  <PresentationFormat>Widescreen</PresentationFormat>
  <Paragraphs>289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shehzaad khan</cp:lastModifiedBy>
  <cp:revision>3</cp:revision>
  <dcterms:created xsi:type="dcterms:W3CDTF">2020-11-22T08:14:37Z</dcterms:created>
  <dcterms:modified xsi:type="dcterms:W3CDTF">2026-10-08T15:36:14Z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