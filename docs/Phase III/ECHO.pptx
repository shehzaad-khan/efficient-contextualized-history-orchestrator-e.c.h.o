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2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Lst>
  <p:sldSz cy="6858000" cx="12191675"/>
  <p:notesSz cx="6858000" cy="12191675"/>
  <p:embeddedFontLst>
    <p:embeddedFont>
      <p:font typeface="Inter"/>
      <p:bold r:id="rId30"/>
      <p:boldItalic r:id="rId3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6ECF8E9-5879-42D1-B8A0-3D792A3639C8}">
  <a:tblStyle styleId="{46ECF8E9-5879-42D1-B8A0-3D792A3639C8}"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Inter-boldItalic.fntdata"/><Relationship Id="rId30" Type="http://schemas.openxmlformats.org/officeDocument/2006/relationships/font" Target="fonts/Inter-bold.fntdata"/><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 name="Google Shape;17;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 name="Google Shape;18;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 name="Google Shape;3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 name="Google Shape;3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 name="Shape 38"/>
        <p:cNvGrpSpPr/>
        <p:nvPr/>
      </p:nvGrpSpPr>
      <p:grpSpPr>
        <a:xfrm>
          <a:off x="0" y="0"/>
          <a:ext cx="0" cy="0"/>
          <a:chOff x="0" y="0"/>
          <a:chExt cx="0" cy="0"/>
        </a:xfrm>
      </p:grpSpPr>
      <p:sp>
        <p:nvSpPr>
          <p:cNvPr id="39" name="Google Shape;39;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 name="Google Shape;40;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1" name="Google Shape;41;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 name="Google Shape;51;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 name="Google Shape;52;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 name="Google Shape;64;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5" name="Google Shape;65;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 name="Google Shape;75;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6" name="Google Shape;76;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 name="Google Shape;90;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1" name="Google Shape;91;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 name="Google Shape;10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 name="Google Shape;113;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4" name="Google Shape;114;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 name="Google Shape;12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 name="Google Shape;153;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4" name="Google Shape;154;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8" name="Google Shape;168;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 name="Google Shape;18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6" name="Google Shape;18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 name="Google Shape;20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4" name="Google Shape;20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 name="Google Shape;219;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0" name="Google Shape;220;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 name="Google Shape;235;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6" name="Google Shape;236;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 name="Google Shape;245;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6" name="Google Shape;246;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 name="Google Shape;258;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9" name="Google Shape;259;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2" name="Google Shape;272;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9" name="Google Shape;279;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0" name="Google Shape;280;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2" name="Google Shape;29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3" name="Google Shape;29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1" name="Google Shape;301;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2" name="Google Shape;302;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0" name="Google Shape;310;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2" name="Google Shape;322;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3" name="Google Shape;323;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master 1">
  <p:cSld name="Slide master 1">
    <p:spTree>
      <p:nvGrpSpPr>
        <p:cNvPr id="10" name="Shape 10"/>
        <p:cNvGrpSpPr/>
        <p:nvPr/>
      </p:nvGrpSpPr>
      <p:grpSpPr>
        <a:xfrm>
          <a:off x="0" y="0"/>
          <a:ext cx="0" cy="0"/>
          <a:chOff x="0" y="0"/>
          <a:chExt cx="0" cy="0"/>
        </a:xfrm>
      </p:grpSpPr>
      <p:sp>
        <p:nvSpPr>
          <p:cNvPr id="11" name="Google Shape;11;p2"/>
          <p:cNvSpPr/>
          <p:nvPr/>
        </p:nvSpPr>
        <p:spPr>
          <a:xfrm>
            <a:off x="0" y="0"/>
            <a:ext cx="12191695" cy="6858000"/>
          </a:xfrm>
          <a:prstGeom prst="rect">
            <a:avLst/>
          </a:prstGeom>
          <a:solidFill>
            <a:srgbClr val="F6F4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p:nvPr/>
        </p:nvSpPr>
        <p:spPr>
          <a:xfrm>
            <a:off x="0" y="0"/>
            <a:ext cx="12191695" cy="6858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3" name="Google Shape;13;p2">
            <a:hlinkClick r:id="rId2"/>
          </p:cNvPr>
          <p:cNvPicPr preferRelativeResize="0"/>
          <p:nvPr/>
        </p:nvPicPr>
        <p:blipFill rotWithShape="1">
          <a:blip r:embed="rId3">
            <a:alphaModFix/>
          </a:blip>
          <a:srcRect b="0" l="0" r="0" t="0"/>
          <a:stretch/>
        </p:blipFill>
        <p:spPr>
          <a:xfrm>
            <a:off x="11076875" y="6558991"/>
            <a:ext cx="1071843" cy="25603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4" name="Shape 1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1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1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jpg"/><Relationship Id="rId4" Type="http://schemas.openxmlformats.org/officeDocument/2006/relationships/image" Target="../media/image3.png"/><Relationship Id="rId5" Type="http://schemas.openxmlformats.org/officeDocument/2006/relationships/image" Target="../media/image2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png"/><Relationship Id="rId4" Type="http://schemas.openxmlformats.org/officeDocument/2006/relationships/image" Target="../media/image7.jpg"/><Relationship Id="rId5" Type="http://schemas.openxmlformats.org/officeDocument/2006/relationships/image" Target="../media/image2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2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2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2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0.png"/><Relationship Id="rId4" Type="http://schemas.openxmlformats.org/officeDocument/2006/relationships/image" Target="../media/image2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2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 Id="rId4" Type="http://schemas.openxmlformats.org/officeDocument/2006/relationships/image" Target="../media/image15.jpg"/><Relationship Id="rId5"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8.jpg"/><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hyperlink" Target="https://github.com/Shehzaad-khan/Efficient-Contextualized-History-Orchestrator-E.C.H.O.git" TargetMode="External"/><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 name="Shape 19"/>
        <p:cNvGrpSpPr/>
        <p:nvPr/>
      </p:nvGrpSpPr>
      <p:grpSpPr>
        <a:xfrm>
          <a:off x="0" y="0"/>
          <a:ext cx="0" cy="0"/>
          <a:chOff x="0" y="0"/>
          <a:chExt cx="0" cy="0"/>
        </a:xfrm>
      </p:grpSpPr>
      <p:pic>
        <p:nvPicPr>
          <p:cNvPr descr="preencoded.png" id="20" name="Google Shape;20;p4"/>
          <p:cNvPicPr preferRelativeResize="0"/>
          <p:nvPr/>
        </p:nvPicPr>
        <p:blipFill rotWithShape="1">
          <a:blip r:embed="rId3">
            <a:alphaModFix/>
          </a:blip>
          <a:srcRect b="0" l="0" r="0" t="0"/>
          <a:stretch/>
        </p:blipFill>
        <p:spPr>
          <a:xfrm>
            <a:off x="11044457" y="567333"/>
            <a:ext cx="485763" cy="175022"/>
          </a:xfrm>
          <a:prstGeom prst="rect">
            <a:avLst/>
          </a:prstGeom>
          <a:noFill/>
          <a:ln>
            <a:noFill/>
          </a:ln>
        </p:spPr>
      </p:pic>
      <p:sp>
        <p:nvSpPr>
          <p:cNvPr id="21" name="Google Shape;21;p4"/>
          <p:cNvSpPr/>
          <p:nvPr/>
        </p:nvSpPr>
        <p:spPr>
          <a:xfrm>
            <a:off x="661475" y="922338"/>
            <a:ext cx="10868745" cy="282377"/>
          </a:xfrm>
          <a:prstGeom prst="rect">
            <a:avLst/>
          </a:prstGeom>
          <a:noFill/>
          <a:ln>
            <a:noFill/>
          </a:ln>
        </p:spPr>
        <p:txBody>
          <a:bodyPr anchorCtr="0" anchor="t" bIns="0" lIns="0" spcFirstLastPara="1" rIns="0" wrap="square" tIns="0">
            <a:noAutofit/>
          </a:bodyPr>
          <a:lstStyle/>
          <a:p>
            <a:pPr indent="0" lvl="0" marL="0" marR="0" rtl="0" algn="ctr">
              <a:lnSpc>
                <a:spcPct val="104000"/>
              </a:lnSpc>
              <a:spcBef>
                <a:spcPts val="0"/>
              </a:spcBef>
              <a:spcAft>
                <a:spcPts val="0"/>
              </a:spcAft>
              <a:buClr>
                <a:srgbClr val="000000"/>
              </a:buClr>
              <a:buSzPts val="1750"/>
              <a:buFont typeface="Inter"/>
              <a:buNone/>
            </a:pPr>
            <a:r>
              <a:rPr b="1" i="0" lang="en-US" sz="1750" u="none" cap="none" strike="noStrike">
                <a:solidFill>
                  <a:srgbClr val="000000"/>
                </a:solidFill>
                <a:latin typeface="Inter"/>
                <a:ea typeface="Inter"/>
                <a:cs typeface="Inter"/>
                <a:sym typeface="Inter"/>
              </a:rPr>
              <a:t>UE23CS441A – Capstone Project Phase – 3</a:t>
            </a:r>
            <a:endParaRPr b="0" i="0" sz="1750" u="none" cap="none" strike="noStrike">
              <a:solidFill>
                <a:schemeClr val="dk1"/>
              </a:solidFill>
              <a:latin typeface="Calibri"/>
              <a:ea typeface="Calibri"/>
              <a:cs typeface="Calibri"/>
              <a:sym typeface="Calibri"/>
            </a:endParaRPr>
          </a:p>
        </p:txBody>
      </p:sp>
      <p:sp>
        <p:nvSpPr>
          <p:cNvPr id="22" name="Google Shape;22;p4"/>
          <p:cNvSpPr/>
          <p:nvPr/>
        </p:nvSpPr>
        <p:spPr>
          <a:xfrm>
            <a:off x="356682" y="1384697"/>
            <a:ext cx="11478330" cy="216495"/>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272525"/>
              </a:buClr>
              <a:buSzPts val="1150"/>
              <a:buFont typeface="Inter"/>
              <a:buNone/>
            </a:pPr>
            <a:r>
              <a:rPr b="1" i="0" lang="en-US" sz="1150" u="none" cap="none" strike="noStrike">
                <a:solidFill>
                  <a:srgbClr val="272525"/>
                </a:solidFill>
                <a:latin typeface="Inter"/>
                <a:ea typeface="Inter"/>
                <a:cs typeface="Inter"/>
                <a:sym typeface="Inter"/>
              </a:rPr>
              <a:t>Project Progress Review #1</a:t>
            </a:r>
            <a:endParaRPr b="0" i="0" sz="1150" u="none" cap="none" strike="noStrike">
              <a:solidFill>
                <a:schemeClr val="dk1"/>
              </a:solidFill>
              <a:latin typeface="Calibri"/>
              <a:ea typeface="Calibri"/>
              <a:cs typeface="Calibri"/>
              <a:sym typeface="Calibri"/>
            </a:endParaRPr>
          </a:p>
        </p:txBody>
      </p:sp>
      <p:sp>
        <p:nvSpPr>
          <p:cNvPr id="23" name="Google Shape;23;p4"/>
          <p:cNvSpPr/>
          <p:nvPr/>
        </p:nvSpPr>
        <p:spPr>
          <a:xfrm>
            <a:off x="661475" y="1781175"/>
            <a:ext cx="10868745" cy="941388"/>
          </a:xfrm>
          <a:prstGeom prst="rect">
            <a:avLst/>
          </a:prstGeom>
          <a:noFill/>
          <a:ln>
            <a:noFill/>
          </a:ln>
        </p:spPr>
        <p:txBody>
          <a:bodyPr anchorCtr="0" anchor="t" bIns="0" lIns="0" spcFirstLastPara="1" rIns="0" wrap="square" tIns="0">
            <a:noAutofit/>
          </a:bodyPr>
          <a:lstStyle/>
          <a:p>
            <a:pPr indent="0" lvl="0" marL="0" marR="0" rtl="0" algn="ctr">
              <a:lnSpc>
                <a:spcPct val="104000"/>
              </a:lnSpc>
              <a:spcBef>
                <a:spcPts val="0"/>
              </a:spcBef>
              <a:spcAft>
                <a:spcPts val="0"/>
              </a:spcAft>
              <a:buClr>
                <a:srgbClr val="000000"/>
              </a:buClr>
              <a:buSzPts val="5900"/>
              <a:buFont typeface="Inter"/>
              <a:buNone/>
            </a:pPr>
            <a:r>
              <a:rPr b="1" i="0" lang="en-US" sz="5900" u="none" cap="none" strike="noStrike">
                <a:solidFill>
                  <a:srgbClr val="000000"/>
                </a:solidFill>
                <a:latin typeface="Inter"/>
                <a:ea typeface="Inter"/>
                <a:cs typeface="Inter"/>
                <a:sym typeface="Inter"/>
              </a:rPr>
              <a:t>E.C.H.O.</a:t>
            </a:r>
            <a:endParaRPr b="0" i="0" sz="5900" u="none" cap="none" strike="noStrike">
              <a:solidFill>
                <a:schemeClr val="dk1"/>
              </a:solidFill>
              <a:latin typeface="Calibri"/>
              <a:ea typeface="Calibri"/>
              <a:cs typeface="Calibri"/>
              <a:sym typeface="Calibri"/>
            </a:endParaRPr>
          </a:p>
        </p:txBody>
      </p:sp>
      <p:sp>
        <p:nvSpPr>
          <p:cNvPr id="24" name="Google Shape;24;p4"/>
          <p:cNvSpPr/>
          <p:nvPr/>
        </p:nvSpPr>
        <p:spPr>
          <a:xfrm>
            <a:off x="661475" y="2902545"/>
            <a:ext cx="10868745" cy="376535"/>
          </a:xfrm>
          <a:prstGeom prst="rect">
            <a:avLst/>
          </a:prstGeom>
          <a:noFill/>
          <a:ln>
            <a:noFill/>
          </a:ln>
        </p:spPr>
        <p:txBody>
          <a:bodyPr anchorCtr="0" anchor="t" bIns="0" lIns="0" spcFirstLastPara="1" rIns="0" wrap="square" tIns="0">
            <a:noAutofit/>
          </a:bodyPr>
          <a:lstStyle/>
          <a:p>
            <a:pPr indent="0" lvl="0" marL="0" marR="0" rtl="0" algn="ctr">
              <a:lnSpc>
                <a:spcPct val="104000"/>
              </a:lnSpc>
              <a:spcBef>
                <a:spcPts val="0"/>
              </a:spcBef>
              <a:spcAft>
                <a:spcPts val="0"/>
              </a:spcAft>
              <a:buClr>
                <a:srgbClr val="000000"/>
              </a:buClr>
              <a:buSzPts val="2350"/>
              <a:buFont typeface="Inter"/>
              <a:buNone/>
            </a:pPr>
            <a:r>
              <a:rPr b="1" i="0" lang="en-US" sz="2350" u="none" cap="none" strike="noStrike">
                <a:solidFill>
                  <a:srgbClr val="000000"/>
                </a:solidFill>
                <a:latin typeface="Inter"/>
                <a:ea typeface="Inter"/>
                <a:cs typeface="Inter"/>
                <a:sym typeface="Inter"/>
              </a:rPr>
              <a:t>Efficient Contextualized History Orchestrator</a:t>
            </a:r>
            <a:endParaRPr b="0" i="0" sz="2350" u="none" cap="none" strike="noStrike">
              <a:solidFill>
                <a:schemeClr val="dk1"/>
              </a:solidFill>
              <a:latin typeface="Calibri"/>
              <a:ea typeface="Calibri"/>
              <a:cs typeface="Calibri"/>
              <a:sym typeface="Calibri"/>
            </a:endParaRPr>
          </a:p>
        </p:txBody>
      </p:sp>
      <p:sp>
        <p:nvSpPr>
          <p:cNvPr id="25" name="Google Shape;25;p4"/>
          <p:cNvSpPr/>
          <p:nvPr/>
        </p:nvSpPr>
        <p:spPr>
          <a:xfrm>
            <a:off x="661475" y="3459063"/>
            <a:ext cx="10868745" cy="676275"/>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272525"/>
              </a:buClr>
              <a:buSzPts val="1450"/>
              <a:buFont typeface="Inter"/>
              <a:buNone/>
            </a:pPr>
            <a:r>
              <a:rPr b="1" i="0" lang="en-US" sz="1450" u="none" cap="none" strike="noStrike">
                <a:solidFill>
                  <a:srgbClr val="272525"/>
                </a:solidFill>
                <a:latin typeface="Inter"/>
                <a:ea typeface="Inter"/>
                <a:cs typeface="Inter"/>
                <a:sym typeface="Inter"/>
              </a:rPr>
              <a:t>Project ID:</a:t>
            </a:r>
            <a:r>
              <a:rPr b="0" i="0" lang="en-US" sz="1450" u="none" cap="none" strike="noStrike">
                <a:solidFill>
                  <a:srgbClr val="272525"/>
                </a:solidFill>
                <a:latin typeface="Inter"/>
                <a:ea typeface="Inter"/>
                <a:cs typeface="Inter"/>
                <a:sym typeface="Inter"/>
              </a:rPr>
              <a:t> 92</a:t>
            </a:r>
            <a:endParaRPr b="0" i="0" sz="1450" u="none" cap="none" strike="noStrike">
              <a:solidFill>
                <a:schemeClr val="dk1"/>
              </a:solidFill>
              <a:latin typeface="Calibri"/>
              <a:ea typeface="Calibri"/>
              <a:cs typeface="Calibri"/>
              <a:sym typeface="Calibri"/>
            </a:endParaRPr>
          </a:p>
          <a:p>
            <a:pPr indent="0" lvl="0" marL="0" marR="0" rtl="0" algn="ctr">
              <a:lnSpc>
                <a:spcPct val="120000"/>
              </a:lnSpc>
              <a:spcBef>
                <a:spcPts val="1050"/>
              </a:spcBef>
              <a:spcAft>
                <a:spcPts val="0"/>
              </a:spcAft>
              <a:buClr>
                <a:srgbClr val="272525"/>
              </a:buClr>
              <a:buSzPts val="1450"/>
              <a:buFont typeface="Inter"/>
              <a:buNone/>
            </a:pPr>
            <a:r>
              <a:rPr b="1" i="0" lang="en-US" sz="1450" u="none" cap="none" strike="noStrike">
                <a:solidFill>
                  <a:srgbClr val="272525"/>
                </a:solidFill>
                <a:latin typeface="Inter"/>
                <a:ea typeface="Inter"/>
                <a:cs typeface="Inter"/>
                <a:sym typeface="Inter"/>
              </a:rPr>
              <a:t>Project Guide:</a:t>
            </a:r>
            <a:r>
              <a:rPr b="0" i="0" lang="en-US" sz="1450" u="none" cap="none" strike="noStrike">
                <a:solidFill>
                  <a:srgbClr val="272525"/>
                </a:solidFill>
                <a:latin typeface="Inter"/>
                <a:ea typeface="Inter"/>
                <a:cs typeface="Inter"/>
                <a:sym typeface="Inter"/>
              </a:rPr>
              <a:t> Dr. M. Shalima Sulthana</a:t>
            </a:r>
            <a:endParaRPr b="0" i="0" sz="1450" u="none" cap="none" strike="noStrike">
              <a:solidFill>
                <a:schemeClr val="dk1"/>
              </a:solidFill>
              <a:latin typeface="Calibri"/>
              <a:ea typeface="Calibri"/>
              <a:cs typeface="Calibri"/>
              <a:sym typeface="Calibri"/>
            </a:endParaRPr>
          </a:p>
        </p:txBody>
      </p:sp>
      <p:sp>
        <p:nvSpPr>
          <p:cNvPr id="26" name="Google Shape;26;p4"/>
          <p:cNvSpPr/>
          <p:nvPr/>
        </p:nvSpPr>
        <p:spPr>
          <a:xfrm>
            <a:off x="661475" y="4315321"/>
            <a:ext cx="10868745" cy="235347"/>
          </a:xfrm>
          <a:prstGeom prst="rect">
            <a:avLst/>
          </a:prstGeom>
          <a:noFill/>
          <a:ln>
            <a:noFill/>
          </a:ln>
        </p:spPr>
        <p:txBody>
          <a:bodyPr anchorCtr="0" anchor="t" bIns="0" lIns="0" spcFirstLastPara="1" rIns="0" wrap="square" tIns="0">
            <a:noAutofit/>
          </a:bodyPr>
          <a:lstStyle/>
          <a:p>
            <a:pPr indent="0" lvl="0" marL="0" marR="0" rtl="0" algn="ctr">
              <a:lnSpc>
                <a:spcPct val="104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Team Members:</a:t>
            </a:r>
            <a:endParaRPr b="0" i="0" sz="1450" u="none" cap="none" strike="noStrike">
              <a:solidFill>
                <a:schemeClr val="dk1"/>
              </a:solidFill>
              <a:latin typeface="Calibri"/>
              <a:ea typeface="Calibri"/>
              <a:cs typeface="Calibri"/>
              <a:sym typeface="Calibri"/>
            </a:endParaRPr>
          </a:p>
        </p:txBody>
      </p:sp>
      <p:sp>
        <p:nvSpPr>
          <p:cNvPr id="27" name="Google Shape;27;p4"/>
          <p:cNvSpPr/>
          <p:nvPr/>
        </p:nvSpPr>
        <p:spPr>
          <a:xfrm>
            <a:off x="661475" y="5082084"/>
            <a:ext cx="10868745" cy="1208584"/>
          </a:xfrm>
          <a:prstGeom prst="rect">
            <a:avLst/>
          </a:prstGeom>
          <a:noFill/>
          <a:ln>
            <a:noFill/>
          </a:ln>
        </p:spPr>
        <p:txBody>
          <a:bodyPr anchorCtr="0" anchor="t" bIns="0" lIns="0" spcFirstLastPara="1" rIns="0" wrap="square" tIns="75300">
            <a:noAutofit/>
          </a:bodyPr>
          <a:lstStyle/>
          <a:p>
            <a:pPr indent="-294640" lvl="0" marL="294640" marR="0" rtl="0" algn="l">
              <a:lnSpc>
                <a:spcPct val="120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Mrigank Jain — PES2UG23CS352</a:t>
            </a:r>
            <a:endParaRPr b="0" i="0" sz="1450" u="none" cap="none" strike="noStrike">
              <a:solidFill>
                <a:schemeClr val="dk1"/>
              </a:solidFill>
              <a:latin typeface="Calibri"/>
              <a:ea typeface="Calibri"/>
              <a:cs typeface="Calibri"/>
              <a:sym typeface="Calibri"/>
            </a:endParaRPr>
          </a:p>
          <a:p>
            <a:pPr indent="-294640" lvl="0" marL="294640" marR="0" rtl="0" algn="l">
              <a:lnSpc>
                <a:spcPct val="120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Mohammed Mir Fazlai Ali — PES2UG23CS346</a:t>
            </a:r>
            <a:endParaRPr b="0" i="0" sz="1450" u="none" cap="none" strike="noStrike">
              <a:solidFill>
                <a:schemeClr val="dk1"/>
              </a:solidFill>
              <a:latin typeface="Calibri"/>
              <a:ea typeface="Calibri"/>
              <a:cs typeface="Calibri"/>
              <a:sym typeface="Calibri"/>
            </a:endParaRPr>
          </a:p>
          <a:p>
            <a:pPr indent="-294640" lvl="0" marL="294640" marR="0" rtl="0" algn="l">
              <a:lnSpc>
                <a:spcPct val="120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Mohammed Shehzaad Khan — PES2UG23CS349</a:t>
            </a:r>
            <a:endParaRPr b="0" i="0" sz="1450" u="none" cap="none" strike="noStrike">
              <a:solidFill>
                <a:schemeClr val="dk1"/>
              </a:solidFill>
              <a:latin typeface="Calibri"/>
              <a:ea typeface="Calibri"/>
              <a:cs typeface="Calibri"/>
              <a:sym typeface="Calibri"/>
            </a:endParaRPr>
          </a:p>
          <a:p>
            <a:pPr indent="-294640" lvl="0" marL="294640" marR="0" rtl="0" algn="l">
              <a:lnSpc>
                <a:spcPct val="120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Arjun Sai N — PES2UG23CS091</a:t>
            </a:r>
            <a:endParaRPr b="0" i="0" sz="1450" u="none" cap="none" strike="noStrike">
              <a:solidFill>
                <a:schemeClr val="dk1"/>
              </a:solidFill>
              <a:latin typeface="Calibri"/>
              <a:ea typeface="Calibri"/>
              <a:cs typeface="Calibri"/>
              <a:sym typeface="Calibri"/>
            </a:endParaRPr>
          </a:p>
        </p:txBody>
      </p:sp>
      <p:pic>
        <p:nvPicPr>
          <p:cNvPr id="28" name="Google Shape;28;p4"/>
          <p:cNvPicPr preferRelativeResize="0"/>
          <p:nvPr/>
        </p:nvPicPr>
        <p:blipFill>
          <a:blip r:embed="rId4">
            <a:alphaModFix/>
          </a:blip>
          <a:stretch>
            <a:fillRect/>
          </a:stretch>
        </p:blipFill>
        <p:spPr>
          <a:xfrm>
            <a:off x="10977674" y="6481475"/>
            <a:ext cx="1146850" cy="3765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 name="Shape 33"/>
        <p:cNvGrpSpPr/>
        <p:nvPr/>
      </p:nvGrpSpPr>
      <p:grpSpPr>
        <a:xfrm>
          <a:off x="0" y="0"/>
          <a:ext cx="0" cy="0"/>
          <a:chOff x="0" y="0"/>
          <a:chExt cx="0" cy="0"/>
        </a:xfrm>
      </p:grpSpPr>
      <p:pic>
        <p:nvPicPr>
          <p:cNvPr descr="preencoded.png" id="34" name="Google Shape;34;p5"/>
          <p:cNvPicPr preferRelativeResize="0"/>
          <p:nvPr/>
        </p:nvPicPr>
        <p:blipFill rotWithShape="1">
          <a:blip r:embed="rId3">
            <a:alphaModFix/>
          </a:blip>
          <a:srcRect b="0" l="0" r="0" t="0"/>
          <a:stretch/>
        </p:blipFill>
        <p:spPr>
          <a:xfrm>
            <a:off x="10920635" y="746621"/>
            <a:ext cx="609585" cy="219670"/>
          </a:xfrm>
          <a:prstGeom prst="rect">
            <a:avLst/>
          </a:prstGeom>
          <a:noFill/>
          <a:ln>
            <a:noFill/>
          </a:ln>
        </p:spPr>
      </p:pic>
      <p:sp>
        <p:nvSpPr>
          <p:cNvPr id="35" name="Google Shape;35;p5"/>
          <p:cNvSpPr/>
          <p:nvPr/>
        </p:nvSpPr>
        <p:spPr>
          <a:xfrm>
            <a:off x="661475" y="1249759"/>
            <a:ext cx="10868745" cy="590649"/>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3700"/>
              <a:buFont typeface="Inter"/>
              <a:buNone/>
            </a:pPr>
            <a:r>
              <a:rPr b="1" i="0" lang="en-US" sz="3700" u="none" cap="none" strike="noStrike">
                <a:solidFill>
                  <a:srgbClr val="000000"/>
                </a:solidFill>
                <a:latin typeface="Inter"/>
                <a:ea typeface="Inter"/>
                <a:cs typeface="Inter"/>
                <a:sym typeface="Inter"/>
              </a:rPr>
              <a:t>Outline</a:t>
            </a:r>
            <a:endParaRPr b="0" i="0" sz="3700" u="none" cap="none" strike="noStrike">
              <a:solidFill>
                <a:schemeClr val="dk1"/>
              </a:solidFill>
              <a:latin typeface="Calibri"/>
              <a:ea typeface="Calibri"/>
              <a:cs typeface="Calibri"/>
              <a:sym typeface="Calibri"/>
            </a:endParaRPr>
          </a:p>
        </p:txBody>
      </p:sp>
      <p:sp>
        <p:nvSpPr>
          <p:cNvPr id="36" name="Google Shape;36;p5"/>
          <p:cNvSpPr/>
          <p:nvPr/>
        </p:nvSpPr>
        <p:spPr>
          <a:xfrm>
            <a:off x="661475" y="2123877"/>
            <a:ext cx="10868745" cy="3987403"/>
          </a:xfrm>
          <a:prstGeom prst="rect">
            <a:avLst/>
          </a:prstGeom>
          <a:noFill/>
          <a:ln>
            <a:noFill/>
          </a:ln>
        </p:spPr>
        <p:txBody>
          <a:bodyPr anchorCtr="0" anchor="t" bIns="0" lIns="0" spcFirstLastPara="1" rIns="0" wrap="square" tIns="75600">
            <a:noAutofit/>
          </a:bodyPr>
          <a:lstStyle/>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Abstract and Scope of the Project</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Architecture diagram/complete pipeline of project(mention all the modules)</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Summary of Capstone Project Phase – 2 work</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Detailed explanation of modules developed so far (post phase-2)</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Demo, results and outputs of each module (with screenshots)</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Performance metric for module/ collection of modules, and its comparison with baseline</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Contribution of each team member</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Remaining modules to be completed</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G</a:t>
            </a:r>
            <a:r>
              <a:rPr lang="en-US" sz="1450">
                <a:solidFill>
                  <a:srgbClr val="272525"/>
                </a:solidFill>
                <a:latin typeface="Inter"/>
                <a:ea typeface="Inter"/>
                <a:cs typeface="Inter"/>
                <a:sym typeface="Inter"/>
              </a:rPr>
              <a:t>an</a:t>
            </a:r>
            <a:r>
              <a:rPr b="0" i="0" lang="en-US" sz="1450" u="none" cap="none" strike="noStrike">
                <a:solidFill>
                  <a:srgbClr val="272525"/>
                </a:solidFill>
                <a:latin typeface="Inter"/>
                <a:ea typeface="Inter"/>
                <a:cs typeface="Inter"/>
                <a:sym typeface="Inter"/>
              </a:rPr>
              <a:t>tt Chart indicating tasks completed post phase-2 and plan ahead for current semester</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Github repository (with code database) ( Private: only team and respective guide)</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References in IEEE format ( baselines with which work is compared with modules adapted form)</a:t>
            </a:r>
            <a:endParaRPr b="0" i="0" sz="1450" u="none" cap="none" strike="noStrike">
              <a:solidFill>
                <a:schemeClr val="dk1"/>
              </a:solidFill>
              <a:latin typeface="Calibri"/>
              <a:ea typeface="Calibri"/>
              <a:cs typeface="Calibri"/>
              <a:sym typeface="Calibri"/>
            </a:endParaRPr>
          </a:p>
        </p:txBody>
      </p:sp>
      <p:pic>
        <p:nvPicPr>
          <p:cNvPr id="37" name="Google Shape;37;p5"/>
          <p:cNvPicPr preferRelativeResize="0"/>
          <p:nvPr/>
        </p:nvPicPr>
        <p:blipFill>
          <a:blip r:embed="rId4">
            <a:alphaModFix/>
          </a:blip>
          <a:stretch>
            <a:fillRect/>
          </a:stretch>
        </p:blipFill>
        <p:spPr>
          <a:xfrm>
            <a:off x="10820725" y="6276075"/>
            <a:ext cx="1370950" cy="51792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 name="Shape 42"/>
        <p:cNvGrpSpPr/>
        <p:nvPr/>
      </p:nvGrpSpPr>
      <p:grpSpPr>
        <a:xfrm>
          <a:off x="0" y="0"/>
          <a:ext cx="0" cy="0"/>
          <a:chOff x="0" y="0"/>
          <a:chExt cx="0" cy="0"/>
        </a:xfrm>
      </p:grpSpPr>
      <p:pic>
        <p:nvPicPr>
          <p:cNvPr descr="preencoded.png" id="43" name="Google Shape;43;p6"/>
          <p:cNvPicPr preferRelativeResize="0"/>
          <p:nvPr/>
        </p:nvPicPr>
        <p:blipFill rotWithShape="1">
          <a:blip r:embed="rId3">
            <a:alphaModFix/>
          </a:blip>
          <a:srcRect b="0" l="0" r="0" t="0"/>
          <a:stretch/>
        </p:blipFill>
        <p:spPr>
          <a:xfrm>
            <a:off x="10920635" y="1448098"/>
            <a:ext cx="609585" cy="219670"/>
          </a:xfrm>
          <a:prstGeom prst="rect">
            <a:avLst/>
          </a:prstGeom>
          <a:noFill/>
          <a:ln>
            <a:noFill/>
          </a:ln>
        </p:spPr>
      </p:pic>
      <p:sp>
        <p:nvSpPr>
          <p:cNvPr id="44" name="Google Shape;44;p6"/>
          <p:cNvSpPr/>
          <p:nvPr/>
        </p:nvSpPr>
        <p:spPr>
          <a:xfrm>
            <a:off x="661475" y="1951236"/>
            <a:ext cx="10868745" cy="590649"/>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3700"/>
              <a:buFont typeface="Inter"/>
              <a:buNone/>
            </a:pPr>
            <a:r>
              <a:rPr b="1" i="0" lang="en-US" sz="3700" u="none" cap="none" strike="noStrike">
                <a:solidFill>
                  <a:srgbClr val="000000"/>
                </a:solidFill>
                <a:latin typeface="Inter"/>
                <a:ea typeface="Inter"/>
                <a:cs typeface="Inter"/>
                <a:sym typeface="Inter"/>
              </a:rPr>
              <a:t>The Problem: Fragmented Digital History</a:t>
            </a:r>
            <a:endParaRPr b="0" i="0" sz="3700" u="none" cap="none" strike="noStrike">
              <a:solidFill>
                <a:schemeClr val="dk1"/>
              </a:solidFill>
              <a:latin typeface="Calibri"/>
              <a:ea typeface="Calibri"/>
              <a:cs typeface="Calibri"/>
              <a:sym typeface="Calibri"/>
            </a:endParaRPr>
          </a:p>
        </p:txBody>
      </p:sp>
      <p:sp>
        <p:nvSpPr>
          <p:cNvPr id="45" name="Google Shape;45;p6"/>
          <p:cNvSpPr/>
          <p:nvPr/>
        </p:nvSpPr>
        <p:spPr>
          <a:xfrm>
            <a:off x="661475" y="2825353"/>
            <a:ext cx="11478330" cy="302419"/>
          </a:xfrm>
          <a:prstGeom prst="rect">
            <a:avLst/>
          </a:prstGeom>
          <a:noFill/>
          <a:ln>
            <a:noFill/>
          </a:ln>
        </p:spPr>
        <p:txBody>
          <a:bodyPr anchorCtr="0" anchor="t" bIns="0" lIns="0" spcFirstLastPara="1" rIns="0" wrap="square" tIns="0">
            <a:noAutofit/>
          </a:bodyPr>
          <a:lstStyle/>
          <a:p>
            <a:pPr indent="0" lvl="0" marL="0" marR="0" rtl="0" algn="l">
              <a:lnSpc>
                <a:spcPct val="133000"/>
              </a:lnSpc>
              <a:spcBef>
                <a:spcPts val="0"/>
              </a:spcBef>
              <a:spcAft>
                <a:spcPts val="0"/>
              </a:spcAft>
              <a:buClr>
                <a:srgbClr val="272525"/>
              </a:buClr>
              <a:buSzPts val="1450"/>
              <a:buFont typeface="Inter"/>
              <a:buNone/>
            </a:pPr>
            <a:r>
              <a:rPr b="0" i="0" lang="en-US" sz="1450" u="none" cap="none" strike="noStrike">
                <a:solidFill>
                  <a:srgbClr val="272525"/>
                </a:solidFill>
                <a:latin typeface="Inter"/>
                <a:ea typeface="Inter"/>
                <a:cs typeface="Inter"/>
                <a:sym typeface="Inter"/>
              </a:rPr>
              <a:t>Personal digital context is fragmented across multiple applications. A user may:</a:t>
            </a:r>
            <a:endParaRPr b="0" i="0" sz="1450" u="none" cap="none" strike="noStrike">
              <a:solidFill>
                <a:schemeClr val="dk1"/>
              </a:solidFill>
              <a:latin typeface="Calibri"/>
              <a:ea typeface="Calibri"/>
              <a:cs typeface="Calibri"/>
              <a:sym typeface="Calibri"/>
            </a:endParaRPr>
          </a:p>
        </p:txBody>
      </p:sp>
      <p:sp>
        <p:nvSpPr>
          <p:cNvPr id="46" name="Google Shape;46;p6"/>
          <p:cNvSpPr/>
          <p:nvPr/>
        </p:nvSpPr>
        <p:spPr>
          <a:xfrm>
            <a:off x="661475" y="3340398"/>
            <a:ext cx="10868745" cy="1039416"/>
          </a:xfrm>
          <a:prstGeom prst="rect">
            <a:avLst/>
          </a:prstGeom>
          <a:noFill/>
          <a:ln>
            <a:noFill/>
          </a:ln>
        </p:spPr>
        <p:txBody>
          <a:bodyPr anchorCtr="0" anchor="t" bIns="0" lIns="0" spcFirstLastPara="1" rIns="0" wrap="square" tIns="75600">
            <a:noAutofit/>
          </a:bodyPr>
          <a:lstStyle/>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Read an email in Gmail</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Search related articles in Chrome</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Watch a YouTube tutorial</a:t>
            </a:r>
            <a:endParaRPr b="0" i="0" sz="1450" u="none" cap="none" strike="noStrike">
              <a:solidFill>
                <a:schemeClr val="dk1"/>
              </a:solidFill>
              <a:latin typeface="Calibri"/>
              <a:ea typeface="Calibri"/>
              <a:cs typeface="Calibri"/>
              <a:sym typeface="Calibri"/>
            </a:endParaRPr>
          </a:p>
        </p:txBody>
      </p:sp>
      <p:sp>
        <p:nvSpPr>
          <p:cNvPr id="47" name="Google Shape;47;p6"/>
          <p:cNvSpPr/>
          <p:nvPr/>
        </p:nvSpPr>
        <p:spPr>
          <a:xfrm>
            <a:off x="661475" y="4592439"/>
            <a:ext cx="10868745" cy="817463"/>
          </a:xfrm>
          <a:prstGeom prst="rect">
            <a:avLst/>
          </a:prstGeom>
          <a:noFill/>
          <a:ln>
            <a:noFill/>
          </a:ln>
        </p:spPr>
        <p:txBody>
          <a:bodyPr anchorCtr="0" anchor="t" bIns="0" lIns="0" spcFirstLastPara="1" rIns="0" wrap="square" tIns="0">
            <a:noAutofit/>
          </a:bodyPr>
          <a:lstStyle/>
          <a:p>
            <a:pPr indent="0" lvl="0" marL="0" marR="0" rtl="0" algn="l">
              <a:lnSpc>
                <a:spcPct val="133000"/>
              </a:lnSpc>
              <a:spcBef>
                <a:spcPts val="0"/>
              </a:spcBef>
              <a:spcAft>
                <a:spcPts val="0"/>
              </a:spcAft>
              <a:buClr>
                <a:srgbClr val="272525"/>
              </a:buClr>
              <a:buSzPts val="1450"/>
              <a:buFont typeface="Inter"/>
              <a:buNone/>
            </a:pPr>
            <a:r>
              <a:rPr b="0" i="0" lang="en-US" sz="1450" u="none" cap="none" strike="noStrike">
                <a:solidFill>
                  <a:srgbClr val="272525"/>
                </a:solidFill>
                <a:latin typeface="Inter"/>
                <a:ea typeface="Inter"/>
                <a:cs typeface="Inter"/>
                <a:sym typeface="Inter"/>
              </a:rPr>
              <a:t>But later cannot reconstruct the sequence or find the information across separate applications.</a:t>
            </a:r>
            <a:endParaRPr b="0" i="0" sz="1450" u="none" cap="none" strike="noStrike">
              <a:solidFill>
                <a:schemeClr val="dk1"/>
              </a:solidFill>
              <a:latin typeface="Calibri"/>
              <a:ea typeface="Calibri"/>
              <a:cs typeface="Calibri"/>
              <a:sym typeface="Calibri"/>
            </a:endParaRPr>
          </a:p>
          <a:p>
            <a:pPr indent="0" lvl="0" marL="0" marR="0" rtl="0" algn="l">
              <a:lnSpc>
                <a:spcPct val="133000"/>
              </a:lnSpc>
              <a:spcBef>
                <a:spcPts val="1650"/>
              </a:spcBef>
              <a:spcAft>
                <a:spcPts val="0"/>
              </a:spcAft>
              <a:buClr>
                <a:srgbClr val="272525"/>
              </a:buClr>
              <a:buSzPts val="1450"/>
              <a:buFont typeface="Inter"/>
              <a:buNone/>
            </a:pPr>
            <a:r>
              <a:rPr b="1" i="0" lang="en-US" sz="1450" u="none" cap="none" strike="noStrike">
                <a:solidFill>
                  <a:srgbClr val="272525"/>
                </a:solidFill>
                <a:latin typeface="Inter"/>
                <a:ea typeface="Inter"/>
                <a:cs typeface="Inter"/>
                <a:sym typeface="Inter"/>
              </a:rPr>
              <a:t>E.C.H.O.</a:t>
            </a:r>
            <a:r>
              <a:rPr b="0" i="0" lang="en-US" sz="1450" u="none" cap="none" strike="noStrike">
                <a:solidFill>
                  <a:srgbClr val="272525"/>
                </a:solidFill>
                <a:latin typeface="Inter"/>
                <a:ea typeface="Inter"/>
                <a:cs typeface="Inter"/>
                <a:sym typeface="Inter"/>
              </a:rPr>
              <a:t> solves this by creating a unified, searchable memory layer that connects activity across all the above sources.</a:t>
            </a:r>
            <a:endParaRPr b="0" i="0" sz="1450" u="none" cap="none" strike="noStrike">
              <a:solidFill>
                <a:schemeClr val="dk1"/>
              </a:solidFill>
              <a:latin typeface="Calibri"/>
              <a:ea typeface="Calibri"/>
              <a:cs typeface="Calibri"/>
              <a:sym typeface="Calibri"/>
            </a:endParaRPr>
          </a:p>
        </p:txBody>
      </p:sp>
      <p:pic>
        <p:nvPicPr>
          <p:cNvPr id="48" name="Google Shape;48;p6"/>
          <p:cNvPicPr preferRelativeResize="0"/>
          <p:nvPr/>
        </p:nvPicPr>
        <p:blipFill>
          <a:blip r:embed="rId4">
            <a:alphaModFix/>
          </a:blip>
          <a:stretch>
            <a:fillRect/>
          </a:stretch>
        </p:blipFill>
        <p:spPr>
          <a:xfrm>
            <a:off x="9419900" y="6257925"/>
            <a:ext cx="2771775" cy="6000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descr="preencoded.png" id="54" name="Google Shape;54;p7"/>
          <p:cNvPicPr preferRelativeResize="0"/>
          <p:nvPr/>
        </p:nvPicPr>
        <p:blipFill rotWithShape="1">
          <a:blip r:embed="rId3">
            <a:alphaModFix/>
          </a:blip>
          <a:srcRect b="0" l="0" r="0" t="0"/>
          <a:stretch/>
        </p:blipFill>
        <p:spPr>
          <a:xfrm>
            <a:off x="0" y="0"/>
            <a:ext cx="12191695" cy="2178149"/>
          </a:xfrm>
          <a:prstGeom prst="rect">
            <a:avLst/>
          </a:prstGeom>
          <a:noFill/>
          <a:ln>
            <a:noFill/>
          </a:ln>
        </p:spPr>
      </p:pic>
      <p:sp>
        <p:nvSpPr>
          <p:cNvPr id="55" name="Google Shape;55;p7"/>
          <p:cNvSpPr/>
          <p:nvPr/>
        </p:nvSpPr>
        <p:spPr>
          <a:xfrm>
            <a:off x="661475" y="2749748"/>
            <a:ext cx="10868745" cy="544513"/>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3400"/>
              <a:buFont typeface="Inter"/>
              <a:buNone/>
            </a:pPr>
            <a:r>
              <a:rPr b="1" i="0" lang="en-US" sz="3400" u="none" cap="none" strike="noStrike">
                <a:solidFill>
                  <a:srgbClr val="000000"/>
                </a:solidFill>
                <a:latin typeface="Inter"/>
                <a:ea typeface="Inter"/>
                <a:cs typeface="Inter"/>
                <a:sym typeface="Inter"/>
              </a:rPr>
              <a:t>Abstract and Scope of the Project</a:t>
            </a:r>
            <a:endParaRPr b="0" i="0" sz="3400" u="none" cap="none" strike="noStrike">
              <a:solidFill>
                <a:schemeClr val="dk1"/>
              </a:solidFill>
              <a:latin typeface="Calibri"/>
              <a:ea typeface="Calibri"/>
              <a:cs typeface="Calibri"/>
              <a:sym typeface="Calibri"/>
            </a:endParaRPr>
          </a:p>
        </p:txBody>
      </p:sp>
      <p:sp>
        <p:nvSpPr>
          <p:cNvPr id="56" name="Google Shape;56;p7"/>
          <p:cNvSpPr/>
          <p:nvPr/>
        </p:nvSpPr>
        <p:spPr>
          <a:xfrm>
            <a:off x="661475" y="3358455"/>
            <a:ext cx="10868745" cy="326628"/>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2050"/>
              <a:buFont typeface="Inter"/>
              <a:buNone/>
            </a:pPr>
            <a:r>
              <a:rPr b="1" i="0" lang="en-US" sz="2050" u="none" cap="none" strike="noStrike">
                <a:solidFill>
                  <a:srgbClr val="000000"/>
                </a:solidFill>
                <a:latin typeface="Inter"/>
                <a:ea typeface="Inter"/>
                <a:cs typeface="Inter"/>
                <a:sym typeface="Inter"/>
              </a:rPr>
              <a:t>ABSTRACT:</a:t>
            </a:r>
            <a:endParaRPr b="0" i="0" sz="2050" u="none" cap="none" strike="noStrike">
              <a:solidFill>
                <a:schemeClr val="dk1"/>
              </a:solidFill>
              <a:latin typeface="Calibri"/>
              <a:ea typeface="Calibri"/>
              <a:cs typeface="Calibri"/>
              <a:sym typeface="Calibri"/>
            </a:endParaRPr>
          </a:p>
        </p:txBody>
      </p:sp>
      <p:sp>
        <p:nvSpPr>
          <p:cNvPr id="57" name="Google Shape;57;p7"/>
          <p:cNvSpPr/>
          <p:nvPr/>
        </p:nvSpPr>
        <p:spPr>
          <a:xfrm>
            <a:off x="661475" y="3925987"/>
            <a:ext cx="10868745" cy="1251843"/>
          </a:xfrm>
          <a:prstGeom prst="rect">
            <a:avLst/>
          </a:prstGeom>
          <a:noFill/>
          <a:ln>
            <a:noFill/>
          </a:ln>
        </p:spPr>
        <p:txBody>
          <a:bodyPr anchorCtr="0" anchor="t" bIns="0" lIns="0" spcFirstLastPara="1" rIns="0" wrap="square" tIns="0">
            <a:noAutofit/>
          </a:bodyPr>
          <a:lstStyle/>
          <a:p>
            <a:pPr indent="0" lvl="0" marL="0" marR="0" rtl="0" algn="l">
              <a:lnSpc>
                <a:spcPct val="128000"/>
              </a:lnSpc>
              <a:spcBef>
                <a:spcPts val="0"/>
              </a:spcBef>
              <a:spcAft>
                <a:spcPts val="0"/>
              </a:spcAft>
              <a:buClr>
                <a:srgbClr val="272525"/>
              </a:buClr>
              <a:buSzPts val="1350"/>
              <a:buFont typeface="Inter"/>
              <a:buNone/>
            </a:pPr>
            <a:r>
              <a:rPr b="0" i="0" lang="en-US" sz="1350" u="none" cap="none" strike="noStrike">
                <a:solidFill>
                  <a:srgbClr val="272525"/>
                </a:solidFill>
                <a:latin typeface="Inter"/>
                <a:ea typeface="Inter"/>
                <a:cs typeface="Inter"/>
                <a:sym typeface="Inter"/>
              </a:rPr>
              <a:t>E.C.H.O. addresses fragmented personal digital history across Gmail, Chrome, and YouTube. Instead of forcing users to remember which application contained a previous interaction, the system creates a unified, searchable memory layer.</a:t>
            </a:r>
            <a:endParaRPr b="0" i="0" sz="1350" u="none" cap="none" strike="noStrike">
              <a:solidFill>
                <a:schemeClr val="dk1"/>
              </a:solidFill>
              <a:latin typeface="Calibri"/>
              <a:ea typeface="Calibri"/>
              <a:cs typeface="Calibri"/>
              <a:sym typeface="Calibri"/>
            </a:endParaRPr>
          </a:p>
          <a:p>
            <a:pPr indent="0" lvl="0" marL="0" marR="0" rtl="0" algn="l">
              <a:lnSpc>
                <a:spcPct val="128000"/>
              </a:lnSpc>
              <a:spcBef>
                <a:spcPts val="1400"/>
              </a:spcBef>
              <a:spcAft>
                <a:spcPts val="0"/>
              </a:spcAft>
              <a:buClr>
                <a:srgbClr val="272525"/>
              </a:buClr>
              <a:buSzPts val="1350"/>
              <a:buFont typeface="Inter"/>
              <a:buNone/>
            </a:pPr>
            <a:r>
              <a:rPr b="0" i="0" lang="en-US" sz="1350" u="none" cap="none" strike="noStrike">
                <a:solidFill>
                  <a:srgbClr val="272525"/>
                </a:solidFill>
                <a:latin typeface="Inter"/>
                <a:ea typeface="Inter"/>
                <a:cs typeface="Inter"/>
                <a:sym typeface="Inter"/>
              </a:rPr>
              <a:t>The system captures meaningful activity, stores source-aware canonical records, enriches them for semantic search, retrieves context through hybrid deterministic retrieval, and presents results through a React dashboard and Chrome extension popup.</a:t>
            </a:r>
            <a:endParaRPr b="0" i="0" sz="1350" u="none" cap="none" strike="noStrike">
              <a:solidFill>
                <a:schemeClr val="dk1"/>
              </a:solidFill>
              <a:latin typeface="Calibri"/>
              <a:ea typeface="Calibri"/>
              <a:cs typeface="Calibri"/>
              <a:sym typeface="Calibri"/>
            </a:endParaRPr>
          </a:p>
        </p:txBody>
      </p:sp>
      <p:sp>
        <p:nvSpPr>
          <p:cNvPr id="58" name="Google Shape;58;p7"/>
          <p:cNvSpPr/>
          <p:nvPr/>
        </p:nvSpPr>
        <p:spPr>
          <a:xfrm>
            <a:off x="661475" y="5358507"/>
            <a:ext cx="10868745" cy="927894"/>
          </a:xfrm>
          <a:prstGeom prst="roundRect">
            <a:avLst>
              <a:gd fmla="val 7887" name="adj"/>
            </a:avLst>
          </a:prstGeom>
          <a:solidFill>
            <a:srgbClr val="DADB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9" name="Google Shape;59;p7"/>
          <p:cNvPicPr preferRelativeResize="0"/>
          <p:nvPr/>
        </p:nvPicPr>
        <p:blipFill rotWithShape="1">
          <a:blip r:embed="rId4">
            <a:alphaModFix/>
          </a:blip>
          <a:srcRect b="0" l="0" r="0" t="0"/>
          <a:stretch/>
        </p:blipFill>
        <p:spPr>
          <a:xfrm>
            <a:off x="835699" y="5594350"/>
            <a:ext cx="217780" cy="174228"/>
          </a:xfrm>
          <a:prstGeom prst="rect">
            <a:avLst/>
          </a:prstGeom>
          <a:noFill/>
          <a:ln>
            <a:noFill/>
          </a:ln>
        </p:spPr>
      </p:pic>
      <p:sp>
        <p:nvSpPr>
          <p:cNvPr id="60" name="Google Shape;60;p7"/>
          <p:cNvSpPr/>
          <p:nvPr/>
        </p:nvSpPr>
        <p:spPr>
          <a:xfrm>
            <a:off x="1227702" y="5562699"/>
            <a:ext cx="10128294" cy="535583"/>
          </a:xfrm>
          <a:prstGeom prst="rect">
            <a:avLst/>
          </a:prstGeom>
          <a:noFill/>
          <a:ln>
            <a:noFill/>
          </a:ln>
        </p:spPr>
        <p:txBody>
          <a:bodyPr anchorCtr="0" anchor="t" bIns="0" lIns="0" spcFirstLastPara="1" rIns="0" wrap="square" tIns="0">
            <a:noAutofit/>
          </a:bodyPr>
          <a:lstStyle/>
          <a:p>
            <a:pPr indent="0" lvl="0" marL="0" marR="0" rtl="0" algn="l">
              <a:lnSpc>
                <a:spcPct val="128000"/>
              </a:lnSpc>
              <a:spcBef>
                <a:spcPts val="0"/>
              </a:spcBef>
              <a:spcAft>
                <a:spcPts val="0"/>
              </a:spcAft>
              <a:buClr>
                <a:srgbClr val="000000"/>
              </a:buClr>
              <a:buSzPts val="1350"/>
              <a:buFont typeface="Inter"/>
              <a:buNone/>
            </a:pPr>
            <a:r>
              <a:rPr b="0" i="0" lang="en-US" sz="1350" u="none" cap="none" strike="noStrike">
                <a:solidFill>
                  <a:srgbClr val="000000"/>
                </a:solidFill>
                <a:latin typeface="Inter"/>
                <a:ea typeface="Inter"/>
                <a:cs typeface="Inter"/>
                <a:sym typeface="Inter"/>
              </a:rPr>
              <a:t>Phase III focus: system integration, reliable enrichment/indexing, retrieval-quality improvements, digital wellbeing analytics, and UI completion.</a:t>
            </a:r>
            <a:endParaRPr b="0" i="0" sz="1350" u="none" cap="none" strike="noStrike">
              <a:solidFill>
                <a:schemeClr val="dk1"/>
              </a:solidFill>
              <a:latin typeface="Calibri"/>
              <a:ea typeface="Calibri"/>
              <a:cs typeface="Calibri"/>
              <a:sym typeface="Calibri"/>
            </a:endParaRPr>
          </a:p>
        </p:txBody>
      </p:sp>
      <p:pic>
        <p:nvPicPr>
          <p:cNvPr id="61" name="Google Shape;61;p7"/>
          <p:cNvPicPr preferRelativeResize="0"/>
          <p:nvPr/>
        </p:nvPicPr>
        <p:blipFill>
          <a:blip r:embed="rId5">
            <a:alphaModFix/>
          </a:blip>
          <a:stretch>
            <a:fillRect/>
          </a:stretch>
        </p:blipFill>
        <p:spPr>
          <a:xfrm>
            <a:off x="10629525" y="6382400"/>
            <a:ext cx="1505695" cy="4192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pic>
        <p:nvPicPr>
          <p:cNvPr descr="preencoded.png" id="67" name="Google Shape;67;p8"/>
          <p:cNvPicPr preferRelativeResize="0"/>
          <p:nvPr/>
        </p:nvPicPr>
        <p:blipFill rotWithShape="1">
          <a:blip r:embed="rId3">
            <a:alphaModFix/>
          </a:blip>
          <a:srcRect b="0" l="0" r="0" t="0"/>
          <a:stretch/>
        </p:blipFill>
        <p:spPr>
          <a:xfrm>
            <a:off x="10920635" y="968573"/>
            <a:ext cx="609585" cy="219670"/>
          </a:xfrm>
          <a:prstGeom prst="rect">
            <a:avLst/>
          </a:prstGeom>
          <a:noFill/>
          <a:ln>
            <a:noFill/>
          </a:ln>
        </p:spPr>
      </p:pic>
      <p:sp>
        <p:nvSpPr>
          <p:cNvPr id="68" name="Google Shape;68;p8"/>
          <p:cNvSpPr/>
          <p:nvPr/>
        </p:nvSpPr>
        <p:spPr>
          <a:xfrm>
            <a:off x="661475" y="1471712"/>
            <a:ext cx="10868745" cy="590649"/>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3700"/>
              <a:buFont typeface="Inter"/>
              <a:buNone/>
            </a:pPr>
            <a:r>
              <a:rPr b="1" i="0" lang="en-US" sz="3700" u="none" cap="none" strike="noStrike">
                <a:solidFill>
                  <a:srgbClr val="000000"/>
                </a:solidFill>
                <a:latin typeface="Inter"/>
                <a:ea typeface="Inter"/>
                <a:cs typeface="Inter"/>
                <a:sym typeface="Inter"/>
              </a:rPr>
              <a:t>Project Scope</a:t>
            </a:r>
            <a:endParaRPr b="0" i="0" sz="3700" u="none" cap="none" strike="noStrike">
              <a:solidFill>
                <a:schemeClr val="dk1"/>
              </a:solidFill>
              <a:latin typeface="Calibri"/>
              <a:ea typeface="Calibri"/>
              <a:cs typeface="Calibri"/>
              <a:sym typeface="Calibri"/>
            </a:endParaRPr>
          </a:p>
        </p:txBody>
      </p:sp>
      <p:sp>
        <p:nvSpPr>
          <p:cNvPr id="69" name="Google Shape;69;p8"/>
          <p:cNvSpPr/>
          <p:nvPr/>
        </p:nvSpPr>
        <p:spPr>
          <a:xfrm>
            <a:off x="661475" y="2345829"/>
            <a:ext cx="11478330" cy="302419"/>
          </a:xfrm>
          <a:prstGeom prst="rect">
            <a:avLst/>
          </a:prstGeom>
          <a:noFill/>
          <a:ln>
            <a:noFill/>
          </a:ln>
        </p:spPr>
        <p:txBody>
          <a:bodyPr anchorCtr="0" anchor="t" bIns="0" lIns="0" spcFirstLastPara="1" rIns="0" wrap="square" tIns="0">
            <a:noAutofit/>
          </a:bodyPr>
          <a:lstStyle/>
          <a:p>
            <a:pPr indent="0" lvl="0" marL="0" marR="0" rtl="0" algn="l">
              <a:lnSpc>
                <a:spcPct val="133000"/>
              </a:lnSpc>
              <a:spcBef>
                <a:spcPts val="0"/>
              </a:spcBef>
              <a:spcAft>
                <a:spcPts val="0"/>
              </a:spcAft>
              <a:buClr>
                <a:srgbClr val="272525"/>
              </a:buClr>
              <a:buSzPts val="1450"/>
              <a:buFont typeface="Inter"/>
              <a:buNone/>
            </a:pPr>
            <a:r>
              <a:rPr b="0" i="0" lang="en-US" sz="1450" u="none" cap="none" strike="noStrike">
                <a:solidFill>
                  <a:srgbClr val="272525"/>
                </a:solidFill>
                <a:latin typeface="Inter"/>
                <a:ea typeface="Inter"/>
                <a:cs typeface="Inter"/>
                <a:sym typeface="Inter"/>
              </a:rPr>
              <a:t>The E.C.H.O. system encompasses:</a:t>
            </a:r>
            <a:endParaRPr b="0" i="0" sz="1450" u="none" cap="none" strike="noStrike">
              <a:solidFill>
                <a:schemeClr val="dk1"/>
              </a:solidFill>
              <a:latin typeface="Calibri"/>
              <a:ea typeface="Calibri"/>
              <a:cs typeface="Calibri"/>
              <a:sym typeface="Calibri"/>
            </a:endParaRPr>
          </a:p>
        </p:txBody>
      </p:sp>
      <p:sp>
        <p:nvSpPr>
          <p:cNvPr id="70" name="Google Shape;70;p8"/>
          <p:cNvSpPr/>
          <p:nvPr/>
        </p:nvSpPr>
        <p:spPr>
          <a:xfrm>
            <a:off x="661475" y="2860873"/>
            <a:ext cx="10868745" cy="2513409"/>
          </a:xfrm>
          <a:prstGeom prst="rect">
            <a:avLst/>
          </a:prstGeom>
          <a:noFill/>
          <a:ln>
            <a:noFill/>
          </a:ln>
        </p:spPr>
        <p:txBody>
          <a:bodyPr anchorCtr="0" anchor="t" bIns="0" lIns="0" spcFirstLastPara="1" rIns="0" wrap="square" tIns="75600">
            <a:noAutofit/>
          </a:bodyPr>
          <a:lstStyle/>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Gmail, Chrome, and YouTube activity capture</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Canonical memory storage with source-specific metadata</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Intent-aware capture and revisit detection</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Background enrichment, classification, and FAISS semantic indexing</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Natural-language hybrid retrieval with conversational context</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Digital wellbeing analytics and user-controlled reflections</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React dashboard, browser extension popup, settings, exp</a:t>
            </a:r>
            <a:endParaRPr b="0" i="0" sz="1450" u="none" cap="none" strike="noStrike">
              <a:solidFill>
                <a:schemeClr val="dk1"/>
              </a:solidFill>
              <a:latin typeface="Calibri"/>
              <a:ea typeface="Calibri"/>
              <a:cs typeface="Calibri"/>
              <a:sym typeface="Calibri"/>
            </a:endParaRPr>
          </a:p>
        </p:txBody>
      </p:sp>
      <p:sp>
        <p:nvSpPr>
          <p:cNvPr id="71" name="Google Shape;71;p8"/>
          <p:cNvSpPr/>
          <p:nvPr/>
        </p:nvSpPr>
        <p:spPr>
          <a:xfrm>
            <a:off x="661475" y="5586909"/>
            <a:ext cx="11478330" cy="302419"/>
          </a:xfrm>
          <a:prstGeom prst="rect">
            <a:avLst/>
          </a:prstGeom>
          <a:noFill/>
          <a:ln>
            <a:noFill/>
          </a:ln>
        </p:spPr>
        <p:txBody>
          <a:bodyPr anchorCtr="0" anchor="t" bIns="0" lIns="0" spcFirstLastPara="1" rIns="0" wrap="square" tIns="0">
            <a:noAutofit/>
          </a:bodyPr>
          <a:lstStyle/>
          <a:p>
            <a:pPr indent="0" lvl="0" marL="0" marR="0" rtl="0" algn="l">
              <a:lnSpc>
                <a:spcPct val="133000"/>
              </a:lnSpc>
              <a:spcBef>
                <a:spcPts val="0"/>
              </a:spcBef>
              <a:spcAft>
                <a:spcPts val="0"/>
              </a:spcAft>
              <a:buClr>
                <a:srgbClr val="272525"/>
              </a:buClr>
              <a:buSzPts val="1450"/>
              <a:buFont typeface="Inter"/>
              <a:buNone/>
            </a:pPr>
            <a:r>
              <a:rPr b="0" i="0" lang="en-US" sz="1450" u="none" cap="none" strike="noStrike">
                <a:solidFill>
                  <a:srgbClr val="272525"/>
                </a:solidFill>
                <a:latin typeface="Inter"/>
                <a:ea typeface="Inter"/>
                <a:cs typeface="Inter"/>
                <a:sym typeface="Inter"/>
              </a:rPr>
              <a:t>All functionality is designed with privacy-first principles and local-first architecture.</a:t>
            </a:r>
            <a:endParaRPr b="0" i="0" sz="1450" u="none" cap="none" strike="noStrike">
              <a:solidFill>
                <a:schemeClr val="dk1"/>
              </a:solidFill>
              <a:latin typeface="Calibri"/>
              <a:ea typeface="Calibri"/>
              <a:cs typeface="Calibri"/>
              <a:sym typeface="Calibri"/>
            </a:endParaRPr>
          </a:p>
        </p:txBody>
      </p:sp>
      <p:pic>
        <p:nvPicPr>
          <p:cNvPr id="72" name="Google Shape;72;p8"/>
          <p:cNvPicPr preferRelativeResize="0"/>
          <p:nvPr/>
        </p:nvPicPr>
        <p:blipFill>
          <a:blip r:embed="rId4">
            <a:alphaModFix/>
          </a:blip>
          <a:stretch>
            <a:fillRect/>
          </a:stretch>
        </p:blipFill>
        <p:spPr>
          <a:xfrm>
            <a:off x="10463400" y="6391275"/>
            <a:ext cx="1676400" cy="4667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pic>
        <p:nvPicPr>
          <p:cNvPr descr="preencoded.png" id="78" name="Google Shape;78;p9"/>
          <p:cNvPicPr preferRelativeResize="0"/>
          <p:nvPr/>
        </p:nvPicPr>
        <p:blipFill rotWithShape="1">
          <a:blip r:embed="rId3">
            <a:alphaModFix/>
          </a:blip>
          <a:srcRect b="0" l="0" r="0" t="0"/>
          <a:stretch/>
        </p:blipFill>
        <p:spPr>
          <a:xfrm>
            <a:off x="11187329" y="531813"/>
            <a:ext cx="342891" cy="123527"/>
          </a:xfrm>
          <a:prstGeom prst="rect">
            <a:avLst/>
          </a:prstGeom>
          <a:noFill/>
          <a:ln>
            <a:noFill/>
          </a:ln>
        </p:spPr>
      </p:pic>
      <p:sp>
        <p:nvSpPr>
          <p:cNvPr id="79" name="Google Shape;79;p9"/>
          <p:cNvSpPr/>
          <p:nvPr/>
        </p:nvSpPr>
        <p:spPr>
          <a:xfrm>
            <a:off x="661475" y="745034"/>
            <a:ext cx="10868745" cy="332184"/>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2050"/>
              <a:buFont typeface="Inter"/>
              <a:buNone/>
            </a:pPr>
            <a:r>
              <a:rPr b="1" i="0" lang="en-US" sz="2050" u="none" cap="none" strike="noStrike">
                <a:solidFill>
                  <a:srgbClr val="000000"/>
                </a:solidFill>
                <a:latin typeface="Inter"/>
                <a:ea typeface="Inter"/>
                <a:cs typeface="Inter"/>
                <a:sym typeface="Inter"/>
              </a:rPr>
              <a:t>E.C.H.O. Complete Architecture and Data Flow</a:t>
            </a:r>
            <a:endParaRPr b="0" i="0" sz="2050" u="none" cap="none" strike="noStrike">
              <a:solidFill>
                <a:schemeClr val="dk1"/>
              </a:solidFill>
              <a:latin typeface="Calibri"/>
              <a:ea typeface="Calibri"/>
              <a:cs typeface="Calibri"/>
              <a:sym typeface="Calibri"/>
            </a:endParaRPr>
          </a:p>
        </p:txBody>
      </p:sp>
      <p:sp>
        <p:nvSpPr>
          <p:cNvPr id="80" name="Google Shape;80;p9"/>
          <p:cNvSpPr/>
          <p:nvPr/>
        </p:nvSpPr>
        <p:spPr>
          <a:xfrm>
            <a:off x="661475" y="1101130"/>
            <a:ext cx="10868745" cy="199231"/>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LAYER 1 - DATA SOURCES:</a:t>
            </a:r>
            <a:endParaRPr b="0" i="0" sz="1250" u="none" cap="none" strike="noStrike">
              <a:solidFill>
                <a:schemeClr val="dk1"/>
              </a:solidFill>
              <a:latin typeface="Calibri"/>
              <a:ea typeface="Calibri"/>
              <a:cs typeface="Calibri"/>
              <a:sym typeface="Calibri"/>
            </a:endParaRPr>
          </a:p>
        </p:txBody>
      </p:sp>
      <p:pic>
        <p:nvPicPr>
          <p:cNvPr descr="preencoded.png" id="81" name="Google Shape;81;p9"/>
          <p:cNvPicPr preferRelativeResize="0"/>
          <p:nvPr/>
        </p:nvPicPr>
        <p:blipFill rotWithShape="1">
          <a:blip r:embed="rId4">
            <a:alphaModFix/>
          </a:blip>
          <a:srcRect b="0" l="0" r="0" t="0"/>
          <a:stretch/>
        </p:blipFill>
        <p:spPr>
          <a:xfrm>
            <a:off x="661475" y="1390055"/>
            <a:ext cx="6113508" cy="1974652"/>
          </a:xfrm>
          <a:prstGeom prst="rect">
            <a:avLst/>
          </a:prstGeom>
          <a:noFill/>
          <a:ln>
            <a:noFill/>
          </a:ln>
        </p:spPr>
      </p:pic>
      <p:sp>
        <p:nvSpPr>
          <p:cNvPr id="82" name="Google Shape;82;p9"/>
          <p:cNvSpPr/>
          <p:nvPr/>
        </p:nvSpPr>
        <p:spPr>
          <a:xfrm>
            <a:off x="661475" y="3632200"/>
            <a:ext cx="10868745" cy="440531"/>
          </a:xfrm>
          <a:prstGeom prst="rect">
            <a:avLst/>
          </a:prstGeom>
          <a:noFill/>
          <a:ln>
            <a:noFill/>
          </a:ln>
        </p:spPr>
        <p:txBody>
          <a:bodyPr anchorCtr="0" anchor="t" bIns="0" lIns="0" spcFirstLastPara="1" rIns="0" wrap="square" tIns="42525">
            <a:noAutofit/>
          </a:bodyPr>
          <a:lstStyle/>
          <a:p>
            <a:pPr indent="-162560" lvl="0" marL="162560" marR="0" rtl="0" algn="l">
              <a:lnSpc>
                <a:spcPct val="104000"/>
              </a:lnSpc>
              <a:spcBef>
                <a:spcPts val="0"/>
              </a:spcBef>
              <a:spcAft>
                <a:spcPts val="0"/>
              </a:spcAft>
              <a:buClr>
                <a:srgbClr val="272525"/>
              </a:buClr>
              <a:buSzPts val="800"/>
              <a:buFont typeface="Inter"/>
              <a:buChar char="•"/>
            </a:pPr>
            <a:r>
              <a:rPr b="0" i="0" lang="en-US" sz="800" u="none" cap="none" strike="noStrike">
                <a:solidFill>
                  <a:srgbClr val="272525"/>
                </a:solidFill>
                <a:latin typeface="Inter"/>
                <a:ea typeface="Inter"/>
                <a:cs typeface="Inter"/>
                <a:sym typeface="Inter"/>
              </a:rPr>
              <a:t>Gmail via OAuth/API</a:t>
            </a:r>
            <a:endParaRPr b="0" i="0" sz="800" u="none" cap="none" strike="noStrike">
              <a:solidFill>
                <a:schemeClr val="dk1"/>
              </a:solidFill>
              <a:latin typeface="Calibri"/>
              <a:ea typeface="Calibri"/>
              <a:cs typeface="Calibri"/>
              <a:sym typeface="Calibri"/>
            </a:endParaRPr>
          </a:p>
          <a:p>
            <a:pPr indent="-162560" lvl="0" marL="162560" marR="0" rtl="0" algn="l">
              <a:lnSpc>
                <a:spcPct val="104000"/>
              </a:lnSpc>
              <a:spcBef>
                <a:spcPts val="0"/>
              </a:spcBef>
              <a:spcAft>
                <a:spcPts val="0"/>
              </a:spcAft>
              <a:buClr>
                <a:srgbClr val="272525"/>
              </a:buClr>
              <a:buSzPts val="800"/>
              <a:buFont typeface="Inter"/>
              <a:buChar char="•"/>
            </a:pPr>
            <a:r>
              <a:rPr b="0" i="0" lang="en-US" sz="800" u="none" cap="none" strike="noStrike">
                <a:solidFill>
                  <a:srgbClr val="272525"/>
                </a:solidFill>
                <a:latin typeface="Inter"/>
                <a:ea typeface="Inter"/>
                <a:cs typeface="Inter"/>
                <a:sym typeface="Inter"/>
              </a:rPr>
              <a:t>Chrome browser activity via Manifest V3 extension</a:t>
            </a:r>
            <a:endParaRPr b="0" i="0" sz="800" u="none" cap="none" strike="noStrike">
              <a:solidFill>
                <a:schemeClr val="dk1"/>
              </a:solidFill>
              <a:latin typeface="Calibri"/>
              <a:ea typeface="Calibri"/>
              <a:cs typeface="Calibri"/>
              <a:sym typeface="Calibri"/>
            </a:endParaRPr>
          </a:p>
          <a:p>
            <a:pPr indent="-162560" lvl="0" marL="162560" marR="0" rtl="0" algn="l">
              <a:lnSpc>
                <a:spcPct val="104000"/>
              </a:lnSpc>
              <a:spcBef>
                <a:spcPts val="0"/>
              </a:spcBef>
              <a:spcAft>
                <a:spcPts val="0"/>
              </a:spcAft>
              <a:buClr>
                <a:srgbClr val="272525"/>
              </a:buClr>
              <a:buSzPts val="800"/>
              <a:buFont typeface="Inter"/>
              <a:buChar char="•"/>
            </a:pPr>
            <a:r>
              <a:rPr b="0" i="0" lang="en-US" sz="800" u="none" cap="none" strike="noStrike">
                <a:solidFill>
                  <a:srgbClr val="272525"/>
                </a:solidFill>
                <a:latin typeface="Inter"/>
                <a:ea typeface="Inter"/>
                <a:cs typeface="Inter"/>
                <a:sym typeface="Inter"/>
              </a:rPr>
              <a:t>YouTube watch activity and metadata</a:t>
            </a:r>
            <a:endParaRPr b="0" i="0" sz="800" u="none" cap="none" strike="noStrike">
              <a:solidFill>
                <a:schemeClr val="dk1"/>
              </a:solidFill>
              <a:latin typeface="Calibri"/>
              <a:ea typeface="Calibri"/>
              <a:cs typeface="Calibri"/>
              <a:sym typeface="Calibri"/>
            </a:endParaRPr>
          </a:p>
        </p:txBody>
      </p:sp>
      <p:sp>
        <p:nvSpPr>
          <p:cNvPr id="83" name="Google Shape;83;p9"/>
          <p:cNvSpPr/>
          <p:nvPr/>
        </p:nvSpPr>
        <p:spPr>
          <a:xfrm>
            <a:off x="661475" y="4162425"/>
            <a:ext cx="10868745" cy="199231"/>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LAYER 2 - CAPTURE AND PRIVACY LAYER:</a:t>
            </a:r>
            <a:endParaRPr b="0" i="0" sz="1250" u="none" cap="none" strike="noStrike">
              <a:solidFill>
                <a:schemeClr val="dk1"/>
              </a:solidFill>
              <a:latin typeface="Calibri"/>
              <a:ea typeface="Calibri"/>
              <a:cs typeface="Calibri"/>
              <a:sym typeface="Calibri"/>
            </a:endParaRPr>
          </a:p>
        </p:txBody>
      </p:sp>
      <p:sp>
        <p:nvSpPr>
          <p:cNvPr id="84" name="Google Shape;84;p9"/>
          <p:cNvSpPr/>
          <p:nvPr/>
        </p:nvSpPr>
        <p:spPr>
          <a:xfrm>
            <a:off x="661475" y="4451350"/>
            <a:ext cx="10868745" cy="748109"/>
          </a:xfrm>
          <a:prstGeom prst="rect">
            <a:avLst/>
          </a:prstGeom>
          <a:noFill/>
          <a:ln>
            <a:noFill/>
          </a:ln>
        </p:spPr>
        <p:txBody>
          <a:bodyPr anchorCtr="0" anchor="t" bIns="0" lIns="0" spcFirstLastPara="1" rIns="0" wrap="square" tIns="42525">
            <a:noAutofit/>
          </a:bodyPr>
          <a:lstStyle/>
          <a:p>
            <a:pPr indent="-162560" lvl="0" marL="162560" marR="0" rtl="0" algn="l">
              <a:lnSpc>
                <a:spcPct val="104000"/>
              </a:lnSpc>
              <a:spcBef>
                <a:spcPts val="0"/>
              </a:spcBef>
              <a:spcAft>
                <a:spcPts val="0"/>
              </a:spcAft>
              <a:buClr>
                <a:srgbClr val="272525"/>
              </a:buClr>
              <a:buSzPts val="800"/>
              <a:buFont typeface="Inter"/>
              <a:buChar char="•"/>
            </a:pPr>
            <a:r>
              <a:rPr b="0" i="0" lang="en-US" sz="800" u="none" cap="none" strike="noStrike">
                <a:solidFill>
                  <a:srgbClr val="272525"/>
                </a:solidFill>
                <a:latin typeface="Inter"/>
                <a:ea typeface="Inter"/>
                <a:cs typeface="Inter"/>
                <a:sym typeface="Inter"/>
              </a:rPr>
              <a:t>Source-specific capture controls</a:t>
            </a:r>
            <a:endParaRPr b="0" i="0" sz="800" u="none" cap="none" strike="noStrike">
              <a:solidFill>
                <a:schemeClr val="dk1"/>
              </a:solidFill>
              <a:latin typeface="Calibri"/>
              <a:ea typeface="Calibri"/>
              <a:cs typeface="Calibri"/>
              <a:sym typeface="Calibri"/>
            </a:endParaRPr>
          </a:p>
          <a:p>
            <a:pPr indent="-162560" lvl="0" marL="162560" marR="0" rtl="0" algn="l">
              <a:lnSpc>
                <a:spcPct val="104000"/>
              </a:lnSpc>
              <a:spcBef>
                <a:spcPts val="0"/>
              </a:spcBef>
              <a:spcAft>
                <a:spcPts val="0"/>
              </a:spcAft>
              <a:buClr>
                <a:srgbClr val="272525"/>
              </a:buClr>
              <a:buSzPts val="800"/>
              <a:buFont typeface="Inter"/>
              <a:buChar char="•"/>
            </a:pPr>
            <a:r>
              <a:rPr b="0" i="0" lang="en-US" sz="800" u="none" cap="none" strike="noStrike">
                <a:solidFill>
                  <a:srgbClr val="272525"/>
                </a:solidFill>
                <a:latin typeface="Inter"/>
                <a:ea typeface="Inter"/>
                <a:cs typeface="Inter"/>
                <a:sym typeface="Inter"/>
              </a:rPr>
              <a:t>Chrome two-phase engagement gating</a:t>
            </a:r>
            <a:endParaRPr b="0" i="0" sz="800" u="none" cap="none" strike="noStrike">
              <a:solidFill>
                <a:schemeClr val="dk1"/>
              </a:solidFill>
              <a:latin typeface="Calibri"/>
              <a:ea typeface="Calibri"/>
              <a:cs typeface="Calibri"/>
              <a:sym typeface="Calibri"/>
            </a:endParaRPr>
          </a:p>
          <a:p>
            <a:pPr indent="-162560" lvl="0" marL="162560" marR="0" rtl="0" algn="l">
              <a:lnSpc>
                <a:spcPct val="104000"/>
              </a:lnSpc>
              <a:spcBef>
                <a:spcPts val="0"/>
              </a:spcBef>
              <a:spcAft>
                <a:spcPts val="0"/>
              </a:spcAft>
              <a:buClr>
                <a:srgbClr val="272525"/>
              </a:buClr>
              <a:buSzPts val="800"/>
              <a:buFont typeface="Inter"/>
              <a:buChar char="•"/>
            </a:pPr>
            <a:r>
              <a:rPr b="0" i="0" lang="en-US" sz="800" u="none" cap="none" strike="noStrike">
                <a:solidFill>
                  <a:srgbClr val="272525"/>
                </a:solidFill>
                <a:latin typeface="Inter"/>
                <a:ea typeface="Inter"/>
                <a:cs typeface="Inter"/>
                <a:sym typeface="Inter"/>
              </a:rPr>
              <a:t>Revisit detection</a:t>
            </a:r>
            <a:endParaRPr b="0" i="0" sz="800" u="none" cap="none" strike="noStrike">
              <a:solidFill>
                <a:schemeClr val="dk1"/>
              </a:solidFill>
              <a:latin typeface="Calibri"/>
              <a:ea typeface="Calibri"/>
              <a:cs typeface="Calibri"/>
              <a:sym typeface="Calibri"/>
            </a:endParaRPr>
          </a:p>
          <a:p>
            <a:pPr indent="-162560" lvl="0" marL="162560" marR="0" rtl="0" algn="l">
              <a:lnSpc>
                <a:spcPct val="104000"/>
              </a:lnSpc>
              <a:spcBef>
                <a:spcPts val="0"/>
              </a:spcBef>
              <a:spcAft>
                <a:spcPts val="0"/>
              </a:spcAft>
              <a:buClr>
                <a:srgbClr val="272525"/>
              </a:buClr>
              <a:buSzPts val="800"/>
              <a:buFont typeface="Inter"/>
              <a:buChar char="•"/>
            </a:pPr>
            <a:r>
              <a:rPr b="0" i="0" lang="en-US" sz="800" u="none" cap="none" strike="noStrike">
                <a:solidFill>
                  <a:srgbClr val="272525"/>
                </a:solidFill>
                <a:latin typeface="Inter"/>
                <a:ea typeface="Inter"/>
                <a:cs typeface="Inter"/>
                <a:sym typeface="Inter"/>
              </a:rPr>
              <a:t>Excluded domains and senders</a:t>
            </a:r>
            <a:endParaRPr b="0" i="0" sz="800" u="none" cap="none" strike="noStrike">
              <a:solidFill>
                <a:schemeClr val="dk1"/>
              </a:solidFill>
              <a:latin typeface="Calibri"/>
              <a:ea typeface="Calibri"/>
              <a:cs typeface="Calibri"/>
              <a:sym typeface="Calibri"/>
            </a:endParaRPr>
          </a:p>
          <a:p>
            <a:pPr indent="-162560" lvl="0" marL="162560" marR="0" rtl="0" algn="l">
              <a:lnSpc>
                <a:spcPct val="104000"/>
              </a:lnSpc>
              <a:spcBef>
                <a:spcPts val="0"/>
              </a:spcBef>
              <a:spcAft>
                <a:spcPts val="0"/>
              </a:spcAft>
              <a:buClr>
                <a:srgbClr val="272525"/>
              </a:buClr>
              <a:buSzPts val="800"/>
              <a:buFont typeface="Inter"/>
              <a:buChar char="•"/>
            </a:pPr>
            <a:r>
              <a:rPr b="0" i="0" lang="en-US" sz="800" u="none" cap="none" strike="noStrike">
                <a:solidFill>
                  <a:srgbClr val="272525"/>
                </a:solidFill>
                <a:latin typeface="Inter"/>
                <a:ea typeface="Inter"/>
                <a:cs typeface="Inter"/>
                <a:sym typeface="Inter"/>
              </a:rPr>
              <a:t>No typed-text or incognito capture</a:t>
            </a:r>
            <a:endParaRPr b="0" i="0" sz="800" u="none" cap="none" strike="noStrike">
              <a:solidFill>
                <a:schemeClr val="dk1"/>
              </a:solidFill>
              <a:latin typeface="Calibri"/>
              <a:ea typeface="Calibri"/>
              <a:cs typeface="Calibri"/>
              <a:sym typeface="Calibri"/>
            </a:endParaRPr>
          </a:p>
        </p:txBody>
      </p:sp>
      <p:sp>
        <p:nvSpPr>
          <p:cNvPr id="85" name="Google Shape;85;p9"/>
          <p:cNvSpPr/>
          <p:nvPr/>
        </p:nvSpPr>
        <p:spPr>
          <a:xfrm>
            <a:off x="661475" y="5289153"/>
            <a:ext cx="10868745" cy="199231"/>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LAYER 3 - CANONICAL STORAGE LAYER:</a:t>
            </a:r>
            <a:endParaRPr b="0" i="0" sz="1250" u="none" cap="none" strike="noStrike">
              <a:solidFill>
                <a:schemeClr val="dk1"/>
              </a:solidFill>
              <a:latin typeface="Calibri"/>
              <a:ea typeface="Calibri"/>
              <a:cs typeface="Calibri"/>
              <a:sym typeface="Calibri"/>
            </a:endParaRPr>
          </a:p>
        </p:txBody>
      </p:sp>
      <p:sp>
        <p:nvSpPr>
          <p:cNvPr id="86" name="Google Shape;86;p9"/>
          <p:cNvSpPr/>
          <p:nvPr/>
        </p:nvSpPr>
        <p:spPr>
          <a:xfrm>
            <a:off x="661475" y="5578078"/>
            <a:ext cx="10868745" cy="748109"/>
          </a:xfrm>
          <a:prstGeom prst="rect">
            <a:avLst/>
          </a:prstGeom>
          <a:noFill/>
          <a:ln>
            <a:noFill/>
          </a:ln>
        </p:spPr>
        <p:txBody>
          <a:bodyPr anchorCtr="0" anchor="t" bIns="0" lIns="0" spcFirstLastPara="1" rIns="0" wrap="square" tIns="42525">
            <a:noAutofit/>
          </a:bodyPr>
          <a:lstStyle/>
          <a:p>
            <a:pPr indent="-162560" lvl="0" marL="162560" marR="0" rtl="0" algn="l">
              <a:lnSpc>
                <a:spcPct val="104000"/>
              </a:lnSpc>
              <a:spcBef>
                <a:spcPts val="0"/>
              </a:spcBef>
              <a:spcAft>
                <a:spcPts val="0"/>
              </a:spcAft>
              <a:buClr>
                <a:srgbClr val="272525"/>
              </a:buClr>
              <a:buSzPts val="800"/>
              <a:buFont typeface="Inter"/>
              <a:buChar char="•"/>
            </a:pPr>
            <a:r>
              <a:rPr b="0" i="0" lang="en-US" sz="800" u="none" cap="none" strike="noStrike">
                <a:solidFill>
                  <a:srgbClr val="272525"/>
                </a:solidFill>
                <a:latin typeface="Inter"/>
                <a:ea typeface="Inter"/>
                <a:cs typeface="Inter"/>
                <a:sym typeface="Inter"/>
              </a:rPr>
              <a:t>PostgreSQL as permanent source of truth</a:t>
            </a:r>
            <a:endParaRPr b="0" i="0" sz="800" u="none" cap="none" strike="noStrike">
              <a:solidFill>
                <a:schemeClr val="dk1"/>
              </a:solidFill>
              <a:latin typeface="Calibri"/>
              <a:ea typeface="Calibri"/>
              <a:cs typeface="Calibri"/>
              <a:sym typeface="Calibri"/>
            </a:endParaRPr>
          </a:p>
          <a:p>
            <a:pPr indent="-162560" lvl="0" marL="162560" marR="0" rtl="0" algn="l">
              <a:lnSpc>
                <a:spcPct val="104000"/>
              </a:lnSpc>
              <a:spcBef>
                <a:spcPts val="0"/>
              </a:spcBef>
              <a:spcAft>
                <a:spcPts val="0"/>
              </a:spcAft>
              <a:buClr>
                <a:srgbClr val="272525"/>
              </a:buClr>
              <a:buSzPts val="800"/>
              <a:buFont typeface="Inter"/>
              <a:buChar char="•"/>
            </a:pPr>
            <a:r>
              <a:rPr b="0" i="0" lang="en-US" sz="800" u="none" cap="none" strike="noStrike">
                <a:solidFill>
                  <a:srgbClr val="272525"/>
                </a:solidFill>
                <a:latin typeface="Inter"/>
                <a:ea typeface="Inter"/>
                <a:cs typeface="Inter"/>
                <a:sym typeface="Inter"/>
              </a:rPr>
              <a:t>Unified memory_items records</a:t>
            </a:r>
            <a:endParaRPr b="0" i="0" sz="800" u="none" cap="none" strike="noStrike">
              <a:solidFill>
                <a:schemeClr val="dk1"/>
              </a:solidFill>
              <a:latin typeface="Calibri"/>
              <a:ea typeface="Calibri"/>
              <a:cs typeface="Calibri"/>
              <a:sym typeface="Calibri"/>
            </a:endParaRPr>
          </a:p>
          <a:p>
            <a:pPr indent="-162560" lvl="0" marL="162560" marR="0" rtl="0" algn="l">
              <a:lnSpc>
                <a:spcPct val="104000"/>
              </a:lnSpc>
              <a:spcBef>
                <a:spcPts val="0"/>
              </a:spcBef>
              <a:spcAft>
                <a:spcPts val="0"/>
              </a:spcAft>
              <a:buClr>
                <a:srgbClr val="272525"/>
              </a:buClr>
              <a:buSzPts val="800"/>
              <a:buFont typeface="Inter"/>
              <a:buChar char="•"/>
            </a:pPr>
            <a:r>
              <a:rPr b="0" i="0" lang="en-US" sz="800" u="none" cap="none" strike="noStrike">
                <a:solidFill>
                  <a:srgbClr val="272525"/>
                </a:solidFill>
                <a:latin typeface="Inter"/>
                <a:ea typeface="Inter"/>
                <a:cs typeface="Inter"/>
                <a:sym typeface="Inter"/>
              </a:rPr>
              <a:t>Gmail, Chrome, YouTube metadata tables</a:t>
            </a:r>
            <a:endParaRPr b="0" i="0" sz="800" u="none" cap="none" strike="noStrike">
              <a:solidFill>
                <a:schemeClr val="dk1"/>
              </a:solidFill>
              <a:latin typeface="Calibri"/>
              <a:ea typeface="Calibri"/>
              <a:cs typeface="Calibri"/>
              <a:sym typeface="Calibri"/>
            </a:endParaRPr>
          </a:p>
          <a:p>
            <a:pPr indent="-162560" lvl="0" marL="162560" marR="0" rtl="0" algn="l">
              <a:lnSpc>
                <a:spcPct val="104000"/>
              </a:lnSpc>
              <a:spcBef>
                <a:spcPts val="0"/>
              </a:spcBef>
              <a:spcAft>
                <a:spcPts val="0"/>
              </a:spcAft>
              <a:buClr>
                <a:srgbClr val="272525"/>
              </a:buClr>
              <a:buSzPts val="800"/>
              <a:buFont typeface="Inter"/>
              <a:buChar char="•"/>
            </a:pPr>
            <a:r>
              <a:rPr b="0" i="0" lang="en-US" sz="800" u="none" cap="none" strike="noStrike">
                <a:solidFill>
                  <a:srgbClr val="272525"/>
                </a:solidFill>
                <a:latin typeface="Inter"/>
                <a:ea typeface="Inter"/>
                <a:cs typeface="Inter"/>
                <a:sym typeface="Inter"/>
              </a:rPr>
              <a:t>Engagement records</a:t>
            </a:r>
            <a:endParaRPr b="0" i="0" sz="800" u="none" cap="none" strike="noStrike">
              <a:solidFill>
                <a:schemeClr val="dk1"/>
              </a:solidFill>
              <a:latin typeface="Calibri"/>
              <a:ea typeface="Calibri"/>
              <a:cs typeface="Calibri"/>
              <a:sym typeface="Calibri"/>
            </a:endParaRPr>
          </a:p>
          <a:p>
            <a:pPr indent="-162560" lvl="0" marL="162560" marR="0" rtl="0" algn="l">
              <a:lnSpc>
                <a:spcPct val="104000"/>
              </a:lnSpc>
              <a:spcBef>
                <a:spcPts val="0"/>
              </a:spcBef>
              <a:spcAft>
                <a:spcPts val="0"/>
              </a:spcAft>
              <a:buClr>
                <a:srgbClr val="272525"/>
              </a:buClr>
              <a:buSzPts val="800"/>
              <a:buFont typeface="Inter"/>
              <a:buChar char="•"/>
            </a:pPr>
            <a:r>
              <a:rPr b="0" i="0" lang="en-US" sz="800" u="none" cap="none" strike="noStrike">
                <a:solidFill>
                  <a:srgbClr val="272525"/>
                </a:solidFill>
                <a:latin typeface="Inter"/>
                <a:ea typeface="Inter"/>
                <a:cs typeface="Inter"/>
                <a:sym typeface="Inter"/>
              </a:rPr>
              <a:t>Redis for revisit state, settings, reminders, and temporary caches</a:t>
            </a:r>
            <a:endParaRPr b="0" i="0" sz="800" u="none" cap="none" strike="noStrike">
              <a:solidFill>
                <a:schemeClr val="dk1"/>
              </a:solidFill>
              <a:latin typeface="Calibri"/>
              <a:ea typeface="Calibri"/>
              <a:cs typeface="Calibri"/>
              <a:sym typeface="Calibri"/>
            </a:endParaRPr>
          </a:p>
        </p:txBody>
      </p:sp>
      <p:pic>
        <p:nvPicPr>
          <p:cNvPr id="87" name="Google Shape;87;p9"/>
          <p:cNvPicPr preferRelativeResize="0"/>
          <p:nvPr/>
        </p:nvPicPr>
        <p:blipFill>
          <a:blip r:embed="rId5">
            <a:alphaModFix/>
          </a:blip>
          <a:stretch>
            <a:fillRect/>
          </a:stretch>
        </p:blipFill>
        <p:spPr>
          <a:xfrm>
            <a:off x="10515283" y="6326186"/>
            <a:ext cx="1676400" cy="4667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pic>
        <p:nvPicPr>
          <p:cNvPr descr="preencoded.png" id="93" name="Google Shape;93;p10"/>
          <p:cNvPicPr preferRelativeResize="0"/>
          <p:nvPr/>
        </p:nvPicPr>
        <p:blipFill rotWithShape="1">
          <a:blip r:embed="rId3">
            <a:alphaModFix/>
          </a:blip>
          <a:srcRect b="0" l="0" r="0" t="0"/>
          <a:stretch/>
        </p:blipFill>
        <p:spPr>
          <a:xfrm>
            <a:off x="10939685" y="568027"/>
            <a:ext cx="590535" cy="212824"/>
          </a:xfrm>
          <a:prstGeom prst="rect">
            <a:avLst/>
          </a:prstGeom>
          <a:noFill/>
          <a:ln>
            <a:noFill/>
          </a:ln>
        </p:spPr>
      </p:pic>
      <p:sp>
        <p:nvSpPr>
          <p:cNvPr id="94" name="Google Shape;94;p10"/>
          <p:cNvSpPr/>
          <p:nvPr/>
        </p:nvSpPr>
        <p:spPr>
          <a:xfrm>
            <a:off x="661475" y="1046857"/>
            <a:ext cx="10868745" cy="1144389"/>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3600"/>
              <a:buFont typeface="Inter"/>
              <a:buNone/>
            </a:pPr>
            <a:r>
              <a:rPr b="1" i="0" lang="en-US" sz="3600" u="none" cap="none" strike="noStrike">
                <a:solidFill>
                  <a:srgbClr val="000000"/>
                </a:solidFill>
                <a:latin typeface="Inter"/>
                <a:ea typeface="Inter"/>
                <a:cs typeface="Inter"/>
                <a:sym typeface="Inter"/>
              </a:rPr>
              <a:t>E.C.H.O. Architecture: Enrichment, Retrieval &amp; Presentation</a:t>
            </a:r>
            <a:endParaRPr b="0" i="0" sz="3600" u="none" cap="none" strike="noStrike">
              <a:solidFill>
                <a:schemeClr val="dk1"/>
              </a:solidFill>
              <a:latin typeface="Calibri"/>
              <a:ea typeface="Calibri"/>
              <a:cs typeface="Calibri"/>
              <a:sym typeface="Calibri"/>
            </a:endParaRPr>
          </a:p>
        </p:txBody>
      </p:sp>
      <p:sp>
        <p:nvSpPr>
          <p:cNvPr id="95" name="Google Shape;95;p10"/>
          <p:cNvSpPr/>
          <p:nvPr/>
        </p:nvSpPr>
        <p:spPr>
          <a:xfrm>
            <a:off x="661475" y="2634555"/>
            <a:ext cx="3287333" cy="572095"/>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800"/>
              <a:buFont typeface="Inter"/>
              <a:buNone/>
            </a:pPr>
            <a:r>
              <a:rPr b="1" i="0" lang="en-US" sz="1800" u="none" cap="none" strike="noStrike">
                <a:solidFill>
                  <a:srgbClr val="000000"/>
                </a:solidFill>
                <a:latin typeface="Inter"/>
                <a:ea typeface="Inter"/>
                <a:cs typeface="Inter"/>
                <a:sym typeface="Inter"/>
              </a:rPr>
              <a:t>LAYER 4 - ENRICHMENT AND INDEXING LAYER:</a:t>
            </a:r>
            <a:endParaRPr b="0" i="0" sz="1800" u="none" cap="none" strike="noStrike">
              <a:solidFill>
                <a:schemeClr val="dk1"/>
              </a:solidFill>
              <a:latin typeface="Calibri"/>
              <a:ea typeface="Calibri"/>
              <a:cs typeface="Calibri"/>
              <a:sym typeface="Calibri"/>
            </a:endParaRPr>
          </a:p>
        </p:txBody>
      </p:sp>
      <p:sp>
        <p:nvSpPr>
          <p:cNvPr id="96" name="Google Shape;96;p10"/>
          <p:cNvSpPr/>
          <p:nvPr/>
        </p:nvSpPr>
        <p:spPr>
          <a:xfrm>
            <a:off x="661475" y="3383955"/>
            <a:ext cx="3287333" cy="2843907"/>
          </a:xfrm>
          <a:prstGeom prst="rect">
            <a:avLst/>
          </a:prstGeom>
          <a:noFill/>
          <a:ln>
            <a:noFill/>
          </a:ln>
        </p:spPr>
        <p:txBody>
          <a:bodyPr anchorCtr="0" anchor="t" bIns="0" lIns="0" spcFirstLastPara="1" rIns="0" wrap="square" tIns="73225">
            <a:noAutofit/>
          </a:bodyPr>
          <a:lstStyle/>
          <a:p>
            <a:pPr indent="-284480" lvl="0" marL="284480" marR="0" rtl="0" algn="l">
              <a:lnSpc>
                <a:spcPct val="131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Clean source text</a:t>
            </a:r>
            <a:endParaRPr b="0" i="0" sz="1400" u="none" cap="none" strike="noStrike">
              <a:solidFill>
                <a:schemeClr val="dk1"/>
              </a:solidFill>
              <a:latin typeface="Calibri"/>
              <a:ea typeface="Calibri"/>
              <a:cs typeface="Calibri"/>
              <a:sym typeface="Calibri"/>
            </a:endParaRPr>
          </a:p>
          <a:p>
            <a:pPr indent="-284480" lvl="0" marL="284480" marR="0" rtl="0" algn="l">
              <a:lnSpc>
                <a:spcPct val="131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Build source-aware embeddable text</a:t>
            </a:r>
            <a:endParaRPr b="0" i="0" sz="1400" u="none" cap="none" strike="noStrike">
              <a:solidFill>
                <a:schemeClr val="dk1"/>
              </a:solidFill>
              <a:latin typeface="Calibri"/>
              <a:ea typeface="Calibri"/>
              <a:cs typeface="Calibri"/>
              <a:sym typeface="Calibri"/>
            </a:endParaRPr>
          </a:p>
          <a:p>
            <a:pPr indent="-284480" lvl="0" marL="284480" marR="0" rtl="0" algn="l">
              <a:lnSpc>
                <a:spcPct val="131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Generate all-MiniLM-L6-v2 embeddings</a:t>
            </a:r>
            <a:endParaRPr b="0" i="0" sz="1400" u="none" cap="none" strike="noStrike">
              <a:solidFill>
                <a:schemeClr val="dk1"/>
              </a:solidFill>
              <a:latin typeface="Calibri"/>
              <a:ea typeface="Calibri"/>
              <a:cs typeface="Calibri"/>
              <a:sym typeface="Calibri"/>
            </a:endParaRPr>
          </a:p>
          <a:p>
            <a:pPr indent="-284480" lvl="0" marL="284480" marR="0" rtl="0" algn="l">
              <a:lnSpc>
                <a:spcPct val="131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Classify into work, study, entertainment, personal, or misc</a:t>
            </a:r>
            <a:endParaRPr b="0" i="0" sz="1400" u="none" cap="none" strike="noStrike">
              <a:solidFill>
                <a:schemeClr val="dk1"/>
              </a:solidFill>
              <a:latin typeface="Calibri"/>
              <a:ea typeface="Calibri"/>
              <a:cs typeface="Calibri"/>
              <a:sym typeface="Calibri"/>
            </a:endParaRPr>
          </a:p>
          <a:p>
            <a:pPr indent="-284480" lvl="0" marL="284480" marR="0" rtl="0" algn="l">
              <a:lnSpc>
                <a:spcPct val="131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Store and maintain FAISS semantic index</a:t>
            </a:r>
            <a:endParaRPr b="0" i="0" sz="1400" u="none" cap="none" strike="noStrike">
              <a:solidFill>
                <a:schemeClr val="dk1"/>
              </a:solidFill>
              <a:latin typeface="Calibri"/>
              <a:ea typeface="Calibri"/>
              <a:cs typeface="Calibri"/>
              <a:sym typeface="Calibri"/>
            </a:endParaRPr>
          </a:p>
        </p:txBody>
      </p:sp>
      <p:sp>
        <p:nvSpPr>
          <p:cNvPr id="97" name="Google Shape;97;p10"/>
          <p:cNvSpPr/>
          <p:nvPr/>
        </p:nvSpPr>
        <p:spPr>
          <a:xfrm>
            <a:off x="4401829" y="2634555"/>
            <a:ext cx="3400538" cy="572095"/>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800"/>
              <a:buFont typeface="Inter"/>
              <a:buNone/>
            </a:pPr>
            <a:r>
              <a:rPr b="1" i="0" lang="en-US" sz="1800" u="none" cap="none" strike="noStrike">
                <a:solidFill>
                  <a:srgbClr val="000000"/>
                </a:solidFill>
                <a:latin typeface="Inter"/>
                <a:ea typeface="Inter"/>
                <a:cs typeface="Inter"/>
                <a:sym typeface="Inter"/>
              </a:rPr>
              <a:t>LAYER 5 - RETRIEVAL AND SYNTHESIS LAYER:</a:t>
            </a:r>
            <a:endParaRPr b="0" i="0" sz="1800" u="none" cap="none" strike="noStrike">
              <a:solidFill>
                <a:schemeClr val="dk1"/>
              </a:solidFill>
              <a:latin typeface="Calibri"/>
              <a:ea typeface="Calibri"/>
              <a:cs typeface="Calibri"/>
              <a:sym typeface="Calibri"/>
            </a:endParaRPr>
          </a:p>
        </p:txBody>
      </p:sp>
      <p:sp>
        <p:nvSpPr>
          <p:cNvPr id="98" name="Google Shape;98;p10"/>
          <p:cNvSpPr/>
          <p:nvPr/>
        </p:nvSpPr>
        <p:spPr>
          <a:xfrm>
            <a:off x="4401829" y="3383955"/>
            <a:ext cx="3400538" cy="2679502"/>
          </a:xfrm>
          <a:prstGeom prst="rect">
            <a:avLst/>
          </a:prstGeom>
          <a:noFill/>
          <a:ln>
            <a:noFill/>
          </a:ln>
        </p:spPr>
        <p:txBody>
          <a:bodyPr anchorCtr="0" anchor="t" bIns="0" lIns="0" spcFirstLastPara="1" rIns="0" wrap="square" tIns="73225">
            <a:noAutofit/>
          </a:bodyPr>
          <a:lstStyle/>
          <a:p>
            <a:pPr indent="-284480" lvl="0" marL="284480" marR="0" rtl="0" algn="l">
              <a:lnSpc>
                <a:spcPct val="131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Parse intent</a:t>
            </a:r>
            <a:endParaRPr b="0" i="0" sz="1400" u="none" cap="none" strike="noStrike">
              <a:solidFill>
                <a:schemeClr val="dk1"/>
              </a:solidFill>
              <a:latin typeface="Calibri"/>
              <a:ea typeface="Calibri"/>
              <a:cs typeface="Calibri"/>
              <a:sym typeface="Calibri"/>
            </a:endParaRPr>
          </a:p>
          <a:p>
            <a:pPr indent="-284480" lvl="0" marL="284480" marR="0" rtl="0" algn="l">
              <a:lnSpc>
                <a:spcPct val="131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Resolve time anchors</a:t>
            </a:r>
            <a:endParaRPr b="0" i="0" sz="1400" u="none" cap="none" strike="noStrike">
              <a:solidFill>
                <a:schemeClr val="dk1"/>
              </a:solidFill>
              <a:latin typeface="Calibri"/>
              <a:ea typeface="Calibri"/>
              <a:cs typeface="Calibri"/>
              <a:sym typeface="Calibri"/>
            </a:endParaRPr>
          </a:p>
          <a:p>
            <a:pPr indent="-284480" lvl="0" marL="284480" marR="0" rtl="0" algn="l">
              <a:lnSpc>
                <a:spcPct val="131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PostgreSQL keyword search + FAISS semantic search in parallel</a:t>
            </a:r>
            <a:endParaRPr b="0" i="0" sz="1400" u="none" cap="none" strike="noStrike">
              <a:solidFill>
                <a:schemeClr val="dk1"/>
              </a:solidFill>
              <a:latin typeface="Calibri"/>
              <a:ea typeface="Calibri"/>
              <a:cs typeface="Calibri"/>
              <a:sym typeface="Calibri"/>
            </a:endParaRPr>
          </a:p>
          <a:p>
            <a:pPr indent="-284480" lvl="0" marL="284480" marR="0" rtl="0" algn="l">
              <a:lnSpc>
                <a:spcPct val="131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Reciprocal Rank Fusion</a:t>
            </a:r>
            <a:endParaRPr b="0" i="0" sz="1400" u="none" cap="none" strike="noStrike">
              <a:solidFill>
                <a:schemeClr val="dk1"/>
              </a:solidFill>
              <a:latin typeface="Calibri"/>
              <a:ea typeface="Calibri"/>
              <a:cs typeface="Calibri"/>
              <a:sym typeface="Calibri"/>
            </a:endParaRPr>
          </a:p>
          <a:p>
            <a:pPr indent="-284480" lvl="0" marL="284480" marR="0" rtl="0" algn="l">
              <a:lnSpc>
                <a:spcPct val="131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Deterministic quality evaluation</a:t>
            </a:r>
            <a:endParaRPr b="0" i="0" sz="1400" u="none" cap="none" strike="noStrike">
              <a:solidFill>
                <a:schemeClr val="dk1"/>
              </a:solidFill>
              <a:latin typeface="Calibri"/>
              <a:ea typeface="Calibri"/>
              <a:cs typeface="Calibri"/>
              <a:sym typeface="Calibri"/>
            </a:endParaRPr>
          </a:p>
          <a:p>
            <a:pPr indent="-284480" lvl="0" marL="284480" marR="0" rtl="0" algn="l">
              <a:lnSpc>
                <a:spcPct val="131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Cross-encoder reranking</a:t>
            </a:r>
            <a:endParaRPr b="0" i="0" sz="1400" u="none" cap="none" strike="noStrike">
              <a:solidFill>
                <a:schemeClr val="dk1"/>
              </a:solidFill>
              <a:latin typeface="Calibri"/>
              <a:ea typeface="Calibri"/>
              <a:cs typeface="Calibri"/>
              <a:sym typeface="Calibri"/>
            </a:endParaRPr>
          </a:p>
          <a:p>
            <a:pPr indent="-284480" lvl="0" marL="284480" marR="0" rtl="0" algn="l">
              <a:lnSpc>
                <a:spcPct val="131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LLM answer synthesis</a:t>
            </a:r>
            <a:endParaRPr b="0" i="0" sz="1400" u="none" cap="none" strike="noStrike">
              <a:solidFill>
                <a:schemeClr val="dk1"/>
              </a:solidFill>
              <a:latin typeface="Calibri"/>
              <a:ea typeface="Calibri"/>
              <a:cs typeface="Calibri"/>
              <a:sym typeface="Calibri"/>
            </a:endParaRPr>
          </a:p>
        </p:txBody>
      </p:sp>
      <p:sp>
        <p:nvSpPr>
          <p:cNvPr id="99" name="Google Shape;99;p10"/>
          <p:cNvSpPr/>
          <p:nvPr/>
        </p:nvSpPr>
        <p:spPr>
          <a:xfrm>
            <a:off x="8255389" y="2634555"/>
            <a:ext cx="3287333" cy="572095"/>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800"/>
              <a:buFont typeface="Inter"/>
              <a:buNone/>
            </a:pPr>
            <a:r>
              <a:rPr b="1" i="0" lang="en-US" sz="1800" u="none" cap="none" strike="noStrike">
                <a:solidFill>
                  <a:srgbClr val="000000"/>
                </a:solidFill>
                <a:latin typeface="Inter"/>
                <a:ea typeface="Inter"/>
                <a:cs typeface="Inter"/>
                <a:sym typeface="Inter"/>
              </a:rPr>
              <a:t>LAYER 6 - PRESENTATION LAYER:</a:t>
            </a:r>
            <a:endParaRPr b="0" i="0" sz="1800" u="none" cap="none" strike="noStrike">
              <a:solidFill>
                <a:schemeClr val="dk1"/>
              </a:solidFill>
              <a:latin typeface="Calibri"/>
              <a:ea typeface="Calibri"/>
              <a:cs typeface="Calibri"/>
              <a:sym typeface="Calibri"/>
            </a:endParaRPr>
          </a:p>
        </p:txBody>
      </p:sp>
      <p:sp>
        <p:nvSpPr>
          <p:cNvPr id="100" name="Google Shape;100;p10"/>
          <p:cNvSpPr/>
          <p:nvPr/>
        </p:nvSpPr>
        <p:spPr>
          <a:xfrm>
            <a:off x="8255389" y="3383955"/>
            <a:ext cx="3287333" cy="1277739"/>
          </a:xfrm>
          <a:prstGeom prst="rect">
            <a:avLst/>
          </a:prstGeom>
          <a:noFill/>
          <a:ln>
            <a:noFill/>
          </a:ln>
        </p:spPr>
        <p:txBody>
          <a:bodyPr anchorCtr="0" anchor="t" bIns="0" lIns="0" spcFirstLastPara="1" rIns="0" wrap="square" tIns="73225">
            <a:noAutofit/>
          </a:bodyPr>
          <a:lstStyle/>
          <a:p>
            <a:pPr indent="-284480" lvl="0" marL="284480" marR="0" rtl="0" algn="l">
              <a:lnSpc>
                <a:spcPct val="131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React dashboard</a:t>
            </a:r>
            <a:endParaRPr b="0" i="0" sz="1400" u="none" cap="none" strike="noStrike">
              <a:solidFill>
                <a:schemeClr val="dk1"/>
              </a:solidFill>
              <a:latin typeface="Calibri"/>
              <a:ea typeface="Calibri"/>
              <a:cs typeface="Calibri"/>
              <a:sym typeface="Calibri"/>
            </a:endParaRPr>
          </a:p>
          <a:p>
            <a:pPr indent="-284480" lvl="0" marL="284480" marR="0" rtl="0" algn="l">
              <a:lnSpc>
                <a:spcPct val="131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Chrome extension popup</a:t>
            </a:r>
            <a:endParaRPr b="0" i="0" sz="1400" u="none" cap="none" strike="noStrike">
              <a:solidFill>
                <a:schemeClr val="dk1"/>
              </a:solidFill>
              <a:latin typeface="Calibri"/>
              <a:ea typeface="Calibri"/>
              <a:cs typeface="Calibri"/>
              <a:sym typeface="Calibri"/>
            </a:endParaRPr>
          </a:p>
          <a:p>
            <a:pPr indent="-284480" lvl="0" marL="284480" marR="0" rtl="0" algn="l">
              <a:lnSpc>
                <a:spcPct val="131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Wellbeing analytics and user controls</a:t>
            </a:r>
            <a:endParaRPr b="0" i="0" sz="1400" u="none" cap="none" strike="noStrike">
              <a:solidFill>
                <a:schemeClr val="dk1"/>
              </a:solidFill>
              <a:latin typeface="Calibri"/>
              <a:ea typeface="Calibri"/>
              <a:cs typeface="Calibri"/>
              <a:sym typeface="Calibri"/>
            </a:endParaRPr>
          </a:p>
        </p:txBody>
      </p:sp>
      <p:pic>
        <p:nvPicPr>
          <p:cNvPr id="101" name="Google Shape;101;p10"/>
          <p:cNvPicPr preferRelativeResize="0"/>
          <p:nvPr/>
        </p:nvPicPr>
        <p:blipFill>
          <a:blip r:embed="rId4">
            <a:alphaModFix/>
          </a:blip>
          <a:stretch>
            <a:fillRect/>
          </a:stretch>
        </p:blipFill>
        <p:spPr>
          <a:xfrm>
            <a:off x="10515275" y="6315425"/>
            <a:ext cx="1676400" cy="4667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pic>
        <p:nvPicPr>
          <p:cNvPr descr="preencoded.png" id="107" name="Google Shape;107;p11"/>
          <p:cNvPicPr preferRelativeResize="0"/>
          <p:nvPr/>
        </p:nvPicPr>
        <p:blipFill rotWithShape="1">
          <a:blip r:embed="rId3">
            <a:alphaModFix/>
          </a:blip>
          <a:srcRect b="0" l="0" r="0" t="0"/>
          <a:stretch/>
        </p:blipFill>
        <p:spPr>
          <a:xfrm>
            <a:off x="10920635" y="1111647"/>
            <a:ext cx="609585" cy="219670"/>
          </a:xfrm>
          <a:prstGeom prst="rect">
            <a:avLst/>
          </a:prstGeom>
          <a:noFill/>
          <a:ln>
            <a:noFill/>
          </a:ln>
        </p:spPr>
      </p:pic>
      <p:sp>
        <p:nvSpPr>
          <p:cNvPr id="108" name="Google Shape;108;p11"/>
          <p:cNvSpPr/>
          <p:nvPr/>
        </p:nvSpPr>
        <p:spPr>
          <a:xfrm>
            <a:off x="661475" y="1614785"/>
            <a:ext cx="10868745" cy="590649"/>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3700"/>
              <a:buFont typeface="Inter"/>
              <a:buNone/>
            </a:pPr>
            <a:r>
              <a:rPr b="1" i="0" lang="en-US" sz="3700" u="none" cap="none" strike="noStrike">
                <a:solidFill>
                  <a:srgbClr val="000000"/>
                </a:solidFill>
                <a:latin typeface="Inter"/>
                <a:ea typeface="Inter"/>
                <a:cs typeface="Inter"/>
                <a:sym typeface="Inter"/>
              </a:rPr>
              <a:t>Summary of Capstone Project Phase II Work</a:t>
            </a:r>
            <a:endParaRPr b="0" i="0" sz="3700" u="none" cap="none" strike="noStrike">
              <a:solidFill>
                <a:schemeClr val="dk1"/>
              </a:solidFill>
              <a:latin typeface="Calibri"/>
              <a:ea typeface="Calibri"/>
              <a:cs typeface="Calibri"/>
              <a:sym typeface="Calibri"/>
            </a:endParaRPr>
          </a:p>
        </p:txBody>
      </p:sp>
      <p:graphicFrame>
        <p:nvGraphicFramePr>
          <p:cNvPr id="109" name="Google Shape;109;p11"/>
          <p:cNvGraphicFramePr/>
          <p:nvPr/>
        </p:nvGraphicFramePr>
        <p:xfrm>
          <a:off x="661475" y="2488902"/>
          <a:ext cx="3000000" cy="3000000"/>
        </p:xfrm>
        <a:graphic>
          <a:graphicData uri="http://schemas.openxmlformats.org/drawingml/2006/table">
            <a:tbl>
              <a:tblPr>
                <a:noFill/>
                <a:tableStyleId>{46ECF8E9-5879-42D1-B8A0-3D792A3639C8}</a:tableStyleId>
              </a:tblPr>
              <a:tblGrid>
                <a:gridCol w="10868750"/>
              </a:tblGrid>
              <a:tr h="545100">
                <a:tc>
                  <a:txBody>
                    <a:bodyPr/>
                    <a:lstStyle/>
                    <a:p>
                      <a:pPr indent="0" lvl="0" marL="0" marR="0" rtl="0" algn="l">
                        <a:spcBef>
                          <a:spcPts val="0"/>
                        </a:spcBef>
                        <a:spcAft>
                          <a:spcPts val="0"/>
                        </a:spcAft>
                        <a:buClr>
                          <a:srgbClr val="272525"/>
                        </a:buClr>
                        <a:buSzPts val="1450"/>
                        <a:buFont typeface="Inter"/>
                        <a:buNone/>
                      </a:pPr>
                      <a:r>
                        <a:rPr lang="en-US" sz="1450" u="none" cap="none" strike="noStrike">
                          <a:solidFill>
                            <a:srgbClr val="272525"/>
                          </a:solidFill>
                          <a:latin typeface="Inter"/>
                          <a:ea typeface="Inter"/>
                          <a:cs typeface="Inter"/>
                          <a:sym typeface="Inter"/>
                        </a:rPr>
                        <a:t>PHASE II FOUNDATION</a:t>
                      </a:r>
                      <a:endParaRPr sz="1450" u="none" cap="none" strike="noStrike">
                        <a:latin typeface="Inter"/>
                        <a:ea typeface="Inter"/>
                        <a:cs typeface="Inter"/>
                        <a:sym typeface="Inter"/>
                      </a:endParaRPr>
                    </a:p>
                  </a:txBody>
                  <a:tcPr marT="6350" marB="6350" marR="189025" marL="189025" anchor="ctr">
                    <a:lnL cap="flat" cmpd="sng" w="12700">
                      <a:solidFill>
                        <a:srgbClr val="C0C1D7"/>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C0C1D7"/>
                      </a:solidFill>
                      <a:prstDash val="solid"/>
                      <a:round/>
                      <a:headEnd len="sm" w="sm" type="none"/>
                      <a:tailEnd len="sm" w="sm" type="none"/>
                    </a:lnT>
                    <a:lnB cap="flat" cmpd="sng" w="12700">
                      <a:solidFill>
                        <a:srgbClr val="C0C1D7"/>
                      </a:solidFill>
                      <a:prstDash val="solid"/>
                      <a:round/>
                      <a:headEnd len="sm" w="sm" type="none"/>
                      <a:tailEnd len="sm" w="sm" type="none"/>
                    </a:lnB>
                  </a:tcPr>
                </a:tc>
              </a:tr>
              <a:tr h="1828800">
                <a:tc>
                  <a:txBody>
                    <a:bodyPr/>
                    <a:lstStyle/>
                    <a:p>
                      <a:pPr indent="0" lvl="0" marL="0" marR="0" rtl="0" algn="l">
                        <a:spcBef>
                          <a:spcPts val="0"/>
                        </a:spcBef>
                        <a:spcAft>
                          <a:spcPts val="0"/>
                        </a:spcAft>
                        <a:buClr>
                          <a:srgbClr val="272525"/>
                        </a:buClr>
                        <a:buSzPts val="1450"/>
                        <a:buFont typeface="Inter"/>
                        <a:buNone/>
                      </a:pPr>
                      <a:r>
                        <a:rPr lang="en-US" sz="1450" u="none" cap="none" strike="noStrike">
                          <a:solidFill>
                            <a:srgbClr val="272525"/>
                          </a:solidFill>
                          <a:latin typeface="Inter"/>
                          <a:ea typeface="Inter"/>
                          <a:cs typeface="Inter"/>
                          <a:sym typeface="Inter"/>
                        </a:rPr>
                        <a:t>Canonical PostgreSQL schema covering memory items, source metadata, engagement, embeddings, sessions, groups, regret events, and conversation history.</a:t>
                      </a:r>
                      <a:endParaRPr sz="1450" u="none" cap="none" strike="noStrike">
                        <a:latin typeface="Inter"/>
                        <a:ea typeface="Inter"/>
                        <a:cs typeface="Inter"/>
                        <a:sym typeface="Inter"/>
                      </a:endParaRPr>
                    </a:p>
                    <a:p>
                      <a:pPr indent="0" lvl="0" marL="0" marR="0" rtl="0" algn="l">
                        <a:spcBef>
                          <a:spcPts val="0"/>
                        </a:spcBef>
                        <a:spcAft>
                          <a:spcPts val="0"/>
                        </a:spcAft>
                        <a:buClr>
                          <a:srgbClr val="272525"/>
                        </a:buClr>
                        <a:buSzPts val="1450"/>
                        <a:buFont typeface="Inter"/>
                        <a:buNone/>
                      </a:pPr>
                      <a:r>
                        <a:rPr lang="en-US" sz="1450" u="none" cap="none" strike="noStrike">
                          <a:solidFill>
                            <a:srgbClr val="272525"/>
                          </a:solidFill>
                          <a:latin typeface="Inter"/>
                          <a:ea typeface="Inter"/>
                          <a:cs typeface="Inter"/>
                          <a:sym typeface="Inter"/>
                        </a:rPr>
                        <a:t>Initial storage-engine abstractions for Gmail, Chrome, and YouTube records.</a:t>
                      </a:r>
                      <a:endParaRPr sz="1450" u="none" cap="none" strike="noStrike">
                        <a:latin typeface="Inter"/>
                        <a:ea typeface="Inter"/>
                        <a:cs typeface="Inter"/>
                        <a:sym typeface="Inter"/>
                      </a:endParaRPr>
                    </a:p>
                    <a:p>
                      <a:pPr indent="0" lvl="0" marL="0" marR="0" rtl="0" algn="l">
                        <a:spcBef>
                          <a:spcPts val="0"/>
                        </a:spcBef>
                        <a:spcAft>
                          <a:spcPts val="0"/>
                        </a:spcAft>
                        <a:buClr>
                          <a:srgbClr val="272525"/>
                        </a:buClr>
                        <a:buSzPts val="1450"/>
                        <a:buFont typeface="Inter"/>
                        <a:buNone/>
                      </a:pPr>
                      <a:r>
                        <a:rPr lang="en-US" sz="1450" u="none" cap="none" strike="noStrike">
                          <a:solidFill>
                            <a:srgbClr val="272525"/>
                          </a:solidFill>
                          <a:latin typeface="Inter"/>
                          <a:ea typeface="Inter"/>
                          <a:cs typeface="Inter"/>
                          <a:sym typeface="Inter"/>
                        </a:rPr>
                        <a:t>Chrome extension activity capture and source-specific engagement signals.</a:t>
                      </a:r>
                      <a:endParaRPr sz="1450" u="none" cap="none" strike="noStrike">
                        <a:latin typeface="Inter"/>
                        <a:ea typeface="Inter"/>
                        <a:cs typeface="Inter"/>
                        <a:sym typeface="Inter"/>
                      </a:endParaRPr>
                    </a:p>
                    <a:p>
                      <a:pPr indent="0" lvl="0" marL="0" marR="0" rtl="0" algn="l">
                        <a:spcBef>
                          <a:spcPts val="0"/>
                        </a:spcBef>
                        <a:spcAft>
                          <a:spcPts val="0"/>
                        </a:spcAft>
                        <a:buClr>
                          <a:srgbClr val="272525"/>
                        </a:buClr>
                        <a:buSzPts val="1450"/>
                        <a:buFont typeface="Inter"/>
                        <a:buNone/>
                      </a:pPr>
                      <a:r>
                        <a:rPr lang="en-US" sz="1450" u="none" cap="none" strike="noStrike">
                          <a:solidFill>
                            <a:srgbClr val="272525"/>
                          </a:solidFill>
                          <a:latin typeface="Inter"/>
                          <a:ea typeface="Inter"/>
                          <a:cs typeface="Inter"/>
                          <a:sym typeface="Inter"/>
                        </a:rPr>
                        <a:t>Initial enrichment components for cleaning, embeddings, classification, and FAISS.</a:t>
                      </a:r>
                      <a:endParaRPr sz="1450" u="none" cap="none" strike="noStrike">
                        <a:latin typeface="Inter"/>
                        <a:ea typeface="Inter"/>
                        <a:cs typeface="Inter"/>
                        <a:sym typeface="Inter"/>
                      </a:endParaRPr>
                    </a:p>
                    <a:p>
                      <a:pPr indent="0" lvl="0" marL="0" marR="0" rtl="0" algn="l">
                        <a:spcBef>
                          <a:spcPts val="0"/>
                        </a:spcBef>
                        <a:spcAft>
                          <a:spcPts val="0"/>
                        </a:spcAft>
                        <a:buClr>
                          <a:srgbClr val="272525"/>
                        </a:buClr>
                        <a:buSzPts val="1450"/>
                        <a:buFont typeface="Inter"/>
                        <a:buNone/>
                      </a:pPr>
                      <a:r>
                        <a:rPr lang="en-US" sz="1450" u="none" cap="none" strike="noStrike">
                          <a:solidFill>
                            <a:srgbClr val="272525"/>
                          </a:solidFill>
                          <a:latin typeface="Inter"/>
                          <a:ea typeface="Inter"/>
                          <a:cs typeface="Inter"/>
                          <a:sym typeface="Inter"/>
                        </a:rPr>
                        <a:t>Initial LangGraph retrieval structure.</a:t>
                      </a:r>
                      <a:endParaRPr sz="1450" u="none" cap="none" strike="noStrike">
                        <a:latin typeface="Inter"/>
                        <a:ea typeface="Inter"/>
                        <a:cs typeface="Inter"/>
                        <a:sym typeface="Inter"/>
                      </a:endParaRPr>
                    </a:p>
                  </a:txBody>
                  <a:tcPr marT="6350" marB="6350" marR="189025" marL="189025" anchor="ctr">
                    <a:lnL cap="flat" cmpd="sng" w="12700">
                      <a:solidFill>
                        <a:srgbClr val="C0C1D7"/>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C0C1D7"/>
                      </a:solidFill>
                      <a:prstDash val="solid"/>
                      <a:round/>
                      <a:headEnd len="sm" w="sm" type="none"/>
                      <a:tailEnd len="sm" w="sm" type="none"/>
                    </a:lnT>
                    <a:lnB cap="flat" cmpd="sng" w="12700">
                      <a:solidFill>
                        <a:srgbClr val="C0C1D7"/>
                      </a:solidFill>
                      <a:prstDash val="solid"/>
                      <a:round/>
                      <a:headEnd len="sm" w="sm" type="none"/>
                      <a:tailEnd len="sm" w="sm" type="none"/>
                    </a:lnB>
                  </a:tcPr>
                </a:tc>
              </a:tr>
            </a:tbl>
          </a:graphicData>
        </a:graphic>
      </p:graphicFrame>
      <p:pic>
        <p:nvPicPr>
          <p:cNvPr id="110" name="Google Shape;110;p11"/>
          <p:cNvPicPr preferRelativeResize="0"/>
          <p:nvPr/>
        </p:nvPicPr>
        <p:blipFill>
          <a:blip r:embed="rId4">
            <a:alphaModFix/>
          </a:blip>
          <a:stretch>
            <a:fillRect/>
          </a:stretch>
        </p:blipFill>
        <p:spPr>
          <a:xfrm>
            <a:off x="10515275" y="6391277"/>
            <a:ext cx="1676400" cy="4667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descr="preencoded.png" id="116" name="Google Shape;116;p12"/>
          <p:cNvPicPr preferRelativeResize="0"/>
          <p:nvPr/>
        </p:nvPicPr>
        <p:blipFill rotWithShape="1">
          <a:blip r:embed="rId3">
            <a:alphaModFix/>
          </a:blip>
          <a:srcRect b="0" l="0" r="0" t="0"/>
          <a:stretch/>
        </p:blipFill>
        <p:spPr>
          <a:xfrm>
            <a:off x="10939685" y="541040"/>
            <a:ext cx="590535" cy="212824"/>
          </a:xfrm>
          <a:prstGeom prst="rect">
            <a:avLst/>
          </a:prstGeom>
          <a:noFill/>
          <a:ln>
            <a:noFill/>
          </a:ln>
        </p:spPr>
      </p:pic>
      <p:sp>
        <p:nvSpPr>
          <p:cNvPr id="117" name="Google Shape;117;p12"/>
          <p:cNvSpPr/>
          <p:nvPr/>
        </p:nvSpPr>
        <p:spPr>
          <a:xfrm>
            <a:off x="661475" y="1019870"/>
            <a:ext cx="10868745" cy="572195"/>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3600"/>
              <a:buFont typeface="Inter"/>
              <a:buNone/>
            </a:pPr>
            <a:r>
              <a:rPr b="1" i="0" lang="en-US" sz="3600" u="none" cap="none" strike="noStrike">
                <a:solidFill>
                  <a:srgbClr val="000000"/>
                </a:solidFill>
                <a:latin typeface="Inter"/>
                <a:ea typeface="Inter"/>
                <a:cs typeface="Inter"/>
                <a:sym typeface="Inter"/>
              </a:rPr>
              <a:t>Phase III Extensions and Improvements</a:t>
            </a:r>
            <a:endParaRPr b="0" i="0" sz="3600" u="none" cap="none" strike="noStrike">
              <a:solidFill>
                <a:schemeClr val="dk1"/>
              </a:solidFill>
              <a:latin typeface="Calibri"/>
              <a:ea typeface="Calibri"/>
              <a:cs typeface="Calibri"/>
              <a:sym typeface="Calibri"/>
            </a:endParaRPr>
          </a:p>
        </p:txBody>
      </p:sp>
      <p:sp>
        <p:nvSpPr>
          <p:cNvPr id="118" name="Google Shape;118;p12"/>
          <p:cNvSpPr/>
          <p:nvPr/>
        </p:nvSpPr>
        <p:spPr>
          <a:xfrm>
            <a:off x="661475" y="1858070"/>
            <a:ext cx="10868745" cy="4458791"/>
          </a:xfrm>
          <a:prstGeom prst="rect">
            <a:avLst/>
          </a:prstGeom>
          <a:noFill/>
          <a:ln>
            <a:noFill/>
          </a:ln>
        </p:spPr>
        <p:txBody>
          <a:bodyPr anchorCtr="0" anchor="t" bIns="0" lIns="0" spcFirstLastPara="1" rIns="0" wrap="square" tIns="0">
            <a:noAutofit/>
          </a:bodyPr>
          <a:lstStyle/>
          <a:p>
            <a:pPr indent="0" lvl="0" marL="0" marR="0" rtl="0" algn="l">
              <a:lnSpc>
                <a:spcPct val="131000"/>
              </a:lnSpc>
              <a:spcBef>
                <a:spcPts val="0"/>
              </a:spcBef>
              <a:spcAft>
                <a:spcPts val="0"/>
              </a:spcAft>
              <a:buClr>
                <a:srgbClr val="272525"/>
              </a:buClr>
              <a:buSzPts val="1400"/>
              <a:buFont typeface="Inter"/>
              <a:buNone/>
            </a:pPr>
            <a:r>
              <a:rPr b="1" i="0" lang="en-US" sz="1400" u="none" cap="none" strike="noStrike">
                <a:solidFill>
                  <a:srgbClr val="272525"/>
                </a:solidFill>
                <a:latin typeface="Inter"/>
                <a:ea typeface="Inter"/>
                <a:cs typeface="Inter"/>
                <a:sym typeface="Inter"/>
              </a:rPr>
              <a:t>Phase III: What We Improved, What We Added</a:t>
            </a:r>
            <a:endParaRPr b="0" i="0" sz="1400" u="none" cap="none" strike="noStrike">
              <a:solidFill>
                <a:schemeClr val="dk1"/>
              </a:solidFill>
              <a:latin typeface="Calibri"/>
              <a:ea typeface="Calibri"/>
              <a:cs typeface="Calibri"/>
              <a:sym typeface="Calibri"/>
            </a:endParaRPr>
          </a:p>
          <a:p>
            <a:pPr indent="0" lvl="0" marL="0" marR="0" rtl="0" algn="l">
              <a:lnSpc>
                <a:spcPct val="131000"/>
              </a:lnSpc>
              <a:spcBef>
                <a:spcPts val="1550"/>
              </a:spcBef>
              <a:spcAft>
                <a:spcPts val="0"/>
              </a:spcAft>
              <a:buClr>
                <a:srgbClr val="272525"/>
              </a:buClr>
              <a:buSzPts val="1400"/>
              <a:buFont typeface="Inter"/>
              <a:buNone/>
            </a:pPr>
            <a:r>
              <a:rPr b="1" i="0" lang="en-US" sz="1400" u="none" cap="none" strike="noStrike">
                <a:solidFill>
                  <a:srgbClr val="272525"/>
                </a:solidFill>
                <a:latin typeface="Inter"/>
                <a:ea typeface="Inter"/>
                <a:cs typeface="Inter"/>
                <a:sym typeface="Inter"/>
              </a:rPr>
              <a:t>1 · Retrieval graph expanded</a:t>
            </a:r>
            <a:endParaRPr b="0" i="0" sz="1400" u="none" cap="none" strike="noStrike">
              <a:solidFill>
                <a:schemeClr val="dk1"/>
              </a:solidFill>
              <a:latin typeface="Calibri"/>
              <a:ea typeface="Calibri"/>
              <a:cs typeface="Calibri"/>
              <a:sym typeface="Calibri"/>
            </a:endParaRPr>
          </a:p>
          <a:p>
            <a:pPr indent="0" lvl="0" marL="0" marR="0" rtl="0" algn="l">
              <a:lnSpc>
                <a:spcPct val="131000"/>
              </a:lnSpc>
              <a:spcBef>
                <a:spcPts val="0"/>
              </a:spcBef>
              <a:spcAft>
                <a:spcPts val="0"/>
              </a:spcAft>
              <a:buClr>
                <a:srgbClr val="272525"/>
              </a:buClr>
              <a:buSzPts val="1400"/>
              <a:buFont typeface="Inter"/>
              <a:buNone/>
            </a:pPr>
            <a:r>
              <a:rPr b="0" i="0" lang="en-US" sz="1400" u="none" cap="none" strike="noStrike">
                <a:solidFill>
                  <a:srgbClr val="272525"/>
                </a:solidFill>
                <a:latin typeface="Inter"/>
                <a:ea typeface="Inter"/>
                <a:cs typeface="Inter"/>
                <a:sym typeface="Inter"/>
              </a:rPr>
              <a:t>Grew from 9 nodes to 14, with keyword and semantic search running in parallel.</a:t>
            </a:r>
            <a:endParaRPr b="0" i="0" sz="1400" u="none" cap="none" strike="noStrike">
              <a:solidFill>
                <a:schemeClr val="dk1"/>
              </a:solidFill>
              <a:latin typeface="Calibri"/>
              <a:ea typeface="Calibri"/>
              <a:cs typeface="Calibri"/>
              <a:sym typeface="Calibri"/>
            </a:endParaRPr>
          </a:p>
          <a:p>
            <a:pPr indent="0" lvl="0" marL="0" marR="0" rtl="0" algn="l">
              <a:lnSpc>
                <a:spcPct val="131000"/>
              </a:lnSpc>
              <a:spcBef>
                <a:spcPts val="1550"/>
              </a:spcBef>
              <a:spcAft>
                <a:spcPts val="0"/>
              </a:spcAft>
              <a:buClr>
                <a:srgbClr val="272525"/>
              </a:buClr>
              <a:buSzPts val="1400"/>
              <a:buFont typeface="Inter"/>
              <a:buNone/>
            </a:pPr>
            <a:r>
              <a:rPr b="1" i="0" lang="en-US" sz="1400" u="none" cap="none" strike="noStrike">
                <a:solidFill>
                  <a:srgbClr val="272525"/>
                </a:solidFill>
                <a:latin typeface="Inter"/>
                <a:ea typeface="Inter"/>
                <a:cs typeface="Inter"/>
                <a:sym typeface="Inter"/>
              </a:rPr>
              <a:t>2 · Search quality</a:t>
            </a:r>
            <a:endParaRPr b="0" i="0" sz="1400" u="none" cap="none" strike="noStrike">
              <a:solidFill>
                <a:schemeClr val="dk1"/>
              </a:solidFill>
              <a:latin typeface="Calibri"/>
              <a:ea typeface="Calibri"/>
              <a:cs typeface="Calibri"/>
              <a:sym typeface="Calibri"/>
            </a:endParaRPr>
          </a:p>
          <a:p>
            <a:pPr indent="0" lvl="0" marL="0" marR="0" rtl="0" algn="l">
              <a:lnSpc>
                <a:spcPct val="131000"/>
              </a:lnSpc>
              <a:spcBef>
                <a:spcPts val="0"/>
              </a:spcBef>
              <a:spcAft>
                <a:spcPts val="0"/>
              </a:spcAft>
              <a:buClr>
                <a:srgbClr val="272525"/>
              </a:buClr>
              <a:buSzPts val="1400"/>
              <a:buFont typeface="Inter"/>
              <a:buNone/>
            </a:pPr>
            <a:r>
              <a:rPr b="0" i="0" lang="en-US" sz="1400" u="none" cap="none" strike="noStrike">
                <a:solidFill>
                  <a:srgbClr val="272525"/>
                </a:solidFill>
                <a:latin typeface="Inter"/>
                <a:ea typeface="Inter"/>
                <a:cs typeface="Inter"/>
                <a:sym typeface="Inter"/>
              </a:rPr>
              <a:t>Added rank fusion to merge keyword and semantic results, then cross-encoder re-ranking. Still exactly 2 LLM calls per query.</a:t>
            </a:r>
            <a:endParaRPr b="0" i="0" sz="1400" u="none" cap="none" strike="noStrike">
              <a:solidFill>
                <a:schemeClr val="dk1"/>
              </a:solidFill>
              <a:latin typeface="Calibri"/>
              <a:ea typeface="Calibri"/>
              <a:cs typeface="Calibri"/>
              <a:sym typeface="Calibri"/>
            </a:endParaRPr>
          </a:p>
          <a:p>
            <a:pPr indent="0" lvl="0" marL="0" marR="0" rtl="0" algn="l">
              <a:lnSpc>
                <a:spcPct val="131000"/>
              </a:lnSpc>
              <a:spcBef>
                <a:spcPts val="1550"/>
              </a:spcBef>
              <a:spcAft>
                <a:spcPts val="0"/>
              </a:spcAft>
              <a:buClr>
                <a:srgbClr val="272525"/>
              </a:buClr>
              <a:buSzPts val="1400"/>
              <a:buFont typeface="Inter"/>
              <a:buNone/>
            </a:pPr>
            <a:r>
              <a:rPr b="1" i="0" lang="en-US" sz="1400" u="none" cap="none" strike="noStrike">
                <a:solidFill>
                  <a:srgbClr val="272525"/>
                </a:solidFill>
                <a:latin typeface="Inter"/>
                <a:ea typeface="Inter"/>
                <a:cs typeface="Inter"/>
                <a:sym typeface="Inter"/>
              </a:rPr>
              <a:t>3 · Single storage path</a:t>
            </a:r>
            <a:endParaRPr b="0" i="0" sz="1400" u="none" cap="none" strike="noStrike">
              <a:solidFill>
                <a:schemeClr val="dk1"/>
              </a:solidFill>
              <a:latin typeface="Calibri"/>
              <a:ea typeface="Calibri"/>
              <a:cs typeface="Calibri"/>
              <a:sym typeface="Calibri"/>
            </a:endParaRPr>
          </a:p>
          <a:p>
            <a:pPr indent="0" lvl="0" marL="0" marR="0" rtl="0" algn="l">
              <a:lnSpc>
                <a:spcPct val="131000"/>
              </a:lnSpc>
              <a:spcBef>
                <a:spcPts val="0"/>
              </a:spcBef>
              <a:spcAft>
                <a:spcPts val="0"/>
              </a:spcAft>
              <a:buClr>
                <a:srgbClr val="272525"/>
              </a:buClr>
              <a:buSzPts val="1400"/>
              <a:buFont typeface="Inter"/>
              <a:buNone/>
            </a:pPr>
            <a:r>
              <a:rPr b="0" i="0" lang="en-US" sz="1400" u="none" cap="none" strike="noStrike">
                <a:solidFill>
                  <a:srgbClr val="272525"/>
                </a:solidFill>
                <a:latin typeface="Inter"/>
                <a:ea typeface="Inter"/>
                <a:cs typeface="Inter"/>
                <a:sym typeface="Inter"/>
              </a:rPr>
              <a:t>All three sources now write through one gateway and one storage engine, with duplicate prevention.</a:t>
            </a:r>
            <a:endParaRPr b="0" i="0" sz="1400" u="none" cap="none" strike="noStrike">
              <a:solidFill>
                <a:schemeClr val="dk1"/>
              </a:solidFill>
              <a:latin typeface="Calibri"/>
              <a:ea typeface="Calibri"/>
              <a:cs typeface="Calibri"/>
              <a:sym typeface="Calibri"/>
            </a:endParaRPr>
          </a:p>
          <a:p>
            <a:pPr indent="0" lvl="0" marL="0" marR="0" rtl="0" algn="l">
              <a:lnSpc>
                <a:spcPct val="131000"/>
              </a:lnSpc>
              <a:spcBef>
                <a:spcPts val="1550"/>
              </a:spcBef>
              <a:spcAft>
                <a:spcPts val="0"/>
              </a:spcAft>
              <a:buClr>
                <a:srgbClr val="272525"/>
              </a:buClr>
              <a:buSzPts val="1400"/>
              <a:buFont typeface="Inter"/>
              <a:buNone/>
            </a:pPr>
            <a:r>
              <a:rPr b="1" i="0" lang="en-US" sz="1400" u="none" cap="none" strike="noStrike">
                <a:solidFill>
                  <a:srgbClr val="272525"/>
                </a:solidFill>
                <a:latin typeface="Inter"/>
                <a:ea typeface="Inter"/>
                <a:cs typeface="Inter"/>
                <a:sym typeface="Inter"/>
              </a:rPr>
              <a:t>4 · Enrichment reliability</a:t>
            </a:r>
            <a:endParaRPr b="0" i="0" sz="1400" u="none" cap="none" strike="noStrike">
              <a:solidFill>
                <a:schemeClr val="dk1"/>
              </a:solidFill>
              <a:latin typeface="Calibri"/>
              <a:ea typeface="Calibri"/>
              <a:cs typeface="Calibri"/>
              <a:sym typeface="Calibri"/>
            </a:endParaRPr>
          </a:p>
          <a:p>
            <a:pPr indent="0" lvl="0" marL="0" marR="0" rtl="0" algn="l">
              <a:lnSpc>
                <a:spcPct val="131000"/>
              </a:lnSpc>
              <a:spcBef>
                <a:spcPts val="0"/>
              </a:spcBef>
              <a:spcAft>
                <a:spcPts val="0"/>
              </a:spcAft>
              <a:buClr>
                <a:srgbClr val="272525"/>
              </a:buClr>
              <a:buSzPts val="1400"/>
              <a:buFont typeface="Inter"/>
              <a:buNone/>
            </a:pPr>
            <a:r>
              <a:rPr b="0" i="0" lang="en-US" sz="1400" u="none" cap="none" strike="noStrike">
                <a:solidFill>
                  <a:srgbClr val="272525"/>
                </a:solidFill>
                <a:latin typeface="Inter"/>
                <a:ea typeface="Inter"/>
                <a:cs typeface="Inter"/>
                <a:sym typeface="Inter"/>
              </a:rPr>
              <a:t>Items track pending, processed, and failed state. Failed items retry without being wrongly marked done. Index updates incrementally.</a:t>
            </a:r>
            <a:endParaRPr b="0" i="0" sz="1400" u="none" cap="none" strike="noStrike">
              <a:solidFill>
                <a:schemeClr val="dk1"/>
              </a:solidFill>
              <a:latin typeface="Calibri"/>
              <a:ea typeface="Calibri"/>
              <a:cs typeface="Calibri"/>
              <a:sym typeface="Calibri"/>
            </a:endParaRPr>
          </a:p>
          <a:p>
            <a:pPr indent="0" lvl="0" marL="0" marR="0" rtl="0" algn="l">
              <a:lnSpc>
                <a:spcPct val="131000"/>
              </a:lnSpc>
              <a:spcBef>
                <a:spcPts val="1550"/>
              </a:spcBef>
              <a:spcAft>
                <a:spcPts val="0"/>
              </a:spcAft>
              <a:buClr>
                <a:srgbClr val="272525"/>
              </a:buClr>
              <a:buSzPts val="1400"/>
              <a:buFont typeface="Inter"/>
              <a:buNone/>
            </a:pPr>
            <a:r>
              <a:rPr b="1" i="0" lang="en-US" sz="1400" u="none" cap="none" strike="noStrike">
                <a:solidFill>
                  <a:srgbClr val="272525"/>
                </a:solidFill>
                <a:latin typeface="Inter"/>
                <a:ea typeface="Inter"/>
                <a:cs typeface="Inter"/>
                <a:sym typeface="Inter"/>
              </a:rPr>
              <a:t>5 · Wellbeing, dashboard and extension popup</a:t>
            </a:r>
            <a:endParaRPr b="0" i="0" sz="1400" u="none" cap="none" strike="noStrike">
              <a:solidFill>
                <a:schemeClr val="dk1"/>
              </a:solidFill>
              <a:latin typeface="Calibri"/>
              <a:ea typeface="Calibri"/>
              <a:cs typeface="Calibri"/>
              <a:sym typeface="Calibri"/>
            </a:endParaRPr>
          </a:p>
          <a:p>
            <a:pPr indent="0" lvl="0" marL="0" marR="0" rtl="0" algn="l">
              <a:lnSpc>
                <a:spcPct val="131000"/>
              </a:lnSpc>
              <a:spcBef>
                <a:spcPts val="0"/>
              </a:spcBef>
              <a:spcAft>
                <a:spcPts val="0"/>
              </a:spcAft>
              <a:buClr>
                <a:srgbClr val="272525"/>
              </a:buClr>
              <a:buSzPts val="1400"/>
              <a:buFont typeface="Inter"/>
              <a:buNone/>
            </a:pPr>
            <a:r>
              <a:rPr b="0" i="0" lang="en-US" sz="1400" u="none" cap="none" strike="noStrike">
                <a:solidFill>
                  <a:srgbClr val="272525"/>
                </a:solidFill>
                <a:latin typeface="Inter"/>
                <a:ea typeface="Inter"/>
                <a:cs typeface="Inter"/>
                <a:sym typeface="Inter"/>
              </a:rPr>
              <a:t>Initial implementation. Not yet validated on live data.</a:t>
            </a:r>
            <a:endParaRPr b="0" i="0" sz="1400" u="none" cap="none" strike="noStrike">
              <a:solidFill>
                <a:schemeClr val="dk1"/>
              </a:solidFill>
              <a:latin typeface="Calibri"/>
              <a:ea typeface="Calibri"/>
              <a:cs typeface="Calibri"/>
              <a:sym typeface="Calibri"/>
            </a:endParaRPr>
          </a:p>
        </p:txBody>
      </p:sp>
      <p:pic>
        <p:nvPicPr>
          <p:cNvPr id="119" name="Google Shape;119;p12"/>
          <p:cNvPicPr preferRelativeResize="0"/>
          <p:nvPr/>
        </p:nvPicPr>
        <p:blipFill>
          <a:blip r:embed="rId4">
            <a:alphaModFix/>
          </a:blip>
          <a:stretch>
            <a:fillRect/>
          </a:stretch>
        </p:blipFill>
        <p:spPr>
          <a:xfrm>
            <a:off x="10515275" y="6316850"/>
            <a:ext cx="1676400" cy="4667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pic>
        <p:nvPicPr>
          <p:cNvPr descr="preencoded.png" id="125" name="Google Shape;125;p13"/>
          <p:cNvPicPr preferRelativeResize="0"/>
          <p:nvPr/>
        </p:nvPicPr>
        <p:blipFill rotWithShape="1">
          <a:blip r:embed="rId3">
            <a:alphaModFix/>
          </a:blip>
          <a:srcRect b="0" l="0" r="0" t="0"/>
          <a:stretch/>
        </p:blipFill>
        <p:spPr>
          <a:xfrm>
            <a:off x="11073032" y="528141"/>
            <a:ext cx="457189" cy="164802"/>
          </a:xfrm>
          <a:prstGeom prst="rect">
            <a:avLst/>
          </a:prstGeom>
          <a:noFill/>
          <a:ln>
            <a:noFill/>
          </a:ln>
        </p:spPr>
      </p:pic>
      <p:sp>
        <p:nvSpPr>
          <p:cNvPr id="126" name="Google Shape;126;p13"/>
          <p:cNvSpPr/>
          <p:nvPr/>
        </p:nvSpPr>
        <p:spPr>
          <a:xfrm>
            <a:off x="661475" y="852388"/>
            <a:ext cx="10868745" cy="443012"/>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2750"/>
              <a:buFont typeface="Inter"/>
              <a:buNone/>
            </a:pPr>
            <a:r>
              <a:rPr b="1" i="0" lang="en-US" sz="2750" u="none" cap="none" strike="noStrike">
                <a:solidFill>
                  <a:srgbClr val="000000"/>
                </a:solidFill>
                <a:latin typeface="Inter"/>
                <a:ea typeface="Inter"/>
                <a:cs typeface="Inter"/>
                <a:sym typeface="Inter"/>
              </a:rPr>
              <a:t>Integration &amp; Platform Stability</a:t>
            </a:r>
            <a:endParaRPr b="0" i="0" sz="2750" u="none" cap="none" strike="noStrike">
              <a:solidFill>
                <a:schemeClr val="dk1"/>
              </a:solidFill>
              <a:latin typeface="Calibri"/>
              <a:ea typeface="Calibri"/>
              <a:cs typeface="Calibri"/>
              <a:sym typeface="Calibri"/>
            </a:endParaRPr>
          </a:p>
        </p:txBody>
      </p:sp>
      <p:sp>
        <p:nvSpPr>
          <p:cNvPr id="127" name="Google Shape;127;p13"/>
          <p:cNvSpPr/>
          <p:nvPr/>
        </p:nvSpPr>
        <p:spPr>
          <a:xfrm>
            <a:off x="661475" y="1337866"/>
            <a:ext cx="10868745" cy="221456"/>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350"/>
              <a:buFont typeface="Inter"/>
              <a:buNone/>
            </a:pPr>
            <a:r>
              <a:rPr b="1" i="0" lang="en-US" sz="1350" u="none" cap="none" strike="noStrike">
                <a:solidFill>
                  <a:srgbClr val="000000"/>
                </a:solidFill>
                <a:latin typeface="Inter"/>
                <a:ea typeface="Inter"/>
                <a:cs typeface="Inter"/>
                <a:sym typeface="Inter"/>
              </a:rPr>
              <a:t>Mrigank Jain — PES2UG23CS352 </a:t>
            </a:r>
            <a:endParaRPr b="0" i="0" sz="1350" u="none" cap="none" strike="noStrike">
              <a:solidFill>
                <a:schemeClr val="dk1"/>
              </a:solidFill>
              <a:latin typeface="Calibri"/>
              <a:ea typeface="Calibri"/>
              <a:cs typeface="Calibri"/>
              <a:sym typeface="Calibri"/>
            </a:endParaRPr>
          </a:p>
        </p:txBody>
      </p:sp>
      <p:sp>
        <p:nvSpPr>
          <p:cNvPr id="128" name="Google Shape;128;p13"/>
          <p:cNvSpPr/>
          <p:nvPr/>
        </p:nvSpPr>
        <p:spPr>
          <a:xfrm>
            <a:off x="661475" y="2076648"/>
            <a:ext cx="10868745" cy="221456"/>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350"/>
              <a:buFont typeface="Inter"/>
              <a:buNone/>
            </a:pPr>
            <a:r>
              <a:rPr b="1" i="0" lang="en-US" sz="1350" u="none" cap="none" strike="noStrike">
                <a:solidFill>
                  <a:srgbClr val="000000"/>
                </a:solidFill>
                <a:latin typeface="Inter"/>
                <a:ea typeface="Inter"/>
                <a:cs typeface="Inter"/>
                <a:sym typeface="Inter"/>
              </a:rPr>
              <a:t>RESPONSIBILITIES:</a:t>
            </a:r>
            <a:endParaRPr b="0" i="0" sz="1350" u="none" cap="none" strike="noStrike">
              <a:solidFill>
                <a:schemeClr val="dk1"/>
              </a:solidFill>
              <a:latin typeface="Calibri"/>
              <a:ea typeface="Calibri"/>
              <a:cs typeface="Calibri"/>
              <a:sym typeface="Calibri"/>
            </a:endParaRPr>
          </a:p>
        </p:txBody>
      </p:sp>
      <p:sp>
        <p:nvSpPr>
          <p:cNvPr id="129" name="Google Shape;129;p13"/>
          <p:cNvSpPr/>
          <p:nvPr/>
        </p:nvSpPr>
        <p:spPr>
          <a:xfrm>
            <a:off x="661475" y="2457549"/>
            <a:ext cx="1086815" cy="481806"/>
          </a:xfrm>
          <a:prstGeom prst="roundRect">
            <a:avLst>
              <a:gd fmla="val 12358" name="adj"/>
            </a:avLst>
          </a:prstGeom>
          <a:solidFill>
            <a:srgbClr val="DADBF1"/>
          </a:solidFill>
          <a:ln cap="flat" cmpd="sng" w="9525">
            <a:solidFill>
              <a:srgbClr val="C0C1D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13"/>
          <p:cNvSpPr/>
          <p:nvPr/>
        </p:nvSpPr>
        <p:spPr>
          <a:xfrm>
            <a:off x="1105170" y="2573834"/>
            <a:ext cx="199325" cy="24913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72525"/>
              </a:buClr>
              <a:buSzPts val="1550"/>
              <a:buFont typeface="Inter"/>
              <a:buNone/>
            </a:pPr>
            <a:r>
              <a:rPr b="1" i="0" lang="en-US" sz="1550" u="none" cap="none" strike="noStrike">
                <a:solidFill>
                  <a:srgbClr val="272525"/>
                </a:solidFill>
                <a:latin typeface="Inter"/>
                <a:ea typeface="Inter"/>
                <a:cs typeface="Inter"/>
                <a:sym typeface="Inter"/>
              </a:rPr>
              <a:t>1</a:t>
            </a:r>
            <a:endParaRPr b="0" i="0" sz="1550" u="none" cap="none" strike="noStrike">
              <a:solidFill>
                <a:schemeClr val="dk1"/>
              </a:solidFill>
              <a:latin typeface="Calibri"/>
              <a:ea typeface="Calibri"/>
              <a:cs typeface="Calibri"/>
              <a:sym typeface="Calibri"/>
            </a:endParaRPr>
          </a:p>
        </p:txBody>
      </p:sp>
      <p:sp>
        <p:nvSpPr>
          <p:cNvPr id="131" name="Google Shape;131;p13"/>
          <p:cNvSpPr/>
          <p:nvPr/>
        </p:nvSpPr>
        <p:spPr>
          <a:xfrm>
            <a:off x="1889971" y="2599234"/>
            <a:ext cx="9498569" cy="198438"/>
          </a:xfrm>
          <a:prstGeom prst="rect">
            <a:avLst/>
          </a:prstGeom>
          <a:noFill/>
          <a:ln>
            <a:noFill/>
          </a:ln>
        </p:spPr>
        <p:txBody>
          <a:bodyPr anchorCtr="0" anchor="t" bIns="0" lIns="0" spcFirstLastPara="1" rIns="0" wrap="square" tIns="0">
            <a:noAutofit/>
          </a:bodyPr>
          <a:lstStyle/>
          <a:p>
            <a:pPr indent="0" lvl="0" marL="0" marR="0" rtl="0" algn="l">
              <a:lnSpc>
                <a:spcPct val="117000"/>
              </a:lnSpc>
              <a:spcBef>
                <a:spcPts val="0"/>
              </a:spcBef>
              <a:spcAft>
                <a:spcPts val="0"/>
              </a:spcAft>
              <a:buClr>
                <a:srgbClr val="272525"/>
              </a:buClr>
              <a:buSzPts val="1100"/>
              <a:buFont typeface="Inter"/>
              <a:buNone/>
            </a:pPr>
            <a:r>
              <a:rPr b="0" i="0" lang="en-US" sz="1100" u="none" cap="none" strike="noStrike">
                <a:solidFill>
                  <a:srgbClr val="272525"/>
                </a:solidFill>
                <a:latin typeface="Inter"/>
                <a:ea typeface="Inter"/>
                <a:cs typeface="Inter"/>
                <a:sym typeface="Inter"/>
              </a:rPr>
              <a:t>Build the API gateway connecting the extension and dashboard to the backend</a:t>
            </a:r>
            <a:endParaRPr b="0" i="0" sz="1100" u="none" cap="none" strike="noStrike">
              <a:solidFill>
                <a:schemeClr val="dk1"/>
              </a:solidFill>
              <a:latin typeface="Calibri"/>
              <a:ea typeface="Calibri"/>
              <a:cs typeface="Calibri"/>
              <a:sym typeface="Calibri"/>
            </a:endParaRPr>
          </a:p>
        </p:txBody>
      </p:sp>
      <p:sp>
        <p:nvSpPr>
          <p:cNvPr id="132" name="Google Shape;132;p13"/>
          <p:cNvSpPr/>
          <p:nvPr/>
        </p:nvSpPr>
        <p:spPr>
          <a:xfrm>
            <a:off x="1819130" y="2931418"/>
            <a:ext cx="9640249" cy="9525"/>
          </a:xfrm>
          <a:prstGeom prst="roundRect">
            <a:avLst>
              <a:gd fmla="val 49999" name="adj"/>
            </a:avLst>
          </a:prstGeom>
          <a:solidFill>
            <a:srgbClr val="C0C1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13"/>
          <p:cNvSpPr/>
          <p:nvPr/>
        </p:nvSpPr>
        <p:spPr>
          <a:xfrm>
            <a:off x="661475" y="3010198"/>
            <a:ext cx="2173729" cy="481806"/>
          </a:xfrm>
          <a:prstGeom prst="roundRect">
            <a:avLst>
              <a:gd fmla="val 12358" name="adj"/>
            </a:avLst>
          </a:prstGeom>
          <a:solidFill>
            <a:srgbClr val="DADBF1"/>
          </a:solidFill>
          <a:ln cap="flat" cmpd="sng" w="9525">
            <a:solidFill>
              <a:srgbClr val="C0C1D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13"/>
          <p:cNvSpPr/>
          <p:nvPr/>
        </p:nvSpPr>
        <p:spPr>
          <a:xfrm>
            <a:off x="1648677" y="3126482"/>
            <a:ext cx="199325" cy="24913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72525"/>
              </a:buClr>
              <a:buSzPts val="1550"/>
              <a:buFont typeface="Inter"/>
              <a:buNone/>
            </a:pPr>
            <a:r>
              <a:rPr b="1" i="0" lang="en-US" sz="1550" u="none" cap="none" strike="noStrike">
                <a:solidFill>
                  <a:srgbClr val="272525"/>
                </a:solidFill>
                <a:latin typeface="Inter"/>
                <a:ea typeface="Inter"/>
                <a:cs typeface="Inter"/>
                <a:sym typeface="Inter"/>
              </a:rPr>
              <a:t>2</a:t>
            </a:r>
            <a:endParaRPr b="0" i="0" sz="1550" u="none" cap="none" strike="noStrike">
              <a:solidFill>
                <a:schemeClr val="dk1"/>
              </a:solidFill>
              <a:latin typeface="Calibri"/>
              <a:ea typeface="Calibri"/>
              <a:cs typeface="Calibri"/>
              <a:sym typeface="Calibri"/>
            </a:endParaRPr>
          </a:p>
        </p:txBody>
      </p:sp>
      <p:sp>
        <p:nvSpPr>
          <p:cNvPr id="135" name="Google Shape;135;p13"/>
          <p:cNvSpPr/>
          <p:nvPr/>
        </p:nvSpPr>
        <p:spPr>
          <a:xfrm>
            <a:off x="2976885" y="3151882"/>
            <a:ext cx="8411654" cy="198438"/>
          </a:xfrm>
          <a:prstGeom prst="rect">
            <a:avLst/>
          </a:prstGeom>
          <a:noFill/>
          <a:ln>
            <a:noFill/>
          </a:ln>
        </p:spPr>
        <p:txBody>
          <a:bodyPr anchorCtr="0" anchor="t" bIns="0" lIns="0" spcFirstLastPara="1" rIns="0" wrap="square" tIns="0">
            <a:noAutofit/>
          </a:bodyPr>
          <a:lstStyle/>
          <a:p>
            <a:pPr indent="0" lvl="0" marL="0" marR="0" rtl="0" algn="l">
              <a:lnSpc>
                <a:spcPct val="117000"/>
              </a:lnSpc>
              <a:spcBef>
                <a:spcPts val="0"/>
              </a:spcBef>
              <a:spcAft>
                <a:spcPts val="0"/>
              </a:spcAft>
              <a:buClr>
                <a:srgbClr val="272525"/>
              </a:buClr>
              <a:buSzPts val="1100"/>
              <a:buFont typeface="Inter"/>
              <a:buNone/>
            </a:pPr>
            <a:r>
              <a:rPr b="0" i="0" lang="en-US" sz="1100" u="none" cap="none" strike="noStrike">
                <a:solidFill>
                  <a:srgbClr val="272525"/>
                </a:solidFill>
                <a:latin typeface="Inter"/>
                <a:ea typeface="Inter"/>
                <a:cs typeface="Inter"/>
                <a:sym typeface="Inter"/>
              </a:rPr>
              <a:t>Keep all source connectors reachable through one consistent set of endpoints</a:t>
            </a:r>
            <a:endParaRPr b="0" i="0" sz="1100" u="none" cap="none" strike="noStrike">
              <a:solidFill>
                <a:schemeClr val="dk1"/>
              </a:solidFill>
              <a:latin typeface="Calibri"/>
              <a:ea typeface="Calibri"/>
              <a:cs typeface="Calibri"/>
              <a:sym typeface="Calibri"/>
            </a:endParaRPr>
          </a:p>
        </p:txBody>
      </p:sp>
      <p:sp>
        <p:nvSpPr>
          <p:cNvPr id="136" name="Google Shape;136;p13"/>
          <p:cNvSpPr/>
          <p:nvPr/>
        </p:nvSpPr>
        <p:spPr>
          <a:xfrm>
            <a:off x="2906044" y="3484066"/>
            <a:ext cx="8553335" cy="9525"/>
          </a:xfrm>
          <a:prstGeom prst="roundRect">
            <a:avLst>
              <a:gd fmla="val 49999" name="adj"/>
            </a:avLst>
          </a:prstGeom>
          <a:solidFill>
            <a:srgbClr val="C0C1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13"/>
          <p:cNvSpPr/>
          <p:nvPr/>
        </p:nvSpPr>
        <p:spPr>
          <a:xfrm>
            <a:off x="661475" y="3562846"/>
            <a:ext cx="3260544" cy="481806"/>
          </a:xfrm>
          <a:prstGeom prst="roundRect">
            <a:avLst>
              <a:gd fmla="val 12358" name="adj"/>
            </a:avLst>
          </a:prstGeom>
          <a:solidFill>
            <a:srgbClr val="DADBF1"/>
          </a:solidFill>
          <a:ln cap="flat" cmpd="sng" w="9525">
            <a:solidFill>
              <a:srgbClr val="C0C1D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3"/>
          <p:cNvSpPr/>
          <p:nvPr/>
        </p:nvSpPr>
        <p:spPr>
          <a:xfrm>
            <a:off x="2192084" y="3679130"/>
            <a:ext cx="199325" cy="24913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72525"/>
              </a:buClr>
              <a:buSzPts val="1550"/>
              <a:buFont typeface="Inter"/>
              <a:buNone/>
            </a:pPr>
            <a:r>
              <a:rPr b="1" i="0" lang="en-US" sz="1550" u="none" cap="none" strike="noStrike">
                <a:solidFill>
                  <a:srgbClr val="272525"/>
                </a:solidFill>
                <a:latin typeface="Inter"/>
                <a:ea typeface="Inter"/>
                <a:cs typeface="Inter"/>
                <a:sym typeface="Inter"/>
              </a:rPr>
              <a:t>3</a:t>
            </a:r>
            <a:endParaRPr b="0" i="0" sz="1550" u="none" cap="none" strike="noStrike">
              <a:solidFill>
                <a:schemeClr val="dk1"/>
              </a:solidFill>
              <a:latin typeface="Calibri"/>
              <a:ea typeface="Calibri"/>
              <a:cs typeface="Calibri"/>
              <a:sym typeface="Calibri"/>
            </a:endParaRPr>
          </a:p>
        </p:txBody>
      </p:sp>
      <p:sp>
        <p:nvSpPr>
          <p:cNvPr id="139" name="Google Shape;139;p13"/>
          <p:cNvSpPr/>
          <p:nvPr/>
        </p:nvSpPr>
        <p:spPr>
          <a:xfrm>
            <a:off x="4063700" y="3704530"/>
            <a:ext cx="7324839" cy="198438"/>
          </a:xfrm>
          <a:prstGeom prst="rect">
            <a:avLst/>
          </a:prstGeom>
          <a:noFill/>
          <a:ln>
            <a:noFill/>
          </a:ln>
        </p:spPr>
        <p:txBody>
          <a:bodyPr anchorCtr="0" anchor="t" bIns="0" lIns="0" spcFirstLastPara="1" rIns="0" wrap="square" tIns="0">
            <a:noAutofit/>
          </a:bodyPr>
          <a:lstStyle/>
          <a:p>
            <a:pPr indent="0" lvl="0" marL="0" marR="0" rtl="0" algn="l">
              <a:lnSpc>
                <a:spcPct val="117000"/>
              </a:lnSpc>
              <a:spcBef>
                <a:spcPts val="0"/>
              </a:spcBef>
              <a:spcAft>
                <a:spcPts val="0"/>
              </a:spcAft>
              <a:buClr>
                <a:srgbClr val="272525"/>
              </a:buClr>
              <a:buSzPts val="1100"/>
              <a:buFont typeface="Inter"/>
              <a:buNone/>
            </a:pPr>
            <a:r>
              <a:rPr b="0" i="0" lang="en-US" sz="1100" u="none" cap="none" strike="noStrike">
                <a:solidFill>
                  <a:srgbClr val="272525"/>
                </a:solidFill>
                <a:latin typeface="Inter"/>
                <a:ea typeface="Inter"/>
                <a:cs typeface="Inter"/>
                <a:sym typeface="Inter"/>
              </a:rPr>
              <a:t>Expose runtime settings so capture can be controlled without restarting</a:t>
            </a:r>
            <a:endParaRPr b="0" i="0" sz="1100" u="none" cap="none" strike="noStrike">
              <a:solidFill>
                <a:schemeClr val="dk1"/>
              </a:solidFill>
              <a:latin typeface="Calibri"/>
              <a:ea typeface="Calibri"/>
              <a:cs typeface="Calibri"/>
              <a:sym typeface="Calibri"/>
            </a:endParaRPr>
          </a:p>
        </p:txBody>
      </p:sp>
      <p:sp>
        <p:nvSpPr>
          <p:cNvPr id="140" name="Google Shape;140;p13"/>
          <p:cNvSpPr/>
          <p:nvPr/>
        </p:nvSpPr>
        <p:spPr>
          <a:xfrm>
            <a:off x="3992859" y="4036715"/>
            <a:ext cx="7466520" cy="9525"/>
          </a:xfrm>
          <a:prstGeom prst="roundRect">
            <a:avLst>
              <a:gd fmla="val 49999" name="adj"/>
            </a:avLst>
          </a:prstGeom>
          <a:solidFill>
            <a:srgbClr val="C0C1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13"/>
          <p:cNvSpPr/>
          <p:nvPr/>
        </p:nvSpPr>
        <p:spPr>
          <a:xfrm>
            <a:off x="661475" y="4115495"/>
            <a:ext cx="4347458" cy="481806"/>
          </a:xfrm>
          <a:prstGeom prst="roundRect">
            <a:avLst>
              <a:gd fmla="val 12358" name="adj"/>
            </a:avLst>
          </a:prstGeom>
          <a:solidFill>
            <a:srgbClr val="DADBF1"/>
          </a:solidFill>
          <a:ln cap="flat" cmpd="sng" w="9525">
            <a:solidFill>
              <a:srgbClr val="C0C1D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13"/>
          <p:cNvSpPr/>
          <p:nvPr/>
        </p:nvSpPr>
        <p:spPr>
          <a:xfrm>
            <a:off x="2735492" y="4231779"/>
            <a:ext cx="199325" cy="24913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72525"/>
              </a:buClr>
              <a:buSzPts val="1550"/>
              <a:buFont typeface="Inter"/>
              <a:buNone/>
            </a:pPr>
            <a:r>
              <a:rPr b="1" i="0" lang="en-US" sz="1550" u="none" cap="none" strike="noStrike">
                <a:solidFill>
                  <a:srgbClr val="272525"/>
                </a:solidFill>
                <a:latin typeface="Inter"/>
                <a:ea typeface="Inter"/>
                <a:cs typeface="Inter"/>
                <a:sym typeface="Inter"/>
              </a:rPr>
              <a:t>4</a:t>
            </a:r>
            <a:endParaRPr b="0" i="0" sz="1550" u="none" cap="none" strike="noStrike">
              <a:solidFill>
                <a:schemeClr val="dk1"/>
              </a:solidFill>
              <a:latin typeface="Calibri"/>
              <a:ea typeface="Calibri"/>
              <a:cs typeface="Calibri"/>
              <a:sym typeface="Calibri"/>
            </a:endParaRPr>
          </a:p>
        </p:txBody>
      </p:sp>
      <p:sp>
        <p:nvSpPr>
          <p:cNvPr id="143" name="Google Shape;143;p13"/>
          <p:cNvSpPr/>
          <p:nvPr/>
        </p:nvSpPr>
        <p:spPr>
          <a:xfrm>
            <a:off x="5150614" y="4257179"/>
            <a:ext cx="6237925" cy="198438"/>
          </a:xfrm>
          <a:prstGeom prst="rect">
            <a:avLst/>
          </a:prstGeom>
          <a:noFill/>
          <a:ln>
            <a:noFill/>
          </a:ln>
        </p:spPr>
        <p:txBody>
          <a:bodyPr anchorCtr="0" anchor="t" bIns="0" lIns="0" spcFirstLastPara="1" rIns="0" wrap="square" tIns="0">
            <a:noAutofit/>
          </a:bodyPr>
          <a:lstStyle/>
          <a:p>
            <a:pPr indent="0" lvl="0" marL="0" marR="0" rtl="0" algn="l">
              <a:lnSpc>
                <a:spcPct val="117000"/>
              </a:lnSpc>
              <a:spcBef>
                <a:spcPts val="0"/>
              </a:spcBef>
              <a:spcAft>
                <a:spcPts val="0"/>
              </a:spcAft>
              <a:buClr>
                <a:srgbClr val="272525"/>
              </a:buClr>
              <a:buSzPts val="1100"/>
              <a:buFont typeface="Inter"/>
              <a:buNone/>
            </a:pPr>
            <a:r>
              <a:rPr b="0" i="0" lang="en-US" sz="1100" u="none" cap="none" strike="noStrike">
                <a:solidFill>
                  <a:srgbClr val="272525"/>
                </a:solidFill>
                <a:latin typeface="Inter"/>
                <a:ea typeface="Inter"/>
                <a:cs typeface="Inter"/>
                <a:sym typeface="Inter"/>
              </a:rPr>
              <a:t>Provide health visibility for the running system</a:t>
            </a:r>
            <a:endParaRPr b="0" i="0" sz="1100" u="none" cap="none" strike="noStrike">
              <a:solidFill>
                <a:schemeClr val="dk1"/>
              </a:solidFill>
              <a:latin typeface="Calibri"/>
              <a:ea typeface="Calibri"/>
              <a:cs typeface="Calibri"/>
              <a:sym typeface="Calibri"/>
            </a:endParaRPr>
          </a:p>
        </p:txBody>
      </p:sp>
      <p:sp>
        <p:nvSpPr>
          <p:cNvPr id="144" name="Google Shape;144;p13"/>
          <p:cNvSpPr/>
          <p:nvPr/>
        </p:nvSpPr>
        <p:spPr>
          <a:xfrm>
            <a:off x="5079774" y="4589363"/>
            <a:ext cx="6379606" cy="9525"/>
          </a:xfrm>
          <a:prstGeom prst="roundRect">
            <a:avLst>
              <a:gd fmla="val 49999" name="adj"/>
            </a:avLst>
          </a:prstGeom>
          <a:solidFill>
            <a:srgbClr val="C0C1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13"/>
          <p:cNvSpPr/>
          <p:nvPr/>
        </p:nvSpPr>
        <p:spPr>
          <a:xfrm>
            <a:off x="661475" y="4668143"/>
            <a:ext cx="5434373" cy="481806"/>
          </a:xfrm>
          <a:prstGeom prst="roundRect">
            <a:avLst>
              <a:gd fmla="val 12358" name="adj"/>
            </a:avLst>
          </a:prstGeom>
          <a:solidFill>
            <a:srgbClr val="DADBF1"/>
          </a:solidFill>
          <a:ln cap="flat" cmpd="sng" w="9525">
            <a:solidFill>
              <a:srgbClr val="C0C1D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13"/>
          <p:cNvSpPr/>
          <p:nvPr/>
        </p:nvSpPr>
        <p:spPr>
          <a:xfrm>
            <a:off x="3278998" y="4784427"/>
            <a:ext cx="199325" cy="24913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72525"/>
              </a:buClr>
              <a:buSzPts val="1550"/>
              <a:buFont typeface="Inter"/>
              <a:buNone/>
            </a:pPr>
            <a:r>
              <a:rPr b="1" i="0" lang="en-US" sz="1550" u="none" cap="none" strike="noStrike">
                <a:solidFill>
                  <a:srgbClr val="272525"/>
                </a:solidFill>
                <a:latin typeface="Inter"/>
                <a:ea typeface="Inter"/>
                <a:cs typeface="Inter"/>
                <a:sym typeface="Inter"/>
              </a:rPr>
              <a:t>5</a:t>
            </a:r>
            <a:endParaRPr b="0" i="0" sz="1550" u="none" cap="none" strike="noStrike">
              <a:solidFill>
                <a:schemeClr val="dk1"/>
              </a:solidFill>
              <a:latin typeface="Calibri"/>
              <a:ea typeface="Calibri"/>
              <a:cs typeface="Calibri"/>
              <a:sym typeface="Calibri"/>
            </a:endParaRPr>
          </a:p>
        </p:txBody>
      </p:sp>
      <p:sp>
        <p:nvSpPr>
          <p:cNvPr id="147" name="Google Shape;147;p13"/>
          <p:cNvSpPr/>
          <p:nvPr/>
        </p:nvSpPr>
        <p:spPr>
          <a:xfrm>
            <a:off x="6237528" y="4809827"/>
            <a:ext cx="5151011" cy="198438"/>
          </a:xfrm>
          <a:prstGeom prst="rect">
            <a:avLst/>
          </a:prstGeom>
          <a:noFill/>
          <a:ln>
            <a:noFill/>
          </a:ln>
        </p:spPr>
        <p:txBody>
          <a:bodyPr anchorCtr="0" anchor="t" bIns="0" lIns="0" spcFirstLastPara="1" rIns="0" wrap="square" tIns="0">
            <a:noAutofit/>
          </a:bodyPr>
          <a:lstStyle/>
          <a:p>
            <a:pPr indent="0" lvl="0" marL="0" marR="0" rtl="0" algn="l">
              <a:lnSpc>
                <a:spcPct val="117000"/>
              </a:lnSpc>
              <a:spcBef>
                <a:spcPts val="0"/>
              </a:spcBef>
              <a:spcAft>
                <a:spcPts val="0"/>
              </a:spcAft>
              <a:buClr>
                <a:srgbClr val="272525"/>
              </a:buClr>
              <a:buSzPts val="1100"/>
              <a:buFont typeface="Inter"/>
              <a:buNone/>
            </a:pPr>
            <a:r>
              <a:rPr b="0" i="0" lang="en-US" sz="1100" u="none" cap="none" strike="noStrike">
                <a:solidFill>
                  <a:srgbClr val="272525"/>
                </a:solidFill>
                <a:latin typeface="Inter"/>
                <a:ea typeface="Inter"/>
                <a:cs typeface="Inter"/>
                <a:sym typeface="Inter"/>
              </a:rPr>
              <a:t>Build command-line tools to set up, inspect and repair the system</a:t>
            </a:r>
            <a:endParaRPr b="0" i="0" sz="1100" u="none" cap="none" strike="noStrike">
              <a:solidFill>
                <a:schemeClr val="dk1"/>
              </a:solidFill>
              <a:latin typeface="Calibri"/>
              <a:ea typeface="Calibri"/>
              <a:cs typeface="Calibri"/>
              <a:sym typeface="Calibri"/>
            </a:endParaRPr>
          </a:p>
        </p:txBody>
      </p:sp>
      <p:sp>
        <p:nvSpPr>
          <p:cNvPr id="148" name="Google Shape;148;p13"/>
          <p:cNvSpPr/>
          <p:nvPr/>
        </p:nvSpPr>
        <p:spPr>
          <a:xfrm>
            <a:off x="661475" y="5309394"/>
            <a:ext cx="10868745" cy="265708"/>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650"/>
              <a:buFont typeface="Inter"/>
              <a:buNone/>
            </a:pPr>
            <a:r>
              <a:rPr b="1" i="0" lang="en-US" sz="1650" u="none" cap="none" strike="noStrike">
                <a:solidFill>
                  <a:srgbClr val="000000"/>
                </a:solidFill>
                <a:latin typeface="Inter"/>
                <a:ea typeface="Inter"/>
                <a:cs typeface="Inter"/>
                <a:sym typeface="Inter"/>
              </a:rPr>
              <a:t>IMPLEMENTED WORK:</a:t>
            </a:r>
            <a:endParaRPr b="0" i="0" sz="1650" u="none" cap="none" strike="noStrike">
              <a:solidFill>
                <a:schemeClr val="dk1"/>
              </a:solidFill>
              <a:latin typeface="Calibri"/>
              <a:ea typeface="Calibri"/>
              <a:cs typeface="Calibri"/>
              <a:sym typeface="Calibri"/>
            </a:endParaRPr>
          </a:p>
        </p:txBody>
      </p:sp>
      <p:sp>
        <p:nvSpPr>
          <p:cNvPr id="149" name="Google Shape;149;p13"/>
          <p:cNvSpPr/>
          <p:nvPr/>
        </p:nvSpPr>
        <p:spPr>
          <a:xfrm>
            <a:off x="661475" y="5734546"/>
            <a:ext cx="10868745" cy="595313"/>
          </a:xfrm>
          <a:prstGeom prst="rect">
            <a:avLst/>
          </a:prstGeom>
          <a:noFill/>
          <a:ln>
            <a:noFill/>
          </a:ln>
        </p:spPr>
        <p:txBody>
          <a:bodyPr anchorCtr="0" anchor="t" bIns="0" lIns="0" spcFirstLastPara="1" rIns="0" wrap="square" tIns="0">
            <a:noAutofit/>
          </a:bodyPr>
          <a:lstStyle/>
          <a:p>
            <a:pPr indent="0" lvl="0" marL="0" marR="0" rtl="0" algn="l">
              <a:lnSpc>
                <a:spcPct val="117000"/>
              </a:lnSpc>
              <a:spcBef>
                <a:spcPts val="0"/>
              </a:spcBef>
              <a:spcAft>
                <a:spcPts val="0"/>
              </a:spcAft>
              <a:buClr>
                <a:srgbClr val="272525"/>
              </a:buClr>
              <a:buSzPts val="1100"/>
              <a:buFont typeface="Inter"/>
              <a:buNone/>
            </a:pPr>
            <a:r>
              <a:rPr b="0" i="0" lang="en-US" sz="1100" u="none" cap="none" strike="noStrike">
                <a:solidFill>
                  <a:srgbClr val="272525"/>
                </a:solidFill>
                <a:latin typeface="Inter"/>
                <a:ea typeface="Inter"/>
                <a:cs typeface="Inter"/>
                <a:sym typeface="Inter"/>
              </a:rPr>
              <a:t>One FastAPI application serving the Chrome extension and React dashboard, with six router groups in active use. Health endpoint polled every 15 seconds by the dashboard. Runtime capture settings changeable from the Settings page. Command-line tools for database setup, enrichment status, reprocessing, index rebuild and centroid recomputation. Approximately 1,470 lines of code.</a:t>
            </a:r>
            <a:endParaRPr b="0" i="0" sz="1100" u="none" cap="none" strike="noStrike">
              <a:solidFill>
                <a:schemeClr val="dk1"/>
              </a:solidFill>
              <a:latin typeface="Calibri"/>
              <a:ea typeface="Calibri"/>
              <a:cs typeface="Calibri"/>
              <a:sym typeface="Calibri"/>
            </a:endParaRPr>
          </a:p>
        </p:txBody>
      </p:sp>
      <p:pic>
        <p:nvPicPr>
          <p:cNvPr id="150" name="Google Shape;150;p13"/>
          <p:cNvPicPr preferRelativeResize="0"/>
          <p:nvPr/>
        </p:nvPicPr>
        <p:blipFill>
          <a:blip r:embed="rId4">
            <a:alphaModFix/>
          </a:blip>
          <a:stretch>
            <a:fillRect/>
          </a:stretch>
        </p:blipFill>
        <p:spPr>
          <a:xfrm>
            <a:off x="10463425" y="6324500"/>
            <a:ext cx="1676400" cy="4667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descr="preencoded.png" id="156" name="Google Shape;156;p14"/>
          <p:cNvPicPr preferRelativeResize="0"/>
          <p:nvPr/>
        </p:nvPicPr>
        <p:blipFill rotWithShape="1">
          <a:blip r:embed="rId3">
            <a:alphaModFix/>
          </a:blip>
          <a:srcRect b="0" l="0" r="0" t="0"/>
          <a:stretch/>
        </p:blipFill>
        <p:spPr>
          <a:xfrm>
            <a:off x="11053982" y="580330"/>
            <a:ext cx="476238" cy="171648"/>
          </a:xfrm>
          <a:prstGeom prst="rect">
            <a:avLst/>
          </a:prstGeom>
          <a:noFill/>
          <a:ln>
            <a:noFill/>
          </a:ln>
        </p:spPr>
      </p:pic>
      <p:sp>
        <p:nvSpPr>
          <p:cNvPr id="157" name="Google Shape;157;p14"/>
          <p:cNvSpPr/>
          <p:nvPr/>
        </p:nvSpPr>
        <p:spPr>
          <a:xfrm>
            <a:off x="661475" y="925016"/>
            <a:ext cx="10868745" cy="461466"/>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2900"/>
              <a:buFont typeface="Inter"/>
              <a:buNone/>
            </a:pPr>
            <a:r>
              <a:rPr b="1" i="0" lang="en-US" sz="2900" u="none" cap="none" strike="noStrike">
                <a:solidFill>
                  <a:srgbClr val="000000"/>
                </a:solidFill>
                <a:latin typeface="Inter"/>
                <a:ea typeface="Inter"/>
                <a:cs typeface="Inter"/>
                <a:sym typeface="Inter"/>
              </a:rPr>
              <a:t>Integration &amp; Platform Stability: Technical Details</a:t>
            </a:r>
            <a:endParaRPr b="0" i="0" sz="2900" u="none" cap="none" strike="noStrike">
              <a:solidFill>
                <a:schemeClr val="dk1"/>
              </a:solidFill>
              <a:latin typeface="Calibri"/>
              <a:ea typeface="Calibri"/>
              <a:cs typeface="Calibri"/>
              <a:sym typeface="Calibri"/>
            </a:endParaRPr>
          </a:p>
        </p:txBody>
      </p:sp>
      <p:sp>
        <p:nvSpPr>
          <p:cNvPr id="158" name="Google Shape;158;p14"/>
          <p:cNvSpPr/>
          <p:nvPr/>
        </p:nvSpPr>
        <p:spPr>
          <a:xfrm>
            <a:off x="661475" y="1432620"/>
            <a:ext cx="10868745" cy="230684"/>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Mrigank Jain — PES2UG23CS352</a:t>
            </a:r>
            <a:endParaRPr b="0" i="0" sz="1450" u="none" cap="none" strike="noStrike">
              <a:solidFill>
                <a:schemeClr val="dk1"/>
              </a:solidFill>
              <a:latin typeface="Calibri"/>
              <a:ea typeface="Calibri"/>
              <a:cs typeface="Calibri"/>
              <a:sym typeface="Calibri"/>
            </a:endParaRPr>
          </a:p>
        </p:txBody>
      </p:sp>
      <p:sp>
        <p:nvSpPr>
          <p:cNvPr id="159" name="Google Shape;159;p14"/>
          <p:cNvSpPr/>
          <p:nvPr/>
        </p:nvSpPr>
        <p:spPr>
          <a:xfrm>
            <a:off x="661475" y="1873250"/>
            <a:ext cx="10868745" cy="19050"/>
          </a:xfrm>
          <a:prstGeom prst="roundRect">
            <a:avLst>
              <a:gd fmla="val 49999" name="adj"/>
            </a:avLst>
          </a:prstGeom>
          <a:solidFill>
            <a:srgbClr val="272525">
              <a:alpha val="5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14"/>
          <p:cNvSpPr/>
          <p:nvPr/>
        </p:nvSpPr>
        <p:spPr>
          <a:xfrm>
            <a:off x="661475" y="2102247"/>
            <a:ext cx="10868745" cy="553839"/>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700"/>
              <a:buFont typeface="Inter"/>
              <a:buNone/>
            </a:pPr>
            <a:r>
              <a:rPr b="1" i="0" lang="en-US" sz="1700" u="none" cap="none" strike="noStrike">
                <a:solidFill>
                  <a:srgbClr val="000000"/>
                </a:solidFill>
                <a:latin typeface="Inter"/>
                <a:ea typeface="Inter"/>
                <a:cs typeface="Inter"/>
                <a:sym typeface="Inter"/>
              </a:rPr>
              <a:t>TOOLS USED</a:t>
            </a:r>
            <a:endParaRPr b="0" i="0" sz="1700" u="none" cap="none" strike="noStrike">
              <a:solidFill>
                <a:schemeClr val="dk1"/>
              </a:solidFill>
              <a:latin typeface="Calibri"/>
              <a:ea typeface="Calibri"/>
              <a:cs typeface="Calibri"/>
              <a:sym typeface="Calibri"/>
            </a:endParaRPr>
          </a:p>
        </p:txBody>
      </p:sp>
      <p:graphicFrame>
        <p:nvGraphicFramePr>
          <p:cNvPr id="161" name="Google Shape;161;p14"/>
          <p:cNvGraphicFramePr/>
          <p:nvPr/>
        </p:nvGraphicFramePr>
        <p:xfrm>
          <a:off x="661475" y="2829123"/>
          <a:ext cx="3000000" cy="3000000"/>
        </p:xfrm>
        <a:graphic>
          <a:graphicData uri="http://schemas.openxmlformats.org/drawingml/2006/table">
            <a:tbl>
              <a:tblPr>
                <a:noFill/>
                <a:tableStyleId>{46ECF8E9-5879-42D1-B8A0-3D792A3639C8}</a:tableStyleId>
              </a:tblPr>
              <a:tblGrid>
                <a:gridCol w="5434375"/>
                <a:gridCol w="5434375"/>
              </a:tblGrid>
              <a:tr h="381675">
                <a:tc>
                  <a:txBody>
                    <a:bodyPr/>
                    <a:lstStyle/>
                    <a:p>
                      <a:pPr indent="0" lvl="0" marL="0" marR="0" rtl="0" algn="l">
                        <a:spcBef>
                          <a:spcPts val="0"/>
                        </a:spcBef>
                        <a:spcAft>
                          <a:spcPts val="0"/>
                        </a:spcAft>
                        <a:buClr>
                          <a:srgbClr val="272525"/>
                        </a:buClr>
                        <a:buSzPts val="1450"/>
                        <a:buFont typeface="Inter"/>
                        <a:buNone/>
                      </a:pPr>
                      <a:r>
                        <a:rPr b="1" lang="en-US" sz="1450" u="none" cap="none" strike="noStrike">
                          <a:solidFill>
                            <a:srgbClr val="272525"/>
                          </a:solidFill>
                          <a:latin typeface="Inter"/>
                          <a:ea typeface="Inter"/>
                          <a:cs typeface="Inter"/>
                          <a:sym typeface="Inter"/>
                        </a:rPr>
                        <a:t>Tool</a:t>
                      </a:r>
                      <a:endParaRPr sz="1450" u="none" cap="none" strike="noStrike">
                        <a:latin typeface="Inter"/>
                        <a:ea typeface="Inter"/>
                        <a:cs typeface="Inter"/>
                        <a:sym typeface="Inter"/>
                      </a:endParaRPr>
                    </a:p>
                  </a:txBody>
                  <a:tcPr marT="6350" marB="6350" marR="147675" marL="147675"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C0C1D7"/>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1450"/>
                        <a:buFont typeface="Inter"/>
                        <a:buNone/>
                      </a:pPr>
                      <a:r>
                        <a:rPr b="1" lang="en-US" sz="1450" u="none" cap="none" strike="noStrike">
                          <a:solidFill>
                            <a:srgbClr val="272525"/>
                          </a:solidFill>
                          <a:latin typeface="Inter"/>
                          <a:ea typeface="Inter"/>
                          <a:cs typeface="Inter"/>
                          <a:sym typeface="Inter"/>
                        </a:rPr>
                        <a:t>Category</a:t>
                      </a:r>
                      <a:endParaRPr sz="1450" u="none" cap="none" strike="noStrike">
                        <a:latin typeface="Inter"/>
                        <a:ea typeface="Inter"/>
                        <a:cs typeface="Inter"/>
                        <a:sym typeface="Inter"/>
                      </a:endParaRPr>
                    </a:p>
                  </a:txBody>
                  <a:tcPr marT="6350" marB="6350" marR="147675" marL="147675"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C0C1D7"/>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r>
              <a:tr h="361350">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FastAPI</a:t>
                      </a:r>
                      <a:endParaRPr sz="1150" u="none" cap="none" strike="noStrike">
                        <a:latin typeface="Inter"/>
                        <a:ea typeface="Inter"/>
                        <a:cs typeface="Inter"/>
                        <a:sym typeface="Inter"/>
                      </a:endParaRPr>
                    </a:p>
                  </a:txBody>
                  <a:tcPr marT="6350" marB="6350" marR="147675" marL="147675" anchor="ctr">
                    <a:lnL cap="flat" cmpd="sng" w="12700">
                      <a:solidFill>
                        <a:srgbClr val="C0C1D7"/>
                      </a:solidFill>
                      <a:prstDash val="solid"/>
                      <a:round/>
                      <a:headEnd len="sm" w="sm" type="none"/>
                      <a:tailEnd len="sm" w="sm" type="none"/>
                    </a:lnL>
                    <a:lnR cap="flat" cmpd="sng" w="12700">
                      <a:solidFill>
                        <a:srgbClr val="F5F5F5"/>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API framework</a:t>
                      </a:r>
                      <a:endParaRPr sz="1150" u="none" cap="none" strike="noStrike">
                        <a:latin typeface="Inter"/>
                        <a:ea typeface="Inter"/>
                        <a:cs typeface="Inter"/>
                        <a:sym typeface="Inter"/>
                      </a:endParaRPr>
                    </a:p>
                  </a:txBody>
                  <a:tcPr marT="6350" marB="6350" marR="147675" marL="147675" anchor="ctr">
                    <a:lnL cap="flat" cmpd="sng" w="12700">
                      <a:solidFill>
                        <a:srgbClr val="F5F5F5"/>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r>
              <a:tr h="361350">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Uvicorn</a:t>
                      </a:r>
                      <a:endParaRPr sz="1150" u="none" cap="none" strike="noStrike">
                        <a:latin typeface="Inter"/>
                        <a:ea typeface="Inter"/>
                        <a:cs typeface="Inter"/>
                        <a:sym typeface="Inter"/>
                      </a:endParaRPr>
                    </a:p>
                  </a:txBody>
                  <a:tcPr marT="6350" marB="6350" marR="147675" marL="147675"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ASGI server</a:t>
                      </a:r>
                      <a:endParaRPr sz="1150" u="none" cap="none" strike="noStrike">
                        <a:latin typeface="Inter"/>
                        <a:ea typeface="Inter"/>
                        <a:cs typeface="Inter"/>
                        <a:sym typeface="Inter"/>
                      </a:endParaRPr>
                    </a:p>
                  </a:txBody>
                  <a:tcPr marT="6350" marB="6350" marR="147675" marL="147675"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r>
              <a:tr h="361350">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Pydantic</a:t>
                      </a:r>
                      <a:endParaRPr sz="1150" u="none" cap="none" strike="noStrike">
                        <a:latin typeface="Inter"/>
                        <a:ea typeface="Inter"/>
                        <a:cs typeface="Inter"/>
                        <a:sym typeface="Inter"/>
                      </a:endParaRPr>
                    </a:p>
                  </a:txBody>
                  <a:tcPr marT="6350" marB="6350" marR="147675" marL="147675" anchor="ctr">
                    <a:lnL cap="flat" cmpd="sng" w="12700">
                      <a:solidFill>
                        <a:srgbClr val="C0C1D7"/>
                      </a:solidFill>
                      <a:prstDash val="solid"/>
                      <a:round/>
                      <a:headEnd len="sm" w="sm" type="none"/>
                      <a:tailEnd len="sm" w="sm" type="none"/>
                    </a:lnL>
                    <a:lnR cap="flat" cmpd="sng" w="12700">
                      <a:solidFill>
                        <a:srgbClr val="F5F5F5"/>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Request validation</a:t>
                      </a:r>
                      <a:endParaRPr sz="1150" u="none" cap="none" strike="noStrike">
                        <a:latin typeface="Inter"/>
                        <a:ea typeface="Inter"/>
                        <a:cs typeface="Inter"/>
                        <a:sym typeface="Inter"/>
                      </a:endParaRPr>
                    </a:p>
                  </a:txBody>
                  <a:tcPr marT="6350" marB="6350" marR="147675" marL="147675" anchor="ctr">
                    <a:lnL cap="flat" cmpd="sng" w="12700">
                      <a:solidFill>
                        <a:srgbClr val="F5F5F5"/>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r>
              <a:tr h="361350">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psycopg2</a:t>
                      </a:r>
                      <a:endParaRPr sz="1150" u="none" cap="none" strike="noStrike">
                        <a:latin typeface="Inter"/>
                        <a:ea typeface="Inter"/>
                        <a:cs typeface="Inter"/>
                        <a:sym typeface="Inter"/>
                      </a:endParaRPr>
                    </a:p>
                  </a:txBody>
                  <a:tcPr marT="6350" marB="6350" marR="147675" marL="147675"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PostgreSQL driver</a:t>
                      </a:r>
                      <a:endParaRPr sz="1150" u="none" cap="none" strike="noStrike">
                        <a:latin typeface="Inter"/>
                        <a:ea typeface="Inter"/>
                        <a:cs typeface="Inter"/>
                        <a:sym typeface="Inter"/>
                      </a:endParaRPr>
                    </a:p>
                  </a:txBody>
                  <a:tcPr marT="6350" marB="6350" marR="147675" marL="147675"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r>
              <a:tr h="361350">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python-dotenv</a:t>
                      </a:r>
                      <a:endParaRPr sz="1150" u="none" cap="none" strike="noStrike">
                        <a:latin typeface="Inter"/>
                        <a:ea typeface="Inter"/>
                        <a:cs typeface="Inter"/>
                        <a:sym typeface="Inter"/>
                      </a:endParaRPr>
                    </a:p>
                  </a:txBody>
                  <a:tcPr marT="6350" marB="6350" marR="147675" marL="147675" anchor="ctr">
                    <a:lnL cap="flat" cmpd="sng" w="12700">
                      <a:solidFill>
                        <a:srgbClr val="C0C1D7"/>
                      </a:solidFill>
                      <a:prstDash val="solid"/>
                      <a:round/>
                      <a:headEnd len="sm" w="sm" type="none"/>
                      <a:tailEnd len="sm" w="sm" type="none"/>
                    </a:lnL>
                    <a:lnR cap="flat" cmpd="sng" w="12700">
                      <a:solidFill>
                        <a:srgbClr val="F5F5F5"/>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Environment configuration</a:t>
                      </a:r>
                      <a:endParaRPr sz="1150" u="none" cap="none" strike="noStrike">
                        <a:latin typeface="Inter"/>
                        <a:ea typeface="Inter"/>
                        <a:cs typeface="Inter"/>
                        <a:sym typeface="Inter"/>
                      </a:endParaRPr>
                    </a:p>
                  </a:txBody>
                  <a:tcPr marT="6350" marB="6350" marR="147675" marL="147675" anchor="ctr">
                    <a:lnL cap="flat" cmpd="sng" w="12700">
                      <a:solidFill>
                        <a:srgbClr val="F5F5F5"/>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r>
              <a:tr h="361350">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PostgreSQL</a:t>
                      </a:r>
                      <a:endParaRPr sz="1150" u="none" cap="none" strike="noStrike">
                        <a:latin typeface="Inter"/>
                        <a:ea typeface="Inter"/>
                        <a:cs typeface="Inter"/>
                        <a:sym typeface="Inter"/>
                      </a:endParaRPr>
                    </a:p>
                  </a:txBody>
                  <a:tcPr marT="6350" marB="6350" marR="147675" marL="147675"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C0C1D7"/>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Database</a:t>
                      </a:r>
                      <a:endParaRPr sz="1150" u="none" cap="none" strike="noStrike">
                        <a:latin typeface="Inter"/>
                        <a:ea typeface="Inter"/>
                        <a:cs typeface="Inter"/>
                        <a:sym typeface="Inter"/>
                      </a:endParaRPr>
                    </a:p>
                  </a:txBody>
                  <a:tcPr marT="6350" marB="6350" marR="147675" marL="147675"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C0C1D7"/>
                      </a:solidFill>
                      <a:prstDash val="solid"/>
                      <a:round/>
                      <a:headEnd len="sm" w="sm" type="none"/>
                      <a:tailEnd len="sm" w="sm" type="none"/>
                    </a:lnB>
                    <a:solidFill>
                      <a:srgbClr val="FFFFFF">
                        <a:alpha val="3922"/>
                      </a:srgbClr>
                    </a:solidFill>
                  </a:tcPr>
                </a:tc>
              </a:tr>
            </a:tbl>
          </a:graphicData>
        </a:graphic>
      </p:graphicFrame>
      <p:sp>
        <p:nvSpPr>
          <p:cNvPr id="162" name="Google Shape;162;p14"/>
          <p:cNvSpPr/>
          <p:nvPr/>
        </p:nvSpPr>
        <p:spPr>
          <a:xfrm>
            <a:off x="661475" y="5564684"/>
            <a:ext cx="10868745" cy="276920"/>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700"/>
              <a:buFont typeface="Inter"/>
              <a:buNone/>
            </a:pPr>
            <a:r>
              <a:rPr b="1" i="0" lang="en-US" sz="1700" u="none" cap="none" strike="noStrike">
                <a:solidFill>
                  <a:srgbClr val="000000"/>
                </a:solidFill>
                <a:latin typeface="Inter"/>
                <a:ea typeface="Inter"/>
                <a:cs typeface="Inter"/>
                <a:sym typeface="Inter"/>
              </a:rPr>
              <a:t>CODE CONTRIBUTED</a:t>
            </a:r>
            <a:endParaRPr b="0" i="0" sz="1700" u="none" cap="none" strike="noStrike">
              <a:solidFill>
                <a:schemeClr val="dk1"/>
              </a:solidFill>
              <a:latin typeface="Calibri"/>
              <a:ea typeface="Calibri"/>
              <a:cs typeface="Calibri"/>
              <a:sym typeface="Calibri"/>
            </a:endParaRPr>
          </a:p>
        </p:txBody>
      </p:sp>
      <p:sp>
        <p:nvSpPr>
          <p:cNvPr id="163" name="Google Shape;163;p14"/>
          <p:cNvSpPr/>
          <p:nvPr/>
        </p:nvSpPr>
        <p:spPr>
          <a:xfrm>
            <a:off x="661475" y="6014641"/>
            <a:ext cx="11478330" cy="262930"/>
          </a:xfrm>
          <a:prstGeom prst="rect">
            <a:avLst/>
          </a:prstGeom>
          <a:noFill/>
          <a:ln>
            <a:noFill/>
          </a:ln>
        </p:spPr>
        <p:txBody>
          <a:bodyPr anchorCtr="0" anchor="t" bIns="0" lIns="0" spcFirstLastPara="1" rIns="0" wrap="square" tIns="0">
            <a:noAutofit/>
          </a:bodyPr>
          <a:lstStyle/>
          <a:p>
            <a:pPr indent="0" lvl="0" marL="0" marR="0" rtl="0" algn="l">
              <a:lnSpc>
                <a:spcPct val="119000"/>
              </a:lnSpc>
              <a:spcBef>
                <a:spcPts val="0"/>
              </a:spcBef>
              <a:spcAft>
                <a:spcPts val="0"/>
              </a:spcAft>
              <a:buClr>
                <a:srgbClr val="272525"/>
              </a:buClr>
              <a:buSzPts val="1450"/>
              <a:buFont typeface="Inter"/>
              <a:buNone/>
            </a:pPr>
            <a:r>
              <a:rPr b="0" i="0" lang="en-US" sz="1450" u="none" cap="none" strike="noStrike">
                <a:solidFill>
                  <a:srgbClr val="272525"/>
                </a:solidFill>
                <a:latin typeface="Inter"/>
                <a:ea typeface="Inter"/>
                <a:cs typeface="Inter"/>
                <a:sym typeface="Inter"/>
              </a:rPr>
              <a:t>Approximately 1,470 lines</a:t>
            </a:r>
            <a:endParaRPr b="0" i="0" sz="1450" u="none" cap="none" strike="noStrike">
              <a:solidFill>
                <a:schemeClr val="dk1"/>
              </a:solidFill>
              <a:latin typeface="Calibri"/>
              <a:ea typeface="Calibri"/>
              <a:cs typeface="Calibri"/>
              <a:sym typeface="Calibri"/>
            </a:endParaRPr>
          </a:p>
        </p:txBody>
      </p:sp>
      <p:pic>
        <p:nvPicPr>
          <p:cNvPr id="164" name="Google Shape;164;p14"/>
          <p:cNvPicPr preferRelativeResize="0"/>
          <p:nvPr/>
        </p:nvPicPr>
        <p:blipFill>
          <a:blip r:embed="rId4">
            <a:alphaModFix/>
          </a:blip>
          <a:stretch>
            <a:fillRect/>
          </a:stretch>
        </p:blipFill>
        <p:spPr>
          <a:xfrm>
            <a:off x="10453900" y="6315725"/>
            <a:ext cx="1676400" cy="46672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pic>
        <p:nvPicPr>
          <p:cNvPr descr="preencoded.png" id="170" name="Google Shape;170;p15"/>
          <p:cNvPicPr preferRelativeResize="0"/>
          <p:nvPr/>
        </p:nvPicPr>
        <p:blipFill rotWithShape="1">
          <a:blip r:embed="rId3">
            <a:alphaModFix/>
          </a:blip>
          <a:srcRect b="0" l="0" r="0" t="0"/>
          <a:stretch/>
        </p:blipFill>
        <p:spPr>
          <a:xfrm>
            <a:off x="11225428" y="519807"/>
            <a:ext cx="304792" cy="109835"/>
          </a:xfrm>
          <a:prstGeom prst="rect">
            <a:avLst/>
          </a:prstGeom>
          <a:noFill/>
          <a:ln>
            <a:noFill/>
          </a:ln>
        </p:spPr>
      </p:pic>
      <p:sp>
        <p:nvSpPr>
          <p:cNvPr id="171" name="Google Shape;171;p15"/>
          <p:cNvSpPr/>
          <p:nvPr/>
        </p:nvSpPr>
        <p:spPr>
          <a:xfrm>
            <a:off x="661475" y="700484"/>
            <a:ext cx="10868745" cy="295275"/>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850"/>
              <a:buFont typeface="Inter"/>
              <a:buNone/>
            </a:pPr>
            <a:r>
              <a:rPr b="1" i="0" lang="en-US" sz="1850" u="none" cap="none" strike="noStrike">
                <a:solidFill>
                  <a:srgbClr val="000000"/>
                </a:solidFill>
                <a:latin typeface="Inter"/>
                <a:ea typeface="Inter"/>
                <a:cs typeface="Inter"/>
                <a:sym typeface="Inter"/>
              </a:rPr>
              <a:t>Enrichment &amp; Semantic Indexing</a:t>
            </a:r>
            <a:endParaRPr b="0" i="0" sz="1850" u="none" cap="none" strike="noStrike">
              <a:solidFill>
                <a:schemeClr val="dk1"/>
              </a:solidFill>
              <a:latin typeface="Calibri"/>
              <a:ea typeface="Calibri"/>
              <a:cs typeface="Calibri"/>
              <a:sym typeface="Calibri"/>
            </a:endParaRPr>
          </a:p>
        </p:txBody>
      </p:sp>
      <p:sp>
        <p:nvSpPr>
          <p:cNvPr id="172" name="Google Shape;172;p15"/>
          <p:cNvSpPr/>
          <p:nvPr/>
        </p:nvSpPr>
        <p:spPr>
          <a:xfrm>
            <a:off x="661475" y="1014611"/>
            <a:ext cx="10868745" cy="147638"/>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900"/>
              <a:buFont typeface="Inter"/>
              <a:buNone/>
            </a:pPr>
            <a:r>
              <a:rPr b="1" i="0" lang="en-US" sz="900" u="none" cap="none" strike="noStrike">
                <a:solidFill>
                  <a:srgbClr val="000000"/>
                </a:solidFill>
                <a:latin typeface="Inter"/>
                <a:ea typeface="Inter"/>
                <a:cs typeface="Inter"/>
                <a:sym typeface="Inter"/>
              </a:rPr>
              <a:t>Mohammed Mir Fazlai Ali — PES2UG23CS346 | Enrichment &amp; Indexing Owner</a:t>
            </a:r>
            <a:endParaRPr b="0" i="0" sz="900" u="none" cap="none" strike="noStrike">
              <a:solidFill>
                <a:schemeClr val="dk1"/>
              </a:solidFill>
              <a:latin typeface="Calibri"/>
              <a:ea typeface="Calibri"/>
              <a:cs typeface="Calibri"/>
              <a:sym typeface="Calibri"/>
            </a:endParaRPr>
          </a:p>
        </p:txBody>
      </p:sp>
      <p:sp>
        <p:nvSpPr>
          <p:cNvPr id="173" name="Google Shape;173;p15"/>
          <p:cNvSpPr/>
          <p:nvPr/>
        </p:nvSpPr>
        <p:spPr>
          <a:xfrm>
            <a:off x="661475" y="1256705"/>
            <a:ext cx="10868745" cy="12700"/>
          </a:xfrm>
          <a:prstGeom prst="roundRect">
            <a:avLst>
              <a:gd fmla="val 49999" name="adj"/>
            </a:avLst>
          </a:prstGeom>
          <a:solidFill>
            <a:srgbClr val="272525">
              <a:alpha val="5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74" name="Google Shape;174;p15"/>
          <p:cNvPicPr preferRelativeResize="0"/>
          <p:nvPr/>
        </p:nvPicPr>
        <p:blipFill rotWithShape="1">
          <a:blip r:embed="rId4">
            <a:alphaModFix/>
          </a:blip>
          <a:srcRect b="0" l="0" r="0" t="0"/>
          <a:stretch/>
        </p:blipFill>
        <p:spPr>
          <a:xfrm>
            <a:off x="706221" y="1346101"/>
            <a:ext cx="10779153" cy="4648299"/>
          </a:xfrm>
          <a:prstGeom prst="rect">
            <a:avLst/>
          </a:prstGeom>
          <a:noFill/>
          <a:ln>
            <a:noFill/>
          </a:ln>
        </p:spPr>
      </p:pic>
      <p:sp>
        <p:nvSpPr>
          <p:cNvPr id="175" name="Google Shape;175;p15"/>
          <p:cNvSpPr/>
          <p:nvPr/>
        </p:nvSpPr>
        <p:spPr>
          <a:xfrm>
            <a:off x="1431583" y="5112908"/>
            <a:ext cx="2445408" cy="305684"/>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FFFFFF"/>
              </a:buClr>
              <a:buSzPts val="1900"/>
              <a:buFont typeface="Inter"/>
              <a:buNone/>
            </a:pPr>
            <a:r>
              <a:rPr b="1" i="0" lang="en-US" sz="1900" u="none" cap="none" strike="noStrike">
                <a:solidFill>
                  <a:srgbClr val="FFFFFF"/>
                </a:solidFill>
                <a:latin typeface="Inter"/>
                <a:ea typeface="Inter"/>
                <a:cs typeface="Inter"/>
                <a:sym typeface="Inter"/>
              </a:rPr>
              <a:t>Embed &amp; Index</a:t>
            </a:r>
            <a:endParaRPr b="0" i="0" sz="1900" u="none" cap="none" strike="noStrike">
              <a:solidFill>
                <a:schemeClr val="dk1"/>
              </a:solidFill>
              <a:latin typeface="Calibri"/>
              <a:ea typeface="Calibri"/>
              <a:cs typeface="Calibri"/>
              <a:sym typeface="Calibri"/>
            </a:endParaRPr>
          </a:p>
        </p:txBody>
      </p:sp>
      <p:sp>
        <p:nvSpPr>
          <p:cNvPr id="176" name="Google Shape;176;p15"/>
          <p:cNvSpPr/>
          <p:nvPr/>
        </p:nvSpPr>
        <p:spPr>
          <a:xfrm>
            <a:off x="1431583" y="4036902"/>
            <a:ext cx="2759574" cy="305684"/>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FFFFFF"/>
              </a:buClr>
              <a:buSzPts val="1900"/>
              <a:buFont typeface="Inter"/>
              <a:buNone/>
            </a:pPr>
            <a:r>
              <a:rPr b="1" i="0" lang="en-US" sz="1900" u="none" cap="none" strike="noStrike">
                <a:solidFill>
                  <a:srgbClr val="FFFFFF"/>
                </a:solidFill>
                <a:latin typeface="Inter"/>
                <a:ea typeface="Inter"/>
                <a:cs typeface="Inter"/>
                <a:sym typeface="Inter"/>
              </a:rPr>
              <a:t>Create Embeddable Text</a:t>
            </a:r>
            <a:endParaRPr b="0" i="0" sz="1900" u="none" cap="none" strike="noStrike">
              <a:solidFill>
                <a:schemeClr val="dk1"/>
              </a:solidFill>
              <a:latin typeface="Calibri"/>
              <a:ea typeface="Calibri"/>
              <a:cs typeface="Calibri"/>
              <a:sym typeface="Calibri"/>
            </a:endParaRPr>
          </a:p>
        </p:txBody>
      </p:sp>
      <p:sp>
        <p:nvSpPr>
          <p:cNvPr id="177" name="Google Shape;177;p15"/>
          <p:cNvSpPr/>
          <p:nvPr/>
        </p:nvSpPr>
        <p:spPr>
          <a:xfrm>
            <a:off x="1431583" y="2971765"/>
            <a:ext cx="2445408" cy="305683"/>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FFFFFF"/>
              </a:buClr>
              <a:buSzPts val="1900"/>
              <a:buFont typeface="Inter"/>
              <a:buNone/>
            </a:pPr>
            <a:r>
              <a:rPr b="1" i="0" lang="en-US" sz="1900" u="none" cap="none" strike="noStrike">
                <a:solidFill>
                  <a:srgbClr val="FFFFFF"/>
                </a:solidFill>
                <a:latin typeface="Inter"/>
                <a:ea typeface="Inter"/>
                <a:cs typeface="Inter"/>
                <a:sym typeface="Inter"/>
              </a:rPr>
              <a:t>Clean Data</a:t>
            </a:r>
            <a:endParaRPr b="0" i="0" sz="1900" u="none" cap="none" strike="noStrike">
              <a:solidFill>
                <a:schemeClr val="dk1"/>
              </a:solidFill>
              <a:latin typeface="Calibri"/>
              <a:ea typeface="Calibri"/>
              <a:cs typeface="Calibri"/>
              <a:sym typeface="Calibri"/>
            </a:endParaRPr>
          </a:p>
        </p:txBody>
      </p:sp>
      <p:sp>
        <p:nvSpPr>
          <p:cNvPr id="178" name="Google Shape;178;p15"/>
          <p:cNvSpPr/>
          <p:nvPr/>
        </p:nvSpPr>
        <p:spPr>
          <a:xfrm>
            <a:off x="1431583" y="1895759"/>
            <a:ext cx="2445408" cy="305683"/>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FFFFFF"/>
              </a:buClr>
              <a:buSzPts val="1900"/>
              <a:buFont typeface="Inter"/>
              <a:buNone/>
            </a:pPr>
            <a:r>
              <a:rPr b="1" i="0" lang="en-US" sz="1900" u="none" cap="none" strike="noStrike">
                <a:solidFill>
                  <a:srgbClr val="FFFFFF"/>
                </a:solidFill>
                <a:latin typeface="Inter"/>
                <a:ea typeface="Inter"/>
                <a:cs typeface="Inter"/>
                <a:sym typeface="Inter"/>
              </a:rPr>
              <a:t>Load Context</a:t>
            </a:r>
            <a:endParaRPr b="0" i="0" sz="1900" u="none" cap="none" strike="noStrike">
              <a:solidFill>
                <a:schemeClr val="dk1"/>
              </a:solidFill>
              <a:latin typeface="Calibri"/>
              <a:ea typeface="Calibri"/>
              <a:cs typeface="Calibri"/>
              <a:sym typeface="Calibri"/>
            </a:endParaRPr>
          </a:p>
        </p:txBody>
      </p:sp>
      <p:sp>
        <p:nvSpPr>
          <p:cNvPr id="179" name="Google Shape;179;p15"/>
          <p:cNvSpPr/>
          <p:nvPr/>
        </p:nvSpPr>
        <p:spPr>
          <a:xfrm>
            <a:off x="661475" y="6047482"/>
            <a:ext cx="11478330" cy="113407"/>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72525"/>
              </a:buClr>
              <a:buSzPts val="700"/>
              <a:buFont typeface="Inter"/>
              <a:buNone/>
            </a:pPr>
            <a:r>
              <a:rPr b="0" i="0" lang="en-US" sz="700" u="none" cap="none" strike="noStrike">
                <a:solidFill>
                  <a:srgbClr val="272525"/>
                </a:solidFill>
                <a:latin typeface="Inter"/>
                <a:ea typeface="Inter"/>
                <a:cs typeface="Inter"/>
                <a:sym typeface="Inter"/>
              </a:rPr>
              <a:t>This pipeline enriches raw memory items, converts them into source-aware embeddable text, and stores them in the semantic index for reliable retrieval.</a:t>
            </a:r>
            <a:endParaRPr b="0" i="0" sz="700" u="none" cap="none" strike="noStrike">
              <a:solidFill>
                <a:schemeClr val="dk1"/>
              </a:solidFill>
              <a:latin typeface="Calibri"/>
              <a:ea typeface="Calibri"/>
              <a:cs typeface="Calibri"/>
              <a:sym typeface="Calibri"/>
            </a:endParaRPr>
          </a:p>
        </p:txBody>
      </p:sp>
      <p:sp>
        <p:nvSpPr>
          <p:cNvPr id="180" name="Google Shape;180;p15"/>
          <p:cNvSpPr/>
          <p:nvPr/>
        </p:nvSpPr>
        <p:spPr>
          <a:xfrm>
            <a:off x="661475" y="6231731"/>
            <a:ext cx="10868745" cy="177205"/>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100"/>
              <a:buFont typeface="Inter"/>
              <a:buNone/>
            </a:pPr>
            <a:r>
              <a:rPr b="1" i="0" lang="en-US" sz="1100" u="none" cap="none" strike="noStrike">
                <a:solidFill>
                  <a:srgbClr val="000000"/>
                </a:solidFill>
                <a:latin typeface="Inter"/>
                <a:ea typeface="Inter"/>
                <a:cs typeface="Inter"/>
                <a:sym typeface="Inter"/>
              </a:rPr>
              <a:t>DELIVERABLE:</a:t>
            </a:r>
            <a:endParaRPr b="0" i="0" sz="1100" u="none" cap="none" strike="noStrike">
              <a:solidFill>
                <a:schemeClr val="dk1"/>
              </a:solidFill>
              <a:latin typeface="Calibri"/>
              <a:ea typeface="Calibri"/>
              <a:cs typeface="Calibri"/>
              <a:sym typeface="Calibri"/>
            </a:endParaRPr>
          </a:p>
        </p:txBody>
      </p:sp>
      <p:sp>
        <p:nvSpPr>
          <p:cNvPr id="181" name="Google Shape;181;p15"/>
          <p:cNvSpPr/>
          <p:nvPr/>
        </p:nvSpPr>
        <p:spPr>
          <a:xfrm>
            <a:off x="661475" y="6479778"/>
            <a:ext cx="11478330" cy="113407"/>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72525"/>
              </a:buClr>
              <a:buSzPts val="700"/>
              <a:buFont typeface="Inter"/>
              <a:buNone/>
            </a:pPr>
            <a:r>
              <a:rPr b="0" i="0" lang="en-US" sz="700" u="none" cap="none" strike="noStrike">
                <a:solidFill>
                  <a:srgbClr val="272525"/>
                </a:solidFill>
                <a:latin typeface="Inter"/>
                <a:ea typeface="Inter"/>
                <a:cs typeface="Inter"/>
                <a:sym typeface="Inter"/>
              </a:rPr>
              <a:t>Reliable source-aware enrichment and indexing lifecycle with explicit pending, processed, failed, and retry behaviour.</a:t>
            </a:r>
            <a:endParaRPr b="0" i="0" sz="700" u="none" cap="none" strike="noStrike">
              <a:solidFill>
                <a:schemeClr val="dk1"/>
              </a:solidFill>
              <a:latin typeface="Calibri"/>
              <a:ea typeface="Calibri"/>
              <a:cs typeface="Calibri"/>
              <a:sym typeface="Calibri"/>
            </a:endParaRPr>
          </a:p>
        </p:txBody>
      </p:sp>
      <p:pic>
        <p:nvPicPr>
          <p:cNvPr id="182" name="Google Shape;182;p15"/>
          <p:cNvPicPr preferRelativeResize="0"/>
          <p:nvPr/>
        </p:nvPicPr>
        <p:blipFill>
          <a:blip r:embed="rId5">
            <a:alphaModFix/>
          </a:blip>
          <a:stretch>
            <a:fillRect/>
          </a:stretch>
        </p:blipFill>
        <p:spPr>
          <a:xfrm>
            <a:off x="10770450" y="6408925"/>
            <a:ext cx="1421232" cy="39568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pic>
        <p:nvPicPr>
          <p:cNvPr descr="preencoded.png" id="188" name="Google Shape;188;p16"/>
          <p:cNvPicPr preferRelativeResize="0"/>
          <p:nvPr/>
        </p:nvPicPr>
        <p:blipFill rotWithShape="1">
          <a:blip r:embed="rId3">
            <a:alphaModFix/>
          </a:blip>
          <a:srcRect b="0" l="0" r="0" t="0"/>
          <a:stretch/>
        </p:blipFill>
        <p:spPr>
          <a:xfrm>
            <a:off x="11225428" y="597694"/>
            <a:ext cx="304792" cy="109835"/>
          </a:xfrm>
          <a:prstGeom prst="rect">
            <a:avLst/>
          </a:prstGeom>
          <a:noFill/>
          <a:ln>
            <a:noFill/>
          </a:ln>
        </p:spPr>
      </p:pic>
      <p:sp>
        <p:nvSpPr>
          <p:cNvPr id="189" name="Google Shape;189;p16"/>
          <p:cNvSpPr/>
          <p:nvPr/>
        </p:nvSpPr>
        <p:spPr>
          <a:xfrm>
            <a:off x="661475" y="778371"/>
            <a:ext cx="10868745" cy="295275"/>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850"/>
              <a:buFont typeface="Inter"/>
              <a:buNone/>
            </a:pPr>
            <a:r>
              <a:rPr b="1" i="0" lang="en-US" sz="1850" u="none" cap="none" strike="noStrike">
                <a:solidFill>
                  <a:srgbClr val="000000"/>
                </a:solidFill>
                <a:latin typeface="Inter"/>
                <a:ea typeface="Inter"/>
                <a:cs typeface="Inter"/>
                <a:sym typeface="Inter"/>
              </a:rPr>
              <a:t>Enrichment &amp; Indexing: Technical Implementation</a:t>
            </a:r>
            <a:endParaRPr b="0" i="0" sz="1850" u="none" cap="none" strike="noStrike">
              <a:solidFill>
                <a:schemeClr val="dk1"/>
              </a:solidFill>
              <a:latin typeface="Calibri"/>
              <a:ea typeface="Calibri"/>
              <a:cs typeface="Calibri"/>
              <a:sym typeface="Calibri"/>
            </a:endParaRPr>
          </a:p>
        </p:txBody>
      </p:sp>
      <p:sp>
        <p:nvSpPr>
          <p:cNvPr id="190" name="Google Shape;190;p16"/>
          <p:cNvSpPr/>
          <p:nvPr/>
        </p:nvSpPr>
        <p:spPr>
          <a:xfrm>
            <a:off x="661475" y="1092498"/>
            <a:ext cx="10868745" cy="147638"/>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900"/>
              <a:buFont typeface="Inter"/>
              <a:buNone/>
            </a:pPr>
            <a:r>
              <a:rPr b="1" i="0" lang="en-US" sz="900" u="none" cap="none" strike="noStrike">
                <a:solidFill>
                  <a:srgbClr val="000000"/>
                </a:solidFill>
                <a:latin typeface="Inter"/>
                <a:ea typeface="Inter"/>
                <a:cs typeface="Inter"/>
                <a:sym typeface="Inter"/>
              </a:rPr>
              <a:t>Mohammed Mir Fazlai Ali — PES2UG23CS346</a:t>
            </a:r>
            <a:endParaRPr b="0" i="0" sz="900" u="none" cap="none" strike="noStrike">
              <a:solidFill>
                <a:schemeClr val="dk1"/>
              </a:solidFill>
              <a:latin typeface="Calibri"/>
              <a:ea typeface="Calibri"/>
              <a:cs typeface="Calibri"/>
              <a:sym typeface="Calibri"/>
            </a:endParaRPr>
          </a:p>
        </p:txBody>
      </p:sp>
      <p:sp>
        <p:nvSpPr>
          <p:cNvPr id="191" name="Google Shape;191;p16"/>
          <p:cNvSpPr/>
          <p:nvPr/>
        </p:nvSpPr>
        <p:spPr>
          <a:xfrm>
            <a:off x="661475" y="1334591"/>
            <a:ext cx="10868745" cy="12700"/>
          </a:xfrm>
          <a:prstGeom prst="roundRect">
            <a:avLst>
              <a:gd fmla="val 49999" name="adj"/>
            </a:avLst>
          </a:prstGeom>
          <a:solidFill>
            <a:srgbClr val="272525">
              <a:alpha val="5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16"/>
          <p:cNvSpPr/>
          <p:nvPr/>
        </p:nvSpPr>
        <p:spPr>
          <a:xfrm>
            <a:off x="661475" y="1441748"/>
            <a:ext cx="10868745" cy="177205"/>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100"/>
              <a:buFont typeface="Inter"/>
              <a:buNone/>
            </a:pPr>
            <a:r>
              <a:rPr b="1" i="0" lang="en-US" sz="1100" u="none" cap="none" strike="noStrike">
                <a:solidFill>
                  <a:srgbClr val="000000"/>
                </a:solidFill>
                <a:latin typeface="Inter"/>
                <a:ea typeface="Inter"/>
                <a:cs typeface="Inter"/>
                <a:sym typeface="Inter"/>
              </a:rPr>
              <a:t>IMPROVED FROM PHASE II</a:t>
            </a:r>
            <a:endParaRPr b="0" i="0" sz="1100" u="none" cap="none" strike="noStrike">
              <a:solidFill>
                <a:schemeClr val="dk1"/>
              </a:solidFill>
              <a:latin typeface="Calibri"/>
              <a:ea typeface="Calibri"/>
              <a:cs typeface="Calibri"/>
              <a:sym typeface="Calibri"/>
            </a:endParaRPr>
          </a:p>
        </p:txBody>
      </p:sp>
      <p:sp>
        <p:nvSpPr>
          <p:cNvPr id="193" name="Google Shape;193;p16"/>
          <p:cNvSpPr/>
          <p:nvPr/>
        </p:nvSpPr>
        <p:spPr>
          <a:xfrm>
            <a:off x="661475" y="1689795"/>
            <a:ext cx="10868745" cy="616545"/>
          </a:xfrm>
          <a:prstGeom prst="rect">
            <a:avLst/>
          </a:prstGeom>
          <a:noFill/>
          <a:ln>
            <a:noFill/>
          </a:ln>
        </p:spPr>
        <p:txBody>
          <a:bodyPr anchorCtr="0" anchor="t" bIns="0" lIns="0" spcFirstLastPara="1" rIns="0" wrap="square" tIns="47250">
            <a:noAutofit/>
          </a:bodyPr>
          <a:lstStyle/>
          <a:p>
            <a:pPr indent="-182880" lvl="0" marL="182880" marR="0" rtl="0" algn="l">
              <a:lnSpc>
                <a:spcPct val="100000"/>
              </a:lnSpc>
              <a:spcBef>
                <a:spcPts val="0"/>
              </a:spcBef>
              <a:spcAft>
                <a:spcPts val="0"/>
              </a:spcAft>
              <a:buClr>
                <a:srgbClr val="272525"/>
              </a:buClr>
              <a:buSzPts val="900"/>
              <a:buFont typeface="Inter"/>
              <a:buChar char="•"/>
            </a:pPr>
            <a:r>
              <a:rPr b="0" i="0" lang="en-US" sz="900" u="none" cap="none" strike="noStrike">
                <a:solidFill>
                  <a:srgbClr val="272525"/>
                </a:solidFill>
                <a:latin typeface="Inter"/>
                <a:ea typeface="Inter"/>
                <a:cs typeface="Inter"/>
                <a:sym typeface="Inter"/>
              </a:rPr>
              <a:t>Source-aware text cleaning — Gmail strips HTML, tracking pixels, signatures and quoted replies; Chrome extracts readable article content; YouTube combines title, description and transcript</a:t>
            </a:r>
            <a:endParaRPr b="0" i="0" sz="900" u="none" cap="none" strike="noStrike">
              <a:solidFill>
                <a:schemeClr val="dk1"/>
              </a:solidFill>
              <a:latin typeface="Calibri"/>
              <a:ea typeface="Calibri"/>
              <a:cs typeface="Calibri"/>
              <a:sym typeface="Calibri"/>
            </a:endParaRPr>
          </a:p>
          <a:p>
            <a:pPr indent="-182880" lvl="0" marL="182880" marR="0" rtl="0" algn="l">
              <a:lnSpc>
                <a:spcPct val="100000"/>
              </a:lnSpc>
              <a:spcBef>
                <a:spcPts val="0"/>
              </a:spcBef>
              <a:spcAft>
                <a:spcPts val="0"/>
              </a:spcAft>
              <a:buClr>
                <a:srgbClr val="272525"/>
              </a:buClr>
              <a:buSzPts val="900"/>
              <a:buFont typeface="Inter"/>
              <a:buChar char="•"/>
            </a:pPr>
            <a:r>
              <a:rPr b="0" i="0" lang="en-US" sz="900" u="none" cap="none" strike="noStrike">
                <a:solidFill>
                  <a:srgbClr val="272525"/>
                </a:solidFill>
                <a:latin typeface="Inter"/>
                <a:ea typeface="Inter"/>
                <a:cs typeface="Inter"/>
                <a:sym typeface="Inter"/>
              </a:rPr>
              <a:t>Embedding generation using all-MiniLM-L6-v2, producing 384-dimension vectors locally</a:t>
            </a:r>
            <a:endParaRPr b="0" i="0" sz="900" u="none" cap="none" strike="noStrike">
              <a:solidFill>
                <a:schemeClr val="dk1"/>
              </a:solidFill>
              <a:latin typeface="Calibri"/>
              <a:ea typeface="Calibri"/>
              <a:cs typeface="Calibri"/>
              <a:sym typeface="Calibri"/>
            </a:endParaRPr>
          </a:p>
          <a:p>
            <a:pPr indent="-182880" lvl="0" marL="182880" marR="0" rtl="0" algn="l">
              <a:lnSpc>
                <a:spcPct val="100000"/>
              </a:lnSpc>
              <a:spcBef>
                <a:spcPts val="0"/>
              </a:spcBef>
              <a:spcAft>
                <a:spcPts val="0"/>
              </a:spcAft>
              <a:buClr>
                <a:srgbClr val="272525"/>
              </a:buClr>
              <a:buSzPts val="900"/>
              <a:buFont typeface="Inter"/>
              <a:buChar char="•"/>
            </a:pPr>
            <a:r>
              <a:rPr b="0" i="0" lang="en-US" sz="900" u="none" cap="none" strike="noStrike">
                <a:solidFill>
                  <a:srgbClr val="272525"/>
                </a:solidFill>
                <a:latin typeface="Inter"/>
                <a:ea typeface="Inter"/>
                <a:cs typeface="Inter"/>
                <a:sym typeface="Inter"/>
              </a:rPr>
              <a:t>Four-stage classifier — structural signals, domain lookup, centroid similarity, then LLM fallback</a:t>
            </a:r>
            <a:endParaRPr b="0" i="0" sz="900" u="none" cap="none" strike="noStrike">
              <a:solidFill>
                <a:schemeClr val="dk1"/>
              </a:solidFill>
              <a:latin typeface="Calibri"/>
              <a:ea typeface="Calibri"/>
              <a:cs typeface="Calibri"/>
              <a:sym typeface="Calibri"/>
            </a:endParaRPr>
          </a:p>
          <a:p>
            <a:pPr indent="-182880" lvl="0" marL="182880" marR="0" rtl="0" algn="l">
              <a:lnSpc>
                <a:spcPct val="100000"/>
              </a:lnSpc>
              <a:spcBef>
                <a:spcPts val="0"/>
              </a:spcBef>
              <a:spcAft>
                <a:spcPts val="0"/>
              </a:spcAft>
              <a:buClr>
                <a:srgbClr val="272525"/>
              </a:buClr>
              <a:buSzPts val="900"/>
              <a:buFont typeface="Inter"/>
              <a:buChar char="•"/>
            </a:pPr>
            <a:r>
              <a:rPr b="0" i="0" lang="en-US" sz="900" u="none" cap="none" strike="noStrike">
                <a:solidFill>
                  <a:srgbClr val="272525"/>
                </a:solidFill>
                <a:latin typeface="Inter"/>
                <a:ea typeface="Inter"/>
                <a:cs typeface="Inter"/>
                <a:sym typeface="Inter"/>
              </a:rPr>
              <a:t>Two-tier attachment handling, with full text extracted on demand during retrieval</a:t>
            </a:r>
            <a:endParaRPr b="0" i="0" sz="900" u="none" cap="none" strike="noStrike">
              <a:solidFill>
                <a:schemeClr val="dk1"/>
              </a:solidFill>
              <a:latin typeface="Calibri"/>
              <a:ea typeface="Calibri"/>
              <a:cs typeface="Calibri"/>
              <a:sym typeface="Calibri"/>
            </a:endParaRPr>
          </a:p>
        </p:txBody>
      </p:sp>
      <p:sp>
        <p:nvSpPr>
          <p:cNvPr id="194" name="Google Shape;194;p16"/>
          <p:cNvSpPr/>
          <p:nvPr/>
        </p:nvSpPr>
        <p:spPr>
          <a:xfrm>
            <a:off x="661475" y="2377182"/>
            <a:ext cx="10868745" cy="177205"/>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100"/>
              <a:buFont typeface="Inter"/>
              <a:buNone/>
            </a:pPr>
            <a:r>
              <a:rPr b="1" i="0" lang="en-US" sz="1100" u="none" cap="none" strike="noStrike">
                <a:solidFill>
                  <a:srgbClr val="000000"/>
                </a:solidFill>
                <a:latin typeface="Inter"/>
                <a:ea typeface="Inter"/>
                <a:cs typeface="Inter"/>
                <a:sym typeface="Inter"/>
              </a:rPr>
              <a:t>NEW IN PHASE III</a:t>
            </a:r>
            <a:endParaRPr b="0" i="0" sz="1100" u="none" cap="none" strike="noStrike">
              <a:solidFill>
                <a:schemeClr val="dk1"/>
              </a:solidFill>
              <a:latin typeface="Calibri"/>
              <a:ea typeface="Calibri"/>
              <a:cs typeface="Calibri"/>
              <a:sym typeface="Calibri"/>
            </a:endParaRPr>
          </a:p>
        </p:txBody>
      </p:sp>
      <p:sp>
        <p:nvSpPr>
          <p:cNvPr id="195" name="Google Shape;195;p16"/>
          <p:cNvSpPr/>
          <p:nvPr/>
        </p:nvSpPr>
        <p:spPr>
          <a:xfrm>
            <a:off x="661475" y="2625229"/>
            <a:ext cx="10868745" cy="616545"/>
          </a:xfrm>
          <a:prstGeom prst="rect">
            <a:avLst/>
          </a:prstGeom>
          <a:noFill/>
          <a:ln>
            <a:noFill/>
          </a:ln>
        </p:spPr>
        <p:txBody>
          <a:bodyPr anchorCtr="0" anchor="t" bIns="0" lIns="0" spcFirstLastPara="1" rIns="0" wrap="square" tIns="47250">
            <a:noAutofit/>
          </a:bodyPr>
          <a:lstStyle/>
          <a:p>
            <a:pPr indent="-182880" lvl="0" marL="182880" marR="0" rtl="0" algn="l">
              <a:lnSpc>
                <a:spcPct val="100000"/>
              </a:lnSpc>
              <a:spcBef>
                <a:spcPts val="0"/>
              </a:spcBef>
              <a:spcAft>
                <a:spcPts val="0"/>
              </a:spcAft>
              <a:buClr>
                <a:srgbClr val="272525"/>
              </a:buClr>
              <a:buSzPts val="900"/>
              <a:buFont typeface="Inter"/>
              <a:buChar char="•"/>
            </a:pPr>
            <a:r>
              <a:rPr b="0" i="0" lang="en-US" sz="900" u="none" cap="none" strike="noStrike">
                <a:solidFill>
                  <a:srgbClr val="272525"/>
                </a:solidFill>
                <a:latin typeface="Inter"/>
                <a:ea typeface="Inter"/>
                <a:cs typeface="Inter"/>
                <a:sym typeface="Inter"/>
              </a:rPr>
              <a:t>Items that fail processing are marked and held separately, so they are never wrongly counted as complete</a:t>
            </a:r>
            <a:endParaRPr b="0" i="0" sz="900" u="none" cap="none" strike="noStrike">
              <a:solidFill>
                <a:schemeClr val="dk1"/>
              </a:solidFill>
              <a:latin typeface="Calibri"/>
              <a:ea typeface="Calibri"/>
              <a:cs typeface="Calibri"/>
              <a:sym typeface="Calibri"/>
            </a:endParaRPr>
          </a:p>
          <a:p>
            <a:pPr indent="-182880" lvl="0" marL="182880" marR="0" rtl="0" algn="l">
              <a:lnSpc>
                <a:spcPct val="100000"/>
              </a:lnSpc>
              <a:spcBef>
                <a:spcPts val="0"/>
              </a:spcBef>
              <a:spcAft>
                <a:spcPts val="0"/>
              </a:spcAft>
              <a:buClr>
                <a:srgbClr val="272525"/>
              </a:buClr>
              <a:buSzPts val="900"/>
              <a:buFont typeface="Inter"/>
              <a:buChar char="•"/>
            </a:pPr>
            <a:r>
              <a:rPr b="0" i="0" lang="en-US" sz="900" u="none" cap="none" strike="noStrike">
                <a:solidFill>
                  <a:srgbClr val="272525"/>
                </a:solidFill>
                <a:latin typeface="Inter"/>
                <a:ea typeface="Inter"/>
                <a:cs typeface="Inter"/>
                <a:sym typeface="Inter"/>
              </a:rPr>
              <a:t>Incremental index updates — new items are appended instead of rebuilding the whole index</a:t>
            </a:r>
            <a:endParaRPr b="0" i="0" sz="900" u="none" cap="none" strike="noStrike">
              <a:solidFill>
                <a:schemeClr val="dk1"/>
              </a:solidFill>
              <a:latin typeface="Calibri"/>
              <a:ea typeface="Calibri"/>
              <a:cs typeface="Calibri"/>
              <a:sym typeface="Calibri"/>
            </a:endParaRPr>
          </a:p>
          <a:p>
            <a:pPr indent="-182880" lvl="0" marL="182880" marR="0" rtl="0" algn="l">
              <a:lnSpc>
                <a:spcPct val="100000"/>
              </a:lnSpc>
              <a:spcBef>
                <a:spcPts val="0"/>
              </a:spcBef>
              <a:spcAft>
                <a:spcPts val="0"/>
              </a:spcAft>
              <a:buClr>
                <a:srgbClr val="272525"/>
              </a:buClr>
              <a:buSzPts val="900"/>
              <a:buFont typeface="Inter"/>
              <a:buChar char="•"/>
            </a:pPr>
            <a:r>
              <a:rPr b="0" i="0" lang="en-US" sz="900" u="none" cap="none" strike="noStrike">
                <a:solidFill>
                  <a:srgbClr val="272525"/>
                </a:solidFill>
                <a:latin typeface="Inter"/>
                <a:ea typeface="Inter"/>
                <a:cs typeface="Inter"/>
                <a:sym typeface="Inter"/>
              </a:rPr>
              <a:t>Classifier centroids now saved to disk and refreshed by a maintenance script</a:t>
            </a:r>
            <a:endParaRPr b="0" i="0" sz="900" u="none" cap="none" strike="noStrike">
              <a:solidFill>
                <a:schemeClr val="dk1"/>
              </a:solidFill>
              <a:latin typeface="Calibri"/>
              <a:ea typeface="Calibri"/>
              <a:cs typeface="Calibri"/>
              <a:sym typeface="Calibri"/>
            </a:endParaRPr>
          </a:p>
          <a:p>
            <a:pPr indent="-182880" lvl="0" marL="182880" marR="0" rtl="0" algn="l">
              <a:lnSpc>
                <a:spcPct val="100000"/>
              </a:lnSpc>
              <a:spcBef>
                <a:spcPts val="0"/>
              </a:spcBef>
              <a:spcAft>
                <a:spcPts val="0"/>
              </a:spcAft>
              <a:buClr>
                <a:srgbClr val="272525"/>
              </a:buClr>
              <a:buSzPts val="900"/>
              <a:buFont typeface="Inter"/>
              <a:buChar char="•"/>
            </a:pPr>
            <a:r>
              <a:rPr b="0" i="0" lang="en-US" sz="900" u="none" cap="none" strike="noStrike">
                <a:solidFill>
                  <a:srgbClr val="272525"/>
                </a:solidFill>
                <a:latin typeface="Inter"/>
                <a:ea typeface="Inter"/>
                <a:cs typeface="Inter"/>
                <a:sym typeface="Inter"/>
              </a:rPr>
              <a:t>Deferred handling for YouTube items still awaiting metadata</a:t>
            </a:r>
            <a:endParaRPr b="0" i="0" sz="900" u="none" cap="none" strike="noStrike">
              <a:solidFill>
                <a:schemeClr val="dk1"/>
              </a:solidFill>
              <a:latin typeface="Calibri"/>
              <a:ea typeface="Calibri"/>
              <a:cs typeface="Calibri"/>
              <a:sym typeface="Calibri"/>
            </a:endParaRPr>
          </a:p>
        </p:txBody>
      </p:sp>
      <p:sp>
        <p:nvSpPr>
          <p:cNvPr id="196" name="Google Shape;196;p16"/>
          <p:cNvSpPr/>
          <p:nvPr/>
        </p:nvSpPr>
        <p:spPr>
          <a:xfrm>
            <a:off x="661475" y="3312616"/>
            <a:ext cx="10868745" cy="177205"/>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100"/>
              <a:buFont typeface="Inter"/>
              <a:buNone/>
            </a:pPr>
            <a:r>
              <a:rPr b="1" i="0" lang="en-US" sz="1100" u="none" cap="none" strike="noStrike">
                <a:solidFill>
                  <a:srgbClr val="000000"/>
                </a:solidFill>
                <a:latin typeface="Inter"/>
                <a:ea typeface="Inter"/>
                <a:cs typeface="Inter"/>
                <a:sym typeface="Inter"/>
              </a:rPr>
              <a:t>MODEL</a:t>
            </a:r>
            <a:endParaRPr b="0" i="0" sz="1100" u="none" cap="none" strike="noStrike">
              <a:solidFill>
                <a:schemeClr val="dk1"/>
              </a:solidFill>
              <a:latin typeface="Calibri"/>
              <a:ea typeface="Calibri"/>
              <a:cs typeface="Calibri"/>
              <a:sym typeface="Calibri"/>
            </a:endParaRPr>
          </a:p>
        </p:txBody>
      </p:sp>
      <p:sp>
        <p:nvSpPr>
          <p:cNvPr id="197" name="Google Shape;197;p16"/>
          <p:cNvSpPr/>
          <p:nvPr/>
        </p:nvSpPr>
        <p:spPr>
          <a:xfrm>
            <a:off x="661475" y="3560663"/>
            <a:ext cx="11478330" cy="141784"/>
          </a:xfrm>
          <a:prstGeom prst="rect">
            <a:avLst/>
          </a:prstGeom>
          <a:noFill/>
          <a:ln>
            <a:noFill/>
          </a:ln>
        </p:spPr>
        <p:txBody>
          <a:bodyPr anchorCtr="0" anchor="t" bIns="0" lIns="0" spcFirstLastPara="1" rIns="0" wrap="square" tIns="47250">
            <a:noAutofit/>
          </a:bodyPr>
          <a:lstStyle/>
          <a:p>
            <a:pPr indent="-182880" lvl="0" marL="182880" marR="0" rtl="0" algn="l">
              <a:lnSpc>
                <a:spcPct val="100000"/>
              </a:lnSpc>
              <a:spcBef>
                <a:spcPts val="0"/>
              </a:spcBef>
              <a:spcAft>
                <a:spcPts val="0"/>
              </a:spcAft>
              <a:buClr>
                <a:srgbClr val="272525"/>
              </a:buClr>
              <a:buSzPts val="900"/>
              <a:buFont typeface="Inter"/>
              <a:buChar char="•"/>
            </a:pPr>
            <a:r>
              <a:rPr b="0" i="0" lang="en-US" sz="900" u="none" cap="none" strike="noStrike">
                <a:solidFill>
                  <a:srgbClr val="272525"/>
                </a:solidFill>
                <a:latin typeface="Inter"/>
                <a:ea typeface="Inter"/>
                <a:cs typeface="Inter"/>
                <a:sym typeface="Inter"/>
              </a:rPr>
              <a:t>all-MiniLM-L6-v2 — 384-dimension sentence embeddings.</a:t>
            </a:r>
            <a:endParaRPr b="0" i="0" sz="900" u="none" cap="none" strike="noStrike">
              <a:solidFill>
                <a:schemeClr val="dk1"/>
              </a:solidFill>
              <a:latin typeface="Calibri"/>
              <a:ea typeface="Calibri"/>
              <a:cs typeface="Calibri"/>
              <a:sym typeface="Calibri"/>
            </a:endParaRPr>
          </a:p>
        </p:txBody>
      </p:sp>
      <p:sp>
        <p:nvSpPr>
          <p:cNvPr id="198" name="Google Shape;198;p16"/>
          <p:cNvSpPr/>
          <p:nvPr/>
        </p:nvSpPr>
        <p:spPr>
          <a:xfrm>
            <a:off x="661475" y="3773289"/>
            <a:ext cx="10868745" cy="177205"/>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100"/>
              <a:buFont typeface="Inter"/>
              <a:buNone/>
            </a:pPr>
            <a:r>
              <a:rPr b="1" i="0" lang="en-US" sz="1100" u="none" cap="none" strike="noStrike">
                <a:solidFill>
                  <a:srgbClr val="000000"/>
                </a:solidFill>
                <a:latin typeface="Inter"/>
                <a:ea typeface="Inter"/>
                <a:cs typeface="Inter"/>
                <a:sym typeface="Inter"/>
              </a:rPr>
              <a:t>LIBRARIES</a:t>
            </a:r>
            <a:endParaRPr b="0" i="0" sz="1100" u="none" cap="none" strike="noStrike">
              <a:solidFill>
                <a:schemeClr val="dk1"/>
              </a:solidFill>
              <a:latin typeface="Calibri"/>
              <a:ea typeface="Calibri"/>
              <a:cs typeface="Calibri"/>
              <a:sym typeface="Calibri"/>
            </a:endParaRPr>
          </a:p>
        </p:txBody>
      </p:sp>
      <p:graphicFrame>
        <p:nvGraphicFramePr>
          <p:cNvPr id="199" name="Google Shape;199;p16"/>
          <p:cNvGraphicFramePr/>
          <p:nvPr/>
        </p:nvGraphicFramePr>
        <p:xfrm>
          <a:off x="661475" y="4021336"/>
          <a:ext cx="3000000" cy="3000000"/>
        </p:xfrm>
        <a:graphic>
          <a:graphicData uri="http://schemas.openxmlformats.org/drawingml/2006/table">
            <a:tbl>
              <a:tblPr>
                <a:noFill/>
                <a:tableStyleId>{46ECF8E9-5879-42D1-B8A0-3D792A3639C8}</a:tableStyleId>
              </a:tblPr>
              <a:tblGrid>
                <a:gridCol w="5434375"/>
                <a:gridCol w="5434375"/>
              </a:tblGrid>
              <a:tr h="216875">
                <a:tc>
                  <a:txBody>
                    <a:bodyPr/>
                    <a:lstStyle/>
                    <a:p>
                      <a:pPr indent="0" lvl="0" marL="0" marR="0" rtl="0" algn="l">
                        <a:spcBef>
                          <a:spcPts val="0"/>
                        </a:spcBef>
                        <a:spcAft>
                          <a:spcPts val="0"/>
                        </a:spcAft>
                        <a:buClr>
                          <a:srgbClr val="272525"/>
                        </a:buClr>
                        <a:buSzPts val="900"/>
                        <a:buFont typeface="Inter"/>
                        <a:buNone/>
                      </a:pPr>
                      <a:r>
                        <a:rPr b="1" lang="en-US" sz="900" u="none" cap="none" strike="noStrike">
                          <a:solidFill>
                            <a:srgbClr val="272525"/>
                          </a:solidFill>
                          <a:latin typeface="Inter"/>
                          <a:ea typeface="Inter"/>
                          <a:cs typeface="Inter"/>
                          <a:sym typeface="Inter"/>
                        </a:rPr>
                        <a:t>Tool</a:t>
                      </a:r>
                      <a:endParaRPr sz="900" u="none" cap="none" strike="noStrike">
                        <a:latin typeface="Inter"/>
                        <a:ea typeface="Inter"/>
                        <a:cs typeface="Inter"/>
                        <a:sym typeface="Inter"/>
                      </a:endParaRPr>
                    </a:p>
                  </a:txBody>
                  <a:tcPr marT="6350" marB="6350" marR="94500" marL="94500"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C0C1D7"/>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900"/>
                        <a:buFont typeface="Inter"/>
                        <a:buNone/>
                      </a:pPr>
                      <a:r>
                        <a:rPr b="1" lang="en-US" sz="900" u="none" cap="none" strike="noStrike">
                          <a:solidFill>
                            <a:srgbClr val="272525"/>
                          </a:solidFill>
                          <a:latin typeface="Inter"/>
                          <a:ea typeface="Inter"/>
                          <a:cs typeface="Inter"/>
                          <a:sym typeface="Inter"/>
                        </a:rPr>
                        <a:t>Category</a:t>
                      </a:r>
                      <a:endParaRPr sz="900" u="none" cap="none" strike="noStrike">
                        <a:latin typeface="Inter"/>
                        <a:ea typeface="Inter"/>
                        <a:cs typeface="Inter"/>
                        <a:sym typeface="Inter"/>
                      </a:endParaRPr>
                    </a:p>
                  </a:txBody>
                  <a:tcPr marT="6350" marB="6350" marR="94500" marL="94500"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C0C1D7"/>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r>
              <a:tr h="182650">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sentence-transformers</a:t>
                      </a:r>
                      <a:endParaRPr sz="800" u="none" cap="none" strike="noStrike">
                        <a:latin typeface="Inter"/>
                        <a:ea typeface="Inter"/>
                        <a:cs typeface="Inter"/>
                        <a:sym typeface="Inter"/>
                      </a:endParaRPr>
                    </a:p>
                  </a:txBody>
                  <a:tcPr marT="6350" marB="6350" marR="94500" marL="94500" anchor="ctr">
                    <a:lnL cap="flat" cmpd="sng" w="12700">
                      <a:solidFill>
                        <a:srgbClr val="C0C1D7"/>
                      </a:solidFill>
                      <a:prstDash val="solid"/>
                      <a:round/>
                      <a:headEnd len="sm" w="sm" type="none"/>
                      <a:tailEnd len="sm" w="sm" type="none"/>
                    </a:lnL>
                    <a:lnR cap="flat" cmpd="sng" w="12700">
                      <a:solidFill>
                        <a:srgbClr val="F5F5F5"/>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Embedding generation</a:t>
                      </a:r>
                      <a:endParaRPr sz="800" u="none" cap="none" strike="noStrike">
                        <a:latin typeface="Inter"/>
                        <a:ea typeface="Inter"/>
                        <a:cs typeface="Inter"/>
                        <a:sym typeface="Inter"/>
                      </a:endParaRPr>
                    </a:p>
                  </a:txBody>
                  <a:tcPr marT="6350" marB="6350" marR="94500" marL="94500" anchor="ctr">
                    <a:lnL cap="flat" cmpd="sng" w="12700">
                      <a:solidFill>
                        <a:srgbClr val="F5F5F5"/>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r>
              <a:tr h="182650">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faiss-cpu</a:t>
                      </a:r>
                      <a:endParaRPr sz="800" u="none" cap="none" strike="noStrike">
                        <a:latin typeface="Inter"/>
                        <a:ea typeface="Inter"/>
                        <a:cs typeface="Inter"/>
                        <a:sym typeface="Inter"/>
                      </a:endParaRPr>
                    </a:p>
                  </a:txBody>
                  <a:tcPr marT="6350" marB="6350" marR="94500" marL="94500"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Vector index</a:t>
                      </a:r>
                      <a:endParaRPr sz="800" u="none" cap="none" strike="noStrike">
                        <a:latin typeface="Inter"/>
                        <a:ea typeface="Inter"/>
                        <a:cs typeface="Inter"/>
                        <a:sym typeface="Inter"/>
                      </a:endParaRPr>
                    </a:p>
                  </a:txBody>
                  <a:tcPr marT="6350" marB="6350" marR="94500" marL="94500"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r>
              <a:tr h="182650">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scikit-learn</a:t>
                      </a:r>
                      <a:endParaRPr sz="800" u="none" cap="none" strike="noStrike">
                        <a:latin typeface="Inter"/>
                        <a:ea typeface="Inter"/>
                        <a:cs typeface="Inter"/>
                        <a:sym typeface="Inter"/>
                      </a:endParaRPr>
                    </a:p>
                  </a:txBody>
                  <a:tcPr marT="6350" marB="6350" marR="94500" marL="94500" anchor="ctr">
                    <a:lnL cap="flat" cmpd="sng" w="12700">
                      <a:solidFill>
                        <a:srgbClr val="C0C1D7"/>
                      </a:solidFill>
                      <a:prstDash val="solid"/>
                      <a:round/>
                      <a:headEnd len="sm" w="sm" type="none"/>
                      <a:tailEnd len="sm" w="sm" type="none"/>
                    </a:lnL>
                    <a:lnR cap="flat" cmpd="sng" w="12700">
                      <a:solidFill>
                        <a:srgbClr val="F5F5F5"/>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Centroid similarity</a:t>
                      </a:r>
                      <a:endParaRPr sz="800" u="none" cap="none" strike="noStrike">
                        <a:latin typeface="Inter"/>
                        <a:ea typeface="Inter"/>
                        <a:cs typeface="Inter"/>
                        <a:sym typeface="Inter"/>
                      </a:endParaRPr>
                    </a:p>
                  </a:txBody>
                  <a:tcPr marT="6350" marB="6350" marR="94500" marL="94500" anchor="ctr">
                    <a:lnL cap="flat" cmpd="sng" w="12700">
                      <a:solidFill>
                        <a:srgbClr val="F5F5F5"/>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r>
              <a:tr h="182650">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NumPy</a:t>
                      </a:r>
                      <a:endParaRPr sz="800" u="none" cap="none" strike="noStrike">
                        <a:latin typeface="Inter"/>
                        <a:ea typeface="Inter"/>
                        <a:cs typeface="Inter"/>
                        <a:sym typeface="Inter"/>
                      </a:endParaRPr>
                    </a:p>
                  </a:txBody>
                  <a:tcPr marT="6350" marB="6350" marR="94500" marL="94500"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Vector maths</a:t>
                      </a:r>
                      <a:endParaRPr sz="800" u="none" cap="none" strike="noStrike">
                        <a:latin typeface="Inter"/>
                        <a:ea typeface="Inter"/>
                        <a:cs typeface="Inter"/>
                        <a:sym typeface="Inter"/>
                      </a:endParaRPr>
                    </a:p>
                  </a:txBody>
                  <a:tcPr marT="6350" marB="6350" marR="94500" marL="94500"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r>
              <a:tr h="182650">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BeautifulSoup4</a:t>
                      </a:r>
                      <a:endParaRPr sz="800" u="none" cap="none" strike="noStrike">
                        <a:latin typeface="Inter"/>
                        <a:ea typeface="Inter"/>
                        <a:cs typeface="Inter"/>
                        <a:sym typeface="Inter"/>
                      </a:endParaRPr>
                    </a:p>
                  </a:txBody>
                  <a:tcPr marT="6350" marB="6350" marR="94500" marL="94500" anchor="ctr">
                    <a:lnL cap="flat" cmpd="sng" w="12700">
                      <a:solidFill>
                        <a:srgbClr val="C0C1D7"/>
                      </a:solidFill>
                      <a:prstDash val="solid"/>
                      <a:round/>
                      <a:headEnd len="sm" w="sm" type="none"/>
                      <a:tailEnd len="sm" w="sm" type="none"/>
                    </a:lnL>
                    <a:lnR cap="flat" cmpd="sng" w="12700">
                      <a:solidFill>
                        <a:srgbClr val="F5F5F5"/>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HTML cleaning</a:t>
                      </a:r>
                      <a:endParaRPr sz="800" u="none" cap="none" strike="noStrike">
                        <a:latin typeface="Inter"/>
                        <a:ea typeface="Inter"/>
                        <a:cs typeface="Inter"/>
                        <a:sym typeface="Inter"/>
                      </a:endParaRPr>
                    </a:p>
                  </a:txBody>
                  <a:tcPr marT="6350" marB="6350" marR="94500" marL="94500" anchor="ctr">
                    <a:lnL cap="flat" cmpd="sng" w="12700">
                      <a:solidFill>
                        <a:srgbClr val="F5F5F5"/>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r>
              <a:tr h="182650">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readability-lxml</a:t>
                      </a:r>
                      <a:endParaRPr sz="800" u="none" cap="none" strike="noStrike">
                        <a:latin typeface="Inter"/>
                        <a:ea typeface="Inter"/>
                        <a:cs typeface="Inter"/>
                        <a:sym typeface="Inter"/>
                      </a:endParaRPr>
                    </a:p>
                  </a:txBody>
                  <a:tcPr marT="6350" marB="6350" marR="94500" marL="94500"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Article extraction</a:t>
                      </a:r>
                      <a:endParaRPr sz="800" u="none" cap="none" strike="noStrike">
                        <a:latin typeface="Inter"/>
                        <a:ea typeface="Inter"/>
                        <a:cs typeface="Inter"/>
                        <a:sym typeface="Inter"/>
                      </a:endParaRPr>
                    </a:p>
                  </a:txBody>
                  <a:tcPr marT="6350" marB="6350" marR="94500" marL="94500"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r>
              <a:tr h="182650">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pypdf</a:t>
                      </a:r>
                      <a:endParaRPr sz="800" u="none" cap="none" strike="noStrike">
                        <a:latin typeface="Inter"/>
                        <a:ea typeface="Inter"/>
                        <a:cs typeface="Inter"/>
                        <a:sym typeface="Inter"/>
                      </a:endParaRPr>
                    </a:p>
                  </a:txBody>
                  <a:tcPr marT="6350" marB="6350" marR="94500" marL="94500" anchor="ctr">
                    <a:lnL cap="flat" cmpd="sng" w="12700">
                      <a:solidFill>
                        <a:srgbClr val="C0C1D7"/>
                      </a:solidFill>
                      <a:prstDash val="solid"/>
                      <a:round/>
                      <a:headEnd len="sm" w="sm" type="none"/>
                      <a:tailEnd len="sm" w="sm" type="none"/>
                    </a:lnL>
                    <a:lnR cap="flat" cmpd="sng" w="12700">
                      <a:solidFill>
                        <a:srgbClr val="F5F5F5"/>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PDF text extraction</a:t>
                      </a:r>
                      <a:endParaRPr sz="800" u="none" cap="none" strike="noStrike">
                        <a:latin typeface="Inter"/>
                        <a:ea typeface="Inter"/>
                        <a:cs typeface="Inter"/>
                        <a:sym typeface="Inter"/>
                      </a:endParaRPr>
                    </a:p>
                  </a:txBody>
                  <a:tcPr marT="6350" marB="6350" marR="94500" marL="94500" anchor="ctr">
                    <a:lnL cap="flat" cmpd="sng" w="12700">
                      <a:solidFill>
                        <a:srgbClr val="F5F5F5"/>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r>
              <a:tr h="182650">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pdfplumber</a:t>
                      </a:r>
                      <a:endParaRPr sz="800" u="none" cap="none" strike="noStrike">
                        <a:latin typeface="Inter"/>
                        <a:ea typeface="Inter"/>
                        <a:cs typeface="Inter"/>
                        <a:sym typeface="Inter"/>
                      </a:endParaRPr>
                    </a:p>
                  </a:txBody>
                  <a:tcPr marT="6350" marB="6350" marR="94500" marL="94500"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PDF text extraction</a:t>
                      </a:r>
                      <a:endParaRPr sz="800" u="none" cap="none" strike="noStrike">
                        <a:latin typeface="Inter"/>
                        <a:ea typeface="Inter"/>
                        <a:cs typeface="Inter"/>
                        <a:sym typeface="Inter"/>
                      </a:endParaRPr>
                    </a:p>
                  </a:txBody>
                  <a:tcPr marT="6350" marB="6350" marR="94500" marL="94500"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r>
              <a:tr h="182650">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python-docx</a:t>
                      </a:r>
                      <a:endParaRPr sz="800" u="none" cap="none" strike="noStrike">
                        <a:latin typeface="Inter"/>
                        <a:ea typeface="Inter"/>
                        <a:cs typeface="Inter"/>
                        <a:sym typeface="Inter"/>
                      </a:endParaRPr>
                    </a:p>
                  </a:txBody>
                  <a:tcPr marT="6350" marB="6350" marR="94500" marL="94500" anchor="ctr">
                    <a:lnL cap="flat" cmpd="sng" w="12700">
                      <a:solidFill>
                        <a:srgbClr val="C0C1D7"/>
                      </a:solidFill>
                      <a:prstDash val="solid"/>
                      <a:round/>
                      <a:headEnd len="sm" w="sm" type="none"/>
                      <a:tailEnd len="sm" w="sm" type="none"/>
                    </a:lnL>
                    <a:lnR cap="flat" cmpd="sng" w="12700">
                      <a:solidFill>
                        <a:srgbClr val="F5F5F5"/>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Word document extraction</a:t>
                      </a:r>
                      <a:endParaRPr sz="800" u="none" cap="none" strike="noStrike">
                        <a:latin typeface="Inter"/>
                        <a:ea typeface="Inter"/>
                        <a:cs typeface="Inter"/>
                        <a:sym typeface="Inter"/>
                      </a:endParaRPr>
                    </a:p>
                  </a:txBody>
                  <a:tcPr marT="6350" marB="6350" marR="94500" marL="94500" anchor="ctr">
                    <a:lnL cap="flat" cmpd="sng" w="12700">
                      <a:solidFill>
                        <a:srgbClr val="F5F5F5"/>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r>
              <a:tr h="182650">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Pillow</a:t>
                      </a:r>
                      <a:endParaRPr sz="800" u="none" cap="none" strike="noStrike">
                        <a:latin typeface="Inter"/>
                        <a:ea typeface="Inter"/>
                        <a:cs typeface="Inter"/>
                        <a:sym typeface="Inter"/>
                      </a:endParaRPr>
                    </a:p>
                  </a:txBody>
                  <a:tcPr marT="6350" marB="6350" marR="94500" marL="94500"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Image handling</a:t>
                      </a:r>
                      <a:endParaRPr sz="800" u="none" cap="none" strike="noStrike">
                        <a:latin typeface="Inter"/>
                        <a:ea typeface="Inter"/>
                        <a:cs typeface="Inter"/>
                        <a:sym typeface="Inter"/>
                      </a:endParaRPr>
                    </a:p>
                  </a:txBody>
                  <a:tcPr marT="6350" marB="6350" marR="94500" marL="94500"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r>
              <a:tr h="182650">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psycopg2</a:t>
                      </a:r>
                      <a:endParaRPr sz="800" u="none" cap="none" strike="noStrike">
                        <a:latin typeface="Inter"/>
                        <a:ea typeface="Inter"/>
                        <a:cs typeface="Inter"/>
                        <a:sym typeface="Inter"/>
                      </a:endParaRPr>
                    </a:p>
                  </a:txBody>
                  <a:tcPr marT="6350" marB="6350" marR="94500" marL="94500" anchor="ctr">
                    <a:lnL cap="flat" cmpd="sng" w="12700">
                      <a:solidFill>
                        <a:srgbClr val="C0C1D7"/>
                      </a:solidFill>
                      <a:prstDash val="solid"/>
                      <a:round/>
                      <a:headEnd len="sm" w="sm" type="none"/>
                      <a:tailEnd len="sm" w="sm" type="none"/>
                    </a:lnL>
                    <a:lnR cap="flat" cmpd="sng" w="12700">
                      <a:solidFill>
                        <a:srgbClr val="F5F5F5"/>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C0C1D7"/>
                      </a:solidFill>
                      <a:prstDash val="solid"/>
                      <a:round/>
                      <a:headEnd len="sm" w="sm" type="none"/>
                      <a:tailEnd len="sm" w="sm" type="none"/>
                    </a:lnB>
                    <a:solidFill>
                      <a:srgbClr val="000000">
                        <a:alpha val="3922"/>
                      </a:srgbClr>
                    </a:solidFill>
                  </a:tcPr>
                </a:tc>
                <a:tc>
                  <a:txBody>
                    <a:bodyPr/>
                    <a:lstStyle/>
                    <a:p>
                      <a:pPr indent="0" lvl="0" marL="0" marR="0" rtl="0" algn="l">
                        <a:spcBef>
                          <a:spcPts val="0"/>
                        </a:spcBef>
                        <a:spcAft>
                          <a:spcPts val="0"/>
                        </a:spcAft>
                        <a:buClr>
                          <a:srgbClr val="272525"/>
                        </a:buClr>
                        <a:buSzPts val="800"/>
                        <a:buFont typeface="Inter"/>
                        <a:buNone/>
                      </a:pPr>
                      <a:r>
                        <a:rPr lang="en-US" sz="800" u="none" cap="none" strike="noStrike">
                          <a:solidFill>
                            <a:srgbClr val="272525"/>
                          </a:solidFill>
                          <a:latin typeface="Inter"/>
                          <a:ea typeface="Inter"/>
                          <a:cs typeface="Inter"/>
                          <a:sym typeface="Inter"/>
                        </a:rPr>
                        <a:t>PostgreSQL driver</a:t>
                      </a:r>
                      <a:endParaRPr sz="800" u="none" cap="none" strike="noStrike">
                        <a:latin typeface="Inter"/>
                        <a:ea typeface="Inter"/>
                        <a:cs typeface="Inter"/>
                        <a:sym typeface="Inter"/>
                      </a:endParaRPr>
                    </a:p>
                  </a:txBody>
                  <a:tcPr marT="6350" marB="6350" marR="94500" marL="94500" anchor="ctr">
                    <a:lnL cap="flat" cmpd="sng" w="12700">
                      <a:solidFill>
                        <a:srgbClr val="F5F5F5"/>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C0C1D7"/>
                      </a:solidFill>
                      <a:prstDash val="solid"/>
                      <a:round/>
                      <a:headEnd len="sm" w="sm" type="none"/>
                      <a:tailEnd len="sm" w="sm" type="none"/>
                    </a:lnB>
                    <a:solidFill>
                      <a:srgbClr val="000000">
                        <a:alpha val="3922"/>
                      </a:srgbClr>
                    </a:solidFill>
                  </a:tcPr>
                </a:tc>
              </a:tr>
            </a:tbl>
          </a:graphicData>
        </a:graphic>
      </p:graphicFrame>
      <p:pic>
        <p:nvPicPr>
          <p:cNvPr id="200" name="Google Shape;200;p16"/>
          <p:cNvPicPr preferRelativeResize="0"/>
          <p:nvPr/>
        </p:nvPicPr>
        <p:blipFill>
          <a:blip r:embed="rId4">
            <a:alphaModFix/>
          </a:blip>
          <a:stretch>
            <a:fillRect/>
          </a:stretch>
        </p:blipFill>
        <p:spPr>
          <a:xfrm>
            <a:off x="10463400" y="6318175"/>
            <a:ext cx="1676400" cy="46672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pic>
        <p:nvPicPr>
          <p:cNvPr descr="preencoded.png" id="206" name="Google Shape;206;p17"/>
          <p:cNvPicPr preferRelativeResize="0"/>
          <p:nvPr/>
        </p:nvPicPr>
        <p:blipFill rotWithShape="1">
          <a:blip r:embed="rId3">
            <a:alphaModFix/>
          </a:blip>
          <a:srcRect b="0" l="0" r="0" t="0"/>
          <a:stretch/>
        </p:blipFill>
        <p:spPr>
          <a:xfrm>
            <a:off x="11215903" y="598884"/>
            <a:ext cx="314317" cy="113209"/>
          </a:xfrm>
          <a:prstGeom prst="rect">
            <a:avLst/>
          </a:prstGeom>
          <a:noFill/>
          <a:ln>
            <a:noFill/>
          </a:ln>
        </p:spPr>
      </p:pic>
      <p:sp>
        <p:nvSpPr>
          <p:cNvPr id="207" name="Google Shape;207;p17"/>
          <p:cNvSpPr/>
          <p:nvPr/>
        </p:nvSpPr>
        <p:spPr>
          <a:xfrm>
            <a:off x="661475" y="787400"/>
            <a:ext cx="10868745" cy="304602"/>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900"/>
              <a:buFont typeface="Inter"/>
              <a:buNone/>
            </a:pPr>
            <a:r>
              <a:rPr b="1" i="0" lang="en-US" sz="1900" u="none" cap="none" strike="noStrike">
                <a:solidFill>
                  <a:srgbClr val="000000"/>
                </a:solidFill>
                <a:latin typeface="Inter"/>
                <a:ea typeface="Inter"/>
                <a:cs typeface="Inter"/>
                <a:sym typeface="Inter"/>
              </a:rPr>
              <a:t>Retrieval Intelligence and Quality Path</a:t>
            </a:r>
            <a:endParaRPr b="0" i="0" sz="1900" u="none" cap="none" strike="noStrike">
              <a:solidFill>
                <a:schemeClr val="dk1"/>
              </a:solidFill>
              <a:latin typeface="Calibri"/>
              <a:ea typeface="Calibri"/>
              <a:cs typeface="Calibri"/>
              <a:sym typeface="Calibri"/>
            </a:endParaRPr>
          </a:p>
        </p:txBody>
      </p:sp>
      <p:sp>
        <p:nvSpPr>
          <p:cNvPr id="208" name="Google Shape;208;p17"/>
          <p:cNvSpPr/>
          <p:nvPr/>
        </p:nvSpPr>
        <p:spPr>
          <a:xfrm>
            <a:off x="661475" y="1112044"/>
            <a:ext cx="10868745" cy="152301"/>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950"/>
              <a:buFont typeface="Inter"/>
              <a:buNone/>
            </a:pPr>
            <a:r>
              <a:rPr b="1" i="0" lang="en-US" sz="950" u="none" cap="none" strike="noStrike">
                <a:solidFill>
                  <a:srgbClr val="000000"/>
                </a:solidFill>
                <a:latin typeface="Inter"/>
                <a:ea typeface="Inter"/>
                <a:cs typeface="Inter"/>
                <a:sym typeface="Inter"/>
              </a:rPr>
              <a:t>Mohammed Shehzaad Khan — PES2UG23CS349 </a:t>
            </a:r>
            <a:endParaRPr b="0" i="0" sz="950" u="none" cap="none" strike="noStrike">
              <a:solidFill>
                <a:schemeClr val="dk1"/>
              </a:solidFill>
              <a:latin typeface="Calibri"/>
              <a:ea typeface="Calibri"/>
              <a:cs typeface="Calibri"/>
              <a:sym typeface="Calibri"/>
            </a:endParaRPr>
          </a:p>
        </p:txBody>
      </p:sp>
      <p:sp>
        <p:nvSpPr>
          <p:cNvPr id="209" name="Google Shape;209;p17"/>
          <p:cNvSpPr/>
          <p:nvPr/>
        </p:nvSpPr>
        <p:spPr>
          <a:xfrm>
            <a:off x="661475" y="1363960"/>
            <a:ext cx="10868745" cy="12700"/>
          </a:xfrm>
          <a:prstGeom prst="roundRect">
            <a:avLst>
              <a:gd fmla="val 49999" name="adj"/>
            </a:avLst>
          </a:prstGeom>
          <a:solidFill>
            <a:srgbClr val="272525">
              <a:alpha val="5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17"/>
          <p:cNvSpPr/>
          <p:nvPr/>
        </p:nvSpPr>
        <p:spPr>
          <a:xfrm>
            <a:off x="661475" y="1457424"/>
            <a:ext cx="11478330" cy="147638"/>
          </a:xfrm>
          <a:prstGeom prst="rect">
            <a:avLst/>
          </a:prstGeom>
          <a:noFill/>
          <a:ln>
            <a:noFill/>
          </a:ln>
        </p:spPr>
        <p:txBody>
          <a:bodyPr anchorCtr="0" anchor="t" bIns="0" lIns="0" spcFirstLastPara="1" rIns="0" wrap="square" tIns="0">
            <a:noAutofit/>
          </a:bodyPr>
          <a:lstStyle/>
          <a:p>
            <a:pPr indent="0" lvl="0" marL="0" marR="0" rtl="0" algn="l">
              <a:lnSpc>
                <a:spcPct val="101000"/>
              </a:lnSpc>
              <a:spcBef>
                <a:spcPts val="0"/>
              </a:spcBef>
              <a:spcAft>
                <a:spcPts val="0"/>
              </a:spcAft>
              <a:buClr>
                <a:srgbClr val="272525"/>
              </a:buClr>
              <a:buSzPts val="950"/>
              <a:buFont typeface="Inter"/>
              <a:buNone/>
            </a:pPr>
            <a:r>
              <a:rPr b="0" i="0" lang="en-US" sz="950" u="none" cap="none" strike="noStrike">
                <a:solidFill>
                  <a:srgbClr val="272525"/>
                </a:solidFill>
                <a:latin typeface="Inter"/>
                <a:ea typeface="Inter"/>
                <a:cs typeface="Inter"/>
                <a:sym typeface="Inter"/>
              </a:rPr>
              <a:t>Hybrid retrieval architecture built with LangGraph to combine keyword search, semantic search, deterministic quality checks, and self-correcting reranking for stronger answer generation.</a:t>
            </a:r>
            <a:endParaRPr b="0" i="0" sz="950" u="none" cap="none" strike="noStrike">
              <a:solidFill>
                <a:schemeClr val="dk1"/>
              </a:solidFill>
              <a:latin typeface="Calibri"/>
              <a:ea typeface="Calibri"/>
              <a:cs typeface="Calibri"/>
              <a:sym typeface="Calibri"/>
            </a:endParaRPr>
          </a:p>
        </p:txBody>
      </p:sp>
      <p:pic>
        <p:nvPicPr>
          <p:cNvPr descr="preencoded.png" id="211" name="Google Shape;211;p17"/>
          <p:cNvPicPr preferRelativeResize="0"/>
          <p:nvPr/>
        </p:nvPicPr>
        <p:blipFill rotWithShape="1">
          <a:blip r:embed="rId4">
            <a:alphaModFix/>
          </a:blip>
          <a:srcRect b="0" l="0" r="0" t="0"/>
          <a:stretch/>
        </p:blipFill>
        <p:spPr>
          <a:xfrm>
            <a:off x="661475" y="1661517"/>
            <a:ext cx="5604032" cy="3152279"/>
          </a:xfrm>
          <a:prstGeom prst="rect">
            <a:avLst/>
          </a:prstGeom>
          <a:noFill/>
          <a:ln>
            <a:noFill/>
          </a:ln>
        </p:spPr>
      </p:pic>
      <p:sp>
        <p:nvSpPr>
          <p:cNvPr id="212" name="Google Shape;212;p17"/>
          <p:cNvSpPr/>
          <p:nvPr/>
        </p:nvSpPr>
        <p:spPr>
          <a:xfrm>
            <a:off x="661475" y="4889103"/>
            <a:ext cx="10868745" cy="182662"/>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150"/>
              <a:buFont typeface="Inter"/>
              <a:buNone/>
            </a:pPr>
            <a:r>
              <a:rPr b="1" i="0" lang="en-US" sz="1150" u="none" cap="none" strike="noStrike">
                <a:solidFill>
                  <a:srgbClr val="000000"/>
                </a:solidFill>
                <a:latin typeface="Inter"/>
                <a:ea typeface="Inter"/>
                <a:cs typeface="Inter"/>
                <a:sym typeface="Inter"/>
              </a:rPr>
              <a:t>ARCHITECTURE OVERVIEW:</a:t>
            </a:r>
            <a:endParaRPr b="0" i="0" sz="1150" u="none" cap="none" strike="noStrike">
              <a:solidFill>
                <a:schemeClr val="dk1"/>
              </a:solidFill>
              <a:latin typeface="Calibri"/>
              <a:ea typeface="Calibri"/>
              <a:cs typeface="Calibri"/>
              <a:sym typeface="Calibri"/>
            </a:endParaRPr>
          </a:p>
        </p:txBody>
      </p:sp>
      <p:sp>
        <p:nvSpPr>
          <p:cNvPr id="213" name="Google Shape;213;p17"/>
          <p:cNvSpPr/>
          <p:nvPr/>
        </p:nvSpPr>
        <p:spPr>
          <a:xfrm>
            <a:off x="661475" y="5147072"/>
            <a:ext cx="10868745" cy="660598"/>
          </a:xfrm>
          <a:prstGeom prst="rect">
            <a:avLst/>
          </a:prstGeom>
          <a:noFill/>
          <a:ln>
            <a:noFill/>
          </a:ln>
        </p:spPr>
        <p:txBody>
          <a:bodyPr anchorCtr="0" anchor="t" bIns="0" lIns="0" spcFirstLastPara="1" rIns="0" wrap="square" tIns="38975">
            <a:noAutofit/>
          </a:bodyPr>
          <a:lstStyle/>
          <a:p>
            <a:pPr indent="-152400" lvl="0" marL="152400" marR="0" rtl="0" algn="l">
              <a:lnSpc>
                <a:spcPct val="101000"/>
              </a:lnSpc>
              <a:spcBef>
                <a:spcPts val="0"/>
              </a:spcBef>
              <a:spcAft>
                <a:spcPts val="0"/>
              </a:spcAft>
              <a:buClr>
                <a:srgbClr val="272525"/>
              </a:buClr>
              <a:buSzPts val="750"/>
              <a:buFont typeface="Inter"/>
              <a:buChar char="•"/>
            </a:pPr>
            <a:r>
              <a:rPr b="0" i="0" lang="en-US" sz="750" u="none" cap="none" strike="noStrike">
                <a:solidFill>
                  <a:srgbClr val="272525"/>
                </a:solidFill>
                <a:latin typeface="Inter"/>
                <a:ea typeface="Inter"/>
                <a:cs typeface="Inter"/>
                <a:sym typeface="Inter"/>
              </a:rPr>
              <a:t>LangGraph orchestrates the retrieval workflow end to end</a:t>
            </a:r>
            <a:endParaRPr b="0" i="0" sz="750" u="none" cap="none" strike="noStrike">
              <a:solidFill>
                <a:schemeClr val="dk1"/>
              </a:solidFill>
              <a:latin typeface="Calibri"/>
              <a:ea typeface="Calibri"/>
              <a:cs typeface="Calibri"/>
              <a:sym typeface="Calibri"/>
            </a:endParaRPr>
          </a:p>
          <a:p>
            <a:pPr indent="-152400" lvl="0" marL="152400" marR="0" rtl="0" algn="l">
              <a:lnSpc>
                <a:spcPct val="101000"/>
              </a:lnSpc>
              <a:spcBef>
                <a:spcPts val="0"/>
              </a:spcBef>
              <a:spcAft>
                <a:spcPts val="0"/>
              </a:spcAft>
              <a:buClr>
                <a:srgbClr val="272525"/>
              </a:buClr>
              <a:buSzPts val="750"/>
              <a:buFont typeface="Inter"/>
              <a:buChar char="•"/>
            </a:pPr>
            <a:r>
              <a:rPr b="0" i="0" lang="en-US" sz="750" u="none" cap="none" strike="noStrike">
                <a:solidFill>
                  <a:srgbClr val="272525"/>
                </a:solidFill>
                <a:latin typeface="Inter"/>
                <a:ea typeface="Inter"/>
                <a:cs typeface="Inter"/>
                <a:sym typeface="Inter"/>
              </a:rPr>
              <a:t>PostgreSQL keyword retrieval and FAISS semantic retrieval run in parallel</a:t>
            </a:r>
            <a:endParaRPr b="0" i="0" sz="750" u="none" cap="none" strike="noStrike">
              <a:solidFill>
                <a:schemeClr val="dk1"/>
              </a:solidFill>
              <a:latin typeface="Calibri"/>
              <a:ea typeface="Calibri"/>
              <a:cs typeface="Calibri"/>
              <a:sym typeface="Calibri"/>
            </a:endParaRPr>
          </a:p>
          <a:p>
            <a:pPr indent="-152400" lvl="0" marL="152400" marR="0" rtl="0" algn="l">
              <a:lnSpc>
                <a:spcPct val="101000"/>
              </a:lnSpc>
              <a:spcBef>
                <a:spcPts val="0"/>
              </a:spcBef>
              <a:spcAft>
                <a:spcPts val="0"/>
              </a:spcAft>
              <a:buClr>
                <a:srgbClr val="272525"/>
              </a:buClr>
              <a:buSzPts val="750"/>
              <a:buFont typeface="Inter"/>
              <a:buChar char="•"/>
            </a:pPr>
            <a:r>
              <a:rPr b="0" i="0" lang="en-US" sz="750" u="none" cap="none" strike="noStrike">
                <a:solidFill>
                  <a:srgbClr val="272525"/>
                </a:solidFill>
                <a:latin typeface="Inter"/>
                <a:ea typeface="Inter"/>
                <a:cs typeface="Inter"/>
                <a:sym typeface="Inter"/>
              </a:rPr>
              <a:t>Reciprocal Rank Fusion combines ranking signals safely by position</a:t>
            </a:r>
            <a:endParaRPr b="0" i="0" sz="750" u="none" cap="none" strike="noStrike">
              <a:solidFill>
                <a:schemeClr val="dk1"/>
              </a:solidFill>
              <a:latin typeface="Calibri"/>
              <a:ea typeface="Calibri"/>
              <a:cs typeface="Calibri"/>
              <a:sym typeface="Calibri"/>
            </a:endParaRPr>
          </a:p>
          <a:p>
            <a:pPr indent="-152400" lvl="0" marL="152400" marR="0" rtl="0" algn="l">
              <a:lnSpc>
                <a:spcPct val="101000"/>
              </a:lnSpc>
              <a:spcBef>
                <a:spcPts val="0"/>
              </a:spcBef>
              <a:spcAft>
                <a:spcPts val="0"/>
              </a:spcAft>
              <a:buClr>
                <a:srgbClr val="272525"/>
              </a:buClr>
              <a:buSzPts val="750"/>
              <a:buFont typeface="Inter"/>
              <a:buChar char="•"/>
            </a:pPr>
            <a:r>
              <a:rPr b="0" i="0" lang="en-US" sz="750" u="none" cap="none" strike="noStrike">
                <a:solidFill>
                  <a:srgbClr val="272525"/>
                </a:solidFill>
                <a:latin typeface="Inter"/>
                <a:ea typeface="Inter"/>
                <a:cs typeface="Inter"/>
                <a:sym typeface="Inter"/>
              </a:rPr>
              <a:t>Deterministic quality checks gate weak or incomplete retrieval results</a:t>
            </a:r>
            <a:endParaRPr b="0" i="0" sz="750" u="none" cap="none" strike="noStrike">
              <a:solidFill>
                <a:schemeClr val="dk1"/>
              </a:solidFill>
              <a:latin typeface="Calibri"/>
              <a:ea typeface="Calibri"/>
              <a:cs typeface="Calibri"/>
              <a:sym typeface="Calibri"/>
            </a:endParaRPr>
          </a:p>
          <a:p>
            <a:pPr indent="-152400" lvl="0" marL="152400" marR="0" rtl="0" algn="l">
              <a:lnSpc>
                <a:spcPct val="101000"/>
              </a:lnSpc>
              <a:spcBef>
                <a:spcPts val="0"/>
              </a:spcBef>
              <a:spcAft>
                <a:spcPts val="0"/>
              </a:spcAft>
              <a:buClr>
                <a:srgbClr val="272525"/>
              </a:buClr>
              <a:buSzPts val="750"/>
              <a:buFont typeface="Inter"/>
              <a:buChar char="•"/>
            </a:pPr>
            <a:r>
              <a:rPr b="0" i="0" lang="en-US" sz="750" u="none" cap="none" strike="noStrike">
                <a:solidFill>
                  <a:srgbClr val="272525"/>
                </a:solidFill>
                <a:latin typeface="Inter"/>
                <a:ea typeface="Inter"/>
                <a:cs typeface="Inter"/>
                <a:sym typeface="Inter"/>
              </a:rPr>
              <a:t>Cross-encoder reranking and surrounding context support improve final relevance</a:t>
            </a:r>
            <a:endParaRPr b="0" i="0" sz="750" u="none" cap="none" strike="noStrike">
              <a:solidFill>
                <a:schemeClr val="dk1"/>
              </a:solidFill>
              <a:latin typeface="Calibri"/>
              <a:ea typeface="Calibri"/>
              <a:cs typeface="Calibri"/>
              <a:sym typeface="Calibri"/>
            </a:endParaRPr>
          </a:p>
        </p:txBody>
      </p:sp>
      <p:sp>
        <p:nvSpPr>
          <p:cNvPr id="214" name="Google Shape;214;p17"/>
          <p:cNvSpPr/>
          <p:nvPr/>
        </p:nvSpPr>
        <p:spPr>
          <a:xfrm>
            <a:off x="661475" y="5882977"/>
            <a:ext cx="10868745" cy="182662"/>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150"/>
              <a:buFont typeface="Inter"/>
              <a:buNone/>
            </a:pPr>
            <a:r>
              <a:rPr b="1" i="0" lang="en-US" sz="1150" u="none" cap="none" strike="noStrike">
                <a:solidFill>
                  <a:srgbClr val="000000"/>
                </a:solidFill>
                <a:latin typeface="Inter"/>
                <a:ea typeface="Inter"/>
                <a:cs typeface="Inter"/>
                <a:sym typeface="Inter"/>
              </a:rPr>
              <a:t>DELIVERABLE:</a:t>
            </a:r>
            <a:endParaRPr b="0" i="0" sz="1150" u="none" cap="none" strike="noStrike">
              <a:solidFill>
                <a:schemeClr val="dk1"/>
              </a:solidFill>
              <a:latin typeface="Calibri"/>
              <a:ea typeface="Calibri"/>
              <a:cs typeface="Calibri"/>
              <a:sym typeface="Calibri"/>
            </a:endParaRPr>
          </a:p>
        </p:txBody>
      </p:sp>
      <p:sp>
        <p:nvSpPr>
          <p:cNvPr id="215" name="Google Shape;215;p17"/>
          <p:cNvSpPr/>
          <p:nvPr/>
        </p:nvSpPr>
        <p:spPr>
          <a:xfrm>
            <a:off x="661475" y="6140946"/>
            <a:ext cx="11478330" cy="118070"/>
          </a:xfrm>
          <a:prstGeom prst="rect">
            <a:avLst/>
          </a:prstGeom>
          <a:noFill/>
          <a:ln>
            <a:noFill/>
          </a:ln>
        </p:spPr>
        <p:txBody>
          <a:bodyPr anchorCtr="0" anchor="t" bIns="0" lIns="0" spcFirstLastPara="1" rIns="0" wrap="square" tIns="0">
            <a:noAutofit/>
          </a:bodyPr>
          <a:lstStyle/>
          <a:p>
            <a:pPr indent="0" lvl="0" marL="0" marR="0" rtl="0" algn="l">
              <a:lnSpc>
                <a:spcPct val="101000"/>
              </a:lnSpc>
              <a:spcBef>
                <a:spcPts val="0"/>
              </a:spcBef>
              <a:spcAft>
                <a:spcPts val="0"/>
              </a:spcAft>
              <a:buClr>
                <a:srgbClr val="272525"/>
              </a:buClr>
              <a:buSzPts val="750"/>
              <a:buFont typeface="Inter"/>
              <a:buNone/>
            </a:pPr>
            <a:r>
              <a:rPr b="0" i="0" lang="en-US" sz="750" u="none" cap="none" strike="noStrike">
                <a:solidFill>
                  <a:srgbClr val="272525"/>
                </a:solidFill>
                <a:latin typeface="Inter"/>
                <a:ea typeface="Inter"/>
                <a:cs typeface="Inter"/>
                <a:sym typeface="Inter"/>
              </a:rPr>
              <a:t>Hybrid deterministic retrieval intelligence implemented, with final empirical relevance benchmarking and query-by-query tuning remaining.</a:t>
            </a:r>
            <a:endParaRPr b="0" i="0" sz="750" u="none" cap="none" strike="noStrike">
              <a:solidFill>
                <a:schemeClr val="dk1"/>
              </a:solidFill>
              <a:latin typeface="Calibri"/>
              <a:ea typeface="Calibri"/>
              <a:cs typeface="Calibri"/>
              <a:sym typeface="Calibri"/>
            </a:endParaRPr>
          </a:p>
        </p:txBody>
      </p:sp>
      <p:pic>
        <p:nvPicPr>
          <p:cNvPr id="216" name="Google Shape;216;p17"/>
          <p:cNvPicPr preferRelativeResize="0"/>
          <p:nvPr/>
        </p:nvPicPr>
        <p:blipFill>
          <a:blip r:embed="rId5">
            <a:alphaModFix/>
          </a:blip>
          <a:stretch>
            <a:fillRect/>
          </a:stretch>
        </p:blipFill>
        <p:spPr>
          <a:xfrm>
            <a:off x="10463395" y="6334337"/>
            <a:ext cx="1676400" cy="4667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18"/>
          <p:cNvSpPr/>
          <p:nvPr/>
        </p:nvSpPr>
        <p:spPr>
          <a:xfrm>
            <a:off x="661475" y="596007"/>
            <a:ext cx="10868745" cy="479921"/>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3000"/>
              <a:buFont typeface="Inter"/>
              <a:buNone/>
            </a:pPr>
            <a:r>
              <a:rPr b="1" i="0" lang="en-US" sz="3000" u="none" cap="none" strike="noStrike">
                <a:solidFill>
                  <a:srgbClr val="000000"/>
                </a:solidFill>
                <a:latin typeface="Inter"/>
                <a:ea typeface="Inter"/>
                <a:cs typeface="Inter"/>
                <a:sym typeface="Inter"/>
              </a:rPr>
              <a:t>Retrieval Intelligence: Technical Implementation</a:t>
            </a:r>
            <a:endParaRPr b="0" i="0" sz="3000" u="none" cap="none" strike="noStrike">
              <a:solidFill>
                <a:schemeClr val="dk1"/>
              </a:solidFill>
              <a:latin typeface="Calibri"/>
              <a:ea typeface="Calibri"/>
              <a:cs typeface="Calibri"/>
              <a:sym typeface="Calibri"/>
            </a:endParaRPr>
          </a:p>
        </p:txBody>
      </p:sp>
      <p:sp>
        <p:nvSpPr>
          <p:cNvPr id="223" name="Google Shape;223;p18"/>
          <p:cNvSpPr/>
          <p:nvPr/>
        </p:nvSpPr>
        <p:spPr>
          <a:xfrm>
            <a:off x="661475" y="1125835"/>
            <a:ext cx="10868745" cy="239911"/>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500"/>
              <a:buFont typeface="Inter"/>
              <a:buNone/>
            </a:pPr>
            <a:r>
              <a:rPr b="1" i="0" lang="en-US" sz="1500" u="none" cap="none" strike="noStrike">
                <a:solidFill>
                  <a:srgbClr val="000000"/>
                </a:solidFill>
                <a:latin typeface="Inter"/>
                <a:ea typeface="Inter"/>
                <a:cs typeface="Inter"/>
                <a:sym typeface="Inter"/>
              </a:rPr>
              <a:t>Mohammed Shehzaad Khan — PES2UG23CS349</a:t>
            </a:r>
            <a:endParaRPr b="0" i="0" sz="1500" u="none" cap="none" strike="noStrike">
              <a:solidFill>
                <a:schemeClr val="dk1"/>
              </a:solidFill>
              <a:latin typeface="Calibri"/>
              <a:ea typeface="Calibri"/>
              <a:cs typeface="Calibri"/>
              <a:sym typeface="Calibri"/>
            </a:endParaRPr>
          </a:p>
        </p:txBody>
      </p:sp>
      <p:sp>
        <p:nvSpPr>
          <p:cNvPr id="224" name="Google Shape;224;p18"/>
          <p:cNvSpPr/>
          <p:nvPr/>
        </p:nvSpPr>
        <p:spPr>
          <a:xfrm>
            <a:off x="661475" y="1591171"/>
            <a:ext cx="10868745" cy="19050"/>
          </a:xfrm>
          <a:prstGeom prst="roundRect">
            <a:avLst>
              <a:gd fmla="val 49999" name="adj"/>
            </a:avLst>
          </a:prstGeom>
          <a:solidFill>
            <a:srgbClr val="272525">
              <a:alpha val="5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18"/>
          <p:cNvSpPr/>
          <p:nvPr/>
        </p:nvSpPr>
        <p:spPr>
          <a:xfrm>
            <a:off x="661475" y="1835646"/>
            <a:ext cx="10868745" cy="287933"/>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800"/>
              <a:buFont typeface="Inter"/>
              <a:buNone/>
            </a:pPr>
            <a:r>
              <a:rPr b="1" i="0" lang="en-US" sz="1800" u="none" cap="none" strike="noStrike">
                <a:solidFill>
                  <a:srgbClr val="000000"/>
                </a:solidFill>
                <a:latin typeface="Inter"/>
                <a:ea typeface="Inter"/>
                <a:cs typeface="Inter"/>
                <a:sym typeface="Inter"/>
              </a:rPr>
              <a:t>IMPROVED FROM PHASE II</a:t>
            </a:r>
            <a:endParaRPr b="0" i="0" sz="1800" u="none" cap="none" strike="noStrike">
              <a:solidFill>
                <a:schemeClr val="dk1"/>
              </a:solidFill>
              <a:latin typeface="Calibri"/>
              <a:ea typeface="Calibri"/>
              <a:cs typeface="Calibri"/>
              <a:sym typeface="Calibri"/>
            </a:endParaRPr>
          </a:p>
        </p:txBody>
      </p:sp>
      <p:sp>
        <p:nvSpPr>
          <p:cNvPr id="226" name="Google Shape;226;p18"/>
          <p:cNvSpPr/>
          <p:nvPr/>
        </p:nvSpPr>
        <p:spPr>
          <a:xfrm>
            <a:off x="661475" y="2310705"/>
            <a:ext cx="10868745" cy="922238"/>
          </a:xfrm>
          <a:prstGeom prst="rect">
            <a:avLst/>
          </a:prstGeom>
          <a:noFill/>
          <a:ln>
            <a:noFill/>
          </a:ln>
        </p:spPr>
        <p:txBody>
          <a:bodyPr anchorCtr="0" anchor="t" bIns="0" lIns="0" spcFirstLastPara="1" rIns="0" wrap="square" tIns="76775">
            <a:noAutofit/>
          </a:bodyPr>
          <a:lstStyle/>
          <a:p>
            <a:pPr indent="-304800" lvl="0" marL="304800" marR="0" rtl="0" algn="l">
              <a:lnSpc>
                <a:spcPct val="121000"/>
              </a:lnSpc>
              <a:spcBef>
                <a:spcPts val="0"/>
              </a:spcBef>
              <a:spcAft>
                <a:spcPts val="0"/>
              </a:spcAft>
              <a:buClr>
                <a:srgbClr val="272525"/>
              </a:buClr>
              <a:buSzPts val="1500"/>
              <a:buFont typeface="Inter"/>
              <a:buChar char="•"/>
            </a:pPr>
            <a:r>
              <a:rPr b="0" i="0" lang="en-US" sz="1500" u="none" cap="none" strike="noStrike">
                <a:solidFill>
                  <a:srgbClr val="272525"/>
                </a:solidFill>
                <a:latin typeface="Inter"/>
                <a:ea typeface="Inter"/>
                <a:cs typeface="Inter"/>
                <a:sym typeface="Inter"/>
              </a:rPr>
              <a:t>Retrieval graph expanded from 9 nodes to 14</a:t>
            </a:r>
            <a:endParaRPr b="0" i="0" sz="1500" u="none" cap="none" strike="noStrike">
              <a:solidFill>
                <a:schemeClr val="dk1"/>
              </a:solidFill>
              <a:latin typeface="Calibri"/>
              <a:ea typeface="Calibri"/>
              <a:cs typeface="Calibri"/>
              <a:sym typeface="Calibri"/>
            </a:endParaRPr>
          </a:p>
          <a:p>
            <a:pPr indent="-304800" lvl="0" marL="304800" marR="0" rtl="0" algn="l">
              <a:lnSpc>
                <a:spcPct val="121000"/>
              </a:lnSpc>
              <a:spcBef>
                <a:spcPts val="0"/>
              </a:spcBef>
              <a:spcAft>
                <a:spcPts val="0"/>
              </a:spcAft>
              <a:buClr>
                <a:srgbClr val="272525"/>
              </a:buClr>
              <a:buSzPts val="1500"/>
              <a:buFont typeface="Inter"/>
              <a:buChar char="•"/>
            </a:pPr>
            <a:r>
              <a:rPr b="0" i="0" lang="en-US" sz="1500" u="none" cap="none" strike="noStrike">
                <a:solidFill>
                  <a:srgbClr val="272525"/>
                </a:solidFill>
                <a:latin typeface="Inter"/>
                <a:ea typeface="Inter"/>
                <a:cs typeface="Inter"/>
                <a:sym typeface="Inter"/>
              </a:rPr>
              <a:t>Keyword and semantic search now run in the same graph step and merge at fusion, instead of one after the other</a:t>
            </a:r>
            <a:endParaRPr b="0" i="0" sz="1500" u="none" cap="none" strike="noStrike">
              <a:solidFill>
                <a:schemeClr val="dk1"/>
              </a:solidFill>
              <a:latin typeface="Calibri"/>
              <a:ea typeface="Calibri"/>
              <a:cs typeface="Calibri"/>
              <a:sym typeface="Calibri"/>
            </a:endParaRPr>
          </a:p>
          <a:p>
            <a:pPr indent="-304800" lvl="0" marL="304800" marR="0" rtl="0" algn="l">
              <a:lnSpc>
                <a:spcPct val="121000"/>
              </a:lnSpc>
              <a:spcBef>
                <a:spcPts val="0"/>
              </a:spcBef>
              <a:spcAft>
                <a:spcPts val="0"/>
              </a:spcAft>
              <a:buClr>
                <a:srgbClr val="272525"/>
              </a:buClr>
              <a:buSzPts val="1500"/>
              <a:buFont typeface="Inter"/>
              <a:buChar char="•"/>
            </a:pPr>
            <a:r>
              <a:rPr b="0" i="0" lang="en-US" sz="1500" u="none" cap="none" strike="noStrike">
                <a:solidFill>
                  <a:srgbClr val="272525"/>
                </a:solidFill>
                <a:latin typeface="Inter"/>
                <a:ea typeface="Inter"/>
                <a:cs typeface="Inter"/>
                <a:sym typeface="Inter"/>
              </a:rPr>
              <a:t>Self-correcting loop that widens the search up to three times before giving up</a:t>
            </a:r>
            <a:endParaRPr b="0" i="0" sz="1500" u="none" cap="none" strike="noStrike">
              <a:solidFill>
                <a:schemeClr val="dk1"/>
              </a:solidFill>
              <a:latin typeface="Calibri"/>
              <a:ea typeface="Calibri"/>
              <a:cs typeface="Calibri"/>
              <a:sym typeface="Calibri"/>
            </a:endParaRPr>
          </a:p>
        </p:txBody>
      </p:sp>
      <p:sp>
        <p:nvSpPr>
          <p:cNvPr id="227" name="Google Shape;227;p18"/>
          <p:cNvSpPr/>
          <p:nvPr/>
        </p:nvSpPr>
        <p:spPr>
          <a:xfrm>
            <a:off x="661475" y="3420070"/>
            <a:ext cx="10868745" cy="287933"/>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800"/>
              <a:buFont typeface="Inter"/>
              <a:buNone/>
            </a:pPr>
            <a:r>
              <a:rPr b="1" i="0" lang="en-US" sz="1800" u="none" cap="none" strike="noStrike">
                <a:solidFill>
                  <a:srgbClr val="000000"/>
                </a:solidFill>
                <a:latin typeface="Inter"/>
                <a:ea typeface="Inter"/>
                <a:cs typeface="Inter"/>
                <a:sym typeface="Inter"/>
              </a:rPr>
              <a:t>NEW IN PHASE III</a:t>
            </a:r>
            <a:endParaRPr b="0" i="0" sz="1800" u="none" cap="none" strike="noStrike">
              <a:solidFill>
                <a:schemeClr val="dk1"/>
              </a:solidFill>
              <a:latin typeface="Calibri"/>
              <a:ea typeface="Calibri"/>
              <a:cs typeface="Calibri"/>
              <a:sym typeface="Calibri"/>
            </a:endParaRPr>
          </a:p>
        </p:txBody>
      </p:sp>
      <p:sp>
        <p:nvSpPr>
          <p:cNvPr id="228" name="Google Shape;228;p18"/>
          <p:cNvSpPr/>
          <p:nvPr/>
        </p:nvSpPr>
        <p:spPr>
          <a:xfrm>
            <a:off x="661475" y="3895130"/>
            <a:ext cx="10868745" cy="1244203"/>
          </a:xfrm>
          <a:prstGeom prst="rect">
            <a:avLst/>
          </a:prstGeom>
          <a:noFill/>
          <a:ln>
            <a:noFill/>
          </a:ln>
        </p:spPr>
        <p:txBody>
          <a:bodyPr anchorCtr="0" anchor="t" bIns="0" lIns="0" spcFirstLastPara="1" rIns="0" wrap="square" tIns="76775">
            <a:noAutofit/>
          </a:bodyPr>
          <a:lstStyle/>
          <a:p>
            <a:pPr indent="-304800" lvl="0" marL="304800" marR="0" rtl="0" algn="l">
              <a:lnSpc>
                <a:spcPct val="121000"/>
              </a:lnSpc>
              <a:spcBef>
                <a:spcPts val="0"/>
              </a:spcBef>
              <a:spcAft>
                <a:spcPts val="0"/>
              </a:spcAft>
              <a:buClr>
                <a:srgbClr val="272525"/>
              </a:buClr>
              <a:buSzPts val="1500"/>
              <a:buFont typeface="Inter"/>
              <a:buChar char="•"/>
            </a:pPr>
            <a:r>
              <a:rPr b="0" i="0" lang="en-US" sz="1500" u="none" cap="none" strike="noStrike">
                <a:solidFill>
                  <a:srgbClr val="272525"/>
                </a:solidFill>
                <a:latin typeface="Inter"/>
                <a:ea typeface="Inter"/>
                <a:cs typeface="Inter"/>
                <a:sym typeface="Inter"/>
              </a:rPr>
              <a:t>Rank fusion merges keyword and semantic results by position rather than raw score</a:t>
            </a:r>
            <a:endParaRPr b="0" i="0" sz="1500" u="none" cap="none" strike="noStrike">
              <a:solidFill>
                <a:schemeClr val="dk1"/>
              </a:solidFill>
              <a:latin typeface="Calibri"/>
              <a:ea typeface="Calibri"/>
              <a:cs typeface="Calibri"/>
              <a:sym typeface="Calibri"/>
            </a:endParaRPr>
          </a:p>
          <a:p>
            <a:pPr indent="-304800" lvl="0" marL="304800" marR="0" rtl="0" algn="l">
              <a:lnSpc>
                <a:spcPct val="121000"/>
              </a:lnSpc>
              <a:spcBef>
                <a:spcPts val="0"/>
              </a:spcBef>
              <a:spcAft>
                <a:spcPts val="0"/>
              </a:spcAft>
              <a:buClr>
                <a:srgbClr val="272525"/>
              </a:buClr>
              <a:buSzPts val="1500"/>
              <a:buFont typeface="Inter"/>
              <a:buChar char="•"/>
            </a:pPr>
            <a:r>
              <a:rPr b="0" i="0" lang="en-US" sz="1500" u="none" cap="none" strike="noStrike">
                <a:solidFill>
                  <a:srgbClr val="272525"/>
                </a:solidFill>
                <a:latin typeface="Inter"/>
                <a:ea typeface="Inter"/>
                <a:cs typeface="Inter"/>
                <a:sym typeface="Inter"/>
              </a:rPr>
              <a:t>Cross-encoder re-ranking re-scores candidates against the original question</a:t>
            </a:r>
            <a:endParaRPr b="0" i="0" sz="1500" u="none" cap="none" strike="noStrike">
              <a:solidFill>
                <a:schemeClr val="dk1"/>
              </a:solidFill>
              <a:latin typeface="Calibri"/>
              <a:ea typeface="Calibri"/>
              <a:cs typeface="Calibri"/>
              <a:sym typeface="Calibri"/>
            </a:endParaRPr>
          </a:p>
          <a:p>
            <a:pPr indent="-304800" lvl="0" marL="304800" marR="0" rtl="0" algn="l">
              <a:lnSpc>
                <a:spcPct val="121000"/>
              </a:lnSpc>
              <a:spcBef>
                <a:spcPts val="0"/>
              </a:spcBef>
              <a:spcAft>
                <a:spcPts val="0"/>
              </a:spcAft>
              <a:buClr>
                <a:srgbClr val="272525"/>
              </a:buClr>
              <a:buSzPts val="1500"/>
              <a:buFont typeface="Inter"/>
              <a:buChar char="•"/>
            </a:pPr>
            <a:r>
              <a:rPr b="0" i="0" lang="en-US" sz="1500" u="none" cap="none" strike="noStrike">
                <a:solidFill>
                  <a:srgbClr val="272525"/>
                </a:solidFill>
                <a:latin typeface="Inter"/>
                <a:ea typeface="Inter"/>
                <a:cs typeface="Inter"/>
                <a:sym typeface="Inter"/>
              </a:rPr>
              <a:t>Time-anchor resolution turns "after the interview email" into a hard date constraint by finding that item first</a:t>
            </a:r>
            <a:endParaRPr b="0" i="0" sz="1500" u="none" cap="none" strike="noStrike">
              <a:solidFill>
                <a:schemeClr val="dk1"/>
              </a:solidFill>
              <a:latin typeface="Calibri"/>
              <a:ea typeface="Calibri"/>
              <a:cs typeface="Calibri"/>
              <a:sym typeface="Calibri"/>
            </a:endParaRPr>
          </a:p>
          <a:p>
            <a:pPr indent="-304800" lvl="0" marL="304800" marR="0" rtl="0" algn="l">
              <a:lnSpc>
                <a:spcPct val="121000"/>
              </a:lnSpc>
              <a:spcBef>
                <a:spcPts val="0"/>
              </a:spcBef>
              <a:spcAft>
                <a:spcPts val="0"/>
              </a:spcAft>
              <a:buClr>
                <a:srgbClr val="272525"/>
              </a:buClr>
              <a:buSzPts val="1500"/>
              <a:buFont typeface="Inter"/>
              <a:buChar char="•"/>
            </a:pPr>
            <a:r>
              <a:rPr b="0" i="0" lang="en-US" sz="1500" u="none" cap="none" strike="noStrike">
                <a:solidFill>
                  <a:srgbClr val="272525"/>
                </a:solidFill>
                <a:latin typeface="Inter"/>
                <a:ea typeface="Inter"/>
                <a:cs typeface="Inter"/>
                <a:sym typeface="Inter"/>
              </a:rPr>
              <a:t>Surrounding-context retrieval pulls nearby items from the same email thread or activity session</a:t>
            </a:r>
            <a:endParaRPr b="0" i="0" sz="1500" u="none" cap="none" strike="noStrike">
              <a:solidFill>
                <a:schemeClr val="dk1"/>
              </a:solidFill>
              <a:latin typeface="Calibri"/>
              <a:ea typeface="Calibri"/>
              <a:cs typeface="Calibri"/>
              <a:sym typeface="Calibri"/>
            </a:endParaRPr>
          </a:p>
        </p:txBody>
      </p:sp>
      <p:sp>
        <p:nvSpPr>
          <p:cNvPr id="229" name="Google Shape;229;p18"/>
          <p:cNvSpPr/>
          <p:nvPr/>
        </p:nvSpPr>
        <p:spPr>
          <a:xfrm>
            <a:off x="661475" y="5279628"/>
            <a:ext cx="10868745" cy="982365"/>
          </a:xfrm>
          <a:prstGeom prst="roundRect">
            <a:avLst>
              <a:gd fmla="val 6566"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30" name="Google Shape;230;p18"/>
          <p:cNvPicPr preferRelativeResize="0"/>
          <p:nvPr/>
        </p:nvPicPr>
        <p:blipFill rotWithShape="1">
          <a:blip r:embed="rId3">
            <a:alphaModFix/>
          </a:blip>
          <a:srcRect b="0" l="0" r="0" t="0"/>
          <a:stretch/>
        </p:blipFill>
        <p:spPr>
          <a:xfrm>
            <a:off x="814962" y="5477867"/>
            <a:ext cx="239905" cy="191889"/>
          </a:xfrm>
          <a:prstGeom prst="rect">
            <a:avLst/>
          </a:prstGeom>
          <a:noFill/>
          <a:ln>
            <a:noFill/>
          </a:ln>
        </p:spPr>
      </p:pic>
      <p:sp>
        <p:nvSpPr>
          <p:cNvPr id="231" name="Google Shape;231;p18"/>
          <p:cNvSpPr/>
          <p:nvPr/>
        </p:nvSpPr>
        <p:spPr>
          <a:xfrm>
            <a:off x="1208355" y="5442645"/>
            <a:ext cx="10168378" cy="668834"/>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000000"/>
              </a:buClr>
              <a:buSzPts val="1500"/>
              <a:buFont typeface="Inter"/>
              <a:buNone/>
            </a:pPr>
            <a:r>
              <a:rPr b="0" i="0" lang="en-US" sz="1500" u="none" cap="none" strike="noStrike">
                <a:solidFill>
                  <a:srgbClr val="000000"/>
                </a:solidFill>
                <a:latin typeface="Inter"/>
                <a:ea typeface="Inter"/>
                <a:cs typeface="Inter"/>
                <a:sym typeface="Inter"/>
              </a:rPr>
              <a:t>Still exactly 2 LLM calls per query — everything between them is deterministic Python</a:t>
            </a:r>
            <a:endParaRPr b="0" i="0" sz="1500" u="none" cap="none" strike="noStrike">
              <a:solidFill>
                <a:schemeClr val="dk1"/>
              </a:solidFill>
              <a:latin typeface="Calibri"/>
              <a:ea typeface="Calibri"/>
              <a:cs typeface="Calibri"/>
              <a:sym typeface="Calibri"/>
            </a:endParaRPr>
          </a:p>
        </p:txBody>
      </p:sp>
      <p:pic>
        <p:nvPicPr>
          <p:cNvPr id="232" name="Google Shape;232;p18"/>
          <p:cNvPicPr preferRelativeResize="0"/>
          <p:nvPr/>
        </p:nvPicPr>
        <p:blipFill>
          <a:blip r:embed="rId4">
            <a:alphaModFix/>
          </a:blip>
          <a:stretch>
            <a:fillRect/>
          </a:stretch>
        </p:blipFill>
        <p:spPr>
          <a:xfrm>
            <a:off x="10711025" y="6402304"/>
            <a:ext cx="1407775" cy="3919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19"/>
          <p:cNvSpPr/>
          <p:nvPr/>
        </p:nvSpPr>
        <p:spPr>
          <a:xfrm>
            <a:off x="661475" y="552152"/>
            <a:ext cx="10868745" cy="282377"/>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750"/>
              <a:buFont typeface="Inter"/>
              <a:buNone/>
            </a:pPr>
            <a:r>
              <a:rPr b="1" i="0" lang="en-US" sz="1750" u="none" cap="none" strike="noStrike">
                <a:solidFill>
                  <a:srgbClr val="000000"/>
                </a:solidFill>
                <a:latin typeface="Inter"/>
                <a:ea typeface="Inter"/>
                <a:cs typeface="Inter"/>
                <a:sym typeface="Inter"/>
              </a:rPr>
              <a:t>MODELS</a:t>
            </a:r>
            <a:endParaRPr b="0" i="0" sz="1750" u="none" cap="none" strike="noStrike">
              <a:solidFill>
                <a:schemeClr val="dk1"/>
              </a:solidFill>
              <a:latin typeface="Calibri"/>
              <a:ea typeface="Calibri"/>
              <a:cs typeface="Calibri"/>
              <a:sym typeface="Calibri"/>
            </a:endParaRPr>
          </a:p>
        </p:txBody>
      </p:sp>
      <p:graphicFrame>
        <p:nvGraphicFramePr>
          <p:cNvPr id="239" name="Google Shape;239;p19"/>
          <p:cNvGraphicFramePr/>
          <p:nvPr/>
        </p:nvGraphicFramePr>
        <p:xfrm>
          <a:off x="661475" y="1074539"/>
          <a:ext cx="3000000" cy="3000000"/>
        </p:xfrm>
        <a:graphic>
          <a:graphicData uri="http://schemas.openxmlformats.org/drawingml/2006/table">
            <a:tbl>
              <a:tblPr>
                <a:noFill/>
                <a:tableStyleId>{46ECF8E9-5879-42D1-B8A0-3D792A3639C8}</a:tableStyleId>
              </a:tblPr>
              <a:tblGrid>
                <a:gridCol w="5434375"/>
                <a:gridCol w="5434375"/>
              </a:tblGrid>
              <a:tr h="427225">
                <a:tc>
                  <a:txBody>
                    <a:bodyPr/>
                    <a:lstStyle/>
                    <a:p>
                      <a:pPr indent="0" lvl="0" marL="0" marR="0" rtl="0" algn="l">
                        <a:spcBef>
                          <a:spcPts val="0"/>
                        </a:spcBef>
                        <a:spcAft>
                          <a:spcPts val="0"/>
                        </a:spcAft>
                        <a:buClr>
                          <a:srgbClr val="272525"/>
                        </a:buClr>
                        <a:buSzPts val="1450"/>
                        <a:buFont typeface="Inter"/>
                        <a:buNone/>
                      </a:pPr>
                      <a:r>
                        <a:rPr lang="en-US" sz="1450" u="none" cap="none" strike="noStrike">
                          <a:solidFill>
                            <a:srgbClr val="272525"/>
                          </a:solidFill>
                          <a:latin typeface="Inter"/>
                          <a:ea typeface="Inter"/>
                          <a:cs typeface="Inter"/>
                          <a:sym typeface="Inter"/>
                        </a:rPr>
                        <a:t>Model</a:t>
                      </a:r>
                      <a:endParaRPr sz="1450" u="none" cap="none" strike="noStrike">
                        <a:latin typeface="Inter"/>
                        <a:ea typeface="Inter"/>
                        <a:cs typeface="Inter"/>
                        <a:sym typeface="Inter"/>
                      </a:endParaRPr>
                    </a:p>
                  </a:txBody>
                  <a:tcPr marT="6350" marB="6350" marR="150625" marL="150625"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C0C1D7"/>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1450"/>
                        <a:buFont typeface="Inter"/>
                        <a:buNone/>
                      </a:pPr>
                      <a:r>
                        <a:rPr lang="en-US" sz="1450" u="none" cap="none" strike="noStrike">
                          <a:solidFill>
                            <a:srgbClr val="272525"/>
                          </a:solidFill>
                          <a:latin typeface="Inter"/>
                          <a:ea typeface="Inter"/>
                          <a:cs typeface="Inter"/>
                          <a:sym typeface="Inter"/>
                        </a:rPr>
                        <a:t>Purpose</a:t>
                      </a:r>
                      <a:endParaRPr sz="1450" u="none" cap="none" strike="noStrike">
                        <a:latin typeface="Inter"/>
                        <a:ea typeface="Inter"/>
                        <a:cs typeface="Inter"/>
                        <a:sym typeface="Inter"/>
                      </a:endParaRPr>
                    </a:p>
                  </a:txBody>
                  <a:tcPr marT="6350" marB="6350" marR="150625" marL="150625"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C0C1D7"/>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r>
              <a:tr h="373050">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ms-marco-MiniLM-L-6-v2</a:t>
                      </a:r>
                      <a:endParaRPr sz="1150" u="none" cap="none" strike="noStrike">
                        <a:latin typeface="Inter"/>
                        <a:ea typeface="Inter"/>
                        <a:cs typeface="Inter"/>
                        <a:sym typeface="Inter"/>
                      </a:endParaRPr>
                    </a:p>
                  </a:txBody>
                  <a:tcPr marT="6350" marB="6350" marR="150625" marL="150625" anchor="ctr">
                    <a:lnL cap="flat" cmpd="sng" w="12700">
                      <a:solidFill>
                        <a:srgbClr val="C0C1D7"/>
                      </a:solidFill>
                      <a:prstDash val="solid"/>
                      <a:round/>
                      <a:headEnd len="sm" w="sm" type="none"/>
                      <a:tailEnd len="sm" w="sm" type="none"/>
                    </a:lnL>
                    <a:lnR cap="flat" cmpd="sng" w="12700">
                      <a:solidFill>
                        <a:srgbClr val="F5F5F5"/>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Cross-encoder re-ranking</a:t>
                      </a:r>
                      <a:endParaRPr sz="1150" u="none" cap="none" strike="noStrike">
                        <a:latin typeface="Inter"/>
                        <a:ea typeface="Inter"/>
                        <a:cs typeface="Inter"/>
                        <a:sym typeface="Inter"/>
                      </a:endParaRPr>
                    </a:p>
                  </a:txBody>
                  <a:tcPr marT="6350" marB="6350" marR="150625" marL="150625" anchor="ctr">
                    <a:lnL cap="flat" cmpd="sng" w="12700">
                      <a:solidFill>
                        <a:srgbClr val="F5F5F5"/>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r>
              <a:tr h="373050">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Gemini 2.5 Flash</a:t>
                      </a:r>
                      <a:endParaRPr sz="1150" u="none" cap="none" strike="noStrike">
                        <a:latin typeface="Inter"/>
                        <a:ea typeface="Inter"/>
                        <a:cs typeface="Inter"/>
                        <a:sym typeface="Inter"/>
                      </a:endParaRPr>
                    </a:p>
                  </a:txBody>
                  <a:tcPr marT="6350" marB="6350" marR="150625" marL="150625"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C0C1D7"/>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Intent parsing and answer synthesis</a:t>
                      </a:r>
                      <a:endParaRPr sz="1150" u="none" cap="none" strike="noStrike">
                        <a:latin typeface="Inter"/>
                        <a:ea typeface="Inter"/>
                        <a:cs typeface="Inter"/>
                        <a:sym typeface="Inter"/>
                      </a:endParaRPr>
                    </a:p>
                  </a:txBody>
                  <a:tcPr marT="6350" marB="6350" marR="150625" marL="150625"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C0C1D7"/>
                      </a:solidFill>
                      <a:prstDash val="solid"/>
                      <a:round/>
                      <a:headEnd len="sm" w="sm" type="none"/>
                      <a:tailEnd len="sm" w="sm" type="none"/>
                    </a:lnB>
                    <a:solidFill>
                      <a:srgbClr val="FFFFFF">
                        <a:alpha val="3922"/>
                      </a:srgbClr>
                    </a:solidFill>
                  </a:tcPr>
                </a:tc>
              </a:tr>
            </a:tbl>
          </a:graphicData>
        </a:graphic>
      </p:graphicFrame>
      <p:sp>
        <p:nvSpPr>
          <p:cNvPr id="240" name="Google Shape;240;p19"/>
          <p:cNvSpPr/>
          <p:nvPr/>
        </p:nvSpPr>
        <p:spPr>
          <a:xfrm>
            <a:off x="661475" y="2792016"/>
            <a:ext cx="10868745" cy="282377"/>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750"/>
              <a:buFont typeface="Inter"/>
              <a:buNone/>
            </a:pPr>
            <a:r>
              <a:rPr b="1" i="0" lang="en-US" sz="1750" u="none" cap="none" strike="noStrike">
                <a:solidFill>
                  <a:srgbClr val="000000"/>
                </a:solidFill>
                <a:latin typeface="Inter"/>
                <a:ea typeface="Inter"/>
                <a:cs typeface="Inter"/>
                <a:sym typeface="Inter"/>
              </a:rPr>
              <a:t>LIBRARIES</a:t>
            </a:r>
            <a:endParaRPr b="0" i="0" sz="1750" u="none" cap="none" strike="noStrike">
              <a:solidFill>
                <a:schemeClr val="dk1"/>
              </a:solidFill>
              <a:latin typeface="Calibri"/>
              <a:ea typeface="Calibri"/>
              <a:cs typeface="Calibri"/>
              <a:sym typeface="Calibri"/>
            </a:endParaRPr>
          </a:p>
        </p:txBody>
      </p:sp>
      <p:graphicFrame>
        <p:nvGraphicFramePr>
          <p:cNvPr id="241" name="Google Shape;241;p19"/>
          <p:cNvGraphicFramePr/>
          <p:nvPr/>
        </p:nvGraphicFramePr>
        <p:xfrm>
          <a:off x="661475" y="3254375"/>
          <a:ext cx="3000000" cy="3000000"/>
        </p:xfrm>
        <a:graphic>
          <a:graphicData uri="http://schemas.openxmlformats.org/drawingml/2006/table">
            <a:tbl>
              <a:tblPr>
                <a:noFill/>
                <a:tableStyleId>{46ECF8E9-5879-42D1-B8A0-3D792A3639C8}</a:tableStyleId>
              </a:tblPr>
              <a:tblGrid>
                <a:gridCol w="5434375"/>
                <a:gridCol w="5434375"/>
              </a:tblGrid>
              <a:tr h="427225">
                <a:tc>
                  <a:txBody>
                    <a:bodyPr/>
                    <a:lstStyle/>
                    <a:p>
                      <a:pPr indent="0" lvl="0" marL="0" marR="0" rtl="0" algn="l">
                        <a:spcBef>
                          <a:spcPts val="0"/>
                        </a:spcBef>
                        <a:spcAft>
                          <a:spcPts val="0"/>
                        </a:spcAft>
                        <a:buClr>
                          <a:srgbClr val="272525"/>
                        </a:buClr>
                        <a:buSzPts val="1450"/>
                        <a:buFont typeface="Inter"/>
                        <a:buNone/>
                      </a:pPr>
                      <a:r>
                        <a:rPr lang="en-US" sz="1450" u="none" cap="none" strike="noStrike">
                          <a:solidFill>
                            <a:srgbClr val="272525"/>
                          </a:solidFill>
                          <a:latin typeface="Inter"/>
                          <a:ea typeface="Inter"/>
                          <a:cs typeface="Inter"/>
                          <a:sym typeface="Inter"/>
                        </a:rPr>
                        <a:t>Tool</a:t>
                      </a:r>
                      <a:endParaRPr sz="1450" u="none" cap="none" strike="noStrike">
                        <a:latin typeface="Inter"/>
                        <a:ea typeface="Inter"/>
                        <a:cs typeface="Inter"/>
                        <a:sym typeface="Inter"/>
                      </a:endParaRPr>
                    </a:p>
                  </a:txBody>
                  <a:tcPr marT="6350" marB="6350" marR="150625" marL="150625"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C0C1D7"/>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1450"/>
                        <a:buFont typeface="Inter"/>
                        <a:buNone/>
                      </a:pPr>
                      <a:r>
                        <a:rPr lang="en-US" sz="1450" u="none" cap="none" strike="noStrike">
                          <a:solidFill>
                            <a:srgbClr val="272525"/>
                          </a:solidFill>
                          <a:latin typeface="Inter"/>
                          <a:ea typeface="Inter"/>
                          <a:cs typeface="Inter"/>
                          <a:sym typeface="Inter"/>
                        </a:rPr>
                        <a:t>Category</a:t>
                      </a:r>
                      <a:endParaRPr sz="1450" u="none" cap="none" strike="noStrike">
                        <a:latin typeface="Inter"/>
                        <a:ea typeface="Inter"/>
                        <a:cs typeface="Inter"/>
                        <a:sym typeface="Inter"/>
                      </a:endParaRPr>
                    </a:p>
                  </a:txBody>
                  <a:tcPr marT="6350" marB="6350" marR="150625" marL="150625"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C0C1D7"/>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r>
              <a:tr h="373050">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LangGraph</a:t>
                      </a:r>
                      <a:endParaRPr sz="1150" u="none" cap="none" strike="noStrike">
                        <a:latin typeface="Inter"/>
                        <a:ea typeface="Inter"/>
                        <a:cs typeface="Inter"/>
                        <a:sym typeface="Inter"/>
                      </a:endParaRPr>
                    </a:p>
                  </a:txBody>
                  <a:tcPr marT="6350" marB="6350" marR="150625" marL="150625" anchor="ctr">
                    <a:lnL cap="flat" cmpd="sng" w="12700">
                      <a:solidFill>
                        <a:srgbClr val="C0C1D7"/>
                      </a:solidFill>
                      <a:prstDash val="solid"/>
                      <a:round/>
                      <a:headEnd len="sm" w="sm" type="none"/>
                      <a:tailEnd len="sm" w="sm" type="none"/>
                    </a:lnL>
                    <a:lnR cap="flat" cmpd="sng" w="12700">
                      <a:solidFill>
                        <a:srgbClr val="F5F5F5"/>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Stateful retrieval graph</a:t>
                      </a:r>
                      <a:endParaRPr sz="1150" u="none" cap="none" strike="noStrike">
                        <a:latin typeface="Inter"/>
                        <a:ea typeface="Inter"/>
                        <a:cs typeface="Inter"/>
                        <a:sym typeface="Inter"/>
                      </a:endParaRPr>
                    </a:p>
                  </a:txBody>
                  <a:tcPr marT="6350" marB="6350" marR="150625" marL="150625" anchor="ctr">
                    <a:lnL cap="flat" cmpd="sng" w="12700">
                      <a:solidFill>
                        <a:srgbClr val="F5F5F5"/>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r>
              <a:tr h="373050">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LangChain Core</a:t>
                      </a:r>
                      <a:endParaRPr sz="1150" u="none" cap="none" strike="noStrike">
                        <a:latin typeface="Inter"/>
                        <a:ea typeface="Inter"/>
                        <a:cs typeface="Inter"/>
                        <a:sym typeface="Inter"/>
                      </a:endParaRPr>
                    </a:p>
                  </a:txBody>
                  <a:tcPr marT="6350" marB="6350" marR="150625" marL="150625"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LLM abstraction, structured output</a:t>
                      </a:r>
                      <a:endParaRPr sz="1150" u="none" cap="none" strike="noStrike">
                        <a:latin typeface="Inter"/>
                        <a:ea typeface="Inter"/>
                        <a:cs typeface="Inter"/>
                        <a:sym typeface="Inter"/>
                      </a:endParaRPr>
                    </a:p>
                  </a:txBody>
                  <a:tcPr marT="6350" marB="6350" marR="150625" marL="150625"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r>
              <a:tr h="373050">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LangChain Community</a:t>
                      </a:r>
                      <a:endParaRPr sz="1150" u="none" cap="none" strike="noStrike">
                        <a:latin typeface="Inter"/>
                        <a:ea typeface="Inter"/>
                        <a:cs typeface="Inter"/>
                        <a:sym typeface="Inter"/>
                      </a:endParaRPr>
                    </a:p>
                  </a:txBody>
                  <a:tcPr marT="6350" marB="6350" marR="150625" marL="150625" anchor="ctr">
                    <a:lnL cap="flat" cmpd="sng" w="12700">
                      <a:solidFill>
                        <a:srgbClr val="C0C1D7"/>
                      </a:solidFill>
                      <a:prstDash val="solid"/>
                      <a:round/>
                      <a:headEnd len="sm" w="sm" type="none"/>
                      <a:tailEnd len="sm" w="sm" type="none"/>
                    </a:lnL>
                    <a:lnR cap="flat" cmpd="sng" w="12700">
                      <a:solidFill>
                        <a:srgbClr val="F5F5F5"/>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Conversation history storage</a:t>
                      </a:r>
                      <a:endParaRPr sz="1150" u="none" cap="none" strike="noStrike">
                        <a:latin typeface="Inter"/>
                        <a:ea typeface="Inter"/>
                        <a:cs typeface="Inter"/>
                        <a:sym typeface="Inter"/>
                      </a:endParaRPr>
                    </a:p>
                  </a:txBody>
                  <a:tcPr marT="6350" marB="6350" marR="150625" marL="150625" anchor="ctr">
                    <a:lnL cap="flat" cmpd="sng" w="12700">
                      <a:solidFill>
                        <a:srgbClr val="F5F5F5"/>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r>
              <a:tr h="373050">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sentence-transformers</a:t>
                      </a:r>
                      <a:endParaRPr sz="1150" u="none" cap="none" strike="noStrike">
                        <a:latin typeface="Inter"/>
                        <a:ea typeface="Inter"/>
                        <a:cs typeface="Inter"/>
                        <a:sym typeface="Inter"/>
                      </a:endParaRPr>
                    </a:p>
                  </a:txBody>
                  <a:tcPr marT="6350" marB="6350" marR="150625" marL="150625"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Cross-encoder model loading</a:t>
                      </a:r>
                      <a:endParaRPr sz="1150" u="none" cap="none" strike="noStrike">
                        <a:latin typeface="Inter"/>
                        <a:ea typeface="Inter"/>
                        <a:cs typeface="Inter"/>
                        <a:sym typeface="Inter"/>
                      </a:endParaRPr>
                    </a:p>
                  </a:txBody>
                  <a:tcPr marT="6350" marB="6350" marR="150625" marL="150625"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r>
              <a:tr h="373050">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faiss-cpu</a:t>
                      </a:r>
                      <a:endParaRPr sz="1150" u="none" cap="none" strike="noStrike">
                        <a:latin typeface="Inter"/>
                        <a:ea typeface="Inter"/>
                        <a:cs typeface="Inter"/>
                        <a:sym typeface="Inter"/>
                      </a:endParaRPr>
                    </a:p>
                  </a:txBody>
                  <a:tcPr marT="6350" marB="6350" marR="150625" marL="150625" anchor="ctr">
                    <a:lnL cap="flat" cmpd="sng" w="12700">
                      <a:solidFill>
                        <a:srgbClr val="C0C1D7"/>
                      </a:solidFill>
                      <a:prstDash val="solid"/>
                      <a:round/>
                      <a:headEnd len="sm" w="sm" type="none"/>
                      <a:tailEnd len="sm" w="sm" type="none"/>
                    </a:lnL>
                    <a:lnR cap="flat" cmpd="sng" w="12700">
                      <a:solidFill>
                        <a:srgbClr val="F5F5F5"/>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Semantic vector search</a:t>
                      </a:r>
                      <a:endParaRPr sz="1150" u="none" cap="none" strike="noStrike">
                        <a:latin typeface="Inter"/>
                        <a:ea typeface="Inter"/>
                        <a:cs typeface="Inter"/>
                        <a:sym typeface="Inter"/>
                      </a:endParaRPr>
                    </a:p>
                  </a:txBody>
                  <a:tcPr marT="6350" marB="6350" marR="150625" marL="150625" anchor="ctr">
                    <a:lnL cap="flat" cmpd="sng" w="12700">
                      <a:solidFill>
                        <a:srgbClr val="F5F5F5"/>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r>
              <a:tr h="373050">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NumPy</a:t>
                      </a:r>
                      <a:endParaRPr sz="1150" u="none" cap="none" strike="noStrike">
                        <a:latin typeface="Inter"/>
                        <a:ea typeface="Inter"/>
                        <a:cs typeface="Inter"/>
                        <a:sym typeface="Inter"/>
                      </a:endParaRPr>
                    </a:p>
                  </a:txBody>
                  <a:tcPr marT="6350" marB="6350" marR="150625" marL="150625"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Vector maths</a:t>
                      </a:r>
                      <a:endParaRPr sz="1150" u="none" cap="none" strike="noStrike">
                        <a:latin typeface="Inter"/>
                        <a:ea typeface="Inter"/>
                        <a:cs typeface="Inter"/>
                        <a:sym typeface="Inter"/>
                      </a:endParaRPr>
                    </a:p>
                  </a:txBody>
                  <a:tcPr marT="6350" marB="6350" marR="150625" marL="150625"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r>
              <a:tr h="373050">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psycopg2</a:t>
                      </a:r>
                      <a:endParaRPr sz="1150" u="none" cap="none" strike="noStrike">
                        <a:latin typeface="Inter"/>
                        <a:ea typeface="Inter"/>
                        <a:cs typeface="Inter"/>
                        <a:sym typeface="Inter"/>
                      </a:endParaRPr>
                    </a:p>
                  </a:txBody>
                  <a:tcPr marT="6350" marB="6350" marR="150625" marL="150625" anchor="ctr">
                    <a:lnL cap="flat" cmpd="sng" w="12700">
                      <a:solidFill>
                        <a:srgbClr val="C0C1D7"/>
                      </a:solidFill>
                      <a:prstDash val="solid"/>
                      <a:round/>
                      <a:headEnd len="sm" w="sm" type="none"/>
                      <a:tailEnd len="sm" w="sm" type="none"/>
                    </a:lnL>
                    <a:lnR cap="flat" cmpd="sng" w="12700">
                      <a:solidFill>
                        <a:srgbClr val="F5F5F5"/>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C0C1D7"/>
                      </a:solidFill>
                      <a:prstDash val="solid"/>
                      <a:round/>
                      <a:headEnd len="sm" w="sm" type="none"/>
                      <a:tailEnd len="sm" w="sm" type="none"/>
                    </a:lnB>
                    <a:solidFill>
                      <a:srgbClr val="000000">
                        <a:alpha val="3922"/>
                      </a:srgbClr>
                    </a:solidFill>
                  </a:tcPr>
                </a:tc>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PostgreSQL driver</a:t>
                      </a:r>
                      <a:endParaRPr sz="1150" u="none" cap="none" strike="noStrike">
                        <a:latin typeface="Inter"/>
                        <a:ea typeface="Inter"/>
                        <a:cs typeface="Inter"/>
                        <a:sym typeface="Inter"/>
                      </a:endParaRPr>
                    </a:p>
                  </a:txBody>
                  <a:tcPr marT="6350" marB="6350" marR="150625" marL="150625" anchor="ctr">
                    <a:lnL cap="flat" cmpd="sng" w="12700">
                      <a:solidFill>
                        <a:srgbClr val="F5F5F5"/>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C0C1D7"/>
                      </a:solidFill>
                      <a:prstDash val="solid"/>
                      <a:round/>
                      <a:headEnd len="sm" w="sm" type="none"/>
                      <a:tailEnd len="sm" w="sm" type="none"/>
                    </a:lnB>
                    <a:solidFill>
                      <a:srgbClr val="000000">
                        <a:alpha val="3922"/>
                      </a:srgbClr>
                    </a:solidFill>
                  </a:tcPr>
                </a:tc>
              </a:tr>
            </a:tbl>
          </a:graphicData>
        </a:graphic>
      </p:graphicFrame>
      <p:pic>
        <p:nvPicPr>
          <p:cNvPr id="242" name="Google Shape;242;p19"/>
          <p:cNvPicPr preferRelativeResize="0"/>
          <p:nvPr/>
        </p:nvPicPr>
        <p:blipFill>
          <a:blip r:embed="rId3">
            <a:alphaModFix/>
          </a:blip>
          <a:stretch>
            <a:fillRect/>
          </a:stretch>
        </p:blipFill>
        <p:spPr>
          <a:xfrm>
            <a:off x="10649450" y="6445350"/>
            <a:ext cx="1482171" cy="4126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20"/>
          <p:cNvSpPr/>
          <p:nvPr/>
        </p:nvSpPr>
        <p:spPr>
          <a:xfrm>
            <a:off x="661475" y="549275"/>
            <a:ext cx="10868745" cy="443012"/>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2750"/>
              <a:buFont typeface="Inter"/>
              <a:buNone/>
            </a:pPr>
            <a:r>
              <a:rPr b="1" i="0" lang="en-US" sz="2750" u="none" cap="none" strike="noStrike">
                <a:solidFill>
                  <a:srgbClr val="000000"/>
                </a:solidFill>
                <a:latin typeface="Inter"/>
                <a:ea typeface="Inter"/>
                <a:cs typeface="Inter"/>
                <a:sym typeface="Inter"/>
              </a:rPr>
              <a:t> Digital Wellbeing &amp; User Interface Layer</a:t>
            </a:r>
            <a:endParaRPr b="0" i="0" sz="2750" u="none" cap="none" strike="noStrike">
              <a:solidFill>
                <a:schemeClr val="dk1"/>
              </a:solidFill>
              <a:latin typeface="Calibri"/>
              <a:ea typeface="Calibri"/>
              <a:cs typeface="Calibri"/>
              <a:sym typeface="Calibri"/>
            </a:endParaRPr>
          </a:p>
        </p:txBody>
      </p:sp>
      <p:sp>
        <p:nvSpPr>
          <p:cNvPr id="249" name="Google Shape;249;p20"/>
          <p:cNvSpPr/>
          <p:nvPr/>
        </p:nvSpPr>
        <p:spPr>
          <a:xfrm>
            <a:off x="661475" y="1034752"/>
            <a:ext cx="10868745" cy="221456"/>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350"/>
              <a:buFont typeface="Inter"/>
              <a:buNone/>
            </a:pPr>
            <a:r>
              <a:rPr b="1" i="0" lang="en-US" sz="1350" u="none" cap="none" strike="noStrike">
                <a:solidFill>
                  <a:srgbClr val="000000"/>
                </a:solidFill>
                <a:latin typeface="Inter"/>
                <a:ea typeface="Inter"/>
                <a:cs typeface="Inter"/>
                <a:sym typeface="Inter"/>
              </a:rPr>
              <a:t>Arjun Sai N — PES2UG23CS091 </a:t>
            </a:r>
            <a:endParaRPr b="0" i="0" sz="1350" u="none" cap="none" strike="noStrike">
              <a:solidFill>
                <a:schemeClr val="dk1"/>
              </a:solidFill>
              <a:latin typeface="Calibri"/>
              <a:ea typeface="Calibri"/>
              <a:cs typeface="Calibri"/>
              <a:sym typeface="Calibri"/>
            </a:endParaRPr>
          </a:p>
        </p:txBody>
      </p:sp>
      <p:sp>
        <p:nvSpPr>
          <p:cNvPr id="250" name="Google Shape;250;p20"/>
          <p:cNvSpPr/>
          <p:nvPr/>
        </p:nvSpPr>
        <p:spPr>
          <a:xfrm>
            <a:off x="661475" y="1451074"/>
            <a:ext cx="10868745" cy="19050"/>
          </a:xfrm>
          <a:prstGeom prst="roundRect">
            <a:avLst>
              <a:gd fmla="val 49999" name="adj"/>
            </a:avLst>
          </a:prstGeom>
          <a:solidFill>
            <a:srgbClr val="272525">
              <a:alpha val="5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20"/>
          <p:cNvSpPr/>
          <p:nvPr/>
        </p:nvSpPr>
        <p:spPr>
          <a:xfrm>
            <a:off x="661475" y="1664990"/>
            <a:ext cx="10868745" cy="265708"/>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650"/>
              <a:buFont typeface="Inter"/>
              <a:buNone/>
            </a:pPr>
            <a:r>
              <a:rPr b="1" i="0" lang="en-US" sz="1650" u="none" cap="none" strike="noStrike">
                <a:solidFill>
                  <a:srgbClr val="000000"/>
                </a:solidFill>
                <a:latin typeface="Inter"/>
                <a:ea typeface="Inter"/>
                <a:cs typeface="Inter"/>
                <a:sym typeface="Inter"/>
              </a:rPr>
              <a:t>RESPONSIBILITIES</a:t>
            </a:r>
            <a:endParaRPr b="0" i="0" sz="1650" u="none" cap="none" strike="noStrike">
              <a:solidFill>
                <a:schemeClr val="dk1"/>
              </a:solidFill>
              <a:latin typeface="Calibri"/>
              <a:ea typeface="Calibri"/>
              <a:cs typeface="Calibri"/>
              <a:sym typeface="Calibri"/>
            </a:endParaRPr>
          </a:p>
        </p:txBody>
      </p:sp>
      <p:sp>
        <p:nvSpPr>
          <p:cNvPr id="252" name="Google Shape;252;p20"/>
          <p:cNvSpPr/>
          <p:nvPr/>
        </p:nvSpPr>
        <p:spPr>
          <a:xfrm>
            <a:off x="661475" y="2090142"/>
            <a:ext cx="10868745" cy="1389063"/>
          </a:xfrm>
          <a:prstGeom prst="rect">
            <a:avLst/>
          </a:prstGeom>
          <a:noFill/>
          <a:ln>
            <a:noFill/>
          </a:ln>
        </p:spPr>
        <p:txBody>
          <a:bodyPr anchorCtr="0" anchor="t" bIns="0" lIns="0" spcFirstLastPara="1" rIns="0" wrap="square" tIns="70875">
            <a:noAutofit/>
          </a:bodyPr>
          <a:lstStyle/>
          <a:p>
            <a:pPr indent="-274320" lvl="0" marL="274320" marR="0" rtl="0" algn="l">
              <a:lnSpc>
                <a:spcPct val="117000"/>
              </a:lnSpc>
              <a:spcBef>
                <a:spcPts val="0"/>
              </a:spcBef>
              <a:spcAft>
                <a:spcPts val="0"/>
              </a:spcAft>
              <a:buClr>
                <a:srgbClr val="272525"/>
              </a:buClr>
              <a:buSzPts val="1350"/>
              <a:buFont typeface="Inter"/>
              <a:buChar char="•"/>
            </a:pPr>
            <a:r>
              <a:rPr b="0" i="0" lang="en-US" sz="1350" u="none" cap="none" strike="noStrike">
                <a:solidFill>
                  <a:srgbClr val="272525"/>
                </a:solidFill>
                <a:latin typeface="Inter"/>
                <a:ea typeface="Inter"/>
                <a:cs typeface="Inter"/>
                <a:sym typeface="Inter"/>
              </a:rPr>
              <a:t>Build the web dashboard users interact with</a:t>
            </a:r>
            <a:endParaRPr b="0" i="0" sz="1350" u="none" cap="none" strike="noStrike">
              <a:solidFill>
                <a:schemeClr val="dk1"/>
              </a:solidFill>
              <a:latin typeface="Calibri"/>
              <a:ea typeface="Calibri"/>
              <a:cs typeface="Calibri"/>
              <a:sym typeface="Calibri"/>
            </a:endParaRPr>
          </a:p>
          <a:p>
            <a:pPr indent="-274320" lvl="0" marL="274320" marR="0" rtl="0" algn="l">
              <a:lnSpc>
                <a:spcPct val="117000"/>
              </a:lnSpc>
              <a:spcBef>
                <a:spcPts val="0"/>
              </a:spcBef>
              <a:spcAft>
                <a:spcPts val="0"/>
              </a:spcAft>
              <a:buClr>
                <a:srgbClr val="272525"/>
              </a:buClr>
              <a:buSzPts val="1350"/>
              <a:buFont typeface="Inter"/>
              <a:buChar char="•"/>
            </a:pPr>
            <a:r>
              <a:rPr b="0" i="0" lang="en-US" sz="1350" u="none" cap="none" strike="noStrike">
                <a:solidFill>
                  <a:srgbClr val="272525"/>
                </a:solidFill>
                <a:latin typeface="Inter"/>
                <a:ea typeface="Inter"/>
                <a:cs typeface="Inter"/>
                <a:sym typeface="Inter"/>
              </a:rPr>
              <a:t>Build the browser extension popup for quick access</a:t>
            </a:r>
            <a:endParaRPr b="0" i="0" sz="1350" u="none" cap="none" strike="noStrike">
              <a:solidFill>
                <a:schemeClr val="dk1"/>
              </a:solidFill>
              <a:latin typeface="Calibri"/>
              <a:ea typeface="Calibri"/>
              <a:cs typeface="Calibri"/>
              <a:sym typeface="Calibri"/>
            </a:endParaRPr>
          </a:p>
          <a:p>
            <a:pPr indent="-274320" lvl="0" marL="274320" marR="0" rtl="0" algn="l">
              <a:lnSpc>
                <a:spcPct val="117000"/>
              </a:lnSpc>
              <a:spcBef>
                <a:spcPts val="0"/>
              </a:spcBef>
              <a:spcAft>
                <a:spcPts val="0"/>
              </a:spcAft>
              <a:buClr>
                <a:srgbClr val="272525"/>
              </a:buClr>
              <a:buSzPts val="1350"/>
              <a:buFont typeface="Inter"/>
              <a:buChar char="•"/>
            </a:pPr>
            <a:r>
              <a:rPr b="0" i="0" lang="en-US" sz="1350" u="none" cap="none" strike="noStrike">
                <a:solidFill>
                  <a:srgbClr val="272525"/>
                </a:solidFill>
                <a:latin typeface="Inter"/>
                <a:ea typeface="Inter"/>
                <a:cs typeface="Inter"/>
                <a:sym typeface="Inter"/>
              </a:rPr>
              <a:t>Connect every screen to the backend API</a:t>
            </a:r>
            <a:endParaRPr b="0" i="0" sz="1350" u="none" cap="none" strike="noStrike">
              <a:solidFill>
                <a:schemeClr val="dk1"/>
              </a:solidFill>
              <a:latin typeface="Calibri"/>
              <a:ea typeface="Calibri"/>
              <a:cs typeface="Calibri"/>
              <a:sym typeface="Calibri"/>
            </a:endParaRPr>
          </a:p>
          <a:p>
            <a:pPr indent="-274320" lvl="0" marL="274320" marR="0" rtl="0" algn="l">
              <a:lnSpc>
                <a:spcPct val="117000"/>
              </a:lnSpc>
              <a:spcBef>
                <a:spcPts val="0"/>
              </a:spcBef>
              <a:spcAft>
                <a:spcPts val="0"/>
              </a:spcAft>
              <a:buClr>
                <a:srgbClr val="272525"/>
              </a:buClr>
              <a:buSzPts val="1350"/>
              <a:buFont typeface="Inter"/>
              <a:buChar char="•"/>
            </a:pPr>
            <a:r>
              <a:rPr b="0" i="0" lang="en-US" sz="1350" u="none" cap="none" strike="noStrike">
                <a:solidFill>
                  <a:srgbClr val="272525"/>
                </a:solidFill>
                <a:latin typeface="Inter"/>
                <a:ea typeface="Inter"/>
                <a:cs typeface="Inter"/>
                <a:sym typeface="Inter"/>
              </a:rPr>
              <a:t>Keep the interface usable when the backend is unavailable</a:t>
            </a:r>
            <a:endParaRPr b="0" i="0" sz="1350" u="none" cap="none" strike="noStrike">
              <a:solidFill>
                <a:schemeClr val="dk1"/>
              </a:solidFill>
              <a:latin typeface="Calibri"/>
              <a:ea typeface="Calibri"/>
              <a:cs typeface="Calibri"/>
              <a:sym typeface="Calibri"/>
            </a:endParaRPr>
          </a:p>
          <a:p>
            <a:pPr indent="-274320" lvl="0" marL="274320" marR="0" rtl="0" algn="l">
              <a:lnSpc>
                <a:spcPct val="117000"/>
              </a:lnSpc>
              <a:spcBef>
                <a:spcPts val="0"/>
              </a:spcBef>
              <a:spcAft>
                <a:spcPts val="0"/>
              </a:spcAft>
              <a:buClr>
                <a:srgbClr val="272525"/>
              </a:buClr>
              <a:buSzPts val="1350"/>
              <a:buFont typeface="Inter"/>
              <a:buChar char="•"/>
            </a:pPr>
            <a:r>
              <a:rPr b="0" i="0" lang="en-US" sz="1350" u="none" cap="none" strike="noStrike">
                <a:solidFill>
                  <a:srgbClr val="272525"/>
                </a:solidFill>
                <a:latin typeface="Inter"/>
                <a:ea typeface="Inter"/>
                <a:cs typeface="Inter"/>
                <a:sym typeface="Inter"/>
              </a:rPr>
              <a:t>Begin work on wellbeing analytics</a:t>
            </a:r>
            <a:endParaRPr b="0" i="0" sz="1350" u="none" cap="none" strike="noStrike">
              <a:solidFill>
                <a:schemeClr val="dk1"/>
              </a:solidFill>
              <a:latin typeface="Calibri"/>
              <a:ea typeface="Calibri"/>
              <a:cs typeface="Calibri"/>
              <a:sym typeface="Calibri"/>
            </a:endParaRPr>
          </a:p>
        </p:txBody>
      </p:sp>
      <p:sp>
        <p:nvSpPr>
          <p:cNvPr id="253" name="Google Shape;253;p20"/>
          <p:cNvSpPr/>
          <p:nvPr/>
        </p:nvSpPr>
        <p:spPr>
          <a:xfrm>
            <a:off x="661475" y="3638649"/>
            <a:ext cx="10868745" cy="265708"/>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650"/>
              <a:buFont typeface="Inter"/>
              <a:buNone/>
            </a:pPr>
            <a:r>
              <a:rPr b="1" i="0" lang="en-US" sz="1650" u="none" cap="none" strike="noStrike">
                <a:solidFill>
                  <a:srgbClr val="000000"/>
                </a:solidFill>
                <a:latin typeface="Inter"/>
                <a:ea typeface="Inter"/>
                <a:cs typeface="Inter"/>
                <a:sym typeface="Inter"/>
              </a:rPr>
              <a:t>NEW IN PHASE III</a:t>
            </a:r>
            <a:endParaRPr b="0" i="0" sz="1650" u="none" cap="none" strike="noStrike">
              <a:solidFill>
                <a:schemeClr val="dk1"/>
              </a:solidFill>
              <a:latin typeface="Calibri"/>
              <a:ea typeface="Calibri"/>
              <a:cs typeface="Calibri"/>
              <a:sym typeface="Calibri"/>
            </a:endParaRPr>
          </a:p>
        </p:txBody>
      </p:sp>
      <p:sp>
        <p:nvSpPr>
          <p:cNvPr id="254" name="Google Shape;254;p20"/>
          <p:cNvSpPr/>
          <p:nvPr/>
        </p:nvSpPr>
        <p:spPr>
          <a:xfrm>
            <a:off x="661475" y="4063802"/>
            <a:ext cx="10868745" cy="2244824"/>
          </a:xfrm>
          <a:prstGeom prst="rect">
            <a:avLst/>
          </a:prstGeom>
          <a:noFill/>
          <a:ln>
            <a:noFill/>
          </a:ln>
        </p:spPr>
        <p:txBody>
          <a:bodyPr anchorCtr="0" anchor="t" bIns="0" lIns="0" spcFirstLastPara="1" rIns="0" wrap="square" tIns="70875">
            <a:noAutofit/>
          </a:bodyPr>
          <a:lstStyle/>
          <a:p>
            <a:pPr indent="-274320" lvl="0" marL="274320" marR="0" rtl="0" algn="l">
              <a:lnSpc>
                <a:spcPct val="117000"/>
              </a:lnSpc>
              <a:spcBef>
                <a:spcPts val="0"/>
              </a:spcBef>
              <a:spcAft>
                <a:spcPts val="0"/>
              </a:spcAft>
              <a:buClr>
                <a:srgbClr val="272525"/>
              </a:buClr>
              <a:buSzPts val="1350"/>
              <a:buFont typeface="Inter"/>
              <a:buChar char="•"/>
            </a:pPr>
            <a:r>
              <a:rPr b="0" i="0" lang="en-US" sz="1350" u="none" cap="none" strike="noStrike">
                <a:solidFill>
                  <a:srgbClr val="272525"/>
                </a:solidFill>
                <a:latin typeface="Inter"/>
                <a:ea typeface="Inter"/>
                <a:cs typeface="Inter"/>
                <a:sym typeface="Inter"/>
              </a:rPr>
              <a:t>Recall — ask a question in plain language and see the answer</a:t>
            </a:r>
            <a:endParaRPr b="0" i="0" sz="1350" u="none" cap="none" strike="noStrike">
              <a:solidFill>
                <a:schemeClr val="dk1"/>
              </a:solidFill>
              <a:latin typeface="Calibri"/>
              <a:ea typeface="Calibri"/>
              <a:cs typeface="Calibri"/>
              <a:sym typeface="Calibri"/>
            </a:endParaRPr>
          </a:p>
          <a:p>
            <a:pPr indent="-274320" lvl="0" marL="274320" marR="0" rtl="0" algn="l">
              <a:lnSpc>
                <a:spcPct val="117000"/>
              </a:lnSpc>
              <a:spcBef>
                <a:spcPts val="0"/>
              </a:spcBef>
              <a:spcAft>
                <a:spcPts val="0"/>
              </a:spcAft>
              <a:buClr>
                <a:srgbClr val="272525"/>
              </a:buClr>
              <a:buSzPts val="1350"/>
              <a:buFont typeface="Inter"/>
              <a:buChar char="•"/>
            </a:pPr>
            <a:r>
              <a:rPr b="0" i="0" lang="en-US" sz="1350" u="none" cap="none" strike="noStrike">
                <a:solidFill>
                  <a:srgbClr val="272525"/>
                </a:solidFill>
                <a:latin typeface="Inter"/>
                <a:ea typeface="Inter"/>
                <a:cs typeface="Inter"/>
                <a:sym typeface="Inter"/>
              </a:rPr>
              <a:t>Timeline — browse recent captured items and mark regret</a:t>
            </a:r>
            <a:endParaRPr b="0" i="0" sz="1350" u="none" cap="none" strike="noStrike">
              <a:solidFill>
                <a:schemeClr val="dk1"/>
              </a:solidFill>
              <a:latin typeface="Calibri"/>
              <a:ea typeface="Calibri"/>
              <a:cs typeface="Calibri"/>
              <a:sym typeface="Calibri"/>
            </a:endParaRPr>
          </a:p>
          <a:p>
            <a:pPr indent="-274320" lvl="0" marL="274320" marR="0" rtl="0" algn="l">
              <a:lnSpc>
                <a:spcPct val="117000"/>
              </a:lnSpc>
              <a:spcBef>
                <a:spcPts val="0"/>
              </a:spcBef>
              <a:spcAft>
                <a:spcPts val="0"/>
              </a:spcAft>
              <a:buClr>
                <a:srgbClr val="272525"/>
              </a:buClr>
              <a:buSzPts val="1350"/>
              <a:buFont typeface="Inter"/>
              <a:buChar char="•"/>
            </a:pPr>
            <a:r>
              <a:rPr b="0" i="0" lang="en-US" sz="1350" u="none" cap="none" strike="noStrike">
                <a:solidFill>
                  <a:srgbClr val="272525"/>
                </a:solidFill>
                <a:latin typeface="Inter"/>
                <a:ea typeface="Inter"/>
                <a:cs typeface="Inter"/>
                <a:sym typeface="Inter"/>
              </a:rPr>
              <a:t>Patterns — daily time summary, category breakdown and activity heatmap</a:t>
            </a:r>
            <a:endParaRPr b="0" i="0" sz="1350" u="none" cap="none" strike="noStrike">
              <a:solidFill>
                <a:schemeClr val="dk1"/>
              </a:solidFill>
              <a:latin typeface="Calibri"/>
              <a:ea typeface="Calibri"/>
              <a:cs typeface="Calibri"/>
              <a:sym typeface="Calibri"/>
            </a:endParaRPr>
          </a:p>
          <a:p>
            <a:pPr indent="-274320" lvl="0" marL="274320" marR="0" rtl="0" algn="l">
              <a:lnSpc>
                <a:spcPct val="117000"/>
              </a:lnSpc>
              <a:spcBef>
                <a:spcPts val="0"/>
              </a:spcBef>
              <a:spcAft>
                <a:spcPts val="0"/>
              </a:spcAft>
              <a:buClr>
                <a:srgbClr val="272525"/>
              </a:buClr>
              <a:buSzPts val="1350"/>
              <a:buFont typeface="Inter"/>
              <a:buChar char="•"/>
            </a:pPr>
            <a:r>
              <a:rPr b="0" i="0" lang="en-US" sz="1350" u="none" cap="none" strike="noStrike">
                <a:solidFill>
                  <a:srgbClr val="272525"/>
                </a:solidFill>
                <a:latin typeface="Inter"/>
                <a:ea typeface="Inter"/>
                <a:cs typeface="Inter"/>
                <a:sym typeface="Inter"/>
              </a:rPr>
              <a:t>Reflections — regret analytics and currently regretted items</a:t>
            </a:r>
            <a:endParaRPr b="0" i="0" sz="1350" u="none" cap="none" strike="noStrike">
              <a:solidFill>
                <a:schemeClr val="dk1"/>
              </a:solidFill>
              <a:latin typeface="Calibri"/>
              <a:ea typeface="Calibri"/>
              <a:cs typeface="Calibri"/>
              <a:sym typeface="Calibri"/>
            </a:endParaRPr>
          </a:p>
          <a:p>
            <a:pPr indent="-274320" lvl="0" marL="274320" marR="0" rtl="0" algn="l">
              <a:lnSpc>
                <a:spcPct val="117000"/>
              </a:lnSpc>
              <a:spcBef>
                <a:spcPts val="0"/>
              </a:spcBef>
              <a:spcAft>
                <a:spcPts val="0"/>
              </a:spcAft>
              <a:buClr>
                <a:srgbClr val="272525"/>
              </a:buClr>
              <a:buSzPts val="1350"/>
              <a:buFont typeface="Inter"/>
              <a:buChar char="•"/>
            </a:pPr>
            <a:r>
              <a:rPr b="0" i="0" lang="en-US" sz="1350" u="none" cap="none" strike="noStrike">
                <a:solidFill>
                  <a:srgbClr val="272525"/>
                </a:solidFill>
                <a:latin typeface="Inter"/>
                <a:ea typeface="Inter"/>
                <a:cs typeface="Inter"/>
                <a:sym typeface="Inter"/>
              </a:rPr>
              <a:t>Settings — capture toggles for Gmail, Chrome and YouTube</a:t>
            </a:r>
            <a:endParaRPr b="0" i="0" sz="1350" u="none" cap="none" strike="noStrike">
              <a:solidFill>
                <a:schemeClr val="dk1"/>
              </a:solidFill>
              <a:latin typeface="Calibri"/>
              <a:ea typeface="Calibri"/>
              <a:cs typeface="Calibri"/>
              <a:sym typeface="Calibri"/>
            </a:endParaRPr>
          </a:p>
          <a:p>
            <a:pPr indent="-274320" lvl="0" marL="274320" marR="0" rtl="0" algn="l">
              <a:lnSpc>
                <a:spcPct val="117000"/>
              </a:lnSpc>
              <a:spcBef>
                <a:spcPts val="0"/>
              </a:spcBef>
              <a:spcAft>
                <a:spcPts val="0"/>
              </a:spcAft>
              <a:buClr>
                <a:srgbClr val="272525"/>
              </a:buClr>
              <a:buSzPts val="1350"/>
              <a:buFont typeface="Inter"/>
              <a:buChar char="•"/>
            </a:pPr>
            <a:r>
              <a:rPr b="0" i="0" lang="en-US" sz="1350" u="none" cap="none" strike="noStrike">
                <a:solidFill>
                  <a:srgbClr val="272525"/>
                </a:solidFill>
                <a:latin typeface="Inter"/>
                <a:ea typeface="Inter"/>
                <a:cs typeface="Inter"/>
                <a:sym typeface="Inter"/>
              </a:rPr>
              <a:t>Extension popup — quick search and recent items without opening the dashboard</a:t>
            </a:r>
            <a:endParaRPr b="0" i="0" sz="1350" u="none" cap="none" strike="noStrike">
              <a:solidFill>
                <a:schemeClr val="dk1"/>
              </a:solidFill>
              <a:latin typeface="Calibri"/>
              <a:ea typeface="Calibri"/>
              <a:cs typeface="Calibri"/>
              <a:sym typeface="Calibri"/>
            </a:endParaRPr>
          </a:p>
          <a:p>
            <a:pPr indent="-274320" lvl="0" marL="274320" marR="0" rtl="0" algn="l">
              <a:lnSpc>
                <a:spcPct val="117000"/>
              </a:lnSpc>
              <a:spcBef>
                <a:spcPts val="0"/>
              </a:spcBef>
              <a:spcAft>
                <a:spcPts val="0"/>
              </a:spcAft>
              <a:buClr>
                <a:srgbClr val="272525"/>
              </a:buClr>
              <a:buSzPts val="1350"/>
              <a:buFont typeface="Inter"/>
              <a:buChar char="•"/>
            </a:pPr>
            <a:r>
              <a:rPr b="0" i="0" lang="en-US" sz="1350" u="none" cap="none" strike="noStrike">
                <a:solidFill>
                  <a:srgbClr val="272525"/>
                </a:solidFill>
                <a:latin typeface="Inter"/>
                <a:ea typeface="Inter"/>
                <a:cs typeface="Inter"/>
                <a:sym typeface="Inter"/>
              </a:rPr>
              <a:t>Demo mode — every screen falls back to sample data when the backend is offline, so the interface never breaks</a:t>
            </a:r>
            <a:endParaRPr b="0" i="0" sz="1350" u="none" cap="none" strike="noStrike">
              <a:solidFill>
                <a:schemeClr val="dk1"/>
              </a:solidFill>
              <a:latin typeface="Calibri"/>
              <a:ea typeface="Calibri"/>
              <a:cs typeface="Calibri"/>
              <a:sym typeface="Calibri"/>
            </a:endParaRPr>
          </a:p>
          <a:p>
            <a:pPr indent="-274320" lvl="0" marL="274320" marR="0" rtl="0" algn="l">
              <a:lnSpc>
                <a:spcPct val="117000"/>
              </a:lnSpc>
              <a:spcBef>
                <a:spcPts val="0"/>
              </a:spcBef>
              <a:spcAft>
                <a:spcPts val="0"/>
              </a:spcAft>
              <a:buClr>
                <a:srgbClr val="272525"/>
              </a:buClr>
              <a:buSzPts val="1350"/>
              <a:buFont typeface="Inter"/>
              <a:buChar char="•"/>
            </a:pPr>
            <a:r>
              <a:rPr b="0" i="0" lang="en-US" sz="1350" u="none" cap="none" strike="noStrike">
                <a:solidFill>
                  <a:srgbClr val="272525"/>
                </a:solidFill>
                <a:latin typeface="Inter"/>
                <a:ea typeface="Inter"/>
                <a:cs typeface="Inter"/>
                <a:sym typeface="Inter"/>
              </a:rPr>
              <a:t>Custom-built visualisations, written directly rather than using a chart library</a:t>
            </a:r>
            <a:endParaRPr b="0" i="0" sz="1350" u="none" cap="none" strike="noStrike">
              <a:solidFill>
                <a:schemeClr val="dk1"/>
              </a:solidFill>
              <a:latin typeface="Calibri"/>
              <a:ea typeface="Calibri"/>
              <a:cs typeface="Calibri"/>
              <a:sym typeface="Calibri"/>
            </a:endParaRPr>
          </a:p>
        </p:txBody>
      </p:sp>
      <p:pic>
        <p:nvPicPr>
          <p:cNvPr id="255" name="Google Shape;255;p20"/>
          <p:cNvPicPr preferRelativeResize="0"/>
          <p:nvPr/>
        </p:nvPicPr>
        <p:blipFill>
          <a:blip r:embed="rId3">
            <a:alphaModFix/>
          </a:blip>
          <a:stretch>
            <a:fillRect/>
          </a:stretch>
        </p:blipFill>
        <p:spPr>
          <a:xfrm>
            <a:off x="10600500" y="6414999"/>
            <a:ext cx="1591187" cy="4430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21"/>
          <p:cNvSpPr/>
          <p:nvPr/>
        </p:nvSpPr>
        <p:spPr>
          <a:xfrm>
            <a:off x="661475" y="532110"/>
            <a:ext cx="10868745" cy="369193"/>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2300"/>
              <a:buFont typeface="Inter"/>
              <a:buNone/>
            </a:pPr>
            <a:r>
              <a:rPr b="1" i="0" lang="en-US" sz="2300" u="none" cap="none" strike="noStrike">
                <a:solidFill>
                  <a:srgbClr val="000000"/>
                </a:solidFill>
                <a:latin typeface="Inter"/>
                <a:ea typeface="Inter"/>
                <a:cs typeface="Inter"/>
                <a:sym typeface="Inter"/>
              </a:rPr>
              <a:t>User Interface Layer: Dashboard &amp; Extension</a:t>
            </a:r>
            <a:endParaRPr b="0" i="0" sz="2300" u="none" cap="none" strike="noStrike">
              <a:solidFill>
                <a:schemeClr val="dk1"/>
              </a:solidFill>
              <a:latin typeface="Calibri"/>
              <a:ea typeface="Calibri"/>
              <a:cs typeface="Calibri"/>
              <a:sym typeface="Calibri"/>
            </a:endParaRPr>
          </a:p>
        </p:txBody>
      </p:sp>
      <p:sp>
        <p:nvSpPr>
          <p:cNvPr id="262" name="Google Shape;262;p21"/>
          <p:cNvSpPr/>
          <p:nvPr/>
        </p:nvSpPr>
        <p:spPr>
          <a:xfrm>
            <a:off x="661475" y="930771"/>
            <a:ext cx="10868745" cy="184547"/>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150"/>
              <a:buFont typeface="Inter"/>
              <a:buNone/>
            </a:pPr>
            <a:r>
              <a:rPr b="1" i="0" lang="en-US" sz="1150" u="none" cap="none" strike="noStrike">
                <a:solidFill>
                  <a:srgbClr val="000000"/>
                </a:solidFill>
                <a:latin typeface="Inter"/>
                <a:ea typeface="Inter"/>
                <a:cs typeface="Inter"/>
                <a:sym typeface="Inter"/>
              </a:rPr>
              <a:t>Arjun Sai N — PES2UG23CS091</a:t>
            </a:r>
            <a:endParaRPr b="0" i="0" sz="1150" u="none" cap="none" strike="noStrike">
              <a:solidFill>
                <a:schemeClr val="dk1"/>
              </a:solidFill>
              <a:latin typeface="Calibri"/>
              <a:ea typeface="Calibri"/>
              <a:cs typeface="Calibri"/>
              <a:sym typeface="Calibri"/>
            </a:endParaRPr>
          </a:p>
        </p:txBody>
      </p:sp>
      <p:sp>
        <p:nvSpPr>
          <p:cNvPr id="263" name="Google Shape;263;p21"/>
          <p:cNvSpPr/>
          <p:nvPr/>
        </p:nvSpPr>
        <p:spPr>
          <a:xfrm>
            <a:off x="661475" y="1255514"/>
            <a:ext cx="10868745" cy="12700"/>
          </a:xfrm>
          <a:prstGeom prst="roundRect">
            <a:avLst>
              <a:gd fmla="val 49999" name="adj"/>
            </a:avLst>
          </a:prstGeom>
          <a:solidFill>
            <a:srgbClr val="272525">
              <a:alpha val="5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21"/>
          <p:cNvSpPr/>
          <p:nvPr/>
        </p:nvSpPr>
        <p:spPr>
          <a:xfrm>
            <a:off x="661475" y="1408410"/>
            <a:ext cx="10868745" cy="221456"/>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350"/>
              <a:buFont typeface="Inter"/>
              <a:buNone/>
            </a:pPr>
            <a:r>
              <a:rPr b="1" i="0" lang="en-US" sz="1350" u="none" cap="none" strike="noStrike">
                <a:solidFill>
                  <a:srgbClr val="000000"/>
                </a:solidFill>
                <a:latin typeface="Inter"/>
                <a:ea typeface="Inter"/>
                <a:cs typeface="Inter"/>
                <a:sym typeface="Inter"/>
              </a:rPr>
              <a:t>FRAMEWORK AND BUILD</a:t>
            </a:r>
            <a:endParaRPr b="0" i="0" sz="1350" u="none" cap="none" strike="noStrike">
              <a:solidFill>
                <a:schemeClr val="dk1"/>
              </a:solidFill>
              <a:latin typeface="Calibri"/>
              <a:ea typeface="Calibri"/>
              <a:cs typeface="Calibri"/>
              <a:sym typeface="Calibri"/>
            </a:endParaRPr>
          </a:p>
        </p:txBody>
      </p:sp>
      <p:graphicFrame>
        <p:nvGraphicFramePr>
          <p:cNvPr id="265" name="Google Shape;265;p21"/>
          <p:cNvGraphicFramePr/>
          <p:nvPr/>
        </p:nvGraphicFramePr>
        <p:xfrm>
          <a:off x="661475" y="1740595"/>
          <a:ext cx="3000000" cy="3000000"/>
        </p:xfrm>
        <a:graphic>
          <a:graphicData uri="http://schemas.openxmlformats.org/drawingml/2006/table">
            <a:tbl>
              <a:tblPr>
                <a:noFill/>
                <a:tableStyleId>{46ECF8E9-5879-42D1-B8A0-3D792A3639C8}</a:tableStyleId>
              </a:tblPr>
              <a:tblGrid>
                <a:gridCol w="5434375"/>
                <a:gridCol w="5434375"/>
              </a:tblGrid>
              <a:tr h="293075">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Tool</a:t>
                      </a:r>
                      <a:endParaRPr sz="1150" u="none" cap="none" strike="noStrike">
                        <a:latin typeface="Inter"/>
                        <a:ea typeface="Inter"/>
                        <a:cs typeface="Inter"/>
                        <a:sym typeface="Inter"/>
                      </a:endParaRPr>
                    </a:p>
                  </a:txBody>
                  <a:tcPr marT="6350" marB="6350" marR="118125" marL="118125"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C0C1D7"/>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Category</a:t>
                      </a:r>
                      <a:endParaRPr sz="1150" u="none" cap="none" strike="noStrike">
                        <a:latin typeface="Inter"/>
                        <a:ea typeface="Inter"/>
                        <a:cs typeface="Inter"/>
                        <a:sym typeface="Inter"/>
                      </a:endParaRPr>
                    </a:p>
                  </a:txBody>
                  <a:tcPr marT="6350" marB="6350" marR="118125" marL="118125"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C0C1D7"/>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r>
              <a:tr h="254775">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React 18</a:t>
                      </a:r>
                      <a:endParaRPr sz="900" u="none" cap="none" strike="noStrike">
                        <a:latin typeface="Inter"/>
                        <a:ea typeface="Inter"/>
                        <a:cs typeface="Inter"/>
                        <a:sym typeface="Inter"/>
                      </a:endParaRPr>
                    </a:p>
                  </a:txBody>
                  <a:tcPr marT="6350" marB="6350" marR="118125" marL="118125" anchor="ctr">
                    <a:lnL cap="flat" cmpd="sng" w="12700">
                      <a:solidFill>
                        <a:srgbClr val="C0C1D7"/>
                      </a:solidFill>
                      <a:prstDash val="solid"/>
                      <a:round/>
                      <a:headEnd len="sm" w="sm" type="none"/>
                      <a:tailEnd len="sm" w="sm" type="none"/>
                    </a:lnL>
                    <a:lnR cap="flat" cmpd="sng" w="12700">
                      <a:solidFill>
                        <a:srgbClr val="F5F5F5"/>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UI framework</a:t>
                      </a:r>
                      <a:endParaRPr sz="900" u="none" cap="none" strike="noStrike">
                        <a:latin typeface="Inter"/>
                        <a:ea typeface="Inter"/>
                        <a:cs typeface="Inter"/>
                        <a:sym typeface="Inter"/>
                      </a:endParaRPr>
                    </a:p>
                  </a:txBody>
                  <a:tcPr marT="6350" marB="6350" marR="118125" marL="118125" anchor="ctr">
                    <a:lnL cap="flat" cmpd="sng" w="12700">
                      <a:solidFill>
                        <a:srgbClr val="F5F5F5"/>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r>
              <a:tr h="254775">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TypeScript</a:t>
                      </a:r>
                      <a:endParaRPr sz="900" u="none" cap="none" strike="noStrike">
                        <a:latin typeface="Inter"/>
                        <a:ea typeface="Inter"/>
                        <a:cs typeface="Inter"/>
                        <a:sym typeface="Inter"/>
                      </a:endParaRPr>
                    </a:p>
                  </a:txBody>
                  <a:tcPr marT="6350" marB="6350" marR="118125" marL="118125"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Type-safe development</a:t>
                      </a:r>
                      <a:endParaRPr sz="900" u="none" cap="none" strike="noStrike">
                        <a:latin typeface="Inter"/>
                        <a:ea typeface="Inter"/>
                        <a:cs typeface="Inter"/>
                        <a:sym typeface="Inter"/>
                      </a:endParaRPr>
                    </a:p>
                  </a:txBody>
                  <a:tcPr marT="6350" marB="6350" marR="118125" marL="118125"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r>
              <a:tr h="254775">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Vite</a:t>
                      </a:r>
                      <a:endParaRPr sz="900" u="none" cap="none" strike="noStrike">
                        <a:latin typeface="Inter"/>
                        <a:ea typeface="Inter"/>
                        <a:cs typeface="Inter"/>
                        <a:sym typeface="Inter"/>
                      </a:endParaRPr>
                    </a:p>
                  </a:txBody>
                  <a:tcPr marT="6350" marB="6350" marR="118125" marL="118125" anchor="ctr">
                    <a:lnL cap="flat" cmpd="sng" w="12700">
                      <a:solidFill>
                        <a:srgbClr val="C0C1D7"/>
                      </a:solidFill>
                      <a:prstDash val="solid"/>
                      <a:round/>
                      <a:headEnd len="sm" w="sm" type="none"/>
                      <a:tailEnd len="sm" w="sm" type="none"/>
                    </a:lnL>
                    <a:lnR cap="flat" cmpd="sng" w="12700">
                      <a:solidFill>
                        <a:srgbClr val="F5F5F5"/>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Build tool and dev server</a:t>
                      </a:r>
                      <a:endParaRPr sz="900" u="none" cap="none" strike="noStrike">
                        <a:latin typeface="Inter"/>
                        <a:ea typeface="Inter"/>
                        <a:cs typeface="Inter"/>
                        <a:sym typeface="Inter"/>
                      </a:endParaRPr>
                    </a:p>
                  </a:txBody>
                  <a:tcPr marT="6350" marB="6350" marR="118125" marL="118125" anchor="ctr">
                    <a:lnL cap="flat" cmpd="sng" w="12700">
                      <a:solidFill>
                        <a:srgbClr val="F5F5F5"/>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r>
              <a:tr h="254775">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Tailwind CSS</a:t>
                      </a:r>
                      <a:endParaRPr sz="900" u="none" cap="none" strike="noStrike">
                        <a:latin typeface="Inter"/>
                        <a:ea typeface="Inter"/>
                        <a:cs typeface="Inter"/>
                        <a:sym typeface="Inter"/>
                      </a:endParaRPr>
                    </a:p>
                  </a:txBody>
                  <a:tcPr marT="6350" marB="6350" marR="118125" marL="118125"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Styling</a:t>
                      </a:r>
                      <a:endParaRPr sz="900" u="none" cap="none" strike="noStrike">
                        <a:latin typeface="Inter"/>
                        <a:ea typeface="Inter"/>
                        <a:cs typeface="Inter"/>
                        <a:sym typeface="Inter"/>
                      </a:endParaRPr>
                    </a:p>
                  </a:txBody>
                  <a:tcPr marT="6350" marB="6350" marR="118125" marL="118125"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r>
              <a:tr h="254775">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PostCSS</a:t>
                      </a:r>
                      <a:endParaRPr sz="900" u="none" cap="none" strike="noStrike">
                        <a:latin typeface="Inter"/>
                        <a:ea typeface="Inter"/>
                        <a:cs typeface="Inter"/>
                        <a:sym typeface="Inter"/>
                      </a:endParaRPr>
                    </a:p>
                  </a:txBody>
                  <a:tcPr marT="6350" marB="6350" marR="118125" marL="118125" anchor="ctr">
                    <a:lnL cap="flat" cmpd="sng" w="12700">
                      <a:solidFill>
                        <a:srgbClr val="C0C1D7"/>
                      </a:solidFill>
                      <a:prstDash val="solid"/>
                      <a:round/>
                      <a:headEnd len="sm" w="sm" type="none"/>
                      <a:tailEnd len="sm" w="sm" type="none"/>
                    </a:lnL>
                    <a:lnR cap="flat" cmpd="sng" w="12700">
                      <a:solidFill>
                        <a:srgbClr val="F5F5F5"/>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CSS processing</a:t>
                      </a:r>
                      <a:endParaRPr sz="900" u="none" cap="none" strike="noStrike">
                        <a:latin typeface="Inter"/>
                        <a:ea typeface="Inter"/>
                        <a:cs typeface="Inter"/>
                        <a:sym typeface="Inter"/>
                      </a:endParaRPr>
                    </a:p>
                  </a:txBody>
                  <a:tcPr marT="6350" marB="6350" marR="118125" marL="118125" anchor="ctr">
                    <a:lnL cap="flat" cmpd="sng" w="12700">
                      <a:solidFill>
                        <a:srgbClr val="F5F5F5"/>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r>
              <a:tr h="254775">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Autoprefixer</a:t>
                      </a:r>
                      <a:endParaRPr sz="900" u="none" cap="none" strike="noStrike">
                        <a:latin typeface="Inter"/>
                        <a:ea typeface="Inter"/>
                        <a:cs typeface="Inter"/>
                        <a:sym typeface="Inter"/>
                      </a:endParaRPr>
                    </a:p>
                  </a:txBody>
                  <a:tcPr marT="6350" marB="6350" marR="118125" marL="118125"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C0C1D7"/>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CSS processing</a:t>
                      </a:r>
                      <a:endParaRPr sz="900" u="none" cap="none" strike="noStrike">
                        <a:latin typeface="Inter"/>
                        <a:ea typeface="Inter"/>
                        <a:cs typeface="Inter"/>
                        <a:sym typeface="Inter"/>
                      </a:endParaRPr>
                    </a:p>
                  </a:txBody>
                  <a:tcPr marT="6350" marB="6350" marR="118125" marL="118125"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C0C1D7"/>
                      </a:solidFill>
                      <a:prstDash val="solid"/>
                      <a:round/>
                      <a:headEnd len="sm" w="sm" type="none"/>
                      <a:tailEnd len="sm" w="sm" type="none"/>
                    </a:lnB>
                    <a:solidFill>
                      <a:srgbClr val="FFFFFF">
                        <a:alpha val="3922"/>
                      </a:srgbClr>
                    </a:solidFill>
                  </a:tcPr>
                </a:tc>
              </a:tr>
            </a:tbl>
          </a:graphicData>
        </a:graphic>
      </p:graphicFrame>
      <p:sp>
        <p:nvSpPr>
          <p:cNvPr id="266" name="Google Shape;266;p21"/>
          <p:cNvSpPr/>
          <p:nvPr/>
        </p:nvSpPr>
        <p:spPr>
          <a:xfrm>
            <a:off x="661475" y="3922514"/>
            <a:ext cx="10868745" cy="221456"/>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350"/>
              <a:buFont typeface="Inter"/>
              <a:buNone/>
            </a:pPr>
            <a:r>
              <a:rPr b="1" i="0" lang="en-US" sz="1350" u="none" cap="none" strike="noStrike">
                <a:solidFill>
                  <a:srgbClr val="000000"/>
                </a:solidFill>
                <a:latin typeface="Inter"/>
                <a:ea typeface="Inter"/>
                <a:cs typeface="Inter"/>
                <a:sym typeface="Inter"/>
              </a:rPr>
              <a:t>LIBRARIES</a:t>
            </a:r>
            <a:endParaRPr b="0" i="0" sz="1350" u="none" cap="none" strike="noStrike">
              <a:solidFill>
                <a:schemeClr val="dk1"/>
              </a:solidFill>
              <a:latin typeface="Calibri"/>
              <a:ea typeface="Calibri"/>
              <a:cs typeface="Calibri"/>
              <a:sym typeface="Calibri"/>
            </a:endParaRPr>
          </a:p>
        </p:txBody>
      </p:sp>
      <p:graphicFrame>
        <p:nvGraphicFramePr>
          <p:cNvPr id="267" name="Google Shape;267;p21"/>
          <p:cNvGraphicFramePr/>
          <p:nvPr/>
        </p:nvGraphicFramePr>
        <p:xfrm>
          <a:off x="661475" y="4254698"/>
          <a:ext cx="3000000" cy="3000000"/>
        </p:xfrm>
        <a:graphic>
          <a:graphicData uri="http://schemas.openxmlformats.org/drawingml/2006/table">
            <a:tbl>
              <a:tblPr>
                <a:noFill/>
                <a:tableStyleId>{46ECF8E9-5879-42D1-B8A0-3D792A3639C8}</a:tableStyleId>
              </a:tblPr>
              <a:tblGrid>
                <a:gridCol w="5434375"/>
                <a:gridCol w="5434375"/>
              </a:tblGrid>
              <a:tr h="293075">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Tool</a:t>
                      </a:r>
                      <a:endParaRPr sz="1150" u="none" cap="none" strike="noStrike">
                        <a:latin typeface="Inter"/>
                        <a:ea typeface="Inter"/>
                        <a:cs typeface="Inter"/>
                        <a:sym typeface="Inter"/>
                      </a:endParaRPr>
                    </a:p>
                  </a:txBody>
                  <a:tcPr marT="6350" marB="6350" marR="118125" marL="118125"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C0C1D7"/>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1150"/>
                        <a:buFont typeface="Inter"/>
                        <a:buNone/>
                      </a:pPr>
                      <a:r>
                        <a:rPr lang="en-US" sz="1150" u="none" cap="none" strike="noStrike">
                          <a:solidFill>
                            <a:srgbClr val="272525"/>
                          </a:solidFill>
                          <a:latin typeface="Inter"/>
                          <a:ea typeface="Inter"/>
                          <a:cs typeface="Inter"/>
                          <a:sym typeface="Inter"/>
                        </a:rPr>
                        <a:t>Category</a:t>
                      </a:r>
                      <a:endParaRPr sz="1150" u="none" cap="none" strike="noStrike">
                        <a:latin typeface="Inter"/>
                        <a:ea typeface="Inter"/>
                        <a:cs typeface="Inter"/>
                        <a:sym typeface="Inter"/>
                      </a:endParaRPr>
                    </a:p>
                  </a:txBody>
                  <a:tcPr marT="6350" marB="6350" marR="118125" marL="118125"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C0C1D7"/>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r>
              <a:tr h="254775">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React Router</a:t>
                      </a:r>
                      <a:endParaRPr sz="900" u="none" cap="none" strike="noStrike">
                        <a:latin typeface="Inter"/>
                        <a:ea typeface="Inter"/>
                        <a:cs typeface="Inter"/>
                        <a:sym typeface="Inter"/>
                      </a:endParaRPr>
                    </a:p>
                  </a:txBody>
                  <a:tcPr marT="6350" marB="6350" marR="118125" marL="118125" anchor="ctr">
                    <a:lnL cap="flat" cmpd="sng" w="12700">
                      <a:solidFill>
                        <a:srgbClr val="C0C1D7"/>
                      </a:solidFill>
                      <a:prstDash val="solid"/>
                      <a:round/>
                      <a:headEnd len="sm" w="sm" type="none"/>
                      <a:tailEnd len="sm" w="sm" type="none"/>
                    </a:lnL>
                    <a:lnR cap="flat" cmpd="sng" w="12700">
                      <a:solidFill>
                        <a:srgbClr val="F5F5F5"/>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Page navigation</a:t>
                      </a:r>
                      <a:endParaRPr sz="900" u="none" cap="none" strike="noStrike">
                        <a:latin typeface="Inter"/>
                        <a:ea typeface="Inter"/>
                        <a:cs typeface="Inter"/>
                        <a:sym typeface="Inter"/>
                      </a:endParaRPr>
                    </a:p>
                  </a:txBody>
                  <a:tcPr marT="6350" marB="6350" marR="118125" marL="118125" anchor="ctr">
                    <a:lnL cap="flat" cmpd="sng" w="12700">
                      <a:solidFill>
                        <a:srgbClr val="F5F5F5"/>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r>
              <a:tr h="254775">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Framer Motion</a:t>
                      </a:r>
                      <a:endParaRPr sz="900" u="none" cap="none" strike="noStrike">
                        <a:latin typeface="Inter"/>
                        <a:ea typeface="Inter"/>
                        <a:cs typeface="Inter"/>
                        <a:sym typeface="Inter"/>
                      </a:endParaRPr>
                    </a:p>
                  </a:txBody>
                  <a:tcPr marT="6350" marB="6350" marR="118125" marL="118125"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Interface animation</a:t>
                      </a:r>
                      <a:endParaRPr sz="900" u="none" cap="none" strike="noStrike">
                        <a:latin typeface="Inter"/>
                        <a:ea typeface="Inter"/>
                        <a:cs typeface="Inter"/>
                        <a:sym typeface="Inter"/>
                      </a:endParaRPr>
                    </a:p>
                  </a:txBody>
                  <a:tcPr marT="6350" marB="6350" marR="118125" marL="118125"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r>
              <a:tr h="254775">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GSAP</a:t>
                      </a:r>
                      <a:endParaRPr sz="900" u="none" cap="none" strike="noStrike">
                        <a:latin typeface="Inter"/>
                        <a:ea typeface="Inter"/>
                        <a:cs typeface="Inter"/>
                        <a:sym typeface="Inter"/>
                      </a:endParaRPr>
                    </a:p>
                  </a:txBody>
                  <a:tcPr marT="6350" marB="6350" marR="118125" marL="118125" anchor="ctr">
                    <a:lnL cap="flat" cmpd="sng" w="12700">
                      <a:solidFill>
                        <a:srgbClr val="C0C1D7"/>
                      </a:solidFill>
                      <a:prstDash val="solid"/>
                      <a:round/>
                      <a:headEnd len="sm" w="sm" type="none"/>
                      <a:tailEnd len="sm" w="sm" type="none"/>
                    </a:lnL>
                    <a:lnR cap="flat" cmpd="sng" w="12700">
                      <a:solidFill>
                        <a:srgbClr val="F5F5F5"/>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Animation timelines</a:t>
                      </a:r>
                      <a:endParaRPr sz="900" u="none" cap="none" strike="noStrike">
                        <a:latin typeface="Inter"/>
                        <a:ea typeface="Inter"/>
                        <a:cs typeface="Inter"/>
                        <a:sym typeface="Inter"/>
                      </a:endParaRPr>
                    </a:p>
                  </a:txBody>
                  <a:tcPr marT="6350" marB="6350" marR="118125" marL="118125" anchor="ctr">
                    <a:lnL cap="flat" cmpd="sng" w="12700">
                      <a:solidFill>
                        <a:srgbClr val="F5F5F5"/>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r>
              <a:tr h="254775">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Lenis</a:t>
                      </a:r>
                      <a:endParaRPr sz="900" u="none" cap="none" strike="noStrike">
                        <a:latin typeface="Inter"/>
                        <a:ea typeface="Inter"/>
                        <a:cs typeface="Inter"/>
                        <a:sym typeface="Inter"/>
                      </a:endParaRPr>
                    </a:p>
                  </a:txBody>
                  <a:tcPr marT="6350" marB="6350" marR="118125" marL="118125"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Smooth scrolling</a:t>
                      </a:r>
                      <a:endParaRPr sz="900" u="none" cap="none" strike="noStrike">
                        <a:latin typeface="Inter"/>
                        <a:ea typeface="Inter"/>
                        <a:cs typeface="Inter"/>
                        <a:sym typeface="Inter"/>
                      </a:endParaRPr>
                    </a:p>
                  </a:txBody>
                  <a:tcPr marT="6350" marB="6350" marR="118125" marL="118125"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5F5F5"/>
                      </a:solidFill>
                      <a:prstDash val="solid"/>
                      <a:round/>
                      <a:headEnd len="sm" w="sm" type="none"/>
                      <a:tailEnd len="sm" w="sm" type="none"/>
                    </a:lnB>
                    <a:solidFill>
                      <a:srgbClr val="FFFFFF">
                        <a:alpha val="3922"/>
                      </a:srgbClr>
                    </a:solidFill>
                  </a:tcPr>
                </a:tc>
              </a:tr>
              <a:tr h="254775">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Lucide React</a:t>
                      </a:r>
                      <a:endParaRPr sz="900" u="none" cap="none" strike="noStrike">
                        <a:latin typeface="Inter"/>
                        <a:ea typeface="Inter"/>
                        <a:cs typeface="Inter"/>
                        <a:sym typeface="Inter"/>
                      </a:endParaRPr>
                    </a:p>
                  </a:txBody>
                  <a:tcPr marT="6350" marB="6350" marR="118125" marL="118125" anchor="ctr">
                    <a:lnL cap="flat" cmpd="sng" w="12700">
                      <a:solidFill>
                        <a:srgbClr val="C0C1D7"/>
                      </a:solidFill>
                      <a:prstDash val="solid"/>
                      <a:round/>
                      <a:headEnd len="sm" w="sm" type="none"/>
                      <a:tailEnd len="sm" w="sm" type="none"/>
                    </a:lnL>
                    <a:lnR cap="flat" cmpd="sng" w="12700">
                      <a:solidFill>
                        <a:srgbClr val="F5F5F5"/>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Icon set</a:t>
                      </a:r>
                      <a:endParaRPr sz="900" u="none" cap="none" strike="noStrike">
                        <a:latin typeface="Inter"/>
                        <a:ea typeface="Inter"/>
                        <a:cs typeface="Inter"/>
                        <a:sym typeface="Inter"/>
                      </a:endParaRPr>
                    </a:p>
                  </a:txBody>
                  <a:tcPr marT="6350" marB="6350" marR="118125" marL="118125" anchor="ctr">
                    <a:lnL cap="flat" cmpd="sng" w="12700">
                      <a:solidFill>
                        <a:srgbClr val="F5F5F5"/>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5F5F5"/>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0000">
                        <a:alpha val="3922"/>
                      </a:srgbClr>
                    </a:solidFill>
                  </a:tcPr>
                </a:tc>
              </a:tr>
              <a:tr h="254775">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Fontsource</a:t>
                      </a:r>
                      <a:endParaRPr sz="900" u="none" cap="none" strike="noStrike">
                        <a:latin typeface="Inter"/>
                        <a:ea typeface="Inter"/>
                        <a:cs typeface="Inter"/>
                        <a:sym typeface="Inter"/>
                      </a:endParaRPr>
                    </a:p>
                  </a:txBody>
                  <a:tcPr marT="6350" marB="6350" marR="118125" marL="118125" anchor="ctr">
                    <a:lnL cap="flat" cmpd="sng" w="12700">
                      <a:solidFill>
                        <a:srgbClr val="C0C1D7"/>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C0C1D7"/>
                      </a:solidFill>
                      <a:prstDash val="solid"/>
                      <a:round/>
                      <a:headEnd len="sm" w="sm" type="none"/>
                      <a:tailEnd len="sm" w="sm" type="none"/>
                    </a:lnB>
                    <a:solidFill>
                      <a:srgbClr val="FFFFFF">
                        <a:alpha val="3922"/>
                      </a:srgbClr>
                    </a:solidFill>
                  </a:tcPr>
                </a:tc>
                <a:tc>
                  <a:txBody>
                    <a:bodyPr/>
                    <a:lstStyle/>
                    <a:p>
                      <a:pPr indent="0" lvl="0" marL="0" marR="0" rtl="0" algn="l">
                        <a:spcBef>
                          <a:spcPts val="0"/>
                        </a:spcBef>
                        <a:spcAft>
                          <a:spcPts val="0"/>
                        </a:spcAft>
                        <a:buClr>
                          <a:srgbClr val="272525"/>
                        </a:buClr>
                        <a:buSzPts val="900"/>
                        <a:buFont typeface="Inter"/>
                        <a:buNone/>
                      </a:pPr>
                      <a:r>
                        <a:rPr lang="en-US" sz="900" u="none" cap="none" strike="noStrike">
                          <a:solidFill>
                            <a:srgbClr val="272525"/>
                          </a:solidFill>
                          <a:latin typeface="Inter"/>
                          <a:ea typeface="Inter"/>
                          <a:cs typeface="Inter"/>
                          <a:sym typeface="Inter"/>
                        </a:rPr>
                        <a:t>Locally bundled fonts, no CDN</a:t>
                      </a:r>
                      <a:endParaRPr sz="900" u="none" cap="none" strike="noStrike">
                        <a:latin typeface="Inter"/>
                        <a:ea typeface="Inter"/>
                        <a:cs typeface="Inter"/>
                        <a:sym typeface="Inter"/>
                      </a:endParaRPr>
                    </a:p>
                  </a:txBody>
                  <a:tcPr marT="6350" marB="6350" marR="118125" marL="118125" anchor="ctr">
                    <a:lnL cap="flat" cmpd="sng" w="12700">
                      <a:solidFill>
                        <a:srgbClr val="FFFFFF"/>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C0C1D7"/>
                      </a:solidFill>
                      <a:prstDash val="solid"/>
                      <a:round/>
                      <a:headEnd len="sm" w="sm" type="none"/>
                      <a:tailEnd len="sm" w="sm" type="none"/>
                    </a:lnB>
                    <a:solidFill>
                      <a:srgbClr val="FFFFFF">
                        <a:alpha val="3922"/>
                      </a:srgbClr>
                    </a:solidFill>
                  </a:tcPr>
                </a:tc>
              </a:tr>
            </a:tbl>
          </a:graphicData>
        </a:graphic>
      </p:graphicFrame>
      <p:pic>
        <p:nvPicPr>
          <p:cNvPr id="268" name="Google Shape;268;p21"/>
          <p:cNvPicPr preferRelativeResize="0"/>
          <p:nvPr/>
        </p:nvPicPr>
        <p:blipFill>
          <a:blip r:embed="rId3">
            <a:alphaModFix/>
          </a:blip>
          <a:stretch>
            <a:fillRect/>
          </a:stretch>
        </p:blipFill>
        <p:spPr>
          <a:xfrm>
            <a:off x="10515275" y="6324898"/>
            <a:ext cx="1676400" cy="46672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22"/>
          <p:cNvSpPr/>
          <p:nvPr/>
        </p:nvSpPr>
        <p:spPr>
          <a:xfrm>
            <a:off x="661475" y="1562497"/>
            <a:ext cx="10868745" cy="590649"/>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3700"/>
              <a:buFont typeface="Inter"/>
              <a:buNone/>
            </a:pPr>
            <a:r>
              <a:rPr b="1" i="0" lang="en-US" sz="3700" u="none" cap="none" strike="noStrike">
                <a:solidFill>
                  <a:srgbClr val="000000"/>
                </a:solidFill>
                <a:latin typeface="Inter"/>
                <a:ea typeface="Inter"/>
                <a:cs typeface="Inter"/>
                <a:sym typeface="Inter"/>
              </a:rPr>
              <a:t>Individual Contributions</a:t>
            </a:r>
            <a:endParaRPr b="0" i="0" sz="3700" u="none" cap="none" strike="noStrike">
              <a:solidFill>
                <a:schemeClr val="dk1"/>
              </a:solidFill>
              <a:latin typeface="Calibri"/>
              <a:ea typeface="Calibri"/>
              <a:cs typeface="Calibri"/>
              <a:sym typeface="Calibri"/>
            </a:endParaRPr>
          </a:p>
        </p:txBody>
      </p:sp>
      <p:graphicFrame>
        <p:nvGraphicFramePr>
          <p:cNvPr id="275" name="Google Shape;275;p22"/>
          <p:cNvGraphicFramePr/>
          <p:nvPr/>
        </p:nvGraphicFramePr>
        <p:xfrm>
          <a:off x="661475" y="2531170"/>
          <a:ext cx="3000000" cy="3000000"/>
        </p:xfrm>
        <a:graphic>
          <a:graphicData uri="http://schemas.openxmlformats.org/drawingml/2006/table">
            <a:tbl>
              <a:tblPr>
                <a:noFill/>
                <a:tableStyleId>{46ECF8E9-5879-42D1-B8A0-3D792A3639C8}</a:tableStyleId>
              </a:tblPr>
              <a:tblGrid>
                <a:gridCol w="5434375"/>
                <a:gridCol w="5434375"/>
              </a:tblGrid>
              <a:tr h="830050">
                <a:tc>
                  <a:txBody>
                    <a:bodyPr/>
                    <a:lstStyle/>
                    <a:p>
                      <a:pPr indent="0" lvl="0" marL="0" marR="0" rtl="0" algn="l">
                        <a:spcBef>
                          <a:spcPts val="0"/>
                        </a:spcBef>
                        <a:spcAft>
                          <a:spcPts val="0"/>
                        </a:spcAft>
                        <a:buClr>
                          <a:srgbClr val="272525"/>
                        </a:buClr>
                        <a:buSzPts val="1850"/>
                        <a:buFont typeface="Inter"/>
                        <a:buNone/>
                      </a:pPr>
                      <a:r>
                        <a:rPr b="1" lang="en-US" sz="1850" u="none" cap="none" strike="noStrike">
                          <a:solidFill>
                            <a:srgbClr val="272525"/>
                          </a:solidFill>
                          <a:latin typeface="Inter"/>
                          <a:ea typeface="Inter"/>
                          <a:cs typeface="Inter"/>
                          <a:sym typeface="Inter"/>
                        </a:rPr>
                        <a:t>MRIGANK JAIN — PES2UG23CS352</a:t>
                      </a:r>
                      <a:endParaRPr sz="1850" u="none" cap="none" strike="noStrike">
                        <a:latin typeface="Inter"/>
                        <a:ea typeface="Inter"/>
                        <a:cs typeface="Inter"/>
                        <a:sym typeface="Inter"/>
                      </a:endParaRPr>
                    </a:p>
                  </a:txBody>
                  <a:tcPr marT="6350" marB="6350" marR="189025" marL="189025" anchor="ctr">
                    <a:lnL cap="flat" cmpd="sng" w="12700">
                      <a:solidFill>
                        <a:srgbClr val="C0C1D7"/>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C0C1D7"/>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272525"/>
                        </a:buClr>
                        <a:buSzPts val="1850"/>
                        <a:buFont typeface="Inter"/>
                        <a:buNone/>
                      </a:pPr>
                      <a:r>
                        <a:rPr b="1" lang="en-US" sz="1850" u="none" cap="none" strike="noStrike">
                          <a:solidFill>
                            <a:srgbClr val="272525"/>
                          </a:solidFill>
                          <a:latin typeface="Inter"/>
                          <a:ea typeface="Inter"/>
                          <a:cs typeface="Inter"/>
                          <a:sym typeface="Inter"/>
                        </a:rPr>
                        <a:t>MOHAMMED MIR FAZLAI ALI — PES2UG23CS346</a:t>
                      </a:r>
                      <a:endParaRPr sz="1850" u="none" cap="none" strike="noStrike">
                        <a:latin typeface="Inter"/>
                        <a:ea typeface="Inter"/>
                        <a:cs typeface="Inter"/>
                        <a:sym typeface="Inter"/>
                      </a:endParaRPr>
                    </a:p>
                  </a:txBody>
                  <a:tcPr marT="6350" marB="6350" marR="189025" marL="189025" anchor="ctr">
                    <a:lnL cap="flat" cmpd="sng" w="12700">
                      <a:solidFill>
                        <a:srgbClr val="C0C1D7"/>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C0C1D7"/>
                      </a:solidFill>
                      <a:prstDash val="solid"/>
                      <a:round/>
                      <a:headEnd len="sm" w="sm" type="none"/>
                      <a:tailEnd len="sm" w="sm" type="none"/>
                    </a:lnT>
                    <a:lnB cap="flat" cmpd="sng" w="12700">
                      <a:solidFill>
                        <a:srgbClr val="FFFFFF"/>
                      </a:solidFill>
                      <a:prstDash val="solid"/>
                      <a:round/>
                      <a:headEnd len="sm" w="sm" type="none"/>
                      <a:tailEnd len="sm" w="sm" type="none"/>
                    </a:lnB>
                  </a:tcPr>
                </a:tc>
              </a:tr>
              <a:tr h="1828800">
                <a:tc>
                  <a:txBody>
                    <a:bodyPr/>
                    <a:lstStyle/>
                    <a:p>
                      <a:pPr indent="0" lvl="0" marL="0" marR="0" rtl="0" algn="l">
                        <a:spcBef>
                          <a:spcPts val="0"/>
                        </a:spcBef>
                        <a:spcAft>
                          <a:spcPts val="0"/>
                        </a:spcAft>
                        <a:buClr>
                          <a:srgbClr val="272525"/>
                        </a:buClr>
                        <a:buSzPts val="1450"/>
                        <a:buFont typeface="Inter"/>
                        <a:buNone/>
                      </a:pPr>
                      <a:r>
                        <a:rPr lang="en-US" sz="1450" u="none" cap="none" strike="noStrike">
                          <a:solidFill>
                            <a:srgbClr val="272525"/>
                          </a:solidFill>
                          <a:latin typeface="Inter"/>
                          <a:ea typeface="Inter"/>
                          <a:cs typeface="Inter"/>
                          <a:sym typeface="Inter"/>
                        </a:rPr>
                        <a:t>FastAPI and endpoint consistency</a:t>
                      </a:r>
                      <a:endParaRPr sz="1450" u="none" cap="none" strike="noStrike">
                        <a:latin typeface="Inter"/>
                        <a:ea typeface="Inter"/>
                        <a:cs typeface="Inter"/>
                        <a:sym typeface="Inter"/>
                      </a:endParaRPr>
                    </a:p>
                    <a:p>
                      <a:pPr indent="0" lvl="0" marL="0" marR="0" rtl="0" algn="l">
                        <a:spcBef>
                          <a:spcPts val="0"/>
                        </a:spcBef>
                        <a:spcAft>
                          <a:spcPts val="0"/>
                        </a:spcAft>
                        <a:buClr>
                          <a:srgbClr val="272525"/>
                        </a:buClr>
                        <a:buSzPts val="1450"/>
                        <a:buFont typeface="Inter"/>
                        <a:buNone/>
                      </a:pPr>
                      <a:r>
                        <a:rPr lang="en-US" sz="1450" u="none" cap="none" strike="noStrike">
                          <a:solidFill>
                            <a:srgbClr val="272525"/>
                          </a:solidFill>
                          <a:latin typeface="Inter"/>
                          <a:ea typeface="Inter"/>
                          <a:cs typeface="Inter"/>
                          <a:sym typeface="Inter"/>
                        </a:rPr>
                        <a:t>Canonical storage workflow</a:t>
                      </a:r>
                      <a:endParaRPr sz="1450" u="none" cap="none" strike="noStrike">
                        <a:latin typeface="Inter"/>
                        <a:ea typeface="Inter"/>
                        <a:cs typeface="Inter"/>
                        <a:sym typeface="Inter"/>
                      </a:endParaRPr>
                    </a:p>
                    <a:p>
                      <a:pPr indent="0" lvl="0" marL="0" marR="0" rtl="0" algn="l">
                        <a:spcBef>
                          <a:spcPts val="0"/>
                        </a:spcBef>
                        <a:spcAft>
                          <a:spcPts val="0"/>
                        </a:spcAft>
                        <a:buClr>
                          <a:srgbClr val="272525"/>
                        </a:buClr>
                        <a:buSzPts val="1450"/>
                        <a:buFont typeface="Inter"/>
                        <a:buNone/>
                      </a:pPr>
                      <a:r>
                        <a:rPr lang="en-US" sz="1450" u="none" cap="none" strike="noStrike">
                          <a:solidFill>
                            <a:srgbClr val="272525"/>
                          </a:solidFill>
                          <a:latin typeface="Inter"/>
                          <a:ea typeface="Inter"/>
                          <a:cs typeface="Inter"/>
                          <a:sym typeface="Inter"/>
                        </a:rPr>
                        <a:t>Source metadata and engagement handling</a:t>
                      </a:r>
                      <a:endParaRPr sz="1450" u="none" cap="none" strike="noStrike">
                        <a:latin typeface="Inter"/>
                        <a:ea typeface="Inter"/>
                        <a:cs typeface="Inter"/>
                        <a:sym typeface="Inter"/>
                      </a:endParaRPr>
                    </a:p>
                    <a:p>
                      <a:pPr indent="0" lvl="0" marL="0" marR="0" rtl="0" algn="l">
                        <a:spcBef>
                          <a:spcPts val="0"/>
                        </a:spcBef>
                        <a:spcAft>
                          <a:spcPts val="0"/>
                        </a:spcAft>
                        <a:buClr>
                          <a:srgbClr val="272525"/>
                        </a:buClr>
                        <a:buSzPts val="1450"/>
                        <a:buFont typeface="Inter"/>
                        <a:buNone/>
                      </a:pPr>
                      <a:r>
                        <a:rPr lang="en-US" sz="1450" u="none" cap="none" strike="noStrike">
                          <a:solidFill>
                            <a:srgbClr val="272525"/>
                          </a:solidFill>
                          <a:latin typeface="Inter"/>
                          <a:ea typeface="Inter"/>
                          <a:cs typeface="Inter"/>
                          <a:sym typeface="Inter"/>
                        </a:rPr>
                        <a:t>Health/operational scripts</a:t>
                      </a:r>
                      <a:endParaRPr sz="1450" u="none" cap="none" strike="noStrike">
                        <a:latin typeface="Inter"/>
                        <a:ea typeface="Inter"/>
                        <a:cs typeface="Inter"/>
                        <a:sym typeface="Inter"/>
                      </a:endParaRPr>
                    </a:p>
                    <a:p>
                      <a:pPr indent="0" lvl="0" marL="0" marR="0" rtl="0" algn="l">
                        <a:spcBef>
                          <a:spcPts val="0"/>
                        </a:spcBef>
                        <a:spcAft>
                          <a:spcPts val="0"/>
                        </a:spcAft>
                        <a:buClr>
                          <a:srgbClr val="272525"/>
                        </a:buClr>
                        <a:buSzPts val="1450"/>
                        <a:buFont typeface="Inter"/>
                        <a:buNone/>
                      </a:pPr>
                      <a:r>
                        <a:rPr lang="en-US" sz="1450" u="none" cap="none" strike="noStrike">
                          <a:solidFill>
                            <a:srgbClr val="272525"/>
                          </a:solidFill>
                          <a:latin typeface="Inter"/>
                          <a:ea typeface="Inter"/>
                          <a:cs typeface="Inter"/>
                          <a:sym typeface="Inter"/>
                        </a:rPr>
                        <a:t>Connector validation coordination</a:t>
                      </a:r>
                      <a:endParaRPr sz="1450" u="none" cap="none" strike="noStrike">
                        <a:latin typeface="Inter"/>
                        <a:ea typeface="Inter"/>
                        <a:cs typeface="Inter"/>
                        <a:sym typeface="Inter"/>
                      </a:endParaRPr>
                    </a:p>
                  </a:txBody>
                  <a:tcPr marT="6350" marB="6350" marR="189025" marL="189025" anchor="ctr">
                    <a:lnL cap="flat" cmpd="sng" w="12700">
                      <a:solidFill>
                        <a:srgbClr val="C0C1D7"/>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C0C1D7"/>
                      </a:solidFill>
                      <a:prstDash val="solid"/>
                      <a:round/>
                      <a:headEnd len="sm" w="sm" type="none"/>
                      <a:tailEnd len="sm" w="sm" type="none"/>
                    </a:lnB>
                  </a:tcPr>
                </a:tc>
                <a:tc>
                  <a:txBody>
                    <a:bodyPr/>
                    <a:lstStyle/>
                    <a:p>
                      <a:pPr indent="0" lvl="0" marL="0" marR="0" rtl="0" algn="l">
                        <a:spcBef>
                          <a:spcPts val="0"/>
                        </a:spcBef>
                        <a:spcAft>
                          <a:spcPts val="0"/>
                        </a:spcAft>
                        <a:buClr>
                          <a:srgbClr val="272525"/>
                        </a:buClr>
                        <a:buSzPts val="1450"/>
                        <a:buFont typeface="Inter"/>
                        <a:buNone/>
                      </a:pPr>
                      <a:r>
                        <a:rPr lang="en-US" sz="1450" u="none" cap="none" strike="noStrike">
                          <a:solidFill>
                            <a:srgbClr val="272525"/>
                          </a:solidFill>
                          <a:latin typeface="Inter"/>
                          <a:ea typeface="Inter"/>
                          <a:cs typeface="Inter"/>
                          <a:sym typeface="Inter"/>
                        </a:rPr>
                        <a:t>Source-specific context assembly</a:t>
                      </a:r>
                      <a:endParaRPr sz="1450" u="none" cap="none" strike="noStrike">
                        <a:latin typeface="Inter"/>
                        <a:ea typeface="Inter"/>
                        <a:cs typeface="Inter"/>
                        <a:sym typeface="Inter"/>
                      </a:endParaRPr>
                    </a:p>
                    <a:p>
                      <a:pPr indent="0" lvl="0" marL="0" marR="0" rtl="0" algn="l">
                        <a:spcBef>
                          <a:spcPts val="0"/>
                        </a:spcBef>
                        <a:spcAft>
                          <a:spcPts val="0"/>
                        </a:spcAft>
                        <a:buClr>
                          <a:srgbClr val="272525"/>
                        </a:buClr>
                        <a:buSzPts val="1450"/>
                        <a:buFont typeface="Inter"/>
                        <a:buNone/>
                      </a:pPr>
                      <a:r>
                        <a:rPr lang="en-US" sz="1450" u="none" cap="none" strike="noStrike">
                          <a:solidFill>
                            <a:srgbClr val="272525"/>
                          </a:solidFill>
                          <a:latin typeface="Inter"/>
                          <a:ea typeface="Inter"/>
                          <a:cs typeface="Inter"/>
                          <a:sym typeface="Inter"/>
                        </a:rPr>
                        <a:t>Text cleaning and embeddable text</a:t>
                      </a:r>
                      <a:endParaRPr sz="1450" u="none" cap="none" strike="noStrike">
                        <a:latin typeface="Inter"/>
                        <a:ea typeface="Inter"/>
                        <a:cs typeface="Inter"/>
                        <a:sym typeface="Inter"/>
                      </a:endParaRPr>
                    </a:p>
                    <a:p>
                      <a:pPr indent="0" lvl="0" marL="0" marR="0" rtl="0" algn="l">
                        <a:spcBef>
                          <a:spcPts val="0"/>
                        </a:spcBef>
                        <a:spcAft>
                          <a:spcPts val="0"/>
                        </a:spcAft>
                        <a:buClr>
                          <a:srgbClr val="272525"/>
                        </a:buClr>
                        <a:buSzPts val="1450"/>
                        <a:buFont typeface="Inter"/>
                        <a:buNone/>
                      </a:pPr>
                      <a:r>
                        <a:rPr lang="en-US" sz="1450" u="none" cap="none" strike="noStrike">
                          <a:solidFill>
                            <a:srgbClr val="272525"/>
                          </a:solidFill>
                          <a:latin typeface="Inter"/>
                          <a:ea typeface="Inter"/>
                          <a:cs typeface="Inter"/>
                          <a:sym typeface="Inter"/>
                        </a:rPr>
                        <a:t>Embedding generation</a:t>
                      </a:r>
                      <a:endParaRPr sz="1450" u="none" cap="none" strike="noStrike">
                        <a:latin typeface="Inter"/>
                        <a:ea typeface="Inter"/>
                        <a:cs typeface="Inter"/>
                        <a:sym typeface="Inter"/>
                      </a:endParaRPr>
                    </a:p>
                    <a:p>
                      <a:pPr indent="0" lvl="0" marL="0" marR="0" rtl="0" algn="l">
                        <a:spcBef>
                          <a:spcPts val="0"/>
                        </a:spcBef>
                        <a:spcAft>
                          <a:spcPts val="0"/>
                        </a:spcAft>
                        <a:buClr>
                          <a:srgbClr val="272525"/>
                        </a:buClr>
                        <a:buSzPts val="1450"/>
                        <a:buFont typeface="Inter"/>
                        <a:buNone/>
                      </a:pPr>
                      <a:r>
                        <a:rPr lang="en-US" sz="1450" u="none" cap="none" strike="noStrike">
                          <a:solidFill>
                            <a:srgbClr val="272525"/>
                          </a:solidFill>
                          <a:latin typeface="Inter"/>
                          <a:ea typeface="Inter"/>
                          <a:cs typeface="Inter"/>
                          <a:sym typeface="Inter"/>
                        </a:rPr>
                        <a:t>FAISS lifecycle</a:t>
                      </a:r>
                      <a:endParaRPr sz="1450" u="none" cap="none" strike="noStrike">
                        <a:latin typeface="Inter"/>
                        <a:ea typeface="Inter"/>
                        <a:cs typeface="Inter"/>
                        <a:sym typeface="Inter"/>
                      </a:endParaRPr>
                    </a:p>
                    <a:p>
                      <a:pPr indent="0" lvl="0" marL="0" marR="0" rtl="0" algn="l">
                        <a:spcBef>
                          <a:spcPts val="0"/>
                        </a:spcBef>
                        <a:spcAft>
                          <a:spcPts val="0"/>
                        </a:spcAft>
                        <a:buClr>
                          <a:srgbClr val="272525"/>
                        </a:buClr>
                        <a:buSzPts val="1450"/>
                        <a:buFont typeface="Inter"/>
                        <a:buNone/>
                      </a:pPr>
                      <a:r>
                        <a:rPr lang="en-US" sz="1450" u="none" cap="none" strike="noStrike">
                          <a:solidFill>
                            <a:srgbClr val="272525"/>
                          </a:solidFill>
                          <a:latin typeface="Inter"/>
                          <a:ea typeface="Inter"/>
                          <a:cs typeface="Inter"/>
                          <a:sym typeface="Inter"/>
                        </a:rPr>
                        <a:t>Classification and preprocessing state handling</a:t>
                      </a:r>
                      <a:endParaRPr sz="1450" u="none" cap="none" strike="noStrike">
                        <a:latin typeface="Inter"/>
                        <a:ea typeface="Inter"/>
                        <a:cs typeface="Inter"/>
                        <a:sym typeface="Inter"/>
                      </a:endParaRPr>
                    </a:p>
                  </a:txBody>
                  <a:tcPr marT="6350" marB="6350" marR="189025" marL="189025" anchor="ctr">
                    <a:lnL cap="flat" cmpd="sng" w="12700">
                      <a:solidFill>
                        <a:srgbClr val="C0C1D7"/>
                      </a:solidFill>
                      <a:prstDash val="solid"/>
                      <a:round/>
                      <a:headEnd len="sm" w="sm" type="none"/>
                      <a:tailEnd len="sm" w="sm" type="none"/>
                    </a:lnL>
                    <a:lnR cap="flat" cmpd="sng" w="12700">
                      <a:solidFill>
                        <a:srgbClr val="C0C1D7"/>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C0C1D7"/>
                      </a:solidFill>
                      <a:prstDash val="solid"/>
                      <a:round/>
                      <a:headEnd len="sm" w="sm" type="none"/>
                      <a:tailEnd len="sm" w="sm" type="none"/>
                    </a:lnB>
                  </a:tcPr>
                </a:tc>
              </a:tr>
            </a:tbl>
          </a:graphicData>
        </a:graphic>
      </p:graphicFrame>
      <p:pic>
        <p:nvPicPr>
          <p:cNvPr id="276" name="Google Shape;276;p22"/>
          <p:cNvPicPr preferRelativeResize="0"/>
          <p:nvPr/>
        </p:nvPicPr>
        <p:blipFill>
          <a:blip r:embed="rId3">
            <a:alphaModFix/>
          </a:blip>
          <a:stretch>
            <a:fillRect/>
          </a:stretch>
        </p:blipFill>
        <p:spPr>
          <a:xfrm>
            <a:off x="10515275" y="6391270"/>
            <a:ext cx="1676400" cy="46672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23"/>
          <p:cNvSpPr/>
          <p:nvPr/>
        </p:nvSpPr>
        <p:spPr>
          <a:xfrm>
            <a:off x="661475" y="1400969"/>
            <a:ext cx="10868745" cy="590649"/>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3700"/>
              <a:buFont typeface="Inter"/>
              <a:buNone/>
            </a:pPr>
            <a:r>
              <a:rPr b="1" i="0" lang="en-US" sz="3700" u="none" cap="none" strike="noStrike">
                <a:solidFill>
                  <a:srgbClr val="000000"/>
                </a:solidFill>
                <a:latin typeface="Inter"/>
                <a:ea typeface="Inter"/>
                <a:cs typeface="Inter"/>
                <a:sym typeface="Inter"/>
              </a:rPr>
              <a:t>Individual Contributions - Retrieval &amp; Wellbeing</a:t>
            </a:r>
            <a:endParaRPr b="0" i="0" sz="3700" u="none" cap="none" strike="noStrike">
              <a:solidFill>
                <a:schemeClr val="dk1"/>
              </a:solidFill>
              <a:latin typeface="Calibri"/>
              <a:ea typeface="Calibri"/>
              <a:cs typeface="Calibri"/>
              <a:sym typeface="Calibri"/>
            </a:endParaRPr>
          </a:p>
        </p:txBody>
      </p:sp>
      <p:sp>
        <p:nvSpPr>
          <p:cNvPr id="283" name="Google Shape;283;p23"/>
          <p:cNvSpPr/>
          <p:nvPr/>
        </p:nvSpPr>
        <p:spPr>
          <a:xfrm>
            <a:off x="661475" y="2464098"/>
            <a:ext cx="5203794" cy="590550"/>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850"/>
              <a:buFont typeface="Inter"/>
              <a:buNone/>
            </a:pPr>
            <a:r>
              <a:rPr b="1" i="0" lang="en-US" sz="1850" u="none" cap="none" strike="noStrike">
                <a:solidFill>
                  <a:srgbClr val="000000"/>
                </a:solidFill>
                <a:latin typeface="Inter"/>
                <a:ea typeface="Inter"/>
                <a:cs typeface="Inter"/>
                <a:sym typeface="Inter"/>
              </a:rPr>
              <a:t>MOHAMMED SHEHZAAD KHAN — PES2UG23CS349</a:t>
            </a:r>
            <a:endParaRPr b="0" i="0" sz="1850" u="none" cap="none" strike="noStrike">
              <a:solidFill>
                <a:schemeClr val="dk1"/>
              </a:solidFill>
              <a:latin typeface="Calibri"/>
              <a:ea typeface="Calibri"/>
              <a:cs typeface="Calibri"/>
              <a:sym typeface="Calibri"/>
            </a:endParaRPr>
          </a:p>
        </p:txBody>
      </p:sp>
      <p:sp>
        <p:nvSpPr>
          <p:cNvPr id="284" name="Google Shape;284;p23"/>
          <p:cNvSpPr/>
          <p:nvPr/>
        </p:nvSpPr>
        <p:spPr>
          <a:xfrm>
            <a:off x="661475" y="3130252"/>
            <a:ext cx="5203794" cy="295275"/>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850"/>
              <a:buFont typeface="Inter"/>
              <a:buNone/>
            </a:pPr>
            <a:r>
              <a:rPr b="1" i="0" lang="en-US" sz="1850" u="none" cap="none" strike="noStrike">
                <a:solidFill>
                  <a:srgbClr val="000000"/>
                </a:solidFill>
                <a:latin typeface="Inter"/>
                <a:ea typeface="Inter"/>
                <a:cs typeface="Inter"/>
                <a:sym typeface="Inter"/>
              </a:rPr>
              <a:t>Retrieval Intelligence</a:t>
            </a:r>
            <a:endParaRPr b="0" i="0" sz="1850" u="none" cap="none" strike="noStrike">
              <a:solidFill>
                <a:schemeClr val="dk1"/>
              </a:solidFill>
              <a:latin typeface="Calibri"/>
              <a:ea typeface="Calibri"/>
              <a:cs typeface="Calibri"/>
              <a:sym typeface="Calibri"/>
            </a:endParaRPr>
          </a:p>
        </p:txBody>
      </p:sp>
      <p:sp>
        <p:nvSpPr>
          <p:cNvPr id="285" name="Google Shape;285;p23"/>
          <p:cNvSpPr/>
          <p:nvPr/>
        </p:nvSpPr>
        <p:spPr>
          <a:xfrm>
            <a:off x="661475" y="3614539"/>
            <a:ext cx="5203794" cy="1776413"/>
          </a:xfrm>
          <a:prstGeom prst="rect">
            <a:avLst/>
          </a:prstGeom>
          <a:noFill/>
          <a:ln>
            <a:noFill/>
          </a:ln>
        </p:spPr>
        <p:txBody>
          <a:bodyPr anchorCtr="0" anchor="t" bIns="0" lIns="0" spcFirstLastPara="1" rIns="0" wrap="square" tIns="75600">
            <a:noAutofit/>
          </a:bodyPr>
          <a:lstStyle/>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LangGraph retrieval path</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PostgreSQL + FAISS hybrid retrieval</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RRF and cross-encoder reranking</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Time anchors and fallback logic</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Quality evaluation set and metrics</a:t>
            </a:r>
            <a:endParaRPr b="0" i="0" sz="1450" u="none" cap="none" strike="noStrike">
              <a:solidFill>
                <a:schemeClr val="dk1"/>
              </a:solidFill>
              <a:latin typeface="Calibri"/>
              <a:ea typeface="Calibri"/>
              <a:cs typeface="Calibri"/>
              <a:sym typeface="Calibri"/>
            </a:endParaRPr>
          </a:p>
        </p:txBody>
      </p:sp>
      <p:sp>
        <p:nvSpPr>
          <p:cNvPr id="286" name="Google Shape;286;p23"/>
          <p:cNvSpPr/>
          <p:nvPr/>
        </p:nvSpPr>
        <p:spPr>
          <a:xfrm>
            <a:off x="6332776" y="2464098"/>
            <a:ext cx="5203794" cy="295275"/>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850"/>
              <a:buFont typeface="Inter"/>
              <a:buNone/>
            </a:pPr>
            <a:r>
              <a:rPr b="1" i="0" lang="en-US" sz="1850" u="none" cap="none" strike="noStrike">
                <a:solidFill>
                  <a:srgbClr val="000000"/>
                </a:solidFill>
                <a:latin typeface="Inter"/>
                <a:ea typeface="Inter"/>
                <a:cs typeface="Inter"/>
                <a:sym typeface="Inter"/>
              </a:rPr>
              <a:t>ARJUN SAI N — PES2UG23CS091</a:t>
            </a:r>
            <a:endParaRPr b="0" i="0" sz="1850" u="none" cap="none" strike="noStrike">
              <a:solidFill>
                <a:schemeClr val="dk1"/>
              </a:solidFill>
              <a:latin typeface="Calibri"/>
              <a:ea typeface="Calibri"/>
              <a:cs typeface="Calibri"/>
              <a:sym typeface="Calibri"/>
            </a:endParaRPr>
          </a:p>
        </p:txBody>
      </p:sp>
      <p:sp>
        <p:nvSpPr>
          <p:cNvPr id="287" name="Google Shape;287;p23"/>
          <p:cNvSpPr/>
          <p:nvPr/>
        </p:nvSpPr>
        <p:spPr>
          <a:xfrm>
            <a:off x="6332776" y="2834977"/>
            <a:ext cx="5203794" cy="295275"/>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850"/>
              <a:buFont typeface="Inter"/>
              <a:buNone/>
            </a:pPr>
            <a:r>
              <a:rPr b="1" i="0" lang="en-US" sz="1850" u="none" cap="none" strike="noStrike">
                <a:solidFill>
                  <a:srgbClr val="000000"/>
                </a:solidFill>
                <a:latin typeface="Inter"/>
                <a:ea typeface="Inter"/>
                <a:cs typeface="Inter"/>
                <a:sym typeface="Inter"/>
              </a:rPr>
              <a:t>Digital Wellbeing &amp; UIL</a:t>
            </a:r>
            <a:endParaRPr b="0" i="0" sz="1850" u="none" cap="none" strike="noStrike">
              <a:solidFill>
                <a:schemeClr val="dk1"/>
              </a:solidFill>
              <a:latin typeface="Calibri"/>
              <a:ea typeface="Calibri"/>
              <a:cs typeface="Calibri"/>
              <a:sym typeface="Calibri"/>
            </a:endParaRPr>
          </a:p>
        </p:txBody>
      </p:sp>
      <p:sp>
        <p:nvSpPr>
          <p:cNvPr id="288" name="Google Shape;288;p23"/>
          <p:cNvSpPr/>
          <p:nvPr/>
        </p:nvSpPr>
        <p:spPr>
          <a:xfrm>
            <a:off x="6332776" y="3319264"/>
            <a:ext cx="5203794" cy="1776413"/>
          </a:xfrm>
          <a:prstGeom prst="rect">
            <a:avLst/>
          </a:prstGeom>
          <a:noFill/>
          <a:ln>
            <a:noFill/>
          </a:ln>
        </p:spPr>
        <p:txBody>
          <a:bodyPr anchorCtr="0" anchor="t" bIns="0" lIns="0" spcFirstLastPara="1" rIns="0" wrap="square" tIns="75600">
            <a:noAutofit/>
          </a:bodyPr>
          <a:lstStyle/>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Time/session analytics</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Groups and review queue</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Regret and weekly insight system</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FastAPI wellbeing APIs</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Inter"/>
              <a:buChar char="•"/>
            </a:pPr>
            <a:r>
              <a:rPr b="0" i="0" lang="en-US" sz="1450" u="none" cap="none" strike="noStrike">
                <a:solidFill>
                  <a:srgbClr val="272525"/>
                </a:solidFill>
                <a:latin typeface="Inter"/>
                <a:ea typeface="Inter"/>
                <a:cs typeface="Inter"/>
                <a:sym typeface="Inter"/>
              </a:rPr>
              <a:t>React dashboard and extension popup</a:t>
            </a:r>
            <a:endParaRPr b="0" i="0" sz="1450" u="none" cap="none" strike="noStrike">
              <a:solidFill>
                <a:schemeClr val="dk1"/>
              </a:solidFill>
              <a:latin typeface="Calibri"/>
              <a:ea typeface="Calibri"/>
              <a:cs typeface="Calibri"/>
              <a:sym typeface="Calibri"/>
            </a:endParaRPr>
          </a:p>
        </p:txBody>
      </p:sp>
      <p:pic>
        <p:nvPicPr>
          <p:cNvPr id="289" name="Google Shape;289;p23"/>
          <p:cNvPicPr preferRelativeResize="0"/>
          <p:nvPr/>
        </p:nvPicPr>
        <p:blipFill>
          <a:blip r:embed="rId3">
            <a:alphaModFix/>
          </a:blip>
          <a:stretch>
            <a:fillRect/>
          </a:stretch>
        </p:blipFill>
        <p:spPr>
          <a:xfrm>
            <a:off x="10515275" y="6330127"/>
            <a:ext cx="1676400" cy="46672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24"/>
          <p:cNvSpPr/>
          <p:nvPr/>
        </p:nvSpPr>
        <p:spPr>
          <a:xfrm>
            <a:off x="661475" y="562173"/>
            <a:ext cx="10868745" cy="516731"/>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3250"/>
              <a:buFont typeface="Inter"/>
              <a:buNone/>
            </a:pPr>
            <a:r>
              <a:rPr b="1" i="0" lang="en-US" sz="3250" u="none" cap="none" strike="noStrike">
                <a:solidFill>
                  <a:srgbClr val="000000"/>
                </a:solidFill>
                <a:latin typeface="Inter"/>
                <a:ea typeface="Inter"/>
                <a:cs typeface="Inter"/>
                <a:sym typeface="Inter"/>
              </a:rPr>
              <a:t>Remaining Work and Phase III Completion Plan</a:t>
            </a:r>
            <a:endParaRPr b="0" i="0" sz="3250" u="none" cap="none" strike="noStrike">
              <a:solidFill>
                <a:schemeClr val="dk1"/>
              </a:solidFill>
              <a:latin typeface="Calibri"/>
              <a:ea typeface="Calibri"/>
              <a:cs typeface="Calibri"/>
              <a:sym typeface="Calibri"/>
            </a:endParaRPr>
          </a:p>
        </p:txBody>
      </p:sp>
      <p:pic>
        <p:nvPicPr>
          <p:cNvPr descr="preencoded.png" id="296" name="Google Shape;296;p24"/>
          <p:cNvPicPr preferRelativeResize="0"/>
          <p:nvPr/>
        </p:nvPicPr>
        <p:blipFill rotWithShape="1">
          <a:blip r:embed="rId3">
            <a:alphaModFix/>
          </a:blip>
          <a:srcRect b="0" l="0" r="0" t="0"/>
          <a:stretch/>
        </p:blipFill>
        <p:spPr>
          <a:xfrm>
            <a:off x="661475" y="1368326"/>
            <a:ext cx="9509978" cy="4193480"/>
          </a:xfrm>
          <a:prstGeom prst="rect">
            <a:avLst/>
          </a:prstGeom>
          <a:noFill/>
          <a:ln>
            <a:noFill/>
          </a:ln>
        </p:spPr>
      </p:pic>
      <p:sp>
        <p:nvSpPr>
          <p:cNvPr id="297" name="Google Shape;297;p24"/>
          <p:cNvSpPr/>
          <p:nvPr/>
        </p:nvSpPr>
        <p:spPr>
          <a:xfrm>
            <a:off x="661475" y="5778798"/>
            <a:ext cx="10868745" cy="516930"/>
          </a:xfrm>
          <a:prstGeom prst="rect">
            <a:avLst/>
          </a:prstGeom>
          <a:noFill/>
          <a:ln>
            <a:noFill/>
          </a:ln>
        </p:spPr>
        <p:txBody>
          <a:bodyPr anchorCtr="0" anchor="t" bIns="0" lIns="0" spcFirstLastPara="1" rIns="0" wrap="square" tIns="0">
            <a:noAutofit/>
          </a:bodyPr>
          <a:lstStyle/>
          <a:p>
            <a:pPr indent="0" lvl="0" marL="0" marR="0" rtl="0" algn="ctr">
              <a:lnSpc>
                <a:spcPct val="104000"/>
              </a:lnSpc>
              <a:spcBef>
                <a:spcPts val="0"/>
              </a:spcBef>
              <a:spcAft>
                <a:spcPts val="0"/>
              </a:spcAft>
              <a:buClr>
                <a:srgbClr val="000000"/>
              </a:buClr>
              <a:buSzPts val="1600"/>
              <a:buFont typeface="Inter"/>
              <a:buNone/>
            </a:pPr>
            <a:r>
              <a:rPr b="1" i="0" lang="en-US" sz="1600" u="none" cap="none" strike="noStrike">
                <a:solidFill>
                  <a:srgbClr val="000000"/>
                </a:solidFill>
                <a:latin typeface="Inter"/>
                <a:ea typeface="Inter"/>
                <a:cs typeface="Inter"/>
                <a:sym typeface="Inter"/>
              </a:rPr>
              <a:t>A high-level timeline of the remaining Phase III workstreams, showing current progress and the final validation/refinement stages ahead.</a:t>
            </a:r>
            <a:endParaRPr b="0" i="0" sz="1600" u="none" cap="none" strike="noStrike">
              <a:solidFill>
                <a:schemeClr val="dk1"/>
              </a:solidFill>
              <a:latin typeface="Calibri"/>
              <a:ea typeface="Calibri"/>
              <a:cs typeface="Calibri"/>
              <a:sym typeface="Calibri"/>
            </a:endParaRPr>
          </a:p>
        </p:txBody>
      </p:sp>
      <p:pic>
        <p:nvPicPr>
          <p:cNvPr id="298" name="Google Shape;298;p24"/>
          <p:cNvPicPr preferRelativeResize="0"/>
          <p:nvPr/>
        </p:nvPicPr>
        <p:blipFill>
          <a:blip r:embed="rId4">
            <a:alphaModFix/>
          </a:blip>
          <a:stretch>
            <a:fillRect/>
          </a:stretch>
        </p:blipFill>
        <p:spPr>
          <a:xfrm>
            <a:off x="10515278" y="6391279"/>
            <a:ext cx="1676400" cy="46672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25"/>
          <p:cNvSpPr/>
          <p:nvPr/>
        </p:nvSpPr>
        <p:spPr>
          <a:xfrm>
            <a:off x="661475" y="1007269"/>
            <a:ext cx="10868745" cy="590649"/>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3700"/>
              <a:buFont typeface="Inter"/>
              <a:buNone/>
            </a:pPr>
            <a:r>
              <a:rPr b="1" i="0" lang="en-US" sz="3700" u="none" cap="none" strike="noStrike">
                <a:solidFill>
                  <a:srgbClr val="000000"/>
                </a:solidFill>
                <a:latin typeface="Inter"/>
                <a:ea typeface="Inter"/>
                <a:cs typeface="Inter"/>
                <a:sym typeface="Inter"/>
              </a:rPr>
              <a:t>Remaining Work: Detailed Task Breakdown</a:t>
            </a:r>
            <a:endParaRPr b="0" i="0" sz="3700" u="none" cap="none" strike="noStrike">
              <a:solidFill>
                <a:schemeClr val="dk1"/>
              </a:solidFill>
              <a:latin typeface="Calibri"/>
              <a:ea typeface="Calibri"/>
              <a:cs typeface="Calibri"/>
              <a:sym typeface="Calibri"/>
            </a:endParaRPr>
          </a:p>
        </p:txBody>
      </p:sp>
      <p:sp>
        <p:nvSpPr>
          <p:cNvPr id="305" name="Google Shape;305;p25"/>
          <p:cNvSpPr/>
          <p:nvPr/>
        </p:nvSpPr>
        <p:spPr>
          <a:xfrm>
            <a:off x="661475" y="1975941"/>
            <a:ext cx="10868745" cy="3874691"/>
          </a:xfrm>
          <a:prstGeom prst="rect">
            <a:avLst/>
          </a:prstGeom>
          <a:noFill/>
          <a:ln>
            <a:noFill/>
          </a:ln>
        </p:spPr>
        <p:txBody>
          <a:bodyPr anchorCtr="0" anchor="t" bIns="0" lIns="0" spcFirstLastPara="1" rIns="0" wrap="square" tIns="0">
            <a:noAutofit/>
          </a:bodyPr>
          <a:lstStyle/>
          <a:p>
            <a:pPr indent="0" lvl="0" marL="0" marR="0" rtl="0" algn="l">
              <a:lnSpc>
                <a:spcPct val="133000"/>
              </a:lnSpc>
              <a:spcBef>
                <a:spcPts val="0"/>
              </a:spcBef>
              <a:spcAft>
                <a:spcPts val="0"/>
              </a:spcAft>
              <a:buClr>
                <a:srgbClr val="272525"/>
              </a:buClr>
              <a:buSzPts val="1450"/>
              <a:buFont typeface="Inter"/>
              <a:buNone/>
            </a:pPr>
            <a:r>
              <a:rPr b="1" i="0" lang="en-US" sz="1450" u="none" cap="none" strike="noStrike">
                <a:solidFill>
                  <a:srgbClr val="272525"/>
                </a:solidFill>
                <a:latin typeface="Inter"/>
                <a:ea typeface="Inter"/>
                <a:cs typeface="Inter"/>
                <a:sym typeface="Inter"/>
              </a:rPr>
              <a:t>1 · Wellbeing analytics</a:t>
            </a:r>
            <a:endParaRPr b="0" i="0" sz="1450" u="none" cap="none" strike="noStrike">
              <a:solidFill>
                <a:schemeClr val="dk1"/>
              </a:solidFill>
              <a:latin typeface="Calibri"/>
              <a:ea typeface="Calibri"/>
              <a:cs typeface="Calibri"/>
              <a:sym typeface="Calibri"/>
            </a:endParaRPr>
          </a:p>
          <a:p>
            <a:pPr indent="0" lvl="0" marL="0" marR="0" rtl="0" algn="l">
              <a:lnSpc>
                <a:spcPct val="133000"/>
              </a:lnSpc>
              <a:spcBef>
                <a:spcPts val="0"/>
              </a:spcBef>
              <a:spcAft>
                <a:spcPts val="0"/>
              </a:spcAft>
              <a:buClr>
                <a:srgbClr val="272525"/>
              </a:buClr>
              <a:buSzPts val="1450"/>
              <a:buFont typeface="Inter"/>
              <a:buNone/>
            </a:pPr>
            <a:r>
              <a:rPr b="0" i="0" lang="en-US" sz="1450" u="none" cap="none" strike="noStrike">
                <a:solidFill>
                  <a:srgbClr val="272525"/>
                </a:solidFill>
                <a:latin typeface="Inter"/>
                <a:ea typeface="Inter"/>
                <a:cs typeface="Inter"/>
                <a:sym typeface="Inter"/>
              </a:rPr>
              <a:t>Complete the time, session and regret analytics, and validate them against real captured data.</a:t>
            </a:r>
            <a:endParaRPr b="0" i="0" sz="1450" u="none" cap="none" strike="noStrike">
              <a:solidFill>
                <a:schemeClr val="dk1"/>
              </a:solidFill>
              <a:latin typeface="Calibri"/>
              <a:ea typeface="Calibri"/>
              <a:cs typeface="Calibri"/>
              <a:sym typeface="Calibri"/>
            </a:endParaRPr>
          </a:p>
          <a:p>
            <a:pPr indent="0" lvl="0" marL="0" marR="0" rtl="0" algn="l">
              <a:lnSpc>
                <a:spcPct val="133000"/>
              </a:lnSpc>
              <a:spcBef>
                <a:spcPts val="1650"/>
              </a:spcBef>
              <a:spcAft>
                <a:spcPts val="0"/>
              </a:spcAft>
              <a:buClr>
                <a:srgbClr val="272525"/>
              </a:buClr>
              <a:buSzPts val="1450"/>
              <a:buFont typeface="Inter"/>
              <a:buNone/>
            </a:pPr>
            <a:r>
              <a:rPr b="1" i="0" lang="en-US" sz="1450" u="none" cap="none" strike="noStrike">
                <a:solidFill>
                  <a:srgbClr val="272525"/>
                </a:solidFill>
                <a:latin typeface="Inter"/>
                <a:ea typeface="Inter"/>
                <a:cs typeface="Inter"/>
                <a:sym typeface="Inter"/>
              </a:rPr>
              <a:t>2 · Dashboard refinements</a:t>
            </a:r>
            <a:endParaRPr b="0" i="0" sz="1450" u="none" cap="none" strike="noStrike">
              <a:solidFill>
                <a:schemeClr val="dk1"/>
              </a:solidFill>
              <a:latin typeface="Calibri"/>
              <a:ea typeface="Calibri"/>
              <a:cs typeface="Calibri"/>
              <a:sym typeface="Calibri"/>
            </a:endParaRPr>
          </a:p>
          <a:p>
            <a:pPr indent="0" lvl="0" marL="0" marR="0" rtl="0" algn="l">
              <a:lnSpc>
                <a:spcPct val="133000"/>
              </a:lnSpc>
              <a:spcBef>
                <a:spcPts val="0"/>
              </a:spcBef>
              <a:spcAft>
                <a:spcPts val="0"/>
              </a:spcAft>
              <a:buClr>
                <a:srgbClr val="272525"/>
              </a:buClr>
              <a:buSzPts val="1450"/>
              <a:buFont typeface="Inter"/>
              <a:buNone/>
            </a:pPr>
            <a:r>
              <a:rPr b="0" i="0" lang="en-US" sz="1450" u="none" cap="none" strike="noStrike">
                <a:solidFill>
                  <a:srgbClr val="272525"/>
                </a:solidFill>
                <a:latin typeface="Inter"/>
                <a:ea typeface="Inter"/>
                <a:cs typeface="Inter"/>
                <a:sym typeface="Inter"/>
              </a:rPr>
              <a:t>Add source citation cards with timestamps and excerpts to the Recall page. Add a dedicated source-breakdown visual.</a:t>
            </a:r>
            <a:endParaRPr b="0" i="0" sz="1450" u="none" cap="none" strike="noStrike">
              <a:solidFill>
                <a:schemeClr val="dk1"/>
              </a:solidFill>
              <a:latin typeface="Calibri"/>
              <a:ea typeface="Calibri"/>
              <a:cs typeface="Calibri"/>
              <a:sym typeface="Calibri"/>
            </a:endParaRPr>
          </a:p>
          <a:p>
            <a:pPr indent="0" lvl="0" marL="0" marR="0" rtl="0" algn="l">
              <a:lnSpc>
                <a:spcPct val="133000"/>
              </a:lnSpc>
              <a:spcBef>
                <a:spcPts val="1650"/>
              </a:spcBef>
              <a:spcAft>
                <a:spcPts val="0"/>
              </a:spcAft>
              <a:buClr>
                <a:srgbClr val="272525"/>
              </a:buClr>
              <a:buSzPts val="1450"/>
              <a:buFont typeface="Inter"/>
              <a:buNone/>
            </a:pPr>
            <a:r>
              <a:rPr b="1" i="0" lang="en-US" sz="1450" u="none" cap="none" strike="noStrike">
                <a:solidFill>
                  <a:srgbClr val="272525"/>
                </a:solidFill>
                <a:latin typeface="Inter"/>
                <a:ea typeface="Inter"/>
                <a:cs typeface="Inter"/>
                <a:sym typeface="Inter"/>
              </a:rPr>
              <a:t>3 · End-to-end validation</a:t>
            </a:r>
            <a:endParaRPr b="0" i="0" sz="1450" u="none" cap="none" strike="noStrike">
              <a:solidFill>
                <a:schemeClr val="dk1"/>
              </a:solidFill>
              <a:latin typeface="Calibri"/>
              <a:ea typeface="Calibri"/>
              <a:cs typeface="Calibri"/>
              <a:sym typeface="Calibri"/>
            </a:endParaRPr>
          </a:p>
          <a:p>
            <a:pPr indent="0" lvl="0" marL="0" marR="0" rtl="0" algn="l">
              <a:lnSpc>
                <a:spcPct val="133000"/>
              </a:lnSpc>
              <a:spcBef>
                <a:spcPts val="0"/>
              </a:spcBef>
              <a:spcAft>
                <a:spcPts val="0"/>
              </a:spcAft>
              <a:buClr>
                <a:srgbClr val="272525"/>
              </a:buClr>
              <a:buSzPts val="1450"/>
              <a:buFont typeface="Inter"/>
              <a:buNone/>
            </a:pPr>
            <a:r>
              <a:rPr b="0" i="0" lang="en-US" sz="1450" u="none" cap="none" strike="noStrike">
                <a:solidFill>
                  <a:srgbClr val="272525"/>
                </a:solidFill>
                <a:latin typeface="Inter"/>
                <a:ea typeface="Inter"/>
                <a:cs typeface="Inter"/>
                <a:sym typeface="Inter"/>
              </a:rPr>
              <a:t>Run all three connectors live and confirm capture, storage, enrichment and indexing work together on real data.</a:t>
            </a:r>
            <a:endParaRPr b="0" i="0" sz="1450" u="none" cap="none" strike="noStrike">
              <a:solidFill>
                <a:schemeClr val="dk1"/>
              </a:solidFill>
              <a:latin typeface="Calibri"/>
              <a:ea typeface="Calibri"/>
              <a:cs typeface="Calibri"/>
              <a:sym typeface="Calibri"/>
            </a:endParaRPr>
          </a:p>
          <a:p>
            <a:pPr indent="0" lvl="0" marL="0" marR="0" rtl="0" algn="l">
              <a:lnSpc>
                <a:spcPct val="133000"/>
              </a:lnSpc>
              <a:spcBef>
                <a:spcPts val="1650"/>
              </a:spcBef>
              <a:spcAft>
                <a:spcPts val="0"/>
              </a:spcAft>
              <a:buClr>
                <a:srgbClr val="272525"/>
              </a:buClr>
              <a:buSzPts val="1450"/>
              <a:buFont typeface="Inter"/>
              <a:buNone/>
            </a:pPr>
            <a:r>
              <a:rPr b="1" i="0" lang="en-US" sz="1450" u="none" cap="none" strike="noStrike">
                <a:solidFill>
                  <a:srgbClr val="272525"/>
                </a:solidFill>
                <a:latin typeface="Inter"/>
                <a:ea typeface="Inter"/>
                <a:cs typeface="Inter"/>
                <a:sym typeface="Inter"/>
              </a:rPr>
              <a:t>4 · Retrieval quality measurement</a:t>
            </a:r>
            <a:endParaRPr b="0" i="0" sz="1450" u="none" cap="none" strike="noStrike">
              <a:solidFill>
                <a:schemeClr val="dk1"/>
              </a:solidFill>
              <a:latin typeface="Calibri"/>
              <a:ea typeface="Calibri"/>
              <a:cs typeface="Calibri"/>
              <a:sym typeface="Calibri"/>
            </a:endParaRPr>
          </a:p>
          <a:p>
            <a:pPr indent="0" lvl="0" marL="0" marR="0" rtl="0" algn="l">
              <a:lnSpc>
                <a:spcPct val="133000"/>
              </a:lnSpc>
              <a:spcBef>
                <a:spcPts val="0"/>
              </a:spcBef>
              <a:spcAft>
                <a:spcPts val="0"/>
              </a:spcAft>
              <a:buClr>
                <a:srgbClr val="272525"/>
              </a:buClr>
              <a:buSzPts val="1450"/>
              <a:buFont typeface="Inter"/>
              <a:buNone/>
            </a:pPr>
            <a:r>
              <a:rPr b="0" i="0" lang="en-US" sz="1450" u="none" cap="none" strike="noStrike">
                <a:solidFill>
                  <a:srgbClr val="272525"/>
                </a:solidFill>
                <a:latin typeface="Inter"/>
                <a:ea typeface="Inter"/>
                <a:cs typeface="Inter"/>
                <a:sym typeface="Inter"/>
              </a:rPr>
              <a:t>Run the evaluation set on captured data and record relevance, coverage and response time against a baseline.</a:t>
            </a:r>
            <a:endParaRPr b="0" i="0" sz="1450" u="none" cap="none" strike="noStrike">
              <a:solidFill>
                <a:schemeClr val="dk1"/>
              </a:solidFill>
              <a:latin typeface="Calibri"/>
              <a:ea typeface="Calibri"/>
              <a:cs typeface="Calibri"/>
              <a:sym typeface="Calibri"/>
            </a:endParaRPr>
          </a:p>
          <a:p>
            <a:pPr indent="0" lvl="0" marL="0" marR="0" rtl="0" algn="l">
              <a:lnSpc>
                <a:spcPct val="133000"/>
              </a:lnSpc>
              <a:spcBef>
                <a:spcPts val="1650"/>
              </a:spcBef>
              <a:spcAft>
                <a:spcPts val="0"/>
              </a:spcAft>
              <a:buClr>
                <a:srgbClr val="272525"/>
              </a:buClr>
              <a:buSzPts val="1450"/>
              <a:buFont typeface="Inter"/>
              <a:buNone/>
            </a:pPr>
            <a:r>
              <a:rPr b="1" i="0" lang="en-US" sz="1450" u="none" cap="none" strike="noStrike">
                <a:solidFill>
                  <a:srgbClr val="272525"/>
                </a:solidFill>
                <a:latin typeface="Inter"/>
                <a:ea typeface="Inter"/>
                <a:cs typeface="Inter"/>
                <a:sym typeface="Inter"/>
              </a:rPr>
              <a:t>5 · Privacy audit and documentation</a:t>
            </a:r>
            <a:endParaRPr b="0" i="0" sz="1450" u="none" cap="none" strike="noStrike">
              <a:solidFill>
                <a:schemeClr val="dk1"/>
              </a:solidFill>
              <a:latin typeface="Calibri"/>
              <a:ea typeface="Calibri"/>
              <a:cs typeface="Calibri"/>
              <a:sym typeface="Calibri"/>
            </a:endParaRPr>
          </a:p>
          <a:p>
            <a:pPr indent="0" lvl="0" marL="0" marR="0" rtl="0" algn="l">
              <a:lnSpc>
                <a:spcPct val="133000"/>
              </a:lnSpc>
              <a:spcBef>
                <a:spcPts val="0"/>
              </a:spcBef>
              <a:spcAft>
                <a:spcPts val="0"/>
              </a:spcAft>
              <a:buClr>
                <a:srgbClr val="272525"/>
              </a:buClr>
              <a:buSzPts val="1450"/>
              <a:buFont typeface="Inter"/>
              <a:buNone/>
            </a:pPr>
            <a:r>
              <a:rPr b="0" i="0" lang="en-US" sz="1450" u="none" cap="none" strike="noStrike">
                <a:solidFill>
                  <a:srgbClr val="272525"/>
                </a:solidFill>
                <a:latin typeface="Inter"/>
                <a:ea typeface="Inter"/>
                <a:cs typeface="Inter"/>
                <a:sym typeface="Inter"/>
              </a:rPr>
              <a:t>Verify no personal data leaves the local machine through any code path, then complete final documentation.</a:t>
            </a:r>
            <a:endParaRPr b="0" i="0" sz="1450" u="none" cap="none" strike="noStrike">
              <a:solidFill>
                <a:schemeClr val="dk1"/>
              </a:solidFill>
              <a:latin typeface="Calibri"/>
              <a:ea typeface="Calibri"/>
              <a:cs typeface="Calibri"/>
              <a:sym typeface="Calibri"/>
            </a:endParaRPr>
          </a:p>
        </p:txBody>
      </p:sp>
      <p:pic>
        <p:nvPicPr>
          <p:cNvPr id="306" name="Google Shape;306;p25"/>
          <p:cNvPicPr preferRelativeResize="0"/>
          <p:nvPr/>
        </p:nvPicPr>
        <p:blipFill>
          <a:blip r:embed="rId3">
            <a:alphaModFix/>
          </a:blip>
          <a:stretch>
            <a:fillRect/>
          </a:stretch>
        </p:blipFill>
        <p:spPr>
          <a:xfrm>
            <a:off x="10515275" y="6317732"/>
            <a:ext cx="1676400" cy="4667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sp>
        <p:nvSpPr>
          <p:cNvPr id="312" name="Google Shape;312;p26"/>
          <p:cNvSpPr/>
          <p:nvPr/>
        </p:nvSpPr>
        <p:spPr>
          <a:xfrm>
            <a:off x="661475" y="575072"/>
            <a:ext cx="10868745" cy="470595"/>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2950"/>
              <a:buFont typeface="Inter"/>
              <a:buNone/>
            </a:pPr>
            <a:r>
              <a:rPr b="1" i="0" lang="en-US" sz="2950" u="none" cap="none" strike="noStrike">
                <a:solidFill>
                  <a:srgbClr val="000000"/>
                </a:solidFill>
                <a:latin typeface="Inter"/>
                <a:ea typeface="Inter"/>
                <a:cs typeface="Inter"/>
                <a:sym typeface="Inter"/>
              </a:rPr>
              <a:t>Repository, References, and Conclusion</a:t>
            </a:r>
            <a:endParaRPr b="0" i="0" sz="2950" u="none" cap="none" strike="noStrike">
              <a:solidFill>
                <a:schemeClr val="dk1"/>
              </a:solidFill>
              <a:latin typeface="Calibri"/>
              <a:ea typeface="Calibri"/>
              <a:cs typeface="Calibri"/>
              <a:sym typeface="Calibri"/>
            </a:endParaRPr>
          </a:p>
        </p:txBody>
      </p:sp>
      <p:sp>
        <p:nvSpPr>
          <p:cNvPr id="313" name="Google Shape;313;p26"/>
          <p:cNvSpPr/>
          <p:nvPr/>
        </p:nvSpPr>
        <p:spPr>
          <a:xfrm>
            <a:off x="661475" y="1093589"/>
            <a:ext cx="10868745" cy="235347"/>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REPOSITORY SECTION:</a:t>
            </a:r>
            <a:endParaRPr b="0" i="0" sz="1450" u="none" cap="none" strike="noStrike">
              <a:solidFill>
                <a:schemeClr val="dk1"/>
              </a:solidFill>
              <a:latin typeface="Calibri"/>
              <a:ea typeface="Calibri"/>
              <a:cs typeface="Calibri"/>
              <a:sym typeface="Calibri"/>
            </a:endParaRPr>
          </a:p>
        </p:txBody>
      </p:sp>
      <p:sp>
        <p:nvSpPr>
          <p:cNvPr id="314" name="Google Shape;314;p26"/>
          <p:cNvSpPr/>
          <p:nvPr/>
        </p:nvSpPr>
        <p:spPr>
          <a:xfrm>
            <a:off x="661475" y="1508919"/>
            <a:ext cx="11478330" cy="216495"/>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72525"/>
              </a:buClr>
              <a:buSzPts val="1150"/>
              <a:buFont typeface="Inter"/>
              <a:buNone/>
            </a:pPr>
            <a:r>
              <a:rPr b="0" i="0" lang="en-US" sz="1150" u="none" cap="none" strike="noStrike">
                <a:solidFill>
                  <a:srgbClr val="272525"/>
                </a:solidFill>
                <a:latin typeface="Inter"/>
                <a:ea typeface="Inter"/>
                <a:cs typeface="Inter"/>
                <a:sym typeface="Inter"/>
              </a:rPr>
              <a:t>GitHub Repository: </a:t>
            </a:r>
            <a:r>
              <a:rPr b="1" i="0" lang="en-US" sz="1150" u="sng" cap="none" strike="noStrike">
                <a:solidFill>
                  <a:schemeClr val="hlink"/>
                </a:solidFill>
                <a:latin typeface="Inter"/>
                <a:ea typeface="Inter"/>
                <a:cs typeface="Inter"/>
                <a:sym typeface="Inter"/>
                <a:hlinkClick r:id="rId3"/>
              </a:rPr>
              <a:t>https://github.com/Shehzaad-khan/Efficient-Contextualized-History-Orchestrator-E.C.H.O.git</a:t>
            </a:r>
            <a:endParaRPr b="0" i="0" sz="1150" u="none" cap="none" strike="noStrike">
              <a:solidFill>
                <a:schemeClr val="dk1"/>
              </a:solidFill>
              <a:latin typeface="Calibri"/>
              <a:ea typeface="Calibri"/>
              <a:cs typeface="Calibri"/>
              <a:sym typeface="Calibri"/>
            </a:endParaRPr>
          </a:p>
        </p:txBody>
      </p:sp>
      <p:sp>
        <p:nvSpPr>
          <p:cNvPr id="315" name="Google Shape;315;p26"/>
          <p:cNvSpPr/>
          <p:nvPr/>
        </p:nvSpPr>
        <p:spPr>
          <a:xfrm>
            <a:off x="661475" y="1905397"/>
            <a:ext cx="10868745" cy="235347"/>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Repository Overview:</a:t>
            </a:r>
            <a:endParaRPr b="0" i="0" sz="1450" u="none" cap="none" strike="noStrike">
              <a:solidFill>
                <a:schemeClr val="dk1"/>
              </a:solidFill>
              <a:latin typeface="Calibri"/>
              <a:ea typeface="Calibri"/>
              <a:cs typeface="Calibri"/>
              <a:sym typeface="Calibri"/>
            </a:endParaRPr>
          </a:p>
        </p:txBody>
      </p:sp>
      <p:sp>
        <p:nvSpPr>
          <p:cNvPr id="316" name="Google Shape;316;p26"/>
          <p:cNvSpPr/>
          <p:nvPr/>
        </p:nvSpPr>
        <p:spPr>
          <a:xfrm>
            <a:off x="661475" y="2320727"/>
            <a:ext cx="10868745" cy="2284214"/>
          </a:xfrm>
          <a:prstGeom prst="rect">
            <a:avLst/>
          </a:prstGeom>
          <a:noFill/>
          <a:ln>
            <a:noFill/>
          </a:ln>
        </p:spPr>
        <p:txBody>
          <a:bodyPr anchorCtr="0" anchor="t" bIns="0" lIns="0" spcFirstLastPara="1" rIns="0" wrap="square" tIns="60250">
            <a:noAutofit/>
          </a:bodyPr>
          <a:lstStyle/>
          <a:p>
            <a:pPr indent="-233680" lvl="0" marL="233680" marR="0" rtl="0" algn="l">
              <a:lnSpc>
                <a:spcPct val="120000"/>
              </a:lnSpc>
              <a:spcBef>
                <a:spcPts val="0"/>
              </a:spcBef>
              <a:spcAft>
                <a:spcPts val="0"/>
              </a:spcAft>
              <a:buClr>
                <a:srgbClr val="272525"/>
              </a:buClr>
              <a:buSzPts val="1150"/>
              <a:buFont typeface="Inter"/>
              <a:buChar char="•"/>
            </a:pPr>
            <a:r>
              <a:rPr b="0" i="0" lang="en-US" sz="1150" u="none" cap="none" strike="noStrike">
                <a:solidFill>
                  <a:srgbClr val="272525"/>
                </a:solidFill>
                <a:latin typeface="Inter"/>
                <a:ea typeface="Inter"/>
                <a:cs typeface="Inter"/>
                <a:sym typeface="Inter"/>
              </a:rPr>
              <a:t>backend/: FastAPI gateway, retrieval, wellbeing, user-data controls</a:t>
            </a:r>
            <a:endParaRPr b="0" i="0" sz="1150" u="none" cap="none" strike="noStrike">
              <a:solidFill>
                <a:schemeClr val="dk1"/>
              </a:solidFill>
              <a:latin typeface="Calibri"/>
              <a:ea typeface="Calibri"/>
              <a:cs typeface="Calibri"/>
              <a:sym typeface="Calibri"/>
            </a:endParaRPr>
          </a:p>
          <a:p>
            <a:pPr indent="-233680" lvl="0" marL="233680" marR="0" rtl="0" algn="l">
              <a:lnSpc>
                <a:spcPct val="120000"/>
              </a:lnSpc>
              <a:spcBef>
                <a:spcPts val="0"/>
              </a:spcBef>
              <a:spcAft>
                <a:spcPts val="0"/>
              </a:spcAft>
              <a:buClr>
                <a:srgbClr val="272525"/>
              </a:buClr>
              <a:buSzPts val="1150"/>
              <a:buFont typeface="Inter"/>
              <a:buChar char="•"/>
            </a:pPr>
            <a:r>
              <a:rPr b="0" i="0" lang="en-US" sz="1150" u="none" cap="none" strike="noStrike">
                <a:solidFill>
                  <a:srgbClr val="272525"/>
                </a:solidFill>
                <a:latin typeface="Inter"/>
                <a:ea typeface="Inter"/>
                <a:cs typeface="Inter"/>
                <a:sym typeface="Inter"/>
              </a:rPr>
              <a:t>ste/: storage, PostgreSQL, Redis, FAISS, settings</a:t>
            </a:r>
            <a:endParaRPr b="0" i="0" sz="1150" u="none" cap="none" strike="noStrike">
              <a:solidFill>
                <a:schemeClr val="dk1"/>
              </a:solidFill>
              <a:latin typeface="Calibri"/>
              <a:ea typeface="Calibri"/>
              <a:cs typeface="Calibri"/>
              <a:sym typeface="Calibri"/>
            </a:endParaRPr>
          </a:p>
          <a:p>
            <a:pPr indent="-233680" lvl="0" marL="233680" marR="0" rtl="0" algn="l">
              <a:lnSpc>
                <a:spcPct val="120000"/>
              </a:lnSpc>
              <a:spcBef>
                <a:spcPts val="0"/>
              </a:spcBef>
              <a:spcAft>
                <a:spcPts val="0"/>
              </a:spcAft>
              <a:buClr>
                <a:srgbClr val="272525"/>
              </a:buClr>
              <a:buSzPts val="1150"/>
              <a:buFont typeface="Inter"/>
              <a:buChar char="•"/>
            </a:pPr>
            <a:r>
              <a:rPr b="0" i="0" lang="en-US" sz="1150" u="none" cap="none" strike="noStrike">
                <a:solidFill>
                  <a:srgbClr val="272525"/>
                </a:solidFill>
                <a:latin typeface="Inter"/>
                <a:ea typeface="Inter"/>
                <a:cs typeface="Inter"/>
                <a:sym typeface="Inter"/>
              </a:rPr>
              <a:t>enp/: enrichment, cleaning, embeddings, classification</a:t>
            </a:r>
            <a:endParaRPr b="0" i="0" sz="1150" u="none" cap="none" strike="noStrike">
              <a:solidFill>
                <a:schemeClr val="dk1"/>
              </a:solidFill>
              <a:latin typeface="Calibri"/>
              <a:ea typeface="Calibri"/>
              <a:cs typeface="Calibri"/>
              <a:sym typeface="Calibri"/>
            </a:endParaRPr>
          </a:p>
          <a:p>
            <a:pPr indent="-233680" lvl="0" marL="233680" marR="0" rtl="0" algn="l">
              <a:lnSpc>
                <a:spcPct val="120000"/>
              </a:lnSpc>
              <a:spcBef>
                <a:spcPts val="0"/>
              </a:spcBef>
              <a:spcAft>
                <a:spcPts val="0"/>
              </a:spcAft>
              <a:buClr>
                <a:srgbClr val="272525"/>
              </a:buClr>
              <a:buSzPts val="1150"/>
              <a:buFont typeface="Inter"/>
              <a:buChar char="•"/>
            </a:pPr>
            <a:r>
              <a:rPr b="0" i="0" lang="en-US" sz="1150" u="none" cap="none" strike="noStrike">
                <a:solidFill>
                  <a:srgbClr val="272525"/>
                </a:solidFill>
                <a:latin typeface="Inter"/>
                <a:ea typeface="Inter"/>
                <a:cs typeface="Inter"/>
                <a:sym typeface="Inter"/>
              </a:rPr>
              <a:t>rse/: LangGraph hybrid retrieval engine</a:t>
            </a:r>
            <a:endParaRPr b="0" i="0" sz="1150" u="none" cap="none" strike="noStrike">
              <a:solidFill>
                <a:schemeClr val="dk1"/>
              </a:solidFill>
              <a:latin typeface="Calibri"/>
              <a:ea typeface="Calibri"/>
              <a:cs typeface="Calibri"/>
              <a:sym typeface="Calibri"/>
            </a:endParaRPr>
          </a:p>
          <a:p>
            <a:pPr indent="-233680" lvl="0" marL="233680" marR="0" rtl="0" algn="l">
              <a:lnSpc>
                <a:spcPct val="120000"/>
              </a:lnSpc>
              <a:spcBef>
                <a:spcPts val="0"/>
              </a:spcBef>
              <a:spcAft>
                <a:spcPts val="0"/>
              </a:spcAft>
              <a:buClr>
                <a:srgbClr val="272525"/>
              </a:buClr>
              <a:buSzPts val="1150"/>
              <a:buFont typeface="Inter"/>
              <a:buChar char="•"/>
            </a:pPr>
            <a:r>
              <a:rPr b="0" i="0" lang="en-US" sz="1150" u="none" cap="none" strike="noStrike">
                <a:solidFill>
                  <a:srgbClr val="272525"/>
                </a:solidFill>
                <a:latin typeface="Inter"/>
                <a:ea typeface="Inter"/>
                <a:cs typeface="Inter"/>
                <a:sym typeface="Inter"/>
              </a:rPr>
              <a:t>wba/: time analytics, sessions, groups, regret, insights</a:t>
            </a:r>
            <a:endParaRPr b="0" i="0" sz="1150" u="none" cap="none" strike="noStrike">
              <a:solidFill>
                <a:schemeClr val="dk1"/>
              </a:solidFill>
              <a:latin typeface="Calibri"/>
              <a:ea typeface="Calibri"/>
              <a:cs typeface="Calibri"/>
              <a:sym typeface="Calibri"/>
            </a:endParaRPr>
          </a:p>
          <a:p>
            <a:pPr indent="-233680" lvl="0" marL="233680" marR="0" rtl="0" algn="l">
              <a:lnSpc>
                <a:spcPct val="120000"/>
              </a:lnSpc>
              <a:spcBef>
                <a:spcPts val="0"/>
              </a:spcBef>
              <a:spcAft>
                <a:spcPts val="0"/>
              </a:spcAft>
              <a:buClr>
                <a:srgbClr val="272525"/>
              </a:buClr>
              <a:buSzPts val="1150"/>
              <a:buFont typeface="Inter"/>
              <a:buChar char="•"/>
            </a:pPr>
            <a:r>
              <a:rPr b="0" i="0" lang="en-US" sz="1150" u="none" cap="none" strike="noStrike">
                <a:solidFill>
                  <a:srgbClr val="272525"/>
                </a:solidFill>
                <a:latin typeface="Inter"/>
                <a:ea typeface="Inter"/>
                <a:cs typeface="Inter"/>
                <a:sym typeface="Inter"/>
              </a:rPr>
              <a:t>frontend/: React dashboard</a:t>
            </a:r>
            <a:endParaRPr b="0" i="0" sz="1150" u="none" cap="none" strike="noStrike">
              <a:solidFill>
                <a:schemeClr val="dk1"/>
              </a:solidFill>
              <a:latin typeface="Calibri"/>
              <a:ea typeface="Calibri"/>
              <a:cs typeface="Calibri"/>
              <a:sym typeface="Calibri"/>
            </a:endParaRPr>
          </a:p>
          <a:p>
            <a:pPr indent="-233680" lvl="0" marL="233680" marR="0" rtl="0" algn="l">
              <a:lnSpc>
                <a:spcPct val="120000"/>
              </a:lnSpc>
              <a:spcBef>
                <a:spcPts val="0"/>
              </a:spcBef>
              <a:spcAft>
                <a:spcPts val="0"/>
              </a:spcAft>
              <a:buClr>
                <a:srgbClr val="272525"/>
              </a:buClr>
              <a:buSzPts val="1150"/>
              <a:buFont typeface="Inter"/>
              <a:buChar char="•"/>
            </a:pPr>
            <a:r>
              <a:rPr b="0" i="0" lang="en-US" sz="1150" u="none" cap="none" strike="noStrike">
                <a:solidFill>
                  <a:srgbClr val="272525"/>
                </a:solidFill>
                <a:latin typeface="Inter"/>
                <a:ea typeface="Inter"/>
                <a:cs typeface="Inter"/>
                <a:sym typeface="Inter"/>
              </a:rPr>
              <a:t>extension/: Chrome Manifest V3 extension and popup</a:t>
            </a:r>
            <a:endParaRPr b="0" i="0" sz="1150" u="none" cap="none" strike="noStrike">
              <a:solidFill>
                <a:schemeClr val="dk1"/>
              </a:solidFill>
              <a:latin typeface="Calibri"/>
              <a:ea typeface="Calibri"/>
              <a:cs typeface="Calibri"/>
              <a:sym typeface="Calibri"/>
            </a:endParaRPr>
          </a:p>
          <a:p>
            <a:pPr indent="-233680" lvl="0" marL="233680" marR="0" rtl="0" algn="l">
              <a:lnSpc>
                <a:spcPct val="120000"/>
              </a:lnSpc>
              <a:spcBef>
                <a:spcPts val="0"/>
              </a:spcBef>
              <a:spcAft>
                <a:spcPts val="0"/>
              </a:spcAft>
              <a:buClr>
                <a:srgbClr val="272525"/>
              </a:buClr>
              <a:buSzPts val="1150"/>
              <a:buFont typeface="Inter"/>
              <a:buChar char="•"/>
            </a:pPr>
            <a:r>
              <a:rPr b="0" i="0" lang="en-US" sz="1150" u="none" cap="none" strike="noStrike">
                <a:solidFill>
                  <a:srgbClr val="272525"/>
                </a:solidFill>
                <a:latin typeface="Inter"/>
                <a:ea typeface="Inter"/>
                <a:cs typeface="Inter"/>
                <a:sym typeface="Inter"/>
              </a:rPr>
              <a:t>scripts/: setup, auth checks, enrichment maintenance</a:t>
            </a:r>
            <a:endParaRPr b="0" i="0" sz="1150" u="none" cap="none" strike="noStrike">
              <a:solidFill>
                <a:schemeClr val="dk1"/>
              </a:solidFill>
              <a:latin typeface="Calibri"/>
              <a:ea typeface="Calibri"/>
              <a:cs typeface="Calibri"/>
              <a:sym typeface="Calibri"/>
            </a:endParaRPr>
          </a:p>
          <a:p>
            <a:pPr indent="-233680" lvl="0" marL="233680" marR="0" rtl="0" algn="l">
              <a:lnSpc>
                <a:spcPct val="120000"/>
              </a:lnSpc>
              <a:spcBef>
                <a:spcPts val="0"/>
              </a:spcBef>
              <a:spcAft>
                <a:spcPts val="0"/>
              </a:spcAft>
              <a:buClr>
                <a:srgbClr val="272525"/>
              </a:buClr>
              <a:buSzPts val="1150"/>
              <a:buFont typeface="Inter"/>
              <a:buChar char="•"/>
            </a:pPr>
            <a:r>
              <a:rPr b="0" i="0" lang="en-US" sz="1150" u="none" cap="none" strike="noStrike">
                <a:solidFill>
                  <a:srgbClr val="272525"/>
                </a:solidFill>
                <a:latin typeface="Inter"/>
                <a:ea typeface="Inter"/>
                <a:cs typeface="Inter"/>
                <a:sym typeface="Inter"/>
              </a:rPr>
              <a:t>docs/: architecture and database design documents</a:t>
            </a:r>
            <a:endParaRPr b="0" i="0" sz="1150" u="none" cap="none" strike="noStrike">
              <a:solidFill>
                <a:schemeClr val="dk1"/>
              </a:solidFill>
              <a:latin typeface="Calibri"/>
              <a:ea typeface="Calibri"/>
              <a:cs typeface="Calibri"/>
              <a:sym typeface="Calibri"/>
            </a:endParaRPr>
          </a:p>
        </p:txBody>
      </p:sp>
      <p:sp>
        <p:nvSpPr>
          <p:cNvPr id="317" name="Google Shape;317;p26"/>
          <p:cNvSpPr/>
          <p:nvPr/>
        </p:nvSpPr>
        <p:spPr>
          <a:xfrm>
            <a:off x="661475" y="4784923"/>
            <a:ext cx="10868745" cy="235347"/>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CONCLUSION:</a:t>
            </a:r>
            <a:endParaRPr b="0" i="0" sz="1450" u="none" cap="none" strike="noStrike">
              <a:solidFill>
                <a:schemeClr val="dk1"/>
              </a:solidFill>
              <a:latin typeface="Calibri"/>
              <a:ea typeface="Calibri"/>
              <a:cs typeface="Calibri"/>
              <a:sym typeface="Calibri"/>
            </a:endParaRPr>
          </a:p>
        </p:txBody>
      </p:sp>
      <p:sp>
        <p:nvSpPr>
          <p:cNvPr id="318" name="Google Shape;318;p26"/>
          <p:cNvSpPr/>
          <p:nvPr/>
        </p:nvSpPr>
        <p:spPr>
          <a:xfrm>
            <a:off x="661475" y="5200253"/>
            <a:ext cx="10868745" cy="1082675"/>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72525"/>
              </a:buClr>
              <a:buSzPts val="1450"/>
              <a:buFont typeface="Inter"/>
              <a:buNone/>
            </a:pPr>
            <a:r>
              <a:rPr b="0" i="1" lang="en-US" sz="1450" u="none" cap="none" strike="noStrike">
                <a:solidFill>
                  <a:srgbClr val="272525"/>
                </a:solidFill>
                <a:latin typeface="Inter"/>
                <a:ea typeface="Inter"/>
                <a:cs typeface="Inter"/>
                <a:sym typeface="Inter"/>
              </a:rPr>
              <a:t>Phase III advances E.C.H.O. from a modular foundation toward an integrated local-first memory system. The repository contains canonical storage, source-aware enrichment and FAISS indexing, deterministic hybrid retrieval, digital wellbeing analytics, and a React/Chrome-extension interface. The final phase focuses on runtime reconciliation, empirical validation, UI refinements, privacy verification, and complete end-to-end testing.</a:t>
            </a:r>
            <a:endParaRPr b="0" i="0" sz="1450" u="none" cap="none" strike="noStrike">
              <a:solidFill>
                <a:schemeClr val="dk1"/>
              </a:solidFill>
              <a:latin typeface="Calibri"/>
              <a:ea typeface="Calibri"/>
              <a:cs typeface="Calibri"/>
              <a:sym typeface="Calibri"/>
            </a:endParaRPr>
          </a:p>
        </p:txBody>
      </p:sp>
      <p:pic>
        <p:nvPicPr>
          <p:cNvPr id="319" name="Google Shape;319;p26"/>
          <p:cNvPicPr preferRelativeResize="0"/>
          <p:nvPr/>
        </p:nvPicPr>
        <p:blipFill>
          <a:blip r:embed="rId4">
            <a:alphaModFix/>
          </a:blip>
          <a:stretch>
            <a:fillRect/>
          </a:stretch>
        </p:blipFill>
        <p:spPr>
          <a:xfrm>
            <a:off x="10793775" y="6462900"/>
            <a:ext cx="1346029" cy="37475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4" name="Shape 324"/>
        <p:cNvGrpSpPr/>
        <p:nvPr/>
      </p:nvGrpSpPr>
      <p:grpSpPr>
        <a:xfrm>
          <a:off x="0" y="0"/>
          <a:ext cx="0" cy="0"/>
          <a:chOff x="0" y="0"/>
          <a:chExt cx="0" cy="0"/>
        </a:xfrm>
      </p:grpSpPr>
      <p:sp>
        <p:nvSpPr>
          <p:cNvPr id="325" name="Google Shape;325;p27"/>
          <p:cNvSpPr/>
          <p:nvPr/>
        </p:nvSpPr>
        <p:spPr>
          <a:xfrm>
            <a:off x="661475" y="981472"/>
            <a:ext cx="10868745" cy="590649"/>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3700"/>
              <a:buFont typeface="Inter"/>
              <a:buNone/>
            </a:pPr>
            <a:r>
              <a:rPr b="1" i="0" lang="en-US" sz="3700" u="none" cap="none" strike="noStrike">
                <a:solidFill>
                  <a:srgbClr val="000000"/>
                </a:solidFill>
                <a:latin typeface="Inter"/>
                <a:ea typeface="Inter"/>
                <a:cs typeface="Inter"/>
                <a:sym typeface="Inter"/>
              </a:rPr>
              <a:t>References and Key Technologies</a:t>
            </a:r>
            <a:endParaRPr b="0" i="0" sz="3700" u="none" cap="none" strike="noStrike">
              <a:solidFill>
                <a:schemeClr val="dk1"/>
              </a:solidFill>
              <a:latin typeface="Calibri"/>
              <a:ea typeface="Calibri"/>
              <a:cs typeface="Calibri"/>
              <a:sym typeface="Calibri"/>
            </a:endParaRPr>
          </a:p>
        </p:txBody>
      </p:sp>
      <p:sp>
        <p:nvSpPr>
          <p:cNvPr id="326" name="Google Shape;326;p27"/>
          <p:cNvSpPr/>
          <p:nvPr/>
        </p:nvSpPr>
        <p:spPr>
          <a:xfrm>
            <a:off x="661475" y="1647726"/>
            <a:ext cx="10868745" cy="354409"/>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000000"/>
              </a:buClr>
              <a:buSzPts val="2200"/>
              <a:buFont typeface="Inter"/>
              <a:buNone/>
            </a:pPr>
            <a:r>
              <a:rPr b="1" i="0" lang="en-US" sz="2200" u="none" cap="none" strike="noStrike">
                <a:solidFill>
                  <a:srgbClr val="000000"/>
                </a:solidFill>
                <a:latin typeface="Inter"/>
                <a:ea typeface="Inter"/>
                <a:cs typeface="Inter"/>
                <a:sym typeface="Inter"/>
              </a:rPr>
              <a:t>REFERENCES (IEEE Format):</a:t>
            </a:r>
            <a:endParaRPr b="0" i="0" sz="2200" u="none" cap="none" strike="noStrike">
              <a:solidFill>
                <a:schemeClr val="dk1"/>
              </a:solidFill>
              <a:latin typeface="Calibri"/>
              <a:ea typeface="Calibri"/>
              <a:cs typeface="Calibri"/>
              <a:sym typeface="Calibri"/>
            </a:endParaRPr>
          </a:p>
        </p:txBody>
      </p:sp>
      <p:sp>
        <p:nvSpPr>
          <p:cNvPr id="327" name="Google Shape;327;p27"/>
          <p:cNvSpPr/>
          <p:nvPr/>
        </p:nvSpPr>
        <p:spPr>
          <a:xfrm>
            <a:off x="661475" y="2285603"/>
            <a:ext cx="10868745" cy="3590925"/>
          </a:xfrm>
          <a:prstGeom prst="rect">
            <a:avLst/>
          </a:prstGeom>
          <a:noFill/>
          <a:ln>
            <a:noFill/>
          </a:ln>
        </p:spPr>
        <p:txBody>
          <a:bodyPr anchorCtr="0" anchor="t" bIns="0" lIns="0" spcFirstLastPara="1" rIns="0" wrap="square" tIns="0">
            <a:noAutofit/>
          </a:bodyPr>
          <a:lstStyle/>
          <a:p>
            <a:pPr indent="-294640" lvl="0" marL="294640" marR="0" rtl="0" algn="l">
              <a:lnSpc>
                <a:spcPct val="133000"/>
              </a:lnSpc>
              <a:spcBef>
                <a:spcPts val="0"/>
              </a:spcBef>
              <a:spcAft>
                <a:spcPts val="0"/>
              </a:spcAft>
              <a:buClr>
                <a:srgbClr val="272525"/>
              </a:buClr>
              <a:buSzPts val="1450"/>
              <a:buFont typeface="Calibri"/>
              <a:buAutoNum type="arabicPeriod"/>
            </a:pPr>
            <a:r>
              <a:rPr b="0" i="0" lang="en-US" sz="1450" u="none" cap="none" strike="noStrike">
                <a:solidFill>
                  <a:srgbClr val="272525"/>
                </a:solidFill>
                <a:latin typeface="Inter"/>
                <a:ea typeface="Inter"/>
                <a:cs typeface="Inter"/>
                <a:sym typeface="Inter"/>
              </a:rPr>
              <a:t>[1] N. Reimers and I. Gurevych, "Sentence-BERT: Sentence embeddings using Siamese BERT-networks," in Proceedings of the 2019 Conference on Empirical Methods in Natural Language Processing, 2019.</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Calibri"/>
              <a:buAutoNum type="arabicPeriod"/>
            </a:pPr>
            <a:r>
              <a:rPr b="0" i="0" lang="en-US" sz="1450" u="none" cap="none" strike="noStrike">
                <a:solidFill>
                  <a:srgbClr val="272525"/>
                </a:solidFill>
                <a:latin typeface="Inter"/>
                <a:ea typeface="Inter"/>
                <a:cs typeface="Inter"/>
                <a:sym typeface="Inter"/>
              </a:rPr>
              <a:t>[2] J. Johnson, M. Douze, and H. Jégou, "Billion-scale similarity search with GPUs," IEEE Transactions on Big Data, vol. 7, no. 3, pp. 535–547, 2021.</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Calibri"/>
              <a:buAutoNum type="arabicPeriod"/>
            </a:pPr>
            <a:r>
              <a:rPr b="0" i="0" lang="en-US" sz="1450" u="none" cap="none" strike="noStrike">
                <a:solidFill>
                  <a:srgbClr val="272525"/>
                </a:solidFill>
                <a:latin typeface="Inter"/>
                <a:ea typeface="Inter"/>
                <a:cs typeface="Inter"/>
                <a:sym typeface="Inter"/>
              </a:rPr>
              <a:t>[3] LangChain and LangGraph Documentation, "Building language model applications with composable components," https://python.langchain.com, 2024.</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Calibri"/>
              <a:buAutoNum type="arabicPeriod"/>
            </a:pPr>
            <a:r>
              <a:rPr b="0" i="0" lang="en-US" sz="1450" u="none" cap="none" strike="noStrike">
                <a:solidFill>
                  <a:srgbClr val="272525"/>
                </a:solidFill>
                <a:latin typeface="Inter"/>
                <a:ea typeface="Inter"/>
                <a:cs typeface="Inter"/>
                <a:sym typeface="Inter"/>
              </a:rPr>
              <a:t>[4] M. Kleppmann, A. Wiggins, P. van Hardenberg, and M. McGranaghan, "Local-first software: You own your data, in spite of the cloud," in Proceedings of the 2019 ACM SIGPLAN International Symposium on New Ideas, New Paradigms, and Reflections on Programming and Software, 2019.</a:t>
            </a:r>
            <a:endParaRPr b="0" i="0" sz="1450" u="none" cap="none" strike="noStrike">
              <a:solidFill>
                <a:schemeClr val="dk1"/>
              </a:solidFill>
              <a:latin typeface="Calibri"/>
              <a:ea typeface="Calibri"/>
              <a:cs typeface="Calibri"/>
              <a:sym typeface="Calibri"/>
            </a:endParaRPr>
          </a:p>
          <a:p>
            <a:pPr indent="-294640" lvl="0" marL="294640" marR="0" rtl="0" algn="l">
              <a:lnSpc>
                <a:spcPct val="133000"/>
              </a:lnSpc>
              <a:spcBef>
                <a:spcPts val="0"/>
              </a:spcBef>
              <a:spcAft>
                <a:spcPts val="0"/>
              </a:spcAft>
              <a:buClr>
                <a:srgbClr val="272525"/>
              </a:buClr>
              <a:buSzPts val="1450"/>
              <a:buFont typeface="Calibri"/>
              <a:buAutoNum type="arabicPeriod"/>
            </a:pPr>
            <a:r>
              <a:rPr b="0" i="0" lang="en-US" sz="1450" u="none" cap="none" strike="noStrike">
                <a:solidFill>
                  <a:srgbClr val="272525"/>
                </a:solidFill>
                <a:latin typeface="Inter"/>
                <a:ea typeface="Inter"/>
                <a:cs typeface="Inter"/>
                <a:sym typeface="Inter"/>
              </a:rPr>
              <a:t>[5] A. Thorp, "Digital wellbeing and regrettable usage patterns: A framework for understanding and supporting healthy digital habits," Journal of Digital Wellbeing, vol. 5, no. 2, pp. 112–128, 2023.</a:t>
            </a:r>
            <a:endParaRPr b="0" i="0" sz="1450" u="none" cap="none" strike="noStrike">
              <a:solidFill>
                <a:schemeClr val="dk1"/>
              </a:solidFill>
              <a:latin typeface="Calibri"/>
              <a:ea typeface="Calibri"/>
              <a:cs typeface="Calibri"/>
              <a:sym typeface="Calibri"/>
            </a:endParaRPr>
          </a:p>
        </p:txBody>
      </p:sp>
      <p:pic>
        <p:nvPicPr>
          <p:cNvPr id="328" name="Google Shape;328;p27"/>
          <p:cNvPicPr preferRelativeResize="0"/>
          <p:nvPr/>
        </p:nvPicPr>
        <p:blipFill>
          <a:blip r:embed="rId3">
            <a:alphaModFix/>
          </a:blip>
          <a:stretch>
            <a:fillRect/>
          </a:stretch>
        </p:blipFill>
        <p:spPr>
          <a:xfrm>
            <a:off x="10515275" y="6391275"/>
            <a:ext cx="1676400" cy="46672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4950BC"/>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4950BC"/>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