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28"/>
  </p:notesMasterIdLst>
  <p:sldIdLst>
    <p:sldId id="256" r:id="rId2"/>
    <p:sldId id="280" r:id="rId3"/>
    <p:sldId id="257" r:id="rId4"/>
    <p:sldId id="258" r:id="rId5"/>
    <p:sldId id="259" r:id="rId6"/>
    <p:sldId id="260" r:id="rId7"/>
    <p:sldId id="283"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embeddedFontLst>
    <p:embeddedFont>
      <p:font typeface="Inter" panose="020B0604020202020204" charset="0"/>
      <p:bold r:id="rId29"/>
      <p:boldItalic r:id="rId30"/>
    </p:embeddedFont>
    <p:embeddedFont>
      <p:font typeface="Trebuchet MS" panose="020B060302020202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ECF8E9-5879-42D1-B8A0-3D792A3639C8}">
  <a:tblStyle styleId="{46ECF8E9-5879-42D1-B8A0-3D792A3639C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43"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 name="Google Shape;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 name="Google Shape;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 name="Google Shape;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10"/>
        <p:cNvGrpSpPr/>
        <p:nvPr/>
      </p:nvGrpSpPr>
      <p:grpSpPr>
        <a:xfrm>
          <a:off x="0" y="0"/>
          <a:ext cx="0" cy="0"/>
          <a:chOff x="0" y="0"/>
          <a:chExt cx="0" cy="0"/>
        </a:xfrm>
      </p:grpSpPr>
      <p:sp>
        <p:nvSpPr>
          <p:cNvPr id="11" name="Google Shape;11;p2"/>
          <p:cNvSpPr/>
          <p:nvPr/>
        </p:nvSpPr>
        <p:spPr>
          <a:xfrm>
            <a:off x="0" y="0"/>
            <a:ext cx="12191695" cy="6858000"/>
          </a:xfrm>
          <a:prstGeom prst="rect">
            <a:avLst/>
          </a:prstGeom>
          <a:solidFill>
            <a:srgbClr val="F6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0"/>
            <a:ext cx="12191695"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descr="preencoded.png">
            <a:hlinkClick r:id="rId2"/>
          </p:cNvPr>
          <p:cNvPicPr preferRelativeResize="0"/>
          <p:nvPr/>
        </p:nvPicPr>
        <p:blipFill rotWithShape="1">
          <a:blip r:embed="rId3">
            <a:alphaModFix/>
          </a:blip>
          <a:srcRect/>
          <a:stretch/>
        </p:blipFill>
        <p:spPr>
          <a:xfrm>
            <a:off x="11076875" y="65589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hehzaad-khan/Efficient-Contextualized-History-Orchestrator-E.C.H.O.git"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3">
            <a:alphaModFix/>
          </a:blip>
          <a:srcRect/>
          <a:stretch/>
        </p:blipFill>
        <p:spPr>
          <a:xfrm>
            <a:off x="11044457" y="567333"/>
            <a:ext cx="485763" cy="175022"/>
          </a:xfrm>
          <a:prstGeom prst="rect">
            <a:avLst/>
          </a:prstGeom>
          <a:noFill/>
          <a:ln>
            <a:noFill/>
          </a:ln>
        </p:spPr>
      </p:pic>
      <p:sp>
        <p:nvSpPr>
          <p:cNvPr id="21" name="Google Shape;21;p4"/>
          <p:cNvSpPr/>
          <p:nvPr/>
        </p:nvSpPr>
        <p:spPr>
          <a:xfrm>
            <a:off x="661475" y="922338"/>
            <a:ext cx="10868745" cy="282377"/>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0000"/>
              </a:buClr>
              <a:buSzPts val="1750"/>
              <a:buFont typeface="Inter"/>
              <a:buNone/>
            </a:pPr>
            <a:r>
              <a:rPr lang="en-US" sz="1750" b="1" i="0" u="none" strike="noStrike" cap="none">
                <a:solidFill>
                  <a:srgbClr val="000000"/>
                </a:solidFill>
                <a:latin typeface="Inter"/>
                <a:ea typeface="Inter"/>
                <a:cs typeface="Inter"/>
                <a:sym typeface="Inter"/>
              </a:rPr>
              <a:t>UE23CS441A – Capstone Project Phase – 3</a:t>
            </a:r>
            <a:endParaRPr sz="1750" b="0" i="0" u="none" strike="noStrike" cap="none">
              <a:solidFill>
                <a:schemeClr val="dk1"/>
              </a:solidFill>
              <a:latin typeface="Calibri"/>
              <a:ea typeface="Calibri"/>
              <a:cs typeface="Calibri"/>
              <a:sym typeface="Calibri"/>
            </a:endParaRPr>
          </a:p>
        </p:txBody>
      </p:sp>
      <p:sp>
        <p:nvSpPr>
          <p:cNvPr id="22" name="Google Shape;22;p4"/>
          <p:cNvSpPr/>
          <p:nvPr/>
        </p:nvSpPr>
        <p:spPr>
          <a:xfrm>
            <a:off x="356682" y="1384697"/>
            <a:ext cx="11478330" cy="216495"/>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272525"/>
              </a:buClr>
              <a:buSzPts val="1150"/>
              <a:buFont typeface="Inter"/>
              <a:buNone/>
            </a:pPr>
            <a:r>
              <a:rPr lang="en-US" sz="1150" b="1" i="0" u="none" strike="noStrike" cap="none" dirty="0">
                <a:solidFill>
                  <a:srgbClr val="272525"/>
                </a:solidFill>
                <a:latin typeface="Inter"/>
                <a:ea typeface="Inter"/>
                <a:cs typeface="Inter"/>
                <a:sym typeface="Inter"/>
              </a:rPr>
              <a:t>Project Progress Review #2</a:t>
            </a:r>
            <a:endParaRPr sz="1150" b="0" i="0" u="none" strike="noStrike" cap="none" dirty="0">
              <a:solidFill>
                <a:schemeClr val="dk1"/>
              </a:solidFill>
              <a:latin typeface="Calibri"/>
              <a:ea typeface="Calibri"/>
              <a:cs typeface="Calibri"/>
              <a:sym typeface="Calibri"/>
            </a:endParaRPr>
          </a:p>
        </p:txBody>
      </p:sp>
      <p:sp>
        <p:nvSpPr>
          <p:cNvPr id="23" name="Google Shape;23;p4"/>
          <p:cNvSpPr/>
          <p:nvPr/>
        </p:nvSpPr>
        <p:spPr>
          <a:xfrm>
            <a:off x="661475" y="1781175"/>
            <a:ext cx="10868745" cy="94138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0000"/>
              </a:buClr>
              <a:buSzPts val="5900"/>
              <a:buFont typeface="Inter"/>
              <a:buNone/>
            </a:pPr>
            <a:r>
              <a:rPr lang="en-US" sz="5900" b="1" i="0" u="none" strike="noStrike" cap="none">
                <a:solidFill>
                  <a:srgbClr val="000000"/>
                </a:solidFill>
                <a:latin typeface="Inter"/>
                <a:ea typeface="Inter"/>
                <a:cs typeface="Inter"/>
                <a:sym typeface="Inter"/>
              </a:rPr>
              <a:t>E.C.H.O.</a:t>
            </a:r>
            <a:endParaRPr sz="5900" b="0" i="0" u="none" strike="noStrike" cap="none">
              <a:solidFill>
                <a:schemeClr val="dk1"/>
              </a:solidFill>
              <a:latin typeface="Calibri"/>
              <a:ea typeface="Calibri"/>
              <a:cs typeface="Calibri"/>
              <a:sym typeface="Calibri"/>
            </a:endParaRPr>
          </a:p>
        </p:txBody>
      </p:sp>
      <p:sp>
        <p:nvSpPr>
          <p:cNvPr id="24" name="Google Shape;24;p4"/>
          <p:cNvSpPr/>
          <p:nvPr/>
        </p:nvSpPr>
        <p:spPr>
          <a:xfrm>
            <a:off x="661475" y="2902545"/>
            <a:ext cx="10868745" cy="376535"/>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0000"/>
              </a:buClr>
              <a:buSzPts val="2350"/>
              <a:buFont typeface="Inter"/>
              <a:buNone/>
            </a:pPr>
            <a:r>
              <a:rPr lang="en-US" sz="2350" b="1" i="0" u="none" strike="noStrike" cap="none">
                <a:solidFill>
                  <a:srgbClr val="000000"/>
                </a:solidFill>
                <a:latin typeface="Inter"/>
                <a:ea typeface="Inter"/>
                <a:cs typeface="Inter"/>
                <a:sym typeface="Inter"/>
              </a:rPr>
              <a:t>Efficient Contextualized History Orchestrator</a:t>
            </a:r>
            <a:endParaRPr sz="2350" b="0" i="0" u="none" strike="noStrike" cap="none">
              <a:solidFill>
                <a:schemeClr val="dk1"/>
              </a:solidFill>
              <a:latin typeface="Calibri"/>
              <a:ea typeface="Calibri"/>
              <a:cs typeface="Calibri"/>
              <a:sym typeface="Calibri"/>
            </a:endParaRPr>
          </a:p>
        </p:txBody>
      </p:sp>
      <p:sp>
        <p:nvSpPr>
          <p:cNvPr id="25" name="Google Shape;25;p4"/>
          <p:cNvSpPr/>
          <p:nvPr/>
        </p:nvSpPr>
        <p:spPr>
          <a:xfrm>
            <a:off x="661475" y="3459063"/>
            <a:ext cx="10868745" cy="676275"/>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Project ID:</a:t>
            </a:r>
            <a:r>
              <a:rPr lang="en-US" sz="1450" b="0" i="0" u="none" strike="noStrike" cap="none">
                <a:solidFill>
                  <a:srgbClr val="272525"/>
                </a:solidFill>
                <a:latin typeface="Inter"/>
                <a:ea typeface="Inter"/>
                <a:cs typeface="Inter"/>
                <a:sym typeface="Inter"/>
              </a:rPr>
              <a:t> 92</a:t>
            </a:r>
            <a:endParaRPr sz="1450" b="0" i="0" u="none" strike="noStrike" cap="none">
              <a:solidFill>
                <a:schemeClr val="dk1"/>
              </a:solidFill>
              <a:latin typeface="Calibri"/>
              <a:ea typeface="Calibri"/>
              <a:cs typeface="Calibri"/>
              <a:sym typeface="Calibri"/>
            </a:endParaRPr>
          </a:p>
          <a:p>
            <a:pPr marL="0" marR="0" lvl="0" indent="0" algn="ctr" rtl="0">
              <a:lnSpc>
                <a:spcPct val="120000"/>
              </a:lnSpc>
              <a:spcBef>
                <a:spcPts val="10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Project Guide:</a:t>
            </a:r>
            <a:r>
              <a:rPr lang="en-US" sz="1450" b="0" i="0" u="none" strike="noStrike" cap="none">
                <a:solidFill>
                  <a:srgbClr val="272525"/>
                </a:solidFill>
                <a:latin typeface="Inter"/>
                <a:ea typeface="Inter"/>
                <a:cs typeface="Inter"/>
                <a:sym typeface="Inter"/>
              </a:rPr>
              <a:t> Dr. M. Shalima Sulthana</a:t>
            </a:r>
            <a:endParaRPr sz="1450" b="0" i="0" u="none" strike="noStrike" cap="none">
              <a:solidFill>
                <a:schemeClr val="dk1"/>
              </a:solidFill>
              <a:latin typeface="Calibri"/>
              <a:ea typeface="Calibri"/>
              <a:cs typeface="Calibri"/>
              <a:sym typeface="Calibri"/>
            </a:endParaRPr>
          </a:p>
        </p:txBody>
      </p:sp>
      <p:sp>
        <p:nvSpPr>
          <p:cNvPr id="26" name="Google Shape;26;p4"/>
          <p:cNvSpPr/>
          <p:nvPr/>
        </p:nvSpPr>
        <p:spPr>
          <a:xfrm>
            <a:off x="661475" y="4315321"/>
            <a:ext cx="10868745" cy="235347"/>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0000"/>
              </a:buClr>
              <a:buSzPts val="1450"/>
              <a:buFont typeface="Inter"/>
              <a:buNone/>
            </a:pPr>
            <a:r>
              <a:rPr lang="en-US" sz="1450" b="1" i="0" u="none" strike="noStrike" cap="none">
                <a:solidFill>
                  <a:srgbClr val="000000"/>
                </a:solidFill>
                <a:latin typeface="Inter"/>
                <a:ea typeface="Inter"/>
                <a:cs typeface="Inter"/>
                <a:sym typeface="Inter"/>
              </a:rPr>
              <a:t>Team Members:</a:t>
            </a:r>
            <a:endParaRPr sz="1450" b="0" i="0" u="none" strike="noStrike" cap="none">
              <a:solidFill>
                <a:schemeClr val="dk1"/>
              </a:solidFill>
              <a:latin typeface="Calibri"/>
              <a:ea typeface="Calibri"/>
              <a:cs typeface="Calibri"/>
              <a:sym typeface="Calibri"/>
            </a:endParaRPr>
          </a:p>
        </p:txBody>
      </p:sp>
      <p:sp>
        <p:nvSpPr>
          <p:cNvPr id="27" name="Google Shape;27;p4"/>
          <p:cNvSpPr/>
          <p:nvPr/>
        </p:nvSpPr>
        <p:spPr>
          <a:xfrm>
            <a:off x="661475" y="5082084"/>
            <a:ext cx="10868745" cy="1208584"/>
          </a:xfrm>
          <a:prstGeom prst="rect">
            <a:avLst/>
          </a:prstGeom>
          <a:noFill/>
          <a:ln>
            <a:noFill/>
          </a:ln>
        </p:spPr>
        <p:txBody>
          <a:bodyPr spcFirstLastPara="1" wrap="square" lIns="0" tIns="75300" rIns="0" bIns="0" anchor="t" anchorCtr="0">
            <a:noAutofit/>
          </a:bodyPr>
          <a:lstStyle/>
          <a:p>
            <a:pPr marL="294640" marR="0" lvl="0" indent="-294640" algn="l" rtl="0">
              <a:lnSpc>
                <a:spcPct val="120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Mrigank Jain — PES2UG23CS352</a:t>
            </a:r>
            <a:endParaRPr sz="1450" b="0" i="0" u="none" strike="noStrike" cap="none">
              <a:solidFill>
                <a:schemeClr val="dk1"/>
              </a:solidFill>
              <a:latin typeface="Calibri"/>
              <a:ea typeface="Calibri"/>
              <a:cs typeface="Calibri"/>
              <a:sym typeface="Calibri"/>
            </a:endParaRPr>
          </a:p>
          <a:p>
            <a:pPr marL="294640" marR="0" lvl="0" indent="-294640" algn="l" rtl="0">
              <a:lnSpc>
                <a:spcPct val="120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Mohammed Mir Fazlai Ali — PES2UG23CS346</a:t>
            </a:r>
            <a:endParaRPr sz="1450" b="0" i="0" u="none" strike="noStrike" cap="none">
              <a:solidFill>
                <a:schemeClr val="dk1"/>
              </a:solidFill>
              <a:latin typeface="Calibri"/>
              <a:ea typeface="Calibri"/>
              <a:cs typeface="Calibri"/>
              <a:sym typeface="Calibri"/>
            </a:endParaRPr>
          </a:p>
          <a:p>
            <a:pPr marL="294640" marR="0" lvl="0" indent="-294640" algn="l" rtl="0">
              <a:lnSpc>
                <a:spcPct val="120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Mohammed Shehzaad Khan — PES2UG23CS349</a:t>
            </a:r>
            <a:endParaRPr sz="1450" b="0" i="0" u="none" strike="noStrike" cap="none">
              <a:solidFill>
                <a:schemeClr val="dk1"/>
              </a:solidFill>
              <a:latin typeface="Calibri"/>
              <a:ea typeface="Calibri"/>
              <a:cs typeface="Calibri"/>
              <a:sym typeface="Calibri"/>
            </a:endParaRPr>
          </a:p>
          <a:p>
            <a:pPr marL="294640" marR="0" lvl="0" indent="-294640" algn="l" rtl="0">
              <a:lnSpc>
                <a:spcPct val="120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Arjun Sai N — PES2UG23CS091</a:t>
            </a:r>
            <a:endParaRPr sz="1450" b="0" i="0" u="none" strike="noStrike" cap="none">
              <a:solidFill>
                <a:schemeClr val="dk1"/>
              </a:solidFill>
              <a:latin typeface="Calibri"/>
              <a:ea typeface="Calibri"/>
              <a:cs typeface="Calibri"/>
              <a:sym typeface="Calibri"/>
            </a:endParaRPr>
          </a:p>
        </p:txBody>
      </p:sp>
      <p:pic>
        <p:nvPicPr>
          <p:cNvPr id="28" name="Google Shape;28;p4"/>
          <p:cNvPicPr preferRelativeResize="0"/>
          <p:nvPr/>
        </p:nvPicPr>
        <p:blipFill>
          <a:blip r:embed="rId4">
            <a:alphaModFix/>
          </a:blip>
          <a:stretch>
            <a:fillRect/>
          </a:stretch>
        </p:blipFill>
        <p:spPr>
          <a:xfrm>
            <a:off x="10977674" y="6481475"/>
            <a:ext cx="1146850" cy="376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63EBF7-BBB6-F152-437F-49EBCD44A5C1}"/>
              </a:ext>
            </a:extLst>
          </p:cNvPr>
          <p:cNvSpPr txBox="1"/>
          <p:nvPr/>
        </p:nvSpPr>
        <p:spPr>
          <a:xfrm>
            <a:off x="-1641231" y="702732"/>
            <a:ext cx="6400800" cy="584775"/>
          </a:xfrm>
          <a:prstGeom prst="rect">
            <a:avLst/>
          </a:prstGeom>
          <a:noFill/>
        </p:spPr>
        <p:txBody>
          <a:bodyPr wrap="square">
            <a:spAutoFit/>
          </a:bodyPr>
          <a:lstStyle/>
          <a:p>
            <a:pPr marL="342891" indent="-342891" algn="r" eaLnBrk="0" hangingPunct="0">
              <a:defRPr/>
            </a:pPr>
            <a:r>
              <a:rPr lang="en-US" sz="3200" b="1" dirty="0">
                <a:solidFill>
                  <a:schemeClr val="tx1"/>
                </a:solidFill>
                <a:latin typeface="Trebuchet MS" pitchFamily="34" charset="0"/>
              </a:rPr>
              <a:t>Guide Approval Mail</a:t>
            </a:r>
          </a:p>
        </p:txBody>
      </p:sp>
      <p:pic>
        <p:nvPicPr>
          <p:cNvPr id="7" name="Picture 6">
            <a:extLst>
              <a:ext uri="{FF2B5EF4-FFF2-40B4-BE49-F238E27FC236}">
                <a16:creationId xmlns:a16="http://schemas.microsoft.com/office/drawing/2014/main" id="{761FF258-AC79-F1A0-C847-93C30B0A5F07}"/>
              </a:ext>
            </a:extLst>
          </p:cNvPr>
          <p:cNvPicPr>
            <a:picLocks noChangeAspect="1"/>
          </p:cNvPicPr>
          <p:nvPr/>
        </p:nvPicPr>
        <p:blipFill>
          <a:blip r:embed="rId2"/>
          <a:stretch>
            <a:fillRect/>
          </a:stretch>
        </p:blipFill>
        <p:spPr>
          <a:xfrm>
            <a:off x="10497956" y="471900"/>
            <a:ext cx="1371719" cy="461665"/>
          </a:xfrm>
          <a:prstGeom prst="rect">
            <a:avLst/>
          </a:prstGeom>
        </p:spPr>
      </p:pic>
    </p:spTree>
    <p:extLst>
      <p:ext uri="{BB962C8B-B14F-4D97-AF65-F5344CB8AC3E}">
        <p14:creationId xmlns:p14="http://schemas.microsoft.com/office/powerpoint/2010/main" val="3099271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pic>
        <p:nvPicPr>
          <p:cNvPr id="34" name="Google Shape;34;p5" descr="preencoded.png"/>
          <p:cNvPicPr preferRelativeResize="0"/>
          <p:nvPr/>
        </p:nvPicPr>
        <p:blipFill rotWithShape="1">
          <a:blip r:embed="rId3">
            <a:alphaModFix/>
          </a:blip>
          <a:srcRect/>
          <a:stretch/>
        </p:blipFill>
        <p:spPr>
          <a:xfrm>
            <a:off x="10920635" y="746621"/>
            <a:ext cx="609585" cy="219670"/>
          </a:xfrm>
          <a:prstGeom prst="rect">
            <a:avLst/>
          </a:prstGeom>
          <a:noFill/>
          <a:ln>
            <a:noFill/>
          </a:ln>
        </p:spPr>
      </p:pic>
      <p:sp>
        <p:nvSpPr>
          <p:cNvPr id="35" name="Google Shape;35;p5"/>
          <p:cNvSpPr/>
          <p:nvPr/>
        </p:nvSpPr>
        <p:spPr>
          <a:xfrm>
            <a:off x="661475" y="1249759"/>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Outline</a:t>
            </a:r>
            <a:endParaRPr sz="3700" b="0" i="0" u="none" strike="noStrike" cap="none">
              <a:solidFill>
                <a:schemeClr val="dk1"/>
              </a:solidFill>
              <a:latin typeface="Calibri"/>
              <a:ea typeface="Calibri"/>
              <a:cs typeface="Calibri"/>
              <a:sym typeface="Calibri"/>
            </a:endParaRPr>
          </a:p>
        </p:txBody>
      </p:sp>
      <p:sp>
        <p:nvSpPr>
          <p:cNvPr id="36" name="Google Shape;36;p5"/>
          <p:cNvSpPr/>
          <p:nvPr/>
        </p:nvSpPr>
        <p:spPr>
          <a:xfrm>
            <a:off x="661475" y="2123877"/>
            <a:ext cx="10868745" cy="3987403"/>
          </a:xfrm>
          <a:prstGeom prst="rect">
            <a:avLst/>
          </a:prstGeom>
          <a:noFill/>
          <a:ln>
            <a:noFill/>
          </a:ln>
        </p:spPr>
        <p:txBody>
          <a:bodyPr spcFirstLastPara="1" wrap="square" lIns="0" tIns="75600" rIns="0" bIns="0" anchor="t" anchorCtr="0">
            <a:noAutofit/>
          </a:bodyPr>
          <a:lstStyle/>
          <a:p>
            <a:pPr marL="685791" indent="-342900" algn="just" eaLnBrk="0" hangingPunct="0">
              <a:spcBef>
                <a:spcPct val="20000"/>
              </a:spcBef>
              <a:buFont typeface="Arial" panose="020B0604020202020204" pitchFamily="34" charset="0"/>
              <a:buChar char="•"/>
              <a:defRPr/>
            </a:pPr>
            <a:endParaRPr lang="en-IN" dirty="0">
              <a:solidFill>
                <a:srgbClr val="0000FF"/>
              </a:solidFill>
              <a:latin typeface="Trebuchet MS" pitchFamily="34" charset="0"/>
            </a:endParaRPr>
          </a:p>
          <a:p>
            <a:pPr marL="685791" indent="-342900" algn="just" eaLnBrk="0" hangingPunct="0">
              <a:spcBef>
                <a:spcPct val="20000"/>
              </a:spcBef>
              <a:buFont typeface="Arial" panose="020B0604020202020204" pitchFamily="34" charset="0"/>
              <a:buChar char="•"/>
              <a:defRPr/>
            </a:pPr>
            <a:endParaRPr lang="en-IN" dirty="0">
              <a:solidFill>
                <a:srgbClr val="0000FF"/>
              </a:solidFill>
              <a:latin typeface="Trebuchet MS" pitchFamily="34" charset="0"/>
            </a:endParaRP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Abstract and Scope of the Project. (1 slide)</a:t>
            </a: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Suggestions from Review –1 of Phase-3.(1 slide)</a:t>
            </a: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Project Progress and Demonstration post Review-1(Phase-3)(7-8 slides)</a:t>
            </a: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Timeline for Pending Tasks.</a:t>
            </a: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Conclusion.</a:t>
            </a:r>
          </a:p>
          <a:p>
            <a:pPr marL="685791" indent="-342900" algn="just" eaLnBrk="0" hangingPunct="0">
              <a:buFont typeface="Wingdings" pitchFamily="2" charset="2"/>
              <a:buChar char="§"/>
              <a:defRPr/>
            </a:pPr>
            <a:r>
              <a:rPr lang="en-US" sz="2400" dirty="0">
                <a:solidFill>
                  <a:schemeClr val="tx1"/>
                </a:solidFill>
                <a:latin typeface="Trebuchet MS"/>
                <a:ea typeface="Trebuchet MS"/>
                <a:cs typeface="Trebuchet MS"/>
                <a:sym typeface="Trebuchet MS"/>
              </a:rPr>
              <a:t>References.</a:t>
            </a:r>
          </a:p>
        </p:txBody>
      </p:sp>
      <p:pic>
        <p:nvPicPr>
          <p:cNvPr id="37" name="Google Shape;37;p5"/>
          <p:cNvPicPr preferRelativeResize="0"/>
          <p:nvPr/>
        </p:nvPicPr>
        <p:blipFill>
          <a:blip r:embed="rId4">
            <a:alphaModFix/>
          </a:blip>
          <a:stretch>
            <a:fillRect/>
          </a:stretch>
        </p:blipFill>
        <p:spPr>
          <a:xfrm>
            <a:off x="10820725" y="6276075"/>
            <a:ext cx="1370950" cy="517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pic>
        <p:nvPicPr>
          <p:cNvPr id="43" name="Google Shape;43;p6" descr="preencoded.png"/>
          <p:cNvPicPr preferRelativeResize="0"/>
          <p:nvPr/>
        </p:nvPicPr>
        <p:blipFill rotWithShape="1">
          <a:blip r:embed="rId3">
            <a:alphaModFix/>
          </a:blip>
          <a:srcRect/>
          <a:stretch/>
        </p:blipFill>
        <p:spPr>
          <a:xfrm>
            <a:off x="10920635" y="1448098"/>
            <a:ext cx="609585" cy="219670"/>
          </a:xfrm>
          <a:prstGeom prst="rect">
            <a:avLst/>
          </a:prstGeom>
          <a:noFill/>
          <a:ln>
            <a:noFill/>
          </a:ln>
        </p:spPr>
      </p:pic>
      <p:sp>
        <p:nvSpPr>
          <p:cNvPr id="44" name="Google Shape;44;p6"/>
          <p:cNvSpPr/>
          <p:nvPr/>
        </p:nvSpPr>
        <p:spPr>
          <a:xfrm>
            <a:off x="661475" y="1951236"/>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The Problem: Fragmented Digital History</a:t>
            </a:r>
            <a:endParaRPr sz="3700" b="0" i="0" u="none" strike="noStrike" cap="none">
              <a:solidFill>
                <a:schemeClr val="dk1"/>
              </a:solidFill>
              <a:latin typeface="Calibri"/>
              <a:ea typeface="Calibri"/>
              <a:cs typeface="Calibri"/>
              <a:sym typeface="Calibri"/>
            </a:endParaRPr>
          </a:p>
        </p:txBody>
      </p:sp>
      <p:sp>
        <p:nvSpPr>
          <p:cNvPr id="45" name="Google Shape;45;p6"/>
          <p:cNvSpPr/>
          <p:nvPr/>
        </p:nvSpPr>
        <p:spPr>
          <a:xfrm>
            <a:off x="661475" y="2825353"/>
            <a:ext cx="11478330" cy="302419"/>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Personal digital context is fragmented across multiple applications. A user may:</a:t>
            </a:r>
            <a:endParaRPr sz="1450" b="0" i="0" u="none" strike="noStrike" cap="none">
              <a:solidFill>
                <a:schemeClr val="dk1"/>
              </a:solidFill>
              <a:latin typeface="Calibri"/>
              <a:ea typeface="Calibri"/>
              <a:cs typeface="Calibri"/>
              <a:sym typeface="Calibri"/>
            </a:endParaRPr>
          </a:p>
        </p:txBody>
      </p:sp>
      <p:sp>
        <p:nvSpPr>
          <p:cNvPr id="46" name="Google Shape;46;p6"/>
          <p:cNvSpPr/>
          <p:nvPr/>
        </p:nvSpPr>
        <p:spPr>
          <a:xfrm>
            <a:off x="661475" y="3340398"/>
            <a:ext cx="10868745" cy="1039416"/>
          </a:xfrm>
          <a:prstGeom prst="rect">
            <a:avLst/>
          </a:prstGeom>
          <a:noFill/>
          <a:ln>
            <a:noFill/>
          </a:ln>
        </p:spPr>
        <p:txBody>
          <a:bodyPr spcFirstLastPara="1" wrap="square" lIns="0" tIns="7560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Read an email in Gmail</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Search related articles in Chrome</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Watch a YouTube tutorial</a:t>
            </a:r>
            <a:endParaRPr sz="1450" b="0" i="0" u="none" strike="noStrike" cap="none">
              <a:solidFill>
                <a:schemeClr val="dk1"/>
              </a:solidFill>
              <a:latin typeface="Calibri"/>
              <a:ea typeface="Calibri"/>
              <a:cs typeface="Calibri"/>
              <a:sym typeface="Calibri"/>
            </a:endParaRPr>
          </a:p>
        </p:txBody>
      </p:sp>
      <p:sp>
        <p:nvSpPr>
          <p:cNvPr id="47" name="Google Shape;47;p6"/>
          <p:cNvSpPr/>
          <p:nvPr/>
        </p:nvSpPr>
        <p:spPr>
          <a:xfrm>
            <a:off x="661475" y="4592439"/>
            <a:ext cx="10868745" cy="817463"/>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But later cannot reconstruct the sequence or find the information across separate applications.</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E.C.H.O.</a:t>
            </a:r>
            <a:r>
              <a:rPr lang="en-US" sz="1450" b="0" i="0" u="none" strike="noStrike" cap="none">
                <a:solidFill>
                  <a:srgbClr val="272525"/>
                </a:solidFill>
                <a:latin typeface="Inter"/>
                <a:ea typeface="Inter"/>
                <a:cs typeface="Inter"/>
                <a:sym typeface="Inter"/>
              </a:rPr>
              <a:t> solves this by creating a unified, searchable memory layer that connects activity across all the above sources.</a:t>
            </a:r>
            <a:endParaRPr sz="1450" b="0" i="0" u="none" strike="noStrike" cap="none">
              <a:solidFill>
                <a:schemeClr val="dk1"/>
              </a:solidFill>
              <a:latin typeface="Calibri"/>
              <a:ea typeface="Calibri"/>
              <a:cs typeface="Calibri"/>
              <a:sym typeface="Calibri"/>
            </a:endParaRPr>
          </a:p>
        </p:txBody>
      </p:sp>
      <p:pic>
        <p:nvPicPr>
          <p:cNvPr id="48" name="Google Shape;48;p6"/>
          <p:cNvPicPr preferRelativeResize="0"/>
          <p:nvPr/>
        </p:nvPicPr>
        <p:blipFill>
          <a:blip r:embed="rId4">
            <a:alphaModFix/>
          </a:blip>
          <a:stretch>
            <a:fillRect/>
          </a:stretch>
        </p:blipFill>
        <p:spPr>
          <a:xfrm>
            <a:off x="9419900" y="6257925"/>
            <a:ext cx="2771775" cy="600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7" descr="preencoded.png"/>
          <p:cNvPicPr preferRelativeResize="0"/>
          <p:nvPr/>
        </p:nvPicPr>
        <p:blipFill rotWithShape="1">
          <a:blip r:embed="rId3">
            <a:alphaModFix/>
          </a:blip>
          <a:srcRect/>
          <a:stretch/>
        </p:blipFill>
        <p:spPr>
          <a:xfrm>
            <a:off x="0" y="0"/>
            <a:ext cx="12191695" cy="2178149"/>
          </a:xfrm>
          <a:prstGeom prst="rect">
            <a:avLst/>
          </a:prstGeom>
          <a:noFill/>
          <a:ln>
            <a:noFill/>
          </a:ln>
        </p:spPr>
      </p:pic>
      <p:sp>
        <p:nvSpPr>
          <p:cNvPr id="55" name="Google Shape;55;p7"/>
          <p:cNvSpPr/>
          <p:nvPr/>
        </p:nvSpPr>
        <p:spPr>
          <a:xfrm>
            <a:off x="661475" y="2749748"/>
            <a:ext cx="10868745" cy="54451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400"/>
              <a:buFont typeface="Inter"/>
              <a:buNone/>
            </a:pPr>
            <a:r>
              <a:rPr lang="en-US" sz="3400" b="1" i="0" u="none" strike="noStrike" cap="none">
                <a:solidFill>
                  <a:srgbClr val="000000"/>
                </a:solidFill>
                <a:latin typeface="Inter"/>
                <a:ea typeface="Inter"/>
                <a:cs typeface="Inter"/>
                <a:sym typeface="Inter"/>
              </a:rPr>
              <a:t>Abstract and Scope of the Project</a:t>
            </a:r>
            <a:endParaRPr sz="3400" b="0" i="0" u="none" strike="noStrike" cap="none">
              <a:solidFill>
                <a:schemeClr val="dk1"/>
              </a:solidFill>
              <a:latin typeface="Calibri"/>
              <a:ea typeface="Calibri"/>
              <a:cs typeface="Calibri"/>
              <a:sym typeface="Calibri"/>
            </a:endParaRPr>
          </a:p>
        </p:txBody>
      </p:sp>
      <p:sp>
        <p:nvSpPr>
          <p:cNvPr id="56" name="Google Shape;56;p7"/>
          <p:cNvSpPr/>
          <p:nvPr/>
        </p:nvSpPr>
        <p:spPr>
          <a:xfrm>
            <a:off x="661475" y="3358455"/>
            <a:ext cx="10868745" cy="32662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050"/>
              <a:buFont typeface="Inter"/>
              <a:buNone/>
            </a:pPr>
            <a:r>
              <a:rPr lang="en-US" sz="2050" b="1" i="0" u="none" strike="noStrike" cap="none">
                <a:solidFill>
                  <a:srgbClr val="000000"/>
                </a:solidFill>
                <a:latin typeface="Inter"/>
                <a:ea typeface="Inter"/>
                <a:cs typeface="Inter"/>
                <a:sym typeface="Inter"/>
              </a:rPr>
              <a:t>ABSTRACT:</a:t>
            </a:r>
            <a:endParaRPr sz="2050" b="0" i="0" u="none" strike="noStrike" cap="none">
              <a:solidFill>
                <a:schemeClr val="dk1"/>
              </a:solidFill>
              <a:latin typeface="Calibri"/>
              <a:ea typeface="Calibri"/>
              <a:cs typeface="Calibri"/>
              <a:sym typeface="Calibri"/>
            </a:endParaRPr>
          </a:p>
        </p:txBody>
      </p:sp>
      <p:sp>
        <p:nvSpPr>
          <p:cNvPr id="57" name="Google Shape;57;p7"/>
          <p:cNvSpPr/>
          <p:nvPr/>
        </p:nvSpPr>
        <p:spPr>
          <a:xfrm>
            <a:off x="661475" y="3925987"/>
            <a:ext cx="10868745" cy="1251843"/>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Clr>
                <a:srgbClr val="272525"/>
              </a:buClr>
              <a:buSzPts val="1350"/>
              <a:buFont typeface="Inter"/>
              <a:buNone/>
            </a:pPr>
            <a:r>
              <a:rPr lang="en-US" sz="1350" b="0" i="0" u="none" strike="noStrike" cap="none">
                <a:solidFill>
                  <a:srgbClr val="272525"/>
                </a:solidFill>
                <a:latin typeface="Inter"/>
                <a:ea typeface="Inter"/>
                <a:cs typeface="Inter"/>
                <a:sym typeface="Inter"/>
              </a:rPr>
              <a:t>E.C.H.O. addresses fragmented personal digital history across Gmail, Chrome, and YouTube. Instead of forcing users to remember which application contained a previous interaction, the system creates a unified, searchable memory layer.</a:t>
            </a:r>
            <a:endParaRPr sz="1350" b="0" i="0" u="none" strike="noStrike" cap="none">
              <a:solidFill>
                <a:schemeClr val="dk1"/>
              </a:solidFill>
              <a:latin typeface="Calibri"/>
              <a:ea typeface="Calibri"/>
              <a:cs typeface="Calibri"/>
              <a:sym typeface="Calibri"/>
            </a:endParaRPr>
          </a:p>
          <a:p>
            <a:pPr marL="0" marR="0" lvl="0" indent="0" algn="l" rtl="0">
              <a:lnSpc>
                <a:spcPct val="128000"/>
              </a:lnSpc>
              <a:spcBef>
                <a:spcPts val="1400"/>
              </a:spcBef>
              <a:spcAft>
                <a:spcPts val="0"/>
              </a:spcAft>
              <a:buClr>
                <a:srgbClr val="272525"/>
              </a:buClr>
              <a:buSzPts val="1350"/>
              <a:buFont typeface="Inter"/>
              <a:buNone/>
            </a:pPr>
            <a:r>
              <a:rPr lang="en-US" sz="1350" b="0" i="0" u="none" strike="noStrike" cap="none">
                <a:solidFill>
                  <a:srgbClr val="272525"/>
                </a:solidFill>
                <a:latin typeface="Inter"/>
                <a:ea typeface="Inter"/>
                <a:cs typeface="Inter"/>
                <a:sym typeface="Inter"/>
              </a:rPr>
              <a:t>The system captures meaningful activity, stores source-aware canonical records, enriches them for semantic search, retrieves context through hybrid deterministic retrieval, and presents results through a React dashboard and Chrome extension popup.</a:t>
            </a:r>
            <a:endParaRPr sz="1350" b="0" i="0" u="none" strike="noStrike" cap="none">
              <a:solidFill>
                <a:schemeClr val="dk1"/>
              </a:solidFill>
              <a:latin typeface="Calibri"/>
              <a:ea typeface="Calibri"/>
              <a:cs typeface="Calibri"/>
              <a:sym typeface="Calibri"/>
            </a:endParaRPr>
          </a:p>
        </p:txBody>
      </p:sp>
      <p:sp>
        <p:nvSpPr>
          <p:cNvPr id="58" name="Google Shape;58;p7"/>
          <p:cNvSpPr/>
          <p:nvPr/>
        </p:nvSpPr>
        <p:spPr>
          <a:xfrm>
            <a:off x="661475" y="5358507"/>
            <a:ext cx="10868745" cy="927894"/>
          </a:xfrm>
          <a:prstGeom prst="roundRect">
            <a:avLst>
              <a:gd name="adj" fmla="val 7887"/>
            </a:avLst>
          </a:prstGeom>
          <a:solidFill>
            <a:srgbClr val="DAD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Google Shape;59;p7" descr="preencoded.png"/>
          <p:cNvPicPr preferRelativeResize="0"/>
          <p:nvPr/>
        </p:nvPicPr>
        <p:blipFill rotWithShape="1">
          <a:blip r:embed="rId4">
            <a:alphaModFix/>
          </a:blip>
          <a:srcRect/>
          <a:stretch/>
        </p:blipFill>
        <p:spPr>
          <a:xfrm>
            <a:off x="835699" y="5594350"/>
            <a:ext cx="217780" cy="174228"/>
          </a:xfrm>
          <a:prstGeom prst="rect">
            <a:avLst/>
          </a:prstGeom>
          <a:noFill/>
          <a:ln>
            <a:noFill/>
          </a:ln>
        </p:spPr>
      </p:pic>
      <p:sp>
        <p:nvSpPr>
          <p:cNvPr id="60" name="Google Shape;60;p7"/>
          <p:cNvSpPr/>
          <p:nvPr/>
        </p:nvSpPr>
        <p:spPr>
          <a:xfrm>
            <a:off x="1227702" y="5562699"/>
            <a:ext cx="10128294" cy="535583"/>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Clr>
                <a:srgbClr val="000000"/>
              </a:buClr>
              <a:buSzPts val="1350"/>
              <a:buFont typeface="Inter"/>
              <a:buNone/>
            </a:pPr>
            <a:r>
              <a:rPr lang="en-US" sz="1350" b="0" i="0" u="none" strike="noStrike" cap="none">
                <a:solidFill>
                  <a:srgbClr val="000000"/>
                </a:solidFill>
                <a:latin typeface="Inter"/>
                <a:ea typeface="Inter"/>
                <a:cs typeface="Inter"/>
                <a:sym typeface="Inter"/>
              </a:rPr>
              <a:t>Phase III focus: system integration, reliable enrichment/indexing, retrieval-quality improvements, digital wellbeing analytics, and UI completion.</a:t>
            </a:r>
            <a:endParaRPr sz="1350" b="0" i="0" u="none" strike="noStrike" cap="none">
              <a:solidFill>
                <a:schemeClr val="dk1"/>
              </a:solidFill>
              <a:latin typeface="Calibri"/>
              <a:ea typeface="Calibri"/>
              <a:cs typeface="Calibri"/>
              <a:sym typeface="Calibri"/>
            </a:endParaRPr>
          </a:p>
        </p:txBody>
      </p:sp>
      <p:pic>
        <p:nvPicPr>
          <p:cNvPr id="61" name="Google Shape;61;p7"/>
          <p:cNvPicPr preferRelativeResize="0"/>
          <p:nvPr/>
        </p:nvPicPr>
        <p:blipFill>
          <a:blip r:embed="rId5">
            <a:alphaModFix/>
          </a:blip>
          <a:stretch>
            <a:fillRect/>
          </a:stretch>
        </p:blipFill>
        <p:spPr>
          <a:xfrm>
            <a:off x="10629525" y="6382400"/>
            <a:ext cx="1505695" cy="41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8" descr="preencoded.png"/>
          <p:cNvPicPr preferRelativeResize="0"/>
          <p:nvPr/>
        </p:nvPicPr>
        <p:blipFill rotWithShape="1">
          <a:blip r:embed="rId3">
            <a:alphaModFix/>
          </a:blip>
          <a:srcRect/>
          <a:stretch/>
        </p:blipFill>
        <p:spPr>
          <a:xfrm>
            <a:off x="10920635" y="968573"/>
            <a:ext cx="609585" cy="219670"/>
          </a:xfrm>
          <a:prstGeom prst="rect">
            <a:avLst/>
          </a:prstGeom>
          <a:noFill/>
          <a:ln>
            <a:noFill/>
          </a:ln>
        </p:spPr>
      </p:pic>
      <p:sp>
        <p:nvSpPr>
          <p:cNvPr id="68" name="Google Shape;68;p8"/>
          <p:cNvSpPr/>
          <p:nvPr/>
        </p:nvSpPr>
        <p:spPr>
          <a:xfrm>
            <a:off x="661475" y="1471712"/>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Project Scope</a:t>
            </a:r>
            <a:endParaRPr sz="3700" b="0" i="0" u="none" strike="noStrike" cap="none">
              <a:solidFill>
                <a:schemeClr val="dk1"/>
              </a:solidFill>
              <a:latin typeface="Calibri"/>
              <a:ea typeface="Calibri"/>
              <a:cs typeface="Calibri"/>
              <a:sym typeface="Calibri"/>
            </a:endParaRPr>
          </a:p>
        </p:txBody>
      </p:sp>
      <p:sp>
        <p:nvSpPr>
          <p:cNvPr id="69" name="Google Shape;69;p8"/>
          <p:cNvSpPr/>
          <p:nvPr/>
        </p:nvSpPr>
        <p:spPr>
          <a:xfrm>
            <a:off x="661475" y="2345829"/>
            <a:ext cx="11478330" cy="302419"/>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The E.C.H.O. system encompasses:</a:t>
            </a:r>
            <a:endParaRPr sz="1450" b="0" i="0" u="none" strike="noStrike" cap="none">
              <a:solidFill>
                <a:schemeClr val="dk1"/>
              </a:solidFill>
              <a:latin typeface="Calibri"/>
              <a:ea typeface="Calibri"/>
              <a:cs typeface="Calibri"/>
              <a:sym typeface="Calibri"/>
            </a:endParaRPr>
          </a:p>
        </p:txBody>
      </p:sp>
      <p:sp>
        <p:nvSpPr>
          <p:cNvPr id="70" name="Google Shape;70;p8"/>
          <p:cNvSpPr/>
          <p:nvPr/>
        </p:nvSpPr>
        <p:spPr>
          <a:xfrm>
            <a:off x="661475" y="2860873"/>
            <a:ext cx="10868745" cy="2513409"/>
          </a:xfrm>
          <a:prstGeom prst="rect">
            <a:avLst/>
          </a:prstGeom>
          <a:noFill/>
          <a:ln>
            <a:noFill/>
          </a:ln>
        </p:spPr>
        <p:txBody>
          <a:bodyPr spcFirstLastPara="1" wrap="square" lIns="0" tIns="7560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Gmail, Chrome, and YouTube activity capture</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Canonical memory storage with source-specific metadata</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Intent-aware capture and revisit detection</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Background enrichment, classification, and FAISS semantic indexing</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Natural-language hybrid retrieval with conversational context</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Digital wellbeing analytics and user-controlled reflections</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React dashboard, browser extension popup, settings, exp</a:t>
            </a:r>
            <a:endParaRPr sz="1450" b="0" i="0" u="none" strike="noStrike" cap="none">
              <a:solidFill>
                <a:schemeClr val="dk1"/>
              </a:solidFill>
              <a:latin typeface="Calibri"/>
              <a:ea typeface="Calibri"/>
              <a:cs typeface="Calibri"/>
              <a:sym typeface="Calibri"/>
            </a:endParaRPr>
          </a:p>
        </p:txBody>
      </p:sp>
      <p:sp>
        <p:nvSpPr>
          <p:cNvPr id="71" name="Google Shape;71;p8"/>
          <p:cNvSpPr/>
          <p:nvPr/>
        </p:nvSpPr>
        <p:spPr>
          <a:xfrm>
            <a:off x="661475" y="5586909"/>
            <a:ext cx="11478330" cy="302419"/>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All functionality is designed with privacy-first principles and local-first architecture.</a:t>
            </a:r>
            <a:endParaRPr sz="1450" b="0" i="0" u="none" strike="noStrike" cap="none">
              <a:solidFill>
                <a:schemeClr val="dk1"/>
              </a:solidFill>
              <a:latin typeface="Calibri"/>
              <a:ea typeface="Calibri"/>
              <a:cs typeface="Calibri"/>
              <a:sym typeface="Calibri"/>
            </a:endParaRPr>
          </a:p>
        </p:txBody>
      </p:sp>
      <p:pic>
        <p:nvPicPr>
          <p:cNvPr id="72" name="Google Shape;72;p8"/>
          <p:cNvPicPr preferRelativeResize="0"/>
          <p:nvPr/>
        </p:nvPicPr>
        <p:blipFill>
          <a:blip r:embed="rId4">
            <a:alphaModFix/>
          </a:blip>
          <a:stretch>
            <a:fillRect/>
          </a:stretch>
        </p:blipFill>
        <p:spPr>
          <a:xfrm>
            <a:off x="10463400" y="6391275"/>
            <a:ext cx="1676400" cy="466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8" descr="preencoded.png"/>
          <p:cNvPicPr preferRelativeResize="0"/>
          <p:nvPr/>
        </p:nvPicPr>
        <p:blipFill rotWithShape="1">
          <a:blip r:embed="rId3">
            <a:alphaModFix/>
          </a:blip>
          <a:srcRect/>
          <a:stretch/>
        </p:blipFill>
        <p:spPr>
          <a:xfrm>
            <a:off x="10920635" y="968573"/>
            <a:ext cx="609585" cy="219670"/>
          </a:xfrm>
          <a:prstGeom prst="rect">
            <a:avLst/>
          </a:prstGeom>
          <a:noFill/>
          <a:ln>
            <a:noFill/>
          </a:ln>
        </p:spPr>
      </p:pic>
      <p:sp>
        <p:nvSpPr>
          <p:cNvPr id="68" name="Google Shape;68;p8"/>
          <p:cNvSpPr/>
          <p:nvPr/>
        </p:nvSpPr>
        <p:spPr>
          <a:xfrm>
            <a:off x="661475" y="1471712"/>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None/>
            </a:pPr>
            <a:r>
              <a:rPr lang="en-US" sz="3700" b="1" i="0" u="none" strike="noStrike" cap="none">
                <a:solidFill>
                  <a:srgbClr val="000000"/>
                </a:solidFill>
                <a:latin typeface="Inter"/>
                <a:ea typeface="Inter"/>
                <a:cs typeface="Inter"/>
                <a:sym typeface="Inter"/>
              </a:rPr>
              <a:t>Suggestions from Review - 1</a:t>
            </a:r>
          </a:p>
        </p:txBody>
      </p:sp>
      <p:sp>
        <p:nvSpPr>
          <p:cNvPr id="69" name="Google Shape;69;p8"/>
          <p:cNvSpPr/>
          <p:nvPr/>
        </p:nvSpPr>
        <p:spPr>
          <a:xfrm>
            <a:off x="661475" y="2345829"/>
            <a:ext cx="11478330" cy="302419"/>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US" sz="1600" b="1" i="0" u="none" strike="noStrike" cap="none">
                <a:solidFill>
                  <a:srgbClr val="272525"/>
                </a:solidFill>
                <a:latin typeface="Inter"/>
                <a:ea typeface="Inter"/>
                <a:cs typeface="Inter"/>
                <a:sym typeface="Inter"/>
              </a:rPr>
              <a:t>Suggestions and remarks given by the panel members:</a:t>
            </a:r>
          </a:p>
        </p:txBody>
      </p:sp>
      <p:sp>
        <p:nvSpPr>
          <p:cNvPr id="70" name="Google Shape;70;p8"/>
          <p:cNvSpPr/>
          <p:nvPr/>
        </p:nvSpPr>
        <p:spPr>
          <a:xfrm>
            <a:off x="661475" y="2860873"/>
            <a:ext cx="10868745" cy="2513409"/>
          </a:xfrm>
          <a:prstGeom prst="rect">
            <a:avLst/>
          </a:prstGeom>
          <a:noFill/>
          <a:ln>
            <a:noFill/>
          </a:ln>
        </p:spPr>
        <p:txBody>
          <a:bodyPr spcFirstLastPara="1" wrap="square" lIns="0" tIns="75600" rIns="0" bIns="0" anchor="t" anchorCtr="0">
            <a:noAutofit/>
          </a:bodyPr>
          <a:lstStyle/>
          <a:p>
            <a:pPr marL="294640" marR="0" lvl="0" indent="-294640" algn="l" rtl="0">
              <a:lnSpc>
                <a:spcPct val="133000"/>
              </a:lnSpc>
              <a:spcBef>
                <a:spcPts val="0"/>
              </a:spcBef>
              <a:spcAft>
                <a:spcPts val="1400"/>
              </a:spcAft>
              <a:buClr>
                <a:srgbClr val="272525"/>
              </a:buClr>
              <a:buSzPts val="1800"/>
              <a:buFont typeface="Inter"/>
              <a:buChar char="•"/>
            </a:pPr>
            <a:r>
              <a:rPr lang="en-US" sz="1800" b="1" i="0" u="none" strike="noStrike" cap="none" dirty="0">
                <a:solidFill>
                  <a:srgbClr val="272525"/>
                </a:solidFill>
                <a:latin typeface="Inter"/>
                <a:ea typeface="Inter"/>
                <a:cs typeface="Inter"/>
                <a:sym typeface="Inter"/>
              </a:rPr>
              <a:t>Data retention timeline: </a:t>
            </a:r>
            <a:r>
              <a:rPr lang="en-US" sz="1800" b="0" i="0" u="none" strike="noStrike" cap="none" dirty="0">
                <a:solidFill>
                  <a:srgbClr val="272525"/>
                </a:solidFill>
                <a:latin typeface="Inter"/>
                <a:ea typeface="Inter"/>
                <a:cs typeface="Inter"/>
                <a:sym typeface="Inter"/>
              </a:rPr>
              <a:t>keep captured data for a fixed period (6 months or 1 year), then delete it automatically to save storage, as production systems do</a:t>
            </a:r>
          </a:p>
          <a:p>
            <a:pPr marL="294640" marR="0" lvl="0" indent="-294640" algn="l" rtl="0">
              <a:lnSpc>
                <a:spcPct val="133000"/>
              </a:lnSpc>
              <a:spcBef>
                <a:spcPts val="0"/>
              </a:spcBef>
              <a:spcAft>
                <a:spcPts val="1400"/>
              </a:spcAft>
              <a:buClr>
                <a:srgbClr val="272525"/>
              </a:buClr>
              <a:buSzPts val="1800"/>
              <a:buFont typeface="Inter"/>
              <a:buChar char="•"/>
            </a:pPr>
            <a:r>
              <a:rPr lang="en-US" sz="1800" b="1" i="0" u="none" strike="noStrike" cap="none" dirty="0">
                <a:solidFill>
                  <a:srgbClr val="272525"/>
                </a:solidFill>
                <a:latin typeface="Inter"/>
                <a:ea typeface="Inter"/>
                <a:cs typeface="Inter"/>
                <a:sym typeface="Inter"/>
              </a:rPr>
              <a:t>Spam filtering: </a:t>
            </a:r>
            <a:r>
              <a:rPr lang="en-US" sz="1800" b="0" i="0" u="none" strike="noStrike" cap="none" dirty="0">
                <a:solidFill>
                  <a:srgbClr val="272525"/>
                </a:solidFill>
                <a:latin typeface="Inter"/>
                <a:ea typeface="Inter"/>
                <a:cs typeface="Inter"/>
                <a:sym typeface="Inter"/>
              </a:rPr>
              <a:t>add a model that filters out spam emails before they are captured</a:t>
            </a:r>
          </a:p>
          <a:p>
            <a:pPr marL="294640" marR="0" lvl="0" indent="-294640" algn="l" rtl="0">
              <a:lnSpc>
                <a:spcPct val="133000"/>
              </a:lnSpc>
              <a:spcBef>
                <a:spcPts val="0"/>
              </a:spcBef>
              <a:spcAft>
                <a:spcPts val="1400"/>
              </a:spcAft>
              <a:buClr>
                <a:srgbClr val="272525"/>
              </a:buClr>
              <a:buSzPts val="1800"/>
              <a:buFont typeface="Inter"/>
              <a:buChar char="•"/>
            </a:pPr>
            <a:r>
              <a:rPr lang="en-US" sz="1800" b="1" i="0" u="none" strike="noStrike" cap="none" dirty="0">
                <a:solidFill>
                  <a:srgbClr val="272525"/>
                </a:solidFill>
                <a:latin typeface="Inter"/>
                <a:ea typeface="Inter"/>
                <a:cs typeface="Inter"/>
                <a:sym typeface="Inter"/>
              </a:rPr>
              <a:t>Focused presentation: </a:t>
            </a:r>
            <a:r>
              <a:rPr lang="en-US" sz="1800" b="0" i="0" u="none" strike="noStrike" cap="none" dirty="0">
                <a:solidFill>
                  <a:srgbClr val="272525"/>
                </a:solidFill>
                <a:latin typeface="Inter"/>
                <a:ea typeface="Inter"/>
                <a:cs typeface="Inter"/>
                <a:sym typeface="Inter"/>
              </a:rPr>
              <a:t>frame the demo to show only what is needed and leave out what isn't</a:t>
            </a:r>
          </a:p>
        </p:txBody>
      </p:sp>
      <p:pic>
        <p:nvPicPr>
          <p:cNvPr id="72" name="Google Shape;72;p8"/>
          <p:cNvPicPr preferRelativeResize="0"/>
          <p:nvPr/>
        </p:nvPicPr>
        <p:blipFill>
          <a:blip r:embed="rId4">
            <a:alphaModFix/>
          </a:blip>
          <a:stretch>
            <a:fillRect/>
          </a:stretch>
        </p:blipFill>
        <p:spPr>
          <a:xfrm>
            <a:off x="10463400" y="6391275"/>
            <a:ext cx="1676400" cy="466725"/>
          </a:xfrm>
          <a:prstGeom prst="rect">
            <a:avLst/>
          </a:prstGeom>
          <a:noFill/>
          <a:ln>
            <a:noFill/>
          </a:ln>
        </p:spPr>
      </p:pic>
    </p:spTree>
    <p:extLst>
      <p:ext uri="{BB962C8B-B14F-4D97-AF65-F5344CB8AC3E}">
        <p14:creationId xmlns:p14="http://schemas.microsoft.com/office/powerpoint/2010/main" val="680059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9" descr="preencoded.png"/>
          <p:cNvPicPr preferRelativeResize="0"/>
          <p:nvPr/>
        </p:nvPicPr>
        <p:blipFill rotWithShape="1">
          <a:blip r:embed="rId3">
            <a:alphaModFix/>
          </a:blip>
          <a:srcRect/>
          <a:stretch/>
        </p:blipFill>
        <p:spPr>
          <a:xfrm>
            <a:off x="11187329" y="531813"/>
            <a:ext cx="342891" cy="123527"/>
          </a:xfrm>
          <a:prstGeom prst="rect">
            <a:avLst/>
          </a:prstGeom>
          <a:noFill/>
          <a:ln>
            <a:noFill/>
          </a:ln>
        </p:spPr>
      </p:pic>
      <p:sp>
        <p:nvSpPr>
          <p:cNvPr id="79" name="Google Shape;79;p9"/>
          <p:cNvSpPr/>
          <p:nvPr/>
        </p:nvSpPr>
        <p:spPr>
          <a:xfrm>
            <a:off x="661475" y="745034"/>
            <a:ext cx="10868745" cy="3321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050"/>
              <a:buFont typeface="Inter"/>
              <a:buNone/>
            </a:pPr>
            <a:r>
              <a:rPr lang="en-US" sz="2050" b="1" i="0" u="none" strike="noStrike" cap="none">
                <a:solidFill>
                  <a:srgbClr val="000000"/>
                </a:solidFill>
                <a:latin typeface="Inter"/>
                <a:ea typeface="Inter"/>
                <a:cs typeface="Inter"/>
                <a:sym typeface="Inter"/>
              </a:rPr>
              <a:t>E.C.H.O. Complete Architecture and Data Flow</a:t>
            </a:r>
            <a:endParaRPr sz="2050" b="0" i="0" u="none" strike="noStrike" cap="none">
              <a:solidFill>
                <a:schemeClr val="dk1"/>
              </a:solidFill>
              <a:latin typeface="Calibri"/>
              <a:ea typeface="Calibri"/>
              <a:cs typeface="Calibri"/>
              <a:sym typeface="Calibri"/>
            </a:endParaRPr>
          </a:p>
        </p:txBody>
      </p:sp>
      <p:sp>
        <p:nvSpPr>
          <p:cNvPr id="80" name="Google Shape;80;p9"/>
          <p:cNvSpPr/>
          <p:nvPr/>
        </p:nvSpPr>
        <p:spPr>
          <a:xfrm>
            <a:off x="661475" y="1101130"/>
            <a:ext cx="10868745" cy="19923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250"/>
              <a:buFont typeface="Inter"/>
              <a:buNone/>
            </a:pPr>
            <a:r>
              <a:rPr lang="en-US" sz="1250" b="1" i="0" u="none" strike="noStrike" cap="none">
                <a:solidFill>
                  <a:srgbClr val="000000"/>
                </a:solidFill>
                <a:latin typeface="Inter"/>
                <a:ea typeface="Inter"/>
                <a:cs typeface="Inter"/>
                <a:sym typeface="Inter"/>
              </a:rPr>
              <a:t>LAYER 1 - DATA SOURCES:</a:t>
            </a:r>
            <a:endParaRPr sz="1250" b="0" i="0" u="none" strike="noStrike" cap="none">
              <a:solidFill>
                <a:schemeClr val="dk1"/>
              </a:solidFill>
              <a:latin typeface="Calibri"/>
              <a:ea typeface="Calibri"/>
              <a:cs typeface="Calibri"/>
              <a:sym typeface="Calibri"/>
            </a:endParaRPr>
          </a:p>
        </p:txBody>
      </p:sp>
      <p:pic>
        <p:nvPicPr>
          <p:cNvPr id="81" name="Google Shape;81;p9" descr="preencoded.png"/>
          <p:cNvPicPr preferRelativeResize="0"/>
          <p:nvPr/>
        </p:nvPicPr>
        <p:blipFill rotWithShape="1">
          <a:blip r:embed="rId4">
            <a:alphaModFix/>
          </a:blip>
          <a:srcRect/>
          <a:stretch/>
        </p:blipFill>
        <p:spPr>
          <a:xfrm>
            <a:off x="661475" y="1390055"/>
            <a:ext cx="6113508" cy="1974652"/>
          </a:xfrm>
          <a:prstGeom prst="rect">
            <a:avLst/>
          </a:prstGeom>
          <a:noFill/>
          <a:ln>
            <a:noFill/>
          </a:ln>
        </p:spPr>
      </p:pic>
      <p:sp>
        <p:nvSpPr>
          <p:cNvPr id="82" name="Google Shape;82;p9"/>
          <p:cNvSpPr/>
          <p:nvPr/>
        </p:nvSpPr>
        <p:spPr>
          <a:xfrm>
            <a:off x="661475" y="3632200"/>
            <a:ext cx="10868745" cy="440531"/>
          </a:xfrm>
          <a:prstGeom prst="rect">
            <a:avLst/>
          </a:prstGeom>
          <a:noFill/>
          <a:ln>
            <a:noFill/>
          </a:ln>
        </p:spPr>
        <p:txBody>
          <a:bodyPr spcFirstLastPara="1" wrap="square" lIns="0" tIns="42525" rIns="0" bIns="0" anchor="t" anchorCtr="0">
            <a:noAutofit/>
          </a:bodyPr>
          <a:lstStyle/>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Gmail via OAuth/API</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Chrome browser activity via Manifest V3 extension</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YouTube watch activity and metadata</a:t>
            </a:r>
            <a:endParaRPr sz="800" b="0" i="0" u="none" strike="noStrike" cap="none">
              <a:solidFill>
                <a:schemeClr val="dk1"/>
              </a:solidFill>
              <a:latin typeface="Calibri"/>
              <a:ea typeface="Calibri"/>
              <a:cs typeface="Calibri"/>
              <a:sym typeface="Calibri"/>
            </a:endParaRPr>
          </a:p>
        </p:txBody>
      </p:sp>
      <p:sp>
        <p:nvSpPr>
          <p:cNvPr id="83" name="Google Shape;83;p9"/>
          <p:cNvSpPr/>
          <p:nvPr/>
        </p:nvSpPr>
        <p:spPr>
          <a:xfrm>
            <a:off x="661475" y="4162425"/>
            <a:ext cx="10868745" cy="19923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250"/>
              <a:buFont typeface="Inter"/>
              <a:buNone/>
            </a:pPr>
            <a:r>
              <a:rPr lang="en-US" sz="1250" b="1" i="0" u="none" strike="noStrike" cap="none">
                <a:solidFill>
                  <a:srgbClr val="000000"/>
                </a:solidFill>
                <a:latin typeface="Inter"/>
                <a:ea typeface="Inter"/>
                <a:cs typeface="Inter"/>
                <a:sym typeface="Inter"/>
              </a:rPr>
              <a:t>LAYER 2 - CAPTURE AND PRIVACY LAYER:</a:t>
            </a:r>
            <a:endParaRPr sz="1250" b="0" i="0" u="none" strike="noStrike" cap="none">
              <a:solidFill>
                <a:schemeClr val="dk1"/>
              </a:solidFill>
              <a:latin typeface="Calibri"/>
              <a:ea typeface="Calibri"/>
              <a:cs typeface="Calibri"/>
              <a:sym typeface="Calibri"/>
            </a:endParaRPr>
          </a:p>
        </p:txBody>
      </p:sp>
      <p:sp>
        <p:nvSpPr>
          <p:cNvPr id="84" name="Google Shape;84;p9"/>
          <p:cNvSpPr/>
          <p:nvPr/>
        </p:nvSpPr>
        <p:spPr>
          <a:xfrm>
            <a:off x="661475" y="4451350"/>
            <a:ext cx="10868745" cy="748109"/>
          </a:xfrm>
          <a:prstGeom prst="rect">
            <a:avLst/>
          </a:prstGeom>
          <a:noFill/>
          <a:ln>
            <a:noFill/>
          </a:ln>
        </p:spPr>
        <p:txBody>
          <a:bodyPr spcFirstLastPara="1" wrap="square" lIns="0" tIns="42525" rIns="0" bIns="0" anchor="t" anchorCtr="0">
            <a:noAutofit/>
          </a:bodyPr>
          <a:lstStyle/>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Source-specific capture controls</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Chrome two-phase engagement gating</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Revisit detection</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Excluded domains and senders</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No typed-text or incognito capture</a:t>
            </a:r>
            <a:endParaRPr sz="800" b="0" i="0" u="none" strike="noStrike" cap="none">
              <a:solidFill>
                <a:schemeClr val="dk1"/>
              </a:solidFill>
              <a:latin typeface="Calibri"/>
              <a:ea typeface="Calibri"/>
              <a:cs typeface="Calibri"/>
              <a:sym typeface="Calibri"/>
            </a:endParaRPr>
          </a:p>
        </p:txBody>
      </p:sp>
      <p:sp>
        <p:nvSpPr>
          <p:cNvPr id="85" name="Google Shape;85;p9"/>
          <p:cNvSpPr/>
          <p:nvPr/>
        </p:nvSpPr>
        <p:spPr>
          <a:xfrm>
            <a:off x="661475" y="5289153"/>
            <a:ext cx="10868745" cy="19923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250"/>
              <a:buFont typeface="Inter"/>
              <a:buNone/>
            </a:pPr>
            <a:r>
              <a:rPr lang="en-US" sz="1250" b="1" i="0" u="none" strike="noStrike" cap="none">
                <a:solidFill>
                  <a:srgbClr val="000000"/>
                </a:solidFill>
                <a:latin typeface="Inter"/>
                <a:ea typeface="Inter"/>
                <a:cs typeface="Inter"/>
                <a:sym typeface="Inter"/>
              </a:rPr>
              <a:t>LAYER 3 - CANONICAL STORAGE LAYER:</a:t>
            </a:r>
            <a:endParaRPr sz="1250" b="0" i="0" u="none" strike="noStrike" cap="none">
              <a:solidFill>
                <a:schemeClr val="dk1"/>
              </a:solidFill>
              <a:latin typeface="Calibri"/>
              <a:ea typeface="Calibri"/>
              <a:cs typeface="Calibri"/>
              <a:sym typeface="Calibri"/>
            </a:endParaRPr>
          </a:p>
        </p:txBody>
      </p:sp>
      <p:sp>
        <p:nvSpPr>
          <p:cNvPr id="86" name="Google Shape;86;p9"/>
          <p:cNvSpPr/>
          <p:nvPr/>
        </p:nvSpPr>
        <p:spPr>
          <a:xfrm>
            <a:off x="661475" y="5578078"/>
            <a:ext cx="10868745" cy="748109"/>
          </a:xfrm>
          <a:prstGeom prst="rect">
            <a:avLst/>
          </a:prstGeom>
          <a:noFill/>
          <a:ln>
            <a:noFill/>
          </a:ln>
        </p:spPr>
        <p:txBody>
          <a:bodyPr spcFirstLastPara="1" wrap="square" lIns="0" tIns="42525" rIns="0" bIns="0" anchor="t" anchorCtr="0">
            <a:noAutofit/>
          </a:bodyPr>
          <a:lstStyle/>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PostgreSQL as permanent source of truth</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Unified memory_items records</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Gmail, Chrome, YouTube metadata tables</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Engagement records</a:t>
            </a:r>
            <a:endParaRPr sz="800" b="0" i="0" u="none" strike="noStrike" cap="none">
              <a:solidFill>
                <a:schemeClr val="dk1"/>
              </a:solidFill>
              <a:latin typeface="Calibri"/>
              <a:ea typeface="Calibri"/>
              <a:cs typeface="Calibri"/>
              <a:sym typeface="Calibri"/>
            </a:endParaRPr>
          </a:p>
          <a:p>
            <a:pPr marL="162560" marR="0" lvl="0" indent="-162560" algn="l" rtl="0">
              <a:lnSpc>
                <a:spcPct val="104000"/>
              </a:lnSpc>
              <a:spcBef>
                <a:spcPts val="0"/>
              </a:spcBef>
              <a:spcAft>
                <a:spcPts val="0"/>
              </a:spcAft>
              <a:buClr>
                <a:srgbClr val="272525"/>
              </a:buClr>
              <a:buSzPts val="800"/>
              <a:buFont typeface="Inter"/>
              <a:buChar char="•"/>
            </a:pPr>
            <a:r>
              <a:rPr lang="en-US" sz="800" b="0" i="0" u="none" strike="noStrike" cap="none">
                <a:solidFill>
                  <a:srgbClr val="272525"/>
                </a:solidFill>
                <a:latin typeface="Inter"/>
                <a:ea typeface="Inter"/>
                <a:cs typeface="Inter"/>
                <a:sym typeface="Inter"/>
              </a:rPr>
              <a:t>Redis for revisit state, settings, reminders, and temporary caches</a:t>
            </a:r>
            <a:endParaRPr sz="800" b="0" i="0" u="none" strike="noStrike" cap="none">
              <a:solidFill>
                <a:schemeClr val="dk1"/>
              </a:solidFill>
              <a:latin typeface="Calibri"/>
              <a:ea typeface="Calibri"/>
              <a:cs typeface="Calibri"/>
              <a:sym typeface="Calibri"/>
            </a:endParaRPr>
          </a:p>
        </p:txBody>
      </p:sp>
      <p:pic>
        <p:nvPicPr>
          <p:cNvPr id="87" name="Google Shape;87;p9"/>
          <p:cNvPicPr preferRelativeResize="0"/>
          <p:nvPr/>
        </p:nvPicPr>
        <p:blipFill>
          <a:blip r:embed="rId5">
            <a:alphaModFix/>
          </a:blip>
          <a:stretch>
            <a:fillRect/>
          </a:stretch>
        </p:blipFill>
        <p:spPr>
          <a:xfrm>
            <a:off x="10515283" y="6326186"/>
            <a:ext cx="1676400" cy="466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0" descr="preencoded.png"/>
          <p:cNvPicPr preferRelativeResize="0"/>
          <p:nvPr/>
        </p:nvPicPr>
        <p:blipFill rotWithShape="1">
          <a:blip r:embed="rId3">
            <a:alphaModFix/>
          </a:blip>
          <a:srcRect/>
          <a:stretch/>
        </p:blipFill>
        <p:spPr>
          <a:xfrm>
            <a:off x="10939685" y="568027"/>
            <a:ext cx="590535" cy="212824"/>
          </a:xfrm>
          <a:prstGeom prst="rect">
            <a:avLst/>
          </a:prstGeom>
          <a:noFill/>
          <a:ln>
            <a:noFill/>
          </a:ln>
        </p:spPr>
      </p:pic>
      <p:sp>
        <p:nvSpPr>
          <p:cNvPr id="94" name="Google Shape;94;p10"/>
          <p:cNvSpPr/>
          <p:nvPr/>
        </p:nvSpPr>
        <p:spPr>
          <a:xfrm>
            <a:off x="661475" y="1046857"/>
            <a:ext cx="10868745" cy="114438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600"/>
              <a:buFont typeface="Inter"/>
              <a:buNone/>
            </a:pPr>
            <a:r>
              <a:rPr lang="en-US" sz="3600" b="1" i="0" u="none" strike="noStrike" cap="none">
                <a:solidFill>
                  <a:srgbClr val="000000"/>
                </a:solidFill>
                <a:latin typeface="Inter"/>
                <a:ea typeface="Inter"/>
                <a:cs typeface="Inter"/>
                <a:sym typeface="Inter"/>
              </a:rPr>
              <a:t>E.C.H.O. Architecture: Enrichment, Retrieval &amp; Presentation</a:t>
            </a:r>
            <a:endParaRPr sz="3600" b="0" i="0" u="none" strike="noStrike" cap="none">
              <a:solidFill>
                <a:schemeClr val="dk1"/>
              </a:solidFill>
              <a:latin typeface="Calibri"/>
              <a:ea typeface="Calibri"/>
              <a:cs typeface="Calibri"/>
              <a:sym typeface="Calibri"/>
            </a:endParaRPr>
          </a:p>
        </p:txBody>
      </p:sp>
      <p:sp>
        <p:nvSpPr>
          <p:cNvPr id="95" name="Google Shape;95;p10"/>
          <p:cNvSpPr/>
          <p:nvPr/>
        </p:nvSpPr>
        <p:spPr>
          <a:xfrm>
            <a:off x="661475" y="2634555"/>
            <a:ext cx="3287333" cy="5720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00"/>
              <a:buFont typeface="Inter"/>
              <a:buNone/>
            </a:pPr>
            <a:r>
              <a:rPr lang="en-US" sz="1800" b="1" i="0" u="none" strike="noStrike" cap="none">
                <a:solidFill>
                  <a:srgbClr val="000000"/>
                </a:solidFill>
                <a:latin typeface="Inter"/>
                <a:ea typeface="Inter"/>
                <a:cs typeface="Inter"/>
                <a:sym typeface="Inter"/>
              </a:rPr>
              <a:t>LAYER 4 - ENRICHMENT AND INDEXING LAYER:</a:t>
            </a:r>
            <a:endParaRPr sz="1800" b="0" i="0" u="none" strike="noStrike" cap="none">
              <a:solidFill>
                <a:schemeClr val="dk1"/>
              </a:solidFill>
              <a:latin typeface="Calibri"/>
              <a:ea typeface="Calibri"/>
              <a:cs typeface="Calibri"/>
              <a:sym typeface="Calibri"/>
            </a:endParaRPr>
          </a:p>
        </p:txBody>
      </p:sp>
      <p:sp>
        <p:nvSpPr>
          <p:cNvPr id="96" name="Google Shape;96;p10"/>
          <p:cNvSpPr/>
          <p:nvPr/>
        </p:nvSpPr>
        <p:spPr>
          <a:xfrm>
            <a:off x="661475" y="3383955"/>
            <a:ext cx="3287333" cy="2843907"/>
          </a:xfrm>
          <a:prstGeom prst="rect">
            <a:avLst/>
          </a:prstGeom>
          <a:noFill/>
          <a:ln>
            <a:noFill/>
          </a:ln>
        </p:spPr>
        <p:txBody>
          <a:bodyPr spcFirstLastPara="1" wrap="square" lIns="0" tIns="73225" rIns="0" bIns="0" anchor="t" anchorCtr="0">
            <a:noAutofit/>
          </a:bodyPr>
          <a:lstStyle/>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Clean source text</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Build source-aware embeddable text</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Generate all-MiniLM-L6-v2 embeddings</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Classify into work, study, entertainment, personal, or misc</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Store and maintain FAISS semantic index</a:t>
            </a:r>
            <a:endParaRPr sz="1400" b="0" i="0" u="none" strike="noStrike" cap="none">
              <a:solidFill>
                <a:schemeClr val="dk1"/>
              </a:solidFill>
              <a:latin typeface="Calibri"/>
              <a:ea typeface="Calibri"/>
              <a:cs typeface="Calibri"/>
              <a:sym typeface="Calibri"/>
            </a:endParaRPr>
          </a:p>
        </p:txBody>
      </p:sp>
      <p:sp>
        <p:nvSpPr>
          <p:cNvPr id="97" name="Google Shape;97;p10"/>
          <p:cNvSpPr/>
          <p:nvPr/>
        </p:nvSpPr>
        <p:spPr>
          <a:xfrm>
            <a:off x="4401829" y="2634555"/>
            <a:ext cx="3400538" cy="5720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00"/>
              <a:buFont typeface="Inter"/>
              <a:buNone/>
            </a:pPr>
            <a:r>
              <a:rPr lang="en-US" sz="1800" b="1" i="0" u="none" strike="noStrike" cap="none">
                <a:solidFill>
                  <a:srgbClr val="000000"/>
                </a:solidFill>
                <a:latin typeface="Inter"/>
                <a:ea typeface="Inter"/>
                <a:cs typeface="Inter"/>
                <a:sym typeface="Inter"/>
              </a:rPr>
              <a:t>LAYER 5 - RETRIEVAL AND SYNTHESIS LAYER:</a:t>
            </a:r>
            <a:endParaRPr sz="1800" b="0" i="0" u="none" strike="noStrike" cap="none">
              <a:solidFill>
                <a:schemeClr val="dk1"/>
              </a:solidFill>
              <a:latin typeface="Calibri"/>
              <a:ea typeface="Calibri"/>
              <a:cs typeface="Calibri"/>
              <a:sym typeface="Calibri"/>
            </a:endParaRPr>
          </a:p>
        </p:txBody>
      </p:sp>
      <p:sp>
        <p:nvSpPr>
          <p:cNvPr id="98" name="Google Shape;98;p10"/>
          <p:cNvSpPr/>
          <p:nvPr/>
        </p:nvSpPr>
        <p:spPr>
          <a:xfrm>
            <a:off x="4401829" y="3383955"/>
            <a:ext cx="3400538" cy="2679502"/>
          </a:xfrm>
          <a:prstGeom prst="rect">
            <a:avLst/>
          </a:prstGeom>
          <a:noFill/>
          <a:ln>
            <a:noFill/>
          </a:ln>
        </p:spPr>
        <p:txBody>
          <a:bodyPr spcFirstLastPara="1" wrap="square" lIns="0" tIns="73225" rIns="0" bIns="0" anchor="t" anchorCtr="0">
            <a:noAutofit/>
          </a:bodyPr>
          <a:lstStyle/>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Parse intent</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Resolve time anchors</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PostgreSQL keyword search + FAISS semantic search in parallel</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Reciprocal Rank Fusion</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Deterministic quality evaluation</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Cross-encoder reranking</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LLM answer synthesis</a:t>
            </a:r>
            <a:endParaRPr sz="1400" b="0" i="0" u="none" strike="noStrike" cap="none">
              <a:solidFill>
                <a:schemeClr val="dk1"/>
              </a:solidFill>
              <a:latin typeface="Calibri"/>
              <a:ea typeface="Calibri"/>
              <a:cs typeface="Calibri"/>
              <a:sym typeface="Calibri"/>
            </a:endParaRPr>
          </a:p>
        </p:txBody>
      </p:sp>
      <p:sp>
        <p:nvSpPr>
          <p:cNvPr id="99" name="Google Shape;99;p10"/>
          <p:cNvSpPr/>
          <p:nvPr/>
        </p:nvSpPr>
        <p:spPr>
          <a:xfrm>
            <a:off x="8255389" y="2634555"/>
            <a:ext cx="3287333" cy="5720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00"/>
              <a:buFont typeface="Inter"/>
              <a:buNone/>
            </a:pPr>
            <a:r>
              <a:rPr lang="en-US" sz="1800" b="1" i="0" u="none" strike="noStrike" cap="none">
                <a:solidFill>
                  <a:srgbClr val="000000"/>
                </a:solidFill>
                <a:latin typeface="Inter"/>
                <a:ea typeface="Inter"/>
                <a:cs typeface="Inter"/>
                <a:sym typeface="Inter"/>
              </a:rPr>
              <a:t>LAYER 6 - PRESENTATION LAYER:</a:t>
            </a:r>
            <a:endParaRPr sz="1800" b="0" i="0" u="none" strike="noStrike" cap="none">
              <a:solidFill>
                <a:schemeClr val="dk1"/>
              </a:solidFill>
              <a:latin typeface="Calibri"/>
              <a:ea typeface="Calibri"/>
              <a:cs typeface="Calibri"/>
              <a:sym typeface="Calibri"/>
            </a:endParaRPr>
          </a:p>
        </p:txBody>
      </p:sp>
      <p:sp>
        <p:nvSpPr>
          <p:cNvPr id="100" name="Google Shape;100;p10"/>
          <p:cNvSpPr/>
          <p:nvPr/>
        </p:nvSpPr>
        <p:spPr>
          <a:xfrm>
            <a:off x="8255389" y="3383955"/>
            <a:ext cx="3287333" cy="1277739"/>
          </a:xfrm>
          <a:prstGeom prst="rect">
            <a:avLst/>
          </a:prstGeom>
          <a:noFill/>
          <a:ln>
            <a:noFill/>
          </a:ln>
        </p:spPr>
        <p:txBody>
          <a:bodyPr spcFirstLastPara="1" wrap="square" lIns="0" tIns="73225" rIns="0" bIns="0" anchor="t" anchorCtr="0">
            <a:noAutofit/>
          </a:bodyPr>
          <a:lstStyle/>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React dashboard</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Chrome extension popup</a:t>
            </a:r>
            <a:endParaRPr sz="1400" b="0" i="0" u="none" strike="noStrike" cap="none">
              <a:solidFill>
                <a:schemeClr val="dk1"/>
              </a:solidFill>
              <a:latin typeface="Calibri"/>
              <a:ea typeface="Calibri"/>
              <a:cs typeface="Calibri"/>
              <a:sym typeface="Calibri"/>
            </a:endParaRPr>
          </a:p>
          <a:p>
            <a:pPr marL="284480" marR="0" lvl="0" indent="-284480" algn="l" rtl="0">
              <a:lnSpc>
                <a:spcPct val="131000"/>
              </a:lnSpc>
              <a:spcBef>
                <a:spcPts val="0"/>
              </a:spcBef>
              <a:spcAft>
                <a:spcPts val="0"/>
              </a:spcAft>
              <a:buClr>
                <a:srgbClr val="272525"/>
              </a:buClr>
              <a:buSzPts val="1400"/>
              <a:buFont typeface="Inter"/>
              <a:buChar char="•"/>
            </a:pPr>
            <a:r>
              <a:rPr lang="en-US" sz="1400" b="0" i="0" u="none" strike="noStrike" cap="none">
                <a:solidFill>
                  <a:srgbClr val="272525"/>
                </a:solidFill>
                <a:latin typeface="Inter"/>
                <a:ea typeface="Inter"/>
                <a:cs typeface="Inter"/>
                <a:sym typeface="Inter"/>
              </a:rPr>
              <a:t>Wellbeing analytics and user controls</a:t>
            </a:r>
            <a:endParaRPr sz="1400" b="0" i="0" u="none" strike="noStrike" cap="none">
              <a:solidFill>
                <a:schemeClr val="dk1"/>
              </a:solidFill>
              <a:latin typeface="Calibri"/>
              <a:ea typeface="Calibri"/>
              <a:cs typeface="Calibri"/>
              <a:sym typeface="Calibri"/>
            </a:endParaRPr>
          </a:p>
        </p:txBody>
      </p:sp>
      <p:pic>
        <p:nvPicPr>
          <p:cNvPr id="101" name="Google Shape;101;p10"/>
          <p:cNvPicPr preferRelativeResize="0"/>
          <p:nvPr/>
        </p:nvPicPr>
        <p:blipFill>
          <a:blip r:embed="rId4">
            <a:alphaModFix/>
          </a:blip>
          <a:stretch>
            <a:fillRect/>
          </a:stretch>
        </p:blipFill>
        <p:spPr>
          <a:xfrm>
            <a:off x="10515275" y="6315425"/>
            <a:ext cx="1676400" cy="466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1" descr="preencoded.png"/>
          <p:cNvPicPr preferRelativeResize="0"/>
          <p:nvPr/>
        </p:nvPicPr>
        <p:blipFill rotWithShape="1">
          <a:blip r:embed="rId3">
            <a:alphaModFix/>
          </a:blip>
          <a:srcRect/>
          <a:stretch/>
        </p:blipFill>
        <p:spPr>
          <a:xfrm>
            <a:off x="10920635" y="1111647"/>
            <a:ext cx="609585" cy="219670"/>
          </a:xfrm>
          <a:prstGeom prst="rect">
            <a:avLst/>
          </a:prstGeom>
          <a:noFill/>
          <a:ln>
            <a:noFill/>
          </a:ln>
        </p:spPr>
      </p:pic>
      <p:sp>
        <p:nvSpPr>
          <p:cNvPr id="108" name="Google Shape;108;p11"/>
          <p:cNvSpPr/>
          <p:nvPr/>
        </p:nvSpPr>
        <p:spPr>
          <a:xfrm>
            <a:off x="661475" y="1614785"/>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Summary of Capstone Project Phase II Work</a:t>
            </a:r>
            <a:endParaRPr sz="3700" b="0" i="0" u="none" strike="noStrike" cap="none">
              <a:solidFill>
                <a:schemeClr val="dk1"/>
              </a:solidFill>
              <a:latin typeface="Calibri"/>
              <a:ea typeface="Calibri"/>
              <a:cs typeface="Calibri"/>
              <a:sym typeface="Calibri"/>
            </a:endParaRPr>
          </a:p>
        </p:txBody>
      </p:sp>
      <p:graphicFrame>
        <p:nvGraphicFramePr>
          <p:cNvPr id="109" name="Google Shape;109;p11"/>
          <p:cNvGraphicFramePr/>
          <p:nvPr/>
        </p:nvGraphicFramePr>
        <p:xfrm>
          <a:off x="661475" y="2488902"/>
          <a:ext cx="10868750" cy="2373900"/>
        </p:xfrm>
        <a:graphic>
          <a:graphicData uri="http://schemas.openxmlformats.org/drawingml/2006/table">
            <a:tbl>
              <a:tblPr>
                <a:noFill/>
                <a:tableStyleId>{46ECF8E9-5879-42D1-B8A0-3D792A3639C8}</a:tableStyleId>
              </a:tblPr>
              <a:tblGrid>
                <a:gridCol w="10868750">
                  <a:extLst>
                    <a:ext uri="{9D8B030D-6E8A-4147-A177-3AD203B41FA5}">
                      <a16:colId xmlns:a16="http://schemas.microsoft.com/office/drawing/2014/main" val="20000"/>
                    </a:ext>
                  </a:extLst>
                </a:gridCol>
              </a:tblGrid>
              <a:tr h="545100">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PHASE II FOUNDATION</a:t>
                      </a:r>
                      <a:endParaRPr sz="14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C0C1D7"/>
                      </a:solidFill>
                      <a:prstDash val="solid"/>
                      <a:round/>
                      <a:headEnd type="none" w="sm" len="sm"/>
                      <a:tailEnd type="none" w="sm" len="sm"/>
                    </a:lnB>
                  </a:tcPr>
                </a:tc>
                <a:extLst>
                  <a:ext uri="{0D108BD9-81ED-4DB2-BD59-A6C34878D82A}">
                    <a16:rowId xmlns:a16="http://schemas.microsoft.com/office/drawing/2014/main" val="10000"/>
                  </a:ext>
                </a:extLst>
              </a:tr>
              <a:tr h="1828800">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Canonical PostgreSQL schema covering memory items, source metadata, engagement, embeddings, sessions, groups, regret events, and conversation history.</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Initial storage-engine abstractions for Gmail, Chrome, and YouTube records.</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Chrome extension activity capture and source-specific engagement signals.</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Initial enrichment components for cleaning, embeddings, classification, and FAISS.</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Initial LangGraph retrieval structure.</a:t>
                      </a:r>
                      <a:endParaRPr sz="14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C0C1D7"/>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10" name="Google Shape;110;p11"/>
          <p:cNvPicPr preferRelativeResize="0"/>
          <p:nvPr/>
        </p:nvPicPr>
        <p:blipFill>
          <a:blip r:embed="rId4">
            <a:alphaModFix/>
          </a:blip>
          <a:stretch>
            <a:fillRect/>
          </a:stretch>
        </p:blipFill>
        <p:spPr>
          <a:xfrm>
            <a:off x="10515275" y="6391277"/>
            <a:ext cx="1676400" cy="46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2" descr="preencoded.png"/>
          <p:cNvPicPr preferRelativeResize="0"/>
          <p:nvPr/>
        </p:nvPicPr>
        <p:blipFill rotWithShape="1">
          <a:blip r:embed="rId3">
            <a:alphaModFix/>
          </a:blip>
          <a:srcRect/>
          <a:stretch/>
        </p:blipFill>
        <p:spPr>
          <a:xfrm>
            <a:off x="10939685" y="541040"/>
            <a:ext cx="590535" cy="212824"/>
          </a:xfrm>
          <a:prstGeom prst="rect">
            <a:avLst/>
          </a:prstGeom>
          <a:noFill/>
          <a:ln>
            <a:noFill/>
          </a:ln>
        </p:spPr>
      </p:pic>
      <p:sp>
        <p:nvSpPr>
          <p:cNvPr id="117" name="Google Shape;117;p12"/>
          <p:cNvSpPr/>
          <p:nvPr/>
        </p:nvSpPr>
        <p:spPr>
          <a:xfrm>
            <a:off x="661475" y="1019870"/>
            <a:ext cx="10868745" cy="5721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600"/>
              <a:buFont typeface="Inter"/>
              <a:buNone/>
            </a:pPr>
            <a:r>
              <a:rPr lang="en-US" sz="3600" b="1" i="0" u="none" strike="noStrike" cap="none">
                <a:solidFill>
                  <a:srgbClr val="000000"/>
                </a:solidFill>
                <a:latin typeface="Inter"/>
                <a:ea typeface="Inter"/>
                <a:cs typeface="Inter"/>
                <a:sym typeface="Inter"/>
              </a:rPr>
              <a:t>Phase III Extensions and Improvements</a:t>
            </a:r>
            <a:endParaRPr sz="3600" b="0" i="0" u="none" strike="noStrike" cap="none">
              <a:solidFill>
                <a:schemeClr val="dk1"/>
              </a:solidFill>
              <a:latin typeface="Calibri"/>
              <a:ea typeface="Calibri"/>
              <a:cs typeface="Calibri"/>
              <a:sym typeface="Calibri"/>
            </a:endParaRPr>
          </a:p>
        </p:txBody>
      </p:sp>
      <p:sp>
        <p:nvSpPr>
          <p:cNvPr id="118" name="Google Shape;118;p12"/>
          <p:cNvSpPr/>
          <p:nvPr/>
        </p:nvSpPr>
        <p:spPr>
          <a:xfrm>
            <a:off x="661475" y="1858070"/>
            <a:ext cx="10868745" cy="4458791"/>
          </a:xfrm>
          <a:prstGeom prst="rect">
            <a:avLst/>
          </a:prstGeom>
          <a:noFill/>
          <a:ln>
            <a:noFill/>
          </a:ln>
        </p:spPr>
        <p:txBody>
          <a:bodyPr spcFirstLastPara="1" wrap="square" lIns="0" tIns="0" rIns="0" bIns="0" anchor="t" anchorCtr="0">
            <a:noAutofit/>
          </a:bodyPr>
          <a:lstStyle/>
          <a:p>
            <a:pPr marL="0" marR="0" lvl="0" indent="0" algn="l" rtl="0">
              <a:lnSpc>
                <a:spcPct val="131000"/>
              </a:lnSpc>
              <a:spcBef>
                <a:spcPts val="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Phase III: What We Improved, What We Added</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155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1 · Retrieval graph expanded</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0"/>
              </a:spcBef>
              <a:spcAft>
                <a:spcPts val="0"/>
              </a:spcAft>
              <a:buClr>
                <a:srgbClr val="272525"/>
              </a:buClr>
              <a:buSzPts val="1400"/>
              <a:buFont typeface="Inter"/>
              <a:buNone/>
            </a:pPr>
            <a:r>
              <a:rPr lang="en-US" sz="1400" b="0" i="0" u="none" strike="noStrike" cap="none">
                <a:solidFill>
                  <a:srgbClr val="272525"/>
                </a:solidFill>
                <a:latin typeface="Inter"/>
                <a:ea typeface="Inter"/>
                <a:cs typeface="Inter"/>
                <a:sym typeface="Inter"/>
              </a:rPr>
              <a:t>Grew from 9 nodes to 14, with keyword and semantic search running in parallel.</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155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2 · Search quality</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0"/>
              </a:spcBef>
              <a:spcAft>
                <a:spcPts val="0"/>
              </a:spcAft>
              <a:buClr>
                <a:srgbClr val="272525"/>
              </a:buClr>
              <a:buSzPts val="1400"/>
              <a:buFont typeface="Inter"/>
              <a:buNone/>
            </a:pPr>
            <a:r>
              <a:rPr lang="en-US" sz="1400" b="0" i="0" u="none" strike="noStrike" cap="none">
                <a:solidFill>
                  <a:srgbClr val="272525"/>
                </a:solidFill>
                <a:latin typeface="Inter"/>
                <a:ea typeface="Inter"/>
                <a:cs typeface="Inter"/>
                <a:sym typeface="Inter"/>
              </a:rPr>
              <a:t>Added rank fusion to merge keyword and semantic results, then cross-encoder re-ranking. Still exactly 2 LLM calls per query.</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155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3 · Single storage path</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0"/>
              </a:spcBef>
              <a:spcAft>
                <a:spcPts val="0"/>
              </a:spcAft>
              <a:buClr>
                <a:srgbClr val="272525"/>
              </a:buClr>
              <a:buSzPts val="1400"/>
              <a:buFont typeface="Inter"/>
              <a:buNone/>
            </a:pPr>
            <a:r>
              <a:rPr lang="en-US" sz="1400" b="0" i="0" u="none" strike="noStrike" cap="none">
                <a:solidFill>
                  <a:srgbClr val="272525"/>
                </a:solidFill>
                <a:latin typeface="Inter"/>
                <a:ea typeface="Inter"/>
                <a:cs typeface="Inter"/>
                <a:sym typeface="Inter"/>
              </a:rPr>
              <a:t>All three sources now write through one gateway and one storage engine, with duplicate prevention.</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155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4 · Enrichment reliability</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0"/>
              </a:spcBef>
              <a:spcAft>
                <a:spcPts val="0"/>
              </a:spcAft>
              <a:buClr>
                <a:srgbClr val="272525"/>
              </a:buClr>
              <a:buSzPts val="1400"/>
              <a:buFont typeface="Inter"/>
              <a:buNone/>
            </a:pPr>
            <a:r>
              <a:rPr lang="en-US" sz="1400" b="0" i="0" u="none" strike="noStrike" cap="none">
                <a:solidFill>
                  <a:srgbClr val="272525"/>
                </a:solidFill>
                <a:latin typeface="Inter"/>
                <a:ea typeface="Inter"/>
                <a:cs typeface="Inter"/>
                <a:sym typeface="Inter"/>
              </a:rPr>
              <a:t>Items track pending, processed, and failed state. Failed items retry without being wrongly marked done. Index updates incrementally.</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1550"/>
              </a:spcBef>
              <a:spcAft>
                <a:spcPts val="0"/>
              </a:spcAft>
              <a:buClr>
                <a:srgbClr val="272525"/>
              </a:buClr>
              <a:buSzPts val="1400"/>
              <a:buFont typeface="Inter"/>
              <a:buNone/>
            </a:pPr>
            <a:r>
              <a:rPr lang="en-US" sz="1400" b="1" i="0" u="none" strike="noStrike" cap="none">
                <a:solidFill>
                  <a:srgbClr val="272525"/>
                </a:solidFill>
                <a:latin typeface="Inter"/>
                <a:ea typeface="Inter"/>
                <a:cs typeface="Inter"/>
                <a:sym typeface="Inter"/>
              </a:rPr>
              <a:t>5 · Wellbeing, dashboard and extension popup</a:t>
            </a:r>
            <a:endParaRPr sz="1400" b="0" i="0" u="none" strike="noStrike" cap="none">
              <a:solidFill>
                <a:schemeClr val="dk1"/>
              </a:solidFill>
              <a:latin typeface="Calibri"/>
              <a:ea typeface="Calibri"/>
              <a:cs typeface="Calibri"/>
              <a:sym typeface="Calibri"/>
            </a:endParaRPr>
          </a:p>
          <a:p>
            <a:pPr marL="0" marR="0" lvl="0" indent="0" algn="l" rtl="0">
              <a:lnSpc>
                <a:spcPct val="131000"/>
              </a:lnSpc>
              <a:spcBef>
                <a:spcPts val="0"/>
              </a:spcBef>
              <a:spcAft>
                <a:spcPts val="0"/>
              </a:spcAft>
              <a:buClr>
                <a:srgbClr val="272525"/>
              </a:buClr>
              <a:buSzPts val="1400"/>
              <a:buFont typeface="Inter"/>
              <a:buNone/>
            </a:pPr>
            <a:r>
              <a:rPr lang="en-US" sz="1400" b="0" i="0" u="none" strike="noStrike" cap="none">
                <a:solidFill>
                  <a:srgbClr val="272525"/>
                </a:solidFill>
                <a:latin typeface="Inter"/>
                <a:ea typeface="Inter"/>
                <a:cs typeface="Inter"/>
                <a:sym typeface="Inter"/>
              </a:rPr>
              <a:t>Initial implementation. Not yet validated on live data.</a:t>
            </a:r>
            <a:endParaRPr sz="1400" b="0" i="0" u="none" strike="noStrike" cap="none">
              <a:solidFill>
                <a:schemeClr val="dk1"/>
              </a:solidFill>
              <a:latin typeface="Calibri"/>
              <a:ea typeface="Calibri"/>
              <a:cs typeface="Calibri"/>
              <a:sym typeface="Calibri"/>
            </a:endParaRPr>
          </a:p>
        </p:txBody>
      </p:sp>
      <p:pic>
        <p:nvPicPr>
          <p:cNvPr id="119" name="Google Shape;119;p12"/>
          <p:cNvPicPr preferRelativeResize="0"/>
          <p:nvPr/>
        </p:nvPicPr>
        <p:blipFill>
          <a:blip r:embed="rId4">
            <a:alphaModFix/>
          </a:blip>
          <a:stretch>
            <a:fillRect/>
          </a:stretch>
        </p:blipFill>
        <p:spPr>
          <a:xfrm>
            <a:off x="10515275" y="6316850"/>
            <a:ext cx="1676400" cy="466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3" descr="preencoded.png"/>
          <p:cNvPicPr preferRelativeResize="0"/>
          <p:nvPr/>
        </p:nvPicPr>
        <p:blipFill rotWithShape="1">
          <a:blip r:embed="rId3">
            <a:alphaModFix/>
          </a:blip>
          <a:srcRect/>
          <a:stretch/>
        </p:blipFill>
        <p:spPr>
          <a:xfrm>
            <a:off x="11073032" y="528141"/>
            <a:ext cx="457189" cy="164802"/>
          </a:xfrm>
          <a:prstGeom prst="rect">
            <a:avLst/>
          </a:prstGeom>
          <a:noFill/>
          <a:ln>
            <a:noFill/>
          </a:ln>
        </p:spPr>
      </p:pic>
      <p:sp>
        <p:nvSpPr>
          <p:cNvPr id="126" name="Google Shape;126;p13"/>
          <p:cNvSpPr/>
          <p:nvPr/>
        </p:nvSpPr>
        <p:spPr>
          <a:xfrm>
            <a:off x="661475" y="852388"/>
            <a:ext cx="10868745" cy="44301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750"/>
              <a:buFont typeface="Inter"/>
              <a:buNone/>
            </a:pPr>
            <a:r>
              <a:rPr lang="en-US" sz="2750" b="1" i="0" u="none" strike="noStrike" cap="none">
                <a:solidFill>
                  <a:srgbClr val="000000"/>
                </a:solidFill>
                <a:latin typeface="Inter"/>
                <a:ea typeface="Inter"/>
                <a:cs typeface="Inter"/>
                <a:sym typeface="Inter"/>
              </a:rPr>
              <a:t>Integration &amp; Platform Stability</a:t>
            </a:r>
            <a:endParaRPr sz="2750" b="0" i="0" u="none" strike="noStrike" cap="none">
              <a:solidFill>
                <a:schemeClr val="dk1"/>
              </a:solidFill>
              <a:latin typeface="Calibri"/>
              <a:ea typeface="Calibri"/>
              <a:cs typeface="Calibri"/>
              <a:sym typeface="Calibri"/>
            </a:endParaRPr>
          </a:p>
        </p:txBody>
      </p:sp>
      <p:sp>
        <p:nvSpPr>
          <p:cNvPr id="127" name="Google Shape;127;p13"/>
          <p:cNvSpPr/>
          <p:nvPr/>
        </p:nvSpPr>
        <p:spPr>
          <a:xfrm>
            <a:off x="661475" y="1337866"/>
            <a:ext cx="10868745" cy="2214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50"/>
              <a:buFont typeface="Inter"/>
              <a:buNone/>
            </a:pPr>
            <a:r>
              <a:rPr lang="en-US" sz="1350" b="1" i="0" u="none" strike="noStrike" cap="none">
                <a:solidFill>
                  <a:srgbClr val="000000"/>
                </a:solidFill>
                <a:latin typeface="Inter"/>
                <a:ea typeface="Inter"/>
                <a:cs typeface="Inter"/>
                <a:sym typeface="Inter"/>
              </a:rPr>
              <a:t>Mrigank Jain — PES2UG23CS352 </a:t>
            </a:r>
            <a:endParaRPr sz="1350" b="0" i="0" u="none" strike="noStrike" cap="none">
              <a:solidFill>
                <a:schemeClr val="dk1"/>
              </a:solidFill>
              <a:latin typeface="Calibri"/>
              <a:ea typeface="Calibri"/>
              <a:cs typeface="Calibri"/>
              <a:sym typeface="Calibri"/>
            </a:endParaRPr>
          </a:p>
        </p:txBody>
      </p:sp>
      <p:sp>
        <p:nvSpPr>
          <p:cNvPr id="128" name="Google Shape;128;p13"/>
          <p:cNvSpPr/>
          <p:nvPr/>
        </p:nvSpPr>
        <p:spPr>
          <a:xfrm>
            <a:off x="661475" y="2076648"/>
            <a:ext cx="10868745" cy="2214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50"/>
              <a:buFont typeface="Inter"/>
              <a:buNone/>
            </a:pPr>
            <a:r>
              <a:rPr lang="en-US" sz="1350" b="1" i="0" u="none" strike="noStrike" cap="none">
                <a:solidFill>
                  <a:srgbClr val="000000"/>
                </a:solidFill>
                <a:latin typeface="Inter"/>
                <a:ea typeface="Inter"/>
                <a:cs typeface="Inter"/>
                <a:sym typeface="Inter"/>
              </a:rPr>
              <a:t>RESPONSIBILITIES:</a:t>
            </a:r>
            <a:endParaRPr sz="1350" b="0" i="0" u="none" strike="noStrike" cap="none">
              <a:solidFill>
                <a:schemeClr val="dk1"/>
              </a:solidFill>
              <a:latin typeface="Calibri"/>
              <a:ea typeface="Calibri"/>
              <a:cs typeface="Calibri"/>
              <a:sym typeface="Calibri"/>
            </a:endParaRPr>
          </a:p>
        </p:txBody>
      </p:sp>
      <p:sp>
        <p:nvSpPr>
          <p:cNvPr id="129" name="Google Shape;129;p13"/>
          <p:cNvSpPr/>
          <p:nvPr/>
        </p:nvSpPr>
        <p:spPr>
          <a:xfrm>
            <a:off x="661475" y="2457549"/>
            <a:ext cx="1086815" cy="481806"/>
          </a:xfrm>
          <a:prstGeom prst="roundRect">
            <a:avLst>
              <a:gd name="adj" fmla="val 12358"/>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1105170" y="2573834"/>
            <a:ext cx="199325" cy="2491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Inter"/>
              <a:buNone/>
            </a:pPr>
            <a:r>
              <a:rPr lang="en-US" sz="1550" b="1" i="0" u="none" strike="noStrike" cap="none">
                <a:solidFill>
                  <a:srgbClr val="272525"/>
                </a:solidFill>
                <a:latin typeface="Inter"/>
                <a:ea typeface="Inter"/>
                <a:cs typeface="Inter"/>
                <a:sym typeface="Inter"/>
              </a:rPr>
              <a:t>1</a:t>
            </a:r>
            <a:endParaRPr sz="1550" b="0" i="0" u="none" strike="noStrike" cap="none">
              <a:solidFill>
                <a:schemeClr val="dk1"/>
              </a:solidFill>
              <a:latin typeface="Calibri"/>
              <a:ea typeface="Calibri"/>
              <a:cs typeface="Calibri"/>
              <a:sym typeface="Calibri"/>
            </a:endParaRPr>
          </a:p>
        </p:txBody>
      </p:sp>
      <p:sp>
        <p:nvSpPr>
          <p:cNvPr id="131" name="Google Shape;131;p13"/>
          <p:cNvSpPr/>
          <p:nvPr/>
        </p:nvSpPr>
        <p:spPr>
          <a:xfrm>
            <a:off x="1889971" y="2599234"/>
            <a:ext cx="9498569" cy="198438"/>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Build the API gateway connecting the extension and dashboard to the backend</a:t>
            </a:r>
            <a:endParaRPr sz="1100" b="0" i="0" u="none" strike="noStrike" cap="none">
              <a:solidFill>
                <a:schemeClr val="dk1"/>
              </a:solidFill>
              <a:latin typeface="Calibri"/>
              <a:ea typeface="Calibri"/>
              <a:cs typeface="Calibri"/>
              <a:sym typeface="Calibri"/>
            </a:endParaRPr>
          </a:p>
        </p:txBody>
      </p:sp>
      <p:sp>
        <p:nvSpPr>
          <p:cNvPr id="132" name="Google Shape;132;p13"/>
          <p:cNvSpPr/>
          <p:nvPr/>
        </p:nvSpPr>
        <p:spPr>
          <a:xfrm>
            <a:off x="1819130" y="2931418"/>
            <a:ext cx="9640249" cy="9525"/>
          </a:xfrm>
          <a:prstGeom prst="roundRect">
            <a:avLst>
              <a:gd name="adj" fmla="val 49999"/>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661475" y="3010198"/>
            <a:ext cx="2173729" cy="481806"/>
          </a:xfrm>
          <a:prstGeom prst="roundRect">
            <a:avLst>
              <a:gd name="adj" fmla="val 12358"/>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1648677" y="3126482"/>
            <a:ext cx="199325" cy="2491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Inter"/>
              <a:buNone/>
            </a:pPr>
            <a:r>
              <a:rPr lang="en-US" sz="1550" b="1" i="0" u="none" strike="noStrike" cap="none">
                <a:solidFill>
                  <a:srgbClr val="272525"/>
                </a:solidFill>
                <a:latin typeface="Inter"/>
                <a:ea typeface="Inter"/>
                <a:cs typeface="Inter"/>
                <a:sym typeface="Inter"/>
              </a:rPr>
              <a:t>2</a:t>
            </a:r>
            <a:endParaRPr sz="1550" b="0" i="0" u="none" strike="noStrike" cap="none">
              <a:solidFill>
                <a:schemeClr val="dk1"/>
              </a:solidFill>
              <a:latin typeface="Calibri"/>
              <a:ea typeface="Calibri"/>
              <a:cs typeface="Calibri"/>
              <a:sym typeface="Calibri"/>
            </a:endParaRPr>
          </a:p>
        </p:txBody>
      </p:sp>
      <p:sp>
        <p:nvSpPr>
          <p:cNvPr id="135" name="Google Shape;135;p13"/>
          <p:cNvSpPr/>
          <p:nvPr/>
        </p:nvSpPr>
        <p:spPr>
          <a:xfrm>
            <a:off x="2976885" y="3151882"/>
            <a:ext cx="8411654" cy="198438"/>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Keep all source connectors reachable through one consistent set of endpoints</a:t>
            </a:r>
            <a:endParaRPr sz="1100" b="0" i="0" u="none" strike="noStrike" cap="none">
              <a:solidFill>
                <a:schemeClr val="dk1"/>
              </a:solidFill>
              <a:latin typeface="Calibri"/>
              <a:ea typeface="Calibri"/>
              <a:cs typeface="Calibri"/>
              <a:sym typeface="Calibri"/>
            </a:endParaRPr>
          </a:p>
        </p:txBody>
      </p:sp>
      <p:sp>
        <p:nvSpPr>
          <p:cNvPr id="136" name="Google Shape;136;p13"/>
          <p:cNvSpPr/>
          <p:nvPr/>
        </p:nvSpPr>
        <p:spPr>
          <a:xfrm>
            <a:off x="2906044" y="3484066"/>
            <a:ext cx="8553335" cy="9525"/>
          </a:xfrm>
          <a:prstGeom prst="roundRect">
            <a:avLst>
              <a:gd name="adj" fmla="val 49999"/>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661475" y="3562846"/>
            <a:ext cx="3260544" cy="481806"/>
          </a:xfrm>
          <a:prstGeom prst="roundRect">
            <a:avLst>
              <a:gd name="adj" fmla="val 12358"/>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2192084" y="3679130"/>
            <a:ext cx="199325" cy="2491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Inter"/>
              <a:buNone/>
            </a:pPr>
            <a:r>
              <a:rPr lang="en-US" sz="1550" b="1" i="0" u="none" strike="noStrike" cap="none">
                <a:solidFill>
                  <a:srgbClr val="272525"/>
                </a:solidFill>
                <a:latin typeface="Inter"/>
                <a:ea typeface="Inter"/>
                <a:cs typeface="Inter"/>
                <a:sym typeface="Inter"/>
              </a:rPr>
              <a:t>3</a:t>
            </a:r>
            <a:endParaRPr sz="1550" b="0" i="0" u="none" strike="noStrike" cap="none">
              <a:solidFill>
                <a:schemeClr val="dk1"/>
              </a:solidFill>
              <a:latin typeface="Calibri"/>
              <a:ea typeface="Calibri"/>
              <a:cs typeface="Calibri"/>
              <a:sym typeface="Calibri"/>
            </a:endParaRPr>
          </a:p>
        </p:txBody>
      </p:sp>
      <p:sp>
        <p:nvSpPr>
          <p:cNvPr id="139" name="Google Shape;139;p13"/>
          <p:cNvSpPr/>
          <p:nvPr/>
        </p:nvSpPr>
        <p:spPr>
          <a:xfrm>
            <a:off x="4063700" y="3704530"/>
            <a:ext cx="7324839" cy="198438"/>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Expose runtime settings so capture can be controlled without restarting</a:t>
            </a:r>
            <a:endParaRPr sz="1100" b="0" i="0" u="none" strike="noStrike" cap="none">
              <a:solidFill>
                <a:schemeClr val="dk1"/>
              </a:solidFill>
              <a:latin typeface="Calibri"/>
              <a:ea typeface="Calibri"/>
              <a:cs typeface="Calibri"/>
              <a:sym typeface="Calibri"/>
            </a:endParaRPr>
          </a:p>
        </p:txBody>
      </p:sp>
      <p:sp>
        <p:nvSpPr>
          <p:cNvPr id="140" name="Google Shape;140;p13"/>
          <p:cNvSpPr/>
          <p:nvPr/>
        </p:nvSpPr>
        <p:spPr>
          <a:xfrm>
            <a:off x="3992859" y="4036715"/>
            <a:ext cx="7466520" cy="9525"/>
          </a:xfrm>
          <a:prstGeom prst="roundRect">
            <a:avLst>
              <a:gd name="adj" fmla="val 49999"/>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661475" y="4115495"/>
            <a:ext cx="4347458" cy="481806"/>
          </a:xfrm>
          <a:prstGeom prst="roundRect">
            <a:avLst>
              <a:gd name="adj" fmla="val 12358"/>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2735492" y="4231779"/>
            <a:ext cx="199325" cy="2491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Inter"/>
              <a:buNone/>
            </a:pPr>
            <a:r>
              <a:rPr lang="en-US" sz="1550" b="1" i="0" u="none" strike="noStrike" cap="none">
                <a:solidFill>
                  <a:srgbClr val="272525"/>
                </a:solidFill>
                <a:latin typeface="Inter"/>
                <a:ea typeface="Inter"/>
                <a:cs typeface="Inter"/>
                <a:sym typeface="Inter"/>
              </a:rPr>
              <a:t>4</a:t>
            </a:r>
            <a:endParaRPr sz="1550" b="0" i="0" u="none" strike="noStrike" cap="none">
              <a:solidFill>
                <a:schemeClr val="dk1"/>
              </a:solidFill>
              <a:latin typeface="Calibri"/>
              <a:ea typeface="Calibri"/>
              <a:cs typeface="Calibri"/>
              <a:sym typeface="Calibri"/>
            </a:endParaRPr>
          </a:p>
        </p:txBody>
      </p:sp>
      <p:sp>
        <p:nvSpPr>
          <p:cNvPr id="143" name="Google Shape;143;p13"/>
          <p:cNvSpPr/>
          <p:nvPr/>
        </p:nvSpPr>
        <p:spPr>
          <a:xfrm>
            <a:off x="5150614" y="4257179"/>
            <a:ext cx="6237925" cy="198438"/>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Provide health visibility for the running system</a:t>
            </a:r>
            <a:endParaRPr sz="1100" b="0" i="0" u="none" strike="noStrike" cap="none">
              <a:solidFill>
                <a:schemeClr val="dk1"/>
              </a:solidFill>
              <a:latin typeface="Calibri"/>
              <a:ea typeface="Calibri"/>
              <a:cs typeface="Calibri"/>
              <a:sym typeface="Calibri"/>
            </a:endParaRPr>
          </a:p>
        </p:txBody>
      </p:sp>
      <p:sp>
        <p:nvSpPr>
          <p:cNvPr id="144" name="Google Shape;144;p13"/>
          <p:cNvSpPr/>
          <p:nvPr/>
        </p:nvSpPr>
        <p:spPr>
          <a:xfrm>
            <a:off x="5079774" y="4589363"/>
            <a:ext cx="6379606" cy="9525"/>
          </a:xfrm>
          <a:prstGeom prst="roundRect">
            <a:avLst>
              <a:gd name="adj" fmla="val 49999"/>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661475" y="4668143"/>
            <a:ext cx="5434373" cy="481806"/>
          </a:xfrm>
          <a:prstGeom prst="roundRect">
            <a:avLst>
              <a:gd name="adj" fmla="val 12358"/>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3278998" y="4784427"/>
            <a:ext cx="199325" cy="2491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1550"/>
              <a:buFont typeface="Inter"/>
              <a:buNone/>
            </a:pPr>
            <a:r>
              <a:rPr lang="en-US" sz="1550" b="1" i="0" u="none" strike="noStrike" cap="none">
                <a:solidFill>
                  <a:srgbClr val="272525"/>
                </a:solidFill>
                <a:latin typeface="Inter"/>
                <a:ea typeface="Inter"/>
                <a:cs typeface="Inter"/>
                <a:sym typeface="Inter"/>
              </a:rPr>
              <a:t>5</a:t>
            </a:r>
            <a:endParaRPr sz="1550" b="0" i="0" u="none" strike="noStrike" cap="none">
              <a:solidFill>
                <a:schemeClr val="dk1"/>
              </a:solidFill>
              <a:latin typeface="Calibri"/>
              <a:ea typeface="Calibri"/>
              <a:cs typeface="Calibri"/>
              <a:sym typeface="Calibri"/>
            </a:endParaRPr>
          </a:p>
        </p:txBody>
      </p:sp>
      <p:sp>
        <p:nvSpPr>
          <p:cNvPr id="147" name="Google Shape;147;p13"/>
          <p:cNvSpPr/>
          <p:nvPr/>
        </p:nvSpPr>
        <p:spPr>
          <a:xfrm>
            <a:off x="6237528" y="4809827"/>
            <a:ext cx="5151011" cy="198438"/>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Build command-line tools to set up, inspect and repair the system</a:t>
            </a:r>
            <a:endParaRPr sz="1100" b="0" i="0" u="none" strike="noStrike" cap="none">
              <a:solidFill>
                <a:schemeClr val="dk1"/>
              </a:solidFill>
              <a:latin typeface="Calibri"/>
              <a:ea typeface="Calibri"/>
              <a:cs typeface="Calibri"/>
              <a:sym typeface="Calibri"/>
            </a:endParaRPr>
          </a:p>
        </p:txBody>
      </p:sp>
      <p:sp>
        <p:nvSpPr>
          <p:cNvPr id="148" name="Google Shape;148;p13"/>
          <p:cNvSpPr/>
          <p:nvPr/>
        </p:nvSpPr>
        <p:spPr>
          <a:xfrm>
            <a:off x="661475" y="5309394"/>
            <a:ext cx="10868745" cy="26570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650"/>
              <a:buFont typeface="Inter"/>
              <a:buNone/>
            </a:pPr>
            <a:r>
              <a:rPr lang="en-US" sz="1650" b="1" i="0" u="none" strike="noStrike" cap="none">
                <a:solidFill>
                  <a:srgbClr val="000000"/>
                </a:solidFill>
                <a:latin typeface="Inter"/>
                <a:ea typeface="Inter"/>
                <a:cs typeface="Inter"/>
                <a:sym typeface="Inter"/>
              </a:rPr>
              <a:t>IMPLEMENTED WORK:</a:t>
            </a:r>
            <a:endParaRPr sz="1650" b="0" i="0" u="none" strike="noStrike" cap="none">
              <a:solidFill>
                <a:schemeClr val="dk1"/>
              </a:solidFill>
              <a:latin typeface="Calibri"/>
              <a:ea typeface="Calibri"/>
              <a:cs typeface="Calibri"/>
              <a:sym typeface="Calibri"/>
            </a:endParaRPr>
          </a:p>
        </p:txBody>
      </p:sp>
      <p:sp>
        <p:nvSpPr>
          <p:cNvPr id="149" name="Google Shape;149;p13"/>
          <p:cNvSpPr/>
          <p:nvPr/>
        </p:nvSpPr>
        <p:spPr>
          <a:xfrm>
            <a:off x="661475" y="5734546"/>
            <a:ext cx="10868745" cy="595313"/>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272525"/>
              </a:buClr>
              <a:buSzPts val="1100"/>
              <a:buFont typeface="Inter"/>
              <a:buNone/>
            </a:pPr>
            <a:r>
              <a:rPr lang="en-US" sz="1100" b="0" i="0" u="none" strike="noStrike" cap="none">
                <a:solidFill>
                  <a:srgbClr val="272525"/>
                </a:solidFill>
                <a:latin typeface="Inter"/>
                <a:ea typeface="Inter"/>
                <a:cs typeface="Inter"/>
                <a:sym typeface="Inter"/>
              </a:rPr>
              <a:t>One FastAPI application serving the Chrome extension and React dashboard, with six router groups in active use. Health endpoint polled every 15 seconds by the dashboard. Runtime capture settings changeable from the Settings page. Command-line tools for database setup, enrichment status, reprocessing, index rebuild and centroid recomputation. Approximately 1,470 lines of code.</a:t>
            </a:r>
            <a:endParaRPr sz="1100" b="0" i="0" u="none" strike="noStrike" cap="none">
              <a:solidFill>
                <a:schemeClr val="dk1"/>
              </a:solidFill>
              <a:latin typeface="Calibri"/>
              <a:ea typeface="Calibri"/>
              <a:cs typeface="Calibri"/>
              <a:sym typeface="Calibri"/>
            </a:endParaRPr>
          </a:p>
        </p:txBody>
      </p:sp>
      <p:pic>
        <p:nvPicPr>
          <p:cNvPr id="150" name="Google Shape;150;p13"/>
          <p:cNvPicPr preferRelativeResize="0"/>
          <p:nvPr/>
        </p:nvPicPr>
        <p:blipFill>
          <a:blip r:embed="rId4">
            <a:alphaModFix/>
          </a:blip>
          <a:stretch>
            <a:fillRect/>
          </a:stretch>
        </p:blipFill>
        <p:spPr>
          <a:xfrm>
            <a:off x="10463425" y="6324500"/>
            <a:ext cx="1676400" cy="466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14" descr="preencoded.png"/>
          <p:cNvPicPr preferRelativeResize="0"/>
          <p:nvPr/>
        </p:nvPicPr>
        <p:blipFill rotWithShape="1">
          <a:blip r:embed="rId3">
            <a:alphaModFix/>
          </a:blip>
          <a:srcRect/>
          <a:stretch/>
        </p:blipFill>
        <p:spPr>
          <a:xfrm>
            <a:off x="11053982" y="580330"/>
            <a:ext cx="476238" cy="171648"/>
          </a:xfrm>
          <a:prstGeom prst="rect">
            <a:avLst/>
          </a:prstGeom>
          <a:noFill/>
          <a:ln>
            <a:noFill/>
          </a:ln>
        </p:spPr>
      </p:pic>
      <p:sp>
        <p:nvSpPr>
          <p:cNvPr id="157" name="Google Shape;157;p14"/>
          <p:cNvSpPr/>
          <p:nvPr/>
        </p:nvSpPr>
        <p:spPr>
          <a:xfrm>
            <a:off x="661475" y="925016"/>
            <a:ext cx="10868745" cy="46146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900"/>
              <a:buFont typeface="Inter"/>
              <a:buNone/>
            </a:pPr>
            <a:r>
              <a:rPr lang="en-US" sz="2900" b="1" i="0" u="none" strike="noStrike" cap="none">
                <a:solidFill>
                  <a:srgbClr val="000000"/>
                </a:solidFill>
                <a:latin typeface="Inter"/>
                <a:ea typeface="Inter"/>
                <a:cs typeface="Inter"/>
                <a:sym typeface="Inter"/>
              </a:rPr>
              <a:t>Integration &amp; Platform Stability: Technical Details</a:t>
            </a:r>
            <a:endParaRPr sz="2900" b="0" i="0" u="none" strike="noStrike" cap="none">
              <a:solidFill>
                <a:schemeClr val="dk1"/>
              </a:solidFill>
              <a:latin typeface="Calibri"/>
              <a:ea typeface="Calibri"/>
              <a:cs typeface="Calibri"/>
              <a:sym typeface="Calibri"/>
            </a:endParaRPr>
          </a:p>
        </p:txBody>
      </p:sp>
      <p:sp>
        <p:nvSpPr>
          <p:cNvPr id="158" name="Google Shape;158;p14"/>
          <p:cNvSpPr/>
          <p:nvPr/>
        </p:nvSpPr>
        <p:spPr>
          <a:xfrm>
            <a:off x="661475" y="1432620"/>
            <a:ext cx="10868745" cy="2306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450"/>
              <a:buFont typeface="Inter"/>
              <a:buNone/>
            </a:pPr>
            <a:r>
              <a:rPr lang="en-US" sz="1450" b="1" i="0" u="none" strike="noStrike" cap="none">
                <a:solidFill>
                  <a:srgbClr val="000000"/>
                </a:solidFill>
                <a:latin typeface="Inter"/>
                <a:ea typeface="Inter"/>
                <a:cs typeface="Inter"/>
                <a:sym typeface="Inter"/>
              </a:rPr>
              <a:t>Mrigank Jain — PES2UG23CS352</a:t>
            </a:r>
            <a:endParaRPr sz="1450" b="0" i="0" u="none" strike="noStrike" cap="none">
              <a:solidFill>
                <a:schemeClr val="dk1"/>
              </a:solidFill>
              <a:latin typeface="Calibri"/>
              <a:ea typeface="Calibri"/>
              <a:cs typeface="Calibri"/>
              <a:sym typeface="Calibri"/>
            </a:endParaRPr>
          </a:p>
        </p:txBody>
      </p:sp>
      <p:sp>
        <p:nvSpPr>
          <p:cNvPr id="159" name="Google Shape;159;p14"/>
          <p:cNvSpPr/>
          <p:nvPr/>
        </p:nvSpPr>
        <p:spPr>
          <a:xfrm>
            <a:off x="661475" y="1873250"/>
            <a:ext cx="10868745" cy="1905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4"/>
          <p:cNvSpPr/>
          <p:nvPr/>
        </p:nvSpPr>
        <p:spPr>
          <a:xfrm>
            <a:off x="661475" y="2102247"/>
            <a:ext cx="10868745" cy="55383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700"/>
              <a:buFont typeface="Inter"/>
              <a:buNone/>
            </a:pPr>
            <a:r>
              <a:rPr lang="en-US" sz="1700" b="1" i="0" u="none" strike="noStrike" cap="none">
                <a:solidFill>
                  <a:srgbClr val="000000"/>
                </a:solidFill>
                <a:latin typeface="Inter"/>
                <a:ea typeface="Inter"/>
                <a:cs typeface="Inter"/>
                <a:sym typeface="Inter"/>
              </a:rPr>
              <a:t>TOOLS USED</a:t>
            </a:r>
            <a:endParaRPr sz="1700" b="0" i="0" u="none" strike="noStrike" cap="none">
              <a:solidFill>
                <a:schemeClr val="dk1"/>
              </a:solidFill>
              <a:latin typeface="Calibri"/>
              <a:ea typeface="Calibri"/>
              <a:cs typeface="Calibri"/>
              <a:sym typeface="Calibri"/>
            </a:endParaRPr>
          </a:p>
        </p:txBody>
      </p:sp>
      <p:graphicFrame>
        <p:nvGraphicFramePr>
          <p:cNvPr id="161" name="Google Shape;161;p14"/>
          <p:cNvGraphicFramePr/>
          <p:nvPr/>
        </p:nvGraphicFramePr>
        <p:xfrm>
          <a:off x="661475" y="2829123"/>
          <a:ext cx="10868750" cy="2549775"/>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381675">
                <a:tc>
                  <a:txBody>
                    <a:bodyPr/>
                    <a:lstStyle/>
                    <a:p>
                      <a:pPr marL="0" marR="0" lvl="0" indent="0" algn="l" rtl="0">
                        <a:spcBef>
                          <a:spcPts val="0"/>
                        </a:spcBef>
                        <a:spcAft>
                          <a:spcPts val="0"/>
                        </a:spcAft>
                        <a:buClr>
                          <a:srgbClr val="272525"/>
                        </a:buClr>
                        <a:buSzPts val="1450"/>
                        <a:buFont typeface="Inter"/>
                        <a:buNone/>
                      </a:pPr>
                      <a:r>
                        <a:rPr lang="en-US" sz="1450" b="1" u="none" strike="noStrike" cap="none">
                          <a:solidFill>
                            <a:srgbClr val="272525"/>
                          </a:solidFill>
                          <a:latin typeface="Inter"/>
                          <a:ea typeface="Inter"/>
                          <a:cs typeface="Inter"/>
                          <a:sym typeface="Inter"/>
                        </a:rPr>
                        <a:t>Tool</a:t>
                      </a:r>
                      <a:endParaRPr sz="14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450"/>
                        <a:buFont typeface="Inter"/>
                        <a:buNone/>
                      </a:pPr>
                      <a:r>
                        <a:rPr lang="en-US" sz="1450" b="1" u="none" strike="noStrike" cap="none">
                          <a:solidFill>
                            <a:srgbClr val="272525"/>
                          </a:solidFill>
                          <a:latin typeface="Inter"/>
                          <a:ea typeface="Inter"/>
                          <a:cs typeface="Inter"/>
                          <a:sym typeface="Inter"/>
                        </a:rPr>
                        <a:t>Category</a:t>
                      </a:r>
                      <a:endParaRPr sz="1450" u="none" strike="noStrike" cap="none">
                        <a:latin typeface="Inter"/>
                        <a:ea typeface="Inter"/>
                        <a:cs typeface="Inter"/>
                        <a:sym typeface="Inter"/>
                      </a:endParaRPr>
                    </a:p>
                  </a:txBody>
                  <a:tcPr marL="147675" marR="14767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FastAPI</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API framework</a:t>
                      </a:r>
                      <a:endParaRPr sz="1150" u="none" strike="noStrike" cap="none">
                        <a:latin typeface="Inter"/>
                        <a:ea typeface="Inter"/>
                        <a:cs typeface="Inter"/>
                        <a:sym typeface="Inter"/>
                      </a:endParaRPr>
                    </a:p>
                  </a:txBody>
                  <a:tcPr marL="147675" marR="14767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Uvicorn</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ASGI server</a:t>
                      </a:r>
                      <a:endParaRPr sz="1150" u="none" strike="noStrike" cap="none">
                        <a:latin typeface="Inter"/>
                        <a:ea typeface="Inter"/>
                        <a:cs typeface="Inter"/>
                        <a:sym typeface="Inter"/>
                      </a:endParaRPr>
                    </a:p>
                  </a:txBody>
                  <a:tcPr marL="147675" marR="14767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Pydantic</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Request validation</a:t>
                      </a:r>
                      <a:endParaRPr sz="1150" u="none" strike="noStrike" cap="none">
                        <a:latin typeface="Inter"/>
                        <a:ea typeface="Inter"/>
                        <a:cs typeface="Inter"/>
                        <a:sym typeface="Inter"/>
                      </a:endParaRPr>
                    </a:p>
                  </a:txBody>
                  <a:tcPr marL="147675" marR="14767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3"/>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psycopg2</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PostgreSQL driver</a:t>
                      </a:r>
                      <a:endParaRPr sz="1150" u="none" strike="noStrike" cap="none">
                        <a:latin typeface="Inter"/>
                        <a:ea typeface="Inter"/>
                        <a:cs typeface="Inter"/>
                        <a:sym typeface="Inter"/>
                      </a:endParaRPr>
                    </a:p>
                  </a:txBody>
                  <a:tcPr marL="147675" marR="14767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4"/>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python-dotenv</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Environment configuration</a:t>
                      </a:r>
                      <a:endParaRPr sz="1150" u="none" strike="noStrike" cap="none">
                        <a:latin typeface="Inter"/>
                        <a:ea typeface="Inter"/>
                        <a:cs typeface="Inter"/>
                        <a:sym typeface="Inter"/>
                      </a:endParaRPr>
                    </a:p>
                  </a:txBody>
                  <a:tcPr marL="147675" marR="14767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5"/>
                  </a:ext>
                </a:extLst>
              </a:tr>
              <a:tr h="3613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PostgreSQL</a:t>
                      </a:r>
                      <a:endParaRPr sz="1150" u="none" strike="noStrike" cap="none">
                        <a:latin typeface="Inter"/>
                        <a:ea typeface="Inter"/>
                        <a:cs typeface="Inter"/>
                        <a:sym typeface="Inter"/>
                      </a:endParaRPr>
                    </a:p>
                  </a:txBody>
                  <a:tcPr marL="147675" marR="14767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Database</a:t>
                      </a:r>
                      <a:endParaRPr sz="1150" u="none" strike="noStrike" cap="none">
                        <a:latin typeface="Inter"/>
                        <a:ea typeface="Inter"/>
                        <a:cs typeface="Inter"/>
                        <a:sym typeface="Inter"/>
                      </a:endParaRPr>
                    </a:p>
                  </a:txBody>
                  <a:tcPr marL="147675" marR="14767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6"/>
                  </a:ext>
                </a:extLst>
              </a:tr>
            </a:tbl>
          </a:graphicData>
        </a:graphic>
      </p:graphicFrame>
      <p:sp>
        <p:nvSpPr>
          <p:cNvPr id="162" name="Google Shape;162;p14"/>
          <p:cNvSpPr/>
          <p:nvPr/>
        </p:nvSpPr>
        <p:spPr>
          <a:xfrm>
            <a:off x="661475" y="5564684"/>
            <a:ext cx="10868745" cy="27692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700"/>
              <a:buFont typeface="Inter"/>
              <a:buNone/>
            </a:pPr>
            <a:r>
              <a:rPr lang="en-US" sz="1700" b="1" i="0" u="none" strike="noStrike" cap="none">
                <a:solidFill>
                  <a:srgbClr val="000000"/>
                </a:solidFill>
                <a:latin typeface="Inter"/>
                <a:ea typeface="Inter"/>
                <a:cs typeface="Inter"/>
                <a:sym typeface="Inter"/>
              </a:rPr>
              <a:t>CODE CONTRIBUTED</a:t>
            </a:r>
            <a:endParaRPr sz="1700" b="0" i="0" u="none" strike="noStrike" cap="none">
              <a:solidFill>
                <a:schemeClr val="dk1"/>
              </a:solidFill>
              <a:latin typeface="Calibri"/>
              <a:ea typeface="Calibri"/>
              <a:cs typeface="Calibri"/>
              <a:sym typeface="Calibri"/>
            </a:endParaRPr>
          </a:p>
        </p:txBody>
      </p:sp>
      <p:sp>
        <p:nvSpPr>
          <p:cNvPr id="163" name="Google Shape;163;p14"/>
          <p:cNvSpPr/>
          <p:nvPr/>
        </p:nvSpPr>
        <p:spPr>
          <a:xfrm>
            <a:off x="661475" y="6014641"/>
            <a:ext cx="11478330" cy="262930"/>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Approximately 1,470 lines</a:t>
            </a:r>
            <a:endParaRPr sz="1450" b="0" i="0" u="none" strike="noStrike" cap="none">
              <a:solidFill>
                <a:schemeClr val="dk1"/>
              </a:solidFill>
              <a:latin typeface="Calibri"/>
              <a:ea typeface="Calibri"/>
              <a:cs typeface="Calibri"/>
              <a:sym typeface="Calibri"/>
            </a:endParaRPr>
          </a:p>
        </p:txBody>
      </p:sp>
      <p:pic>
        <p:nvPicPr>
          <p:cNvPr id="164" name="Google Shape;164;p14"/>
          <p:cNvPicPr preferRelativeResize="0"/>
          <p:nvPr/>
        </p:nvPicPr>
        <p:blipFill>
          <a:blip r:embed="rId4">
            <a:alphaModFix/>
          </a:blip>
          <a:stretch>
            <a:fillRect/>
          </a:stretch>
        </p:blipFill>
        <p:spPr>
          <a:xfrm>
            <a:off x="10453900" y="6315725"/>
            <a:ext cx="1676400" cy="46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15" descr="preencoded.png"/>
          <p:cNvPicPr preferRelativeResize="0"/>
          <p:nvPr/>
        </p:nvPicPr>
        <p:blipFill rotWithShape="1">
          <a:blip r:embed="rId3">
            <a:alphaModFix/>
          </a:blip>
          <a:srcRect/>
          <a:stretch/>
        </p:blipFill>
        <p:spPr>
          <a:xfrm>
            <a:off x="11225428" y="519807"/>
            <a:ext cx="304792" cy="109835"/>
          </a:xfrm>
          <a:prstGeom prst="rect">
            <a:avLst/>
          </a:prstGeom>
          <a:noFill/>
          <a:ln>
            <a:noFill/>
          </a:ln>
        </p:spPr>
      </p:pic>
      <p:sp>
        <p:nvSpPr>
          <p:cNvPr id="171" name="Google Shape;171;p15"/>
          <p:cNvSpPr/>
          <p:nvPr/>
        </p:nvSpPr>
        <p:spPr>
          <a:xfrm>
            <a:off x="661475" y="700484"/>
            <a:ext cx="10868745" cy="29527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Enrichment &amp; Semantic Indexing</a:t>
            </a:r>
            <a:endParaRPr sz="1850" b="0" i="0" u="none" strike="noStrike" cap="none">
              <a:solidFill>
                <a:schemeClr val="dk1"/>
              </a:solidFill>
              <a:latin typeface="Calibri"/>
              <a:ea typeface="Calibri"/>
              <a:cs typeface="Calibri"/>
              <a:sym typeface="Calibri"/>
            </a:endParaRPr>
          </a:p>
        </p:txBody>
      </p:sp>
      <p:sp>
        <p:nvSpPr>
          <p:cNvPr id="172" name="Google Shape;172;p15"/>
          <p:cNvSpPr/>
          <p:nvPr/>
        </p:nvSpPr>
        <p:spPr>
          <a:xfrm>
            <a:off x="661475" y="1014611"/>
            <a:ext cx="10868745" cy="14763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Inter"/>
              <a:buNone/>
            </a:pPr>
            <a:r>
              <a:rPr lang="en-US" sz="900" b="1" i="0" u="none" strike="noStrike" cap="none">
                <a:solidFill>
                  <a:srgbClr val="000000"/>
                </a:solidFill>
                <a:latin typeface="Inter"/>
                <a:ea typeface="Inter"/>
                <a:cs typeface="Inter"/>
                <a:sym typeface="Inter"/>
              </a:rPr>
              <a:t>Mohammed Mir Fazlai Ali — PES2UG23CS346 | Enrichment &amp; Indexing Owner</a:t>
            </a:r>
            <a:endParaRPr sz="900" b="0" i="0" u="none" strike="noStrike" cap="none">
              <a:solidFill>
                <a:schemeClr val="dk1"/>
              </a:solidFill>
              <a:latin typeface="Calibri"/>
              <a:ea typeface="Calibri"/>
              <a:cs typeface="Calibri"/>
              <a:sym typeface="Calibri"/>
            </a:endParaRPr>
          </a:p>
        </p:txBody>
      </p:sp>
      <p:sp>
        <p:nvSpPr>
          <p:cNvPr id="173" name="Google Shape;173;p15"/>
          <p:cNvSpPr/>
          <p:nvPr/>
        </p:nvSpPr>
        <p:spPr>
          <a:xfrm>
            <a:off x="661475" y="1256705"/>
            <a:ext cx="10868745" cy="1270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4" name="Google Shape;174;p15" descr="preencoded.png"/>
          <p:cNvPicPr preferRelativeResize="0"/>
          <p:nvPr/>
        </p:nvPicPr>
        <p:blipFill rotWithShape="1">
          <a:blip r:embed="rId4">
            <a:alphaModFix/>
          </a:blip>
          <a:srcRect/>
          <a:stretch/>
        </p:blipFill>
        <p:spPr>
          <a:xfrm>
            <a:off x="706221" y="1346101"/>
            <a:ext cx="10779153" cy="4648299"/>
          </a:xfrm>
          <a:prstGeom prst="rect">
            <a:avLst/>
          </a:prstGeom>
          <a:noFill/>
          <a:ln>
            <a:noFill/>
          </a:ln>
        </p:spPr>
      </p:pic>
      <p:sp>
        <p:nvSpPr>
          <p:cNvPr id="175" name="Google Shape;175;p15"/>
          <p:cNvSpPr/>
          <p:nvPr/>
        </p:nvSpPr>
        <p:spPr>
          <a:xfrm>
            <a:off x="1431583" y="5112908"/>
            <a:ext cx="2445408" cy="3056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FFFFF"/>
              </a:buClr>
              <a:buSzPts val="1900"/>
              <a:buFont typeface="Inter"/>
              <a:buNone/>
            </a:pPr>
            <a:r>
              <a:rPr lang="en-US" sz="1900" b="1" i="0" u="none" strike="noStrike" cap="none">
                <a:solidFill>
                  <a:srgbClr val="FFFFFF"/>
                </a:solidFill>
                <a:latin typeface="Inter"/>
                <a:ea typeface="Inter"/>
                <a:cs typeface="Inter"/>
                <a:sym typeface="Inter"/>
              </a:rPr>
              <a:t>Embed &amp; Index</a:t>
            </a:r>
            <a:endParaRPr sz="1900" b="0" i="0" u="none" strike="noStrike" cap="none">
              <a:solidFill>
                <a:schemeClr val="dk1"/>
              </a:solidFill>
              <a:latin typeface="Calibri"/>
              <a:ea typeface="Calibri"/>
              <a:cs typeface="Calibri"/>
              <a:sym typeface="Calibri"/>
            </a:endParaRPr>
          </a:p>
        </p:txBody>
      </p:sp>
      <p:sp>
        <p:nvSpPr>
          <p:cNvPr id="176" name="Google Shape;176;p15"/>
          <p:cNvSpPr/>
          <p:nvPr/>
        </p:nvSpPr>
        <p:spPr>
          <a:xfrm>
            <a:off x="1431583" y="4036902"/>
            <a:ext cx="2759574" cy="3056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FFFFF"/>
              </a:buClr>
              <a:buSzPts val="1900"/>
              <a:buFont typeface="Inter"/>
              <a:buNone/>
            </a:pPr>
            <a:r>
              <a:rPr lang="en-US" sz="1900" b="1" i="0" u="none" strike="noStrike" cap="none">
                <a:solidFill>
                  <a:srgbClr val="FFFFFF"/>
                </a:solidFill>
                <a:latin typeface="Inter"/>
                <a:ea typeface="Inter"/>
                <a:cs typeface="Inter"/>
                <a:sym typeface="Inter"/>
              </a:rPr>
              <a:t>Create Embeddable Text</a:t>
            </a:r>
            <a:endParaRPr sz="1900" b="0" i="0" u="none" strike="noStrike" cap="none">
              <a:solidFill>
                <a:schemeClr val="dk1"/>
              </a:solidFill>
              <a:latin typeface="Calibri"/>
              <a:ea typeface="Calibri"/>
              <a:cs typeface="Calibri"/>
              <a:sym typeface="Calibri"/>
            </a:endParaRPr>
          </a:p>
        </p:txBody>
      </p:sp>
      <p:sp>
        <p:nvSpPr>
          <p:cNvPr id="177" name="Google Shape;177;p15"/>
          <p:cNvSpPr/>
          <p:nvPr/>
        </p:nvSpPr>
        <p:spPr>
          <a:xfrm>
            <a:off x="1431583" y="2971765"/>
            <a:ext cx="2445408" cy="30568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FFFFF"/>
              </a:buClr>
              <a:buSzPts val="1900"/>
              <a:buFont typeface="Inter"/>
              <a:buNone/>
            </a:pPr>
            <a:r>
              <a:rPr lang="en-US" sz="1900" b="1" i="0" u="none" strike="noStrike" cap="none">
                <a:solidFill>
                  <a:srgbClr val="FFFFFF"/>
                </a:solidFill>
                <a:latin typeface="Inter"/>
                <a:ea typeface="Inter"/>
                <a:cs typeface="Inter"/>
                <a:sym typeface="Inter"/>
              </a:rPr>
              <a:t>Clean Data</a:t>
            </a:r>
            <a:endParaRPr sz="1900" b="0" i="0" u="none" strike="noStrike" cap="none">
              <a:solidFill>
                <a:schemeClr val="dk1"/>
              </a:solidFill>
              <a:latin typeface="Calibri"/>
              <a:ea typeface="Calibri"/>
              <a:cs typeface="Calibri"/>
              <a:sym typeface="Calibri"/>
            </a:endParaRPr>
          </a:p>
        </p:txBody>
      </p:sp>
      <p:sp>
        <p:nvSpPr>
          <p:cNvPr id="178" name="Google Shape;178;p15"/>
          <p:cNvSpPr/>
          <p:nvPr/>
        </p:nvSpPr>
        <p:spPr>
          <a:xfrm>
            <a:off x="1431583" y="1895759"/>
            <a:ext cx="2445408" cy="30568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FFFFF"/>
              </a:buClr>
              <a:buSzPts val="1900"/>
              <a:buFont typeface="Inter"/>
              <a:buNone/>
            </a:pPr>
            <a:r>
              <a:rPr lang="en-US" sz="1900" b="1" i="0" u="none" strike="noStrike" cap="none">
                <a:solidFill>
                  <a:srgbClr val="FFFFFF"/>
                </a:solidFill>
                <a:latin typeface="Inter"/>
                <a:ea typeface="Inter"/>
                <a:cs typeface="Inter"/>
                <a:sym typeface="Inter"/>
              </a:rPr>
              <a:t>Load Context</a:t>
            </a:r>
            <a:endParaRPr sz="1900" b="0" i="0" u="none" strike="noStrike" cap="none">
              <a:solidFill>
                <a:schemeClr val="dk1"/>
              </a:solidFill>
              <a:latin typeface="Calibri"/>
              <a:ea typeface="Calibri"/>
              <a:cs typeface="Calibri"/>
              <a:sym typeface="Calibri"/>
            </a:endParaRPr>
          </a:p>
        </p:txBody>
      </p:sp>
      <p:sp>
        <p:nvSpPr>
          <p:cNvPr id="179" name="Google Shape;179;p15"/>
          <p:cNvSpPr/>
          <p:nvPr/>
        </p:nvSpPr>
        <p:spPr>
          <a:xfrm>
            <a:off x="661475" y="6047482"/>
            <a:ext cx="11478330" cy="113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72525"/>
              </a:buClr>
              <a:buSzPts val="700"/>
              <a:buFont typeface="Inter"/>
              <a:buNone/>
            </a:pPr>
            <a:r>
              <a:rPr lang="en-US" sz="700" b="0" i="0" u="none" strike="noStrike" cap="none">
                <a:solidFill>
                  <a:srgbClr val="272525"/>
                </a:solidFill>
                <a:latin typeface="Inter"/>
                <a:ea typeface="Inter"/>
                <a:cs typeface="Inter"/>
                <a:sym typeface="Inter"/>
              </a:rPr>
              <a:t>This pipeline enriches raw memory items, converts them into source-aware embeddable text, and stores them in the semantic index for reliable retrieval.</a:t>
            </a:r>
            <a:endParaRPr sz="700" b="0" i="0" u="none" strike="noStrike" cap="none">
              <a:solidFill>
                <a:schemeClr val="dk1"/>
              </a:solidFill>
              <a:latin typeface="Calibri"/>
              <a:ea typeface="Calibri"/>
              <a:cs typeface="Calibri"/>
              <a:sym typeface="Calibri"/>
            </a:endParaRPr>
          </a:p>
        </p:txBody>
      </p:sp>
      <p:sp>
        <p:nvSpPr>
          <p:cNvPr id="180" name="Google Shape;180;p15"/>
          <p:cNvSpPr/>
          <p:nvPr/>
        </p:nvSpPr>
        <p:spPr>
          <a:xfrm>
            <a:off x="661475" y="6231731"/>
            <a:ext cx="10868745" cy="17720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Inter"/>
              <a:buNone/>
            </a:pPr>
            <a:r>
              <a:rPr lang="en-US" sz="1100" b="1" i="0" u="none" strike="noStrike" cap="none">
                <a:solidFill>
                  <a:srgbClr val="000000"/>
                </a:solidFill>
                <a:latin typeface="Inter"/>
                <a:ea typeface="Inter"/>
                <a:cs typeface="Inter"/>
                <a:sym typeface="Inter"/>
              </a:rPr>
              <a:t>DELIVERABLE:</a:t>
            </a:r>
            <a:endParaRPr sz="1100" b="0" i="0" u="none" strike="noStrike" cap="none">
              <a:solidFill>
                <a:schemeClr val="dk1"/>
              </a:solidFill>
              <a:latin typeface="Calibri"/>
              <a:ea typeface="Calibri"/>
              <a:cs typeface="Calibri"/>
              <a:sym typeface="Calibri"/>
            </a:endParaRPr>
          </a:p>
        </p:txBody>
      </p:sp>
      <p:sp>
        <p:nvSpPr>
          <p:cNvPr id="181" name="Google Shape;181;p15"/>
          <p:cNvSpPr/>
          <p:nvPr/>
        </p:nvSpPr>
        <p:spPr>
          <a:xfrm>
            <a:off x="661475" y="6479778"/>
            <a:ext cx="11478330" cy="113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72525"/>
              </a:buClr>
              <a:buSzPts val="700"/>
              <a:buFont typeface="Inter"/>
              <a:buNone/>
            </a:pPr>
            <a:r>
              <a:rPr lang="en-US" sz="700" b="0" i="0" u="none" strike="noStrike" cap="none">
                <a:solidFill>
                  <a:srgbClr val="272525"/>
                </a:solidFill>
                <a:latin typeface="Inter"/>
                <a:ea typeface="Inter"/>
                <a:cs typeface="Inter"/>
                <a:sym typeface="Inter"/>
              </a:rPr>
              <a:t>Reliable source-aware enrichment and indexing lifecycle with explicit pending, processed, failed, and retry behaviour.</a:t>
            </a:r>
            <a:endParaRPr sz="700" b="0" i="0" u="none" strike="noStrike" cap="none">
              <a:solidFill>
                <a:schemeClr val="dk1"/>
              </a:solidFill>
              <a:latin typeface="Calibri"/>
              <a:ea typeface="Calibri"/>
              <a:cs typeface="Calibri"/>
              <a:sym typeface="Calibri"/>
            </a:endParaRPr>
          </a:p>
        </p:txBody>
      </p:sp>
      <p:pic>
        <p:nvPicPr>
          <p:cNvPr id="182" name="Google Shape;182;p15"/>
          <p:cNvPicPr preferRelativeResize="0"/>
          <p:nvPr/>
        </p:nvPicPr>
        <p:blipFill>
          <a:blip r:embed="rId5">
            <a:alphaModFix/>
          </a:blip>
          <a:stretch>
            <a:fillRect/>
          </a:stretch>
        </p:blipFill>
        <p:spPr>
          <a:xfrm>
            <a:off x="10770450" y="6408925"/>
            <a:ext cx="1421232" cy="3956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6" descr="preencoded.png"/>
          <p:cNvPicPr preferRelativeResize="0"/>
          <p:nvPr/>
        </p:nvPicPr>
        <p:blipFill rotWithShape="1">
          <a:blip r:embed="rId3">
            <a:alphaModFix/>
          </a:blip>
          <a:srcRect/>
          <a:stretch/>
        </p:blipFill>
        <p:spPr>
          <a:xfrm>
            <a:off x="11225428" y="597694"/>
            <a:ext cx="304792" cy="109835"/>
          </a:xfrm>
          <a:prstGeom prst="rect">
            <a:avLst/>
          </a:prstGeom>
          <a:noFill/>
          <a:ln>
            <a:noFill/>
          </a:ln>
        </p:spPr>
      </p:pic>
      <p:sp>
        <p:nvSpPr>
          <p:cNvPr id="189" name="Google Shape;189;p16"/>
          <p:cNvSpPr/>
          <p:nvPr/>
        </p:nvSpPr>
        <p:spPr>
          <a:xfrm>
            <a:off x="661475" y="778371"/>
            <a:ext cx="10868745" cy="29527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Enrichment &amp; Indexing: Technical Implementation</a:t>
            </a:r>
            <a:endParaRPr sz="1850" b="0" i="0" u="none" strike="noStrike" cap="none">
              <a:solidFill>
                <a:schemeClr val="dk1"/>
              </a:solidFill>
              <a:latin typeface="Calibri"/>
              <a:ea typeface="Calibri"/>
              <a:cs typeface="Calibri"/>
              <a:sym typeface="Calibri"/>
            </a:endParaRPr>
          </a:p>
        </p:txBody>
      </p:sp>
      <p:sp>
        <p:nvSpPr>
          <p:cNvPr id="190" name="Google Shape;190;p16"/>
          <p:cNvSpPr/>
          <p:nvPr/>
        </p:nvSpPr>
        <p:spPr>
          <a:xfrm>
            <a:off x="661475" y="1092498"/>
            <a:ext cx="10868745" cy="14763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Inter"/>
              <a:buNone/>
            </a:pPr>
            <a:r>
              <a:rPr lang="en-US" sz="900" b="1" i="0" u="none" strike="noStrike" cap="none">
                <a:solidFill>
                  <a:srgbClr val="000000"/>
                </a:solidFill>
                <a:latin typeface="Inter"/>
                <a:ea typeface="Inter"/>
                <a:cs typeface="Inter"/>
                <a:sym typeface="Inter"/>
              </a:rPr>
              <a:t>Mohammed Mir Fazlai Ali — PES2UG23CS346</a:t>
            </a:r>
            <a:endParaRPr sz="900" b="0" i="0" u="none" strike="noStrike" cap="none">
              <a:solidFill>
                <a:schemeClr val="dk1"/>
              </a:solidFill>
              <a:latin typeface="Calibri"/>
              <a:ea typeface="Calibri"/>
              <a:cs typeface="Calibri"/>
              <a:sym typeface="Calibri"/>
            </a:endParaRPr>
          </a:p>
        </p:txBody>
      </p:sp>
      <p:sp>
        <p:nvSpPr>
          <p:cNvPr id="191" name="Google Shape;191;p16"/>
          <p:cNvSpPr/>
          <p:nvPr/>
        </p:nvSpPr>
        <p:spPr>
          <a:xfrm>
            <a:off x="661475" y="1334591"/>
            <a:ext cx="10868745" cy="1270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661475" y="1441748"/>
            <a:ext cx="10868745" cy="17720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Inter"/>
              <a:buNone/>
            </a:pPr>
            <a:r>
              <a:rPr lang="en-US" sz="1100" b="1" i="0" u="none" strike="noStrike" cap="none">
                <a:solidFill>
                  <a:srgbClr val="000000"/>
                </a:solidFill>
                <a:latin typeface="Inter"/>
                <a:ea typeface="Inter"/>
                <a:cs typeface="Inter"/>
                <a:sym typeface="Inter"/>
              </a:rPr>
              <a:t>IMPROVED FROM PHASE II</a:t>
            </a:r>
            <a:endParaRPr sz="1100" b="0" i="0" u="none" strike="noStrike" cap="none">
              <a:solidFill>
                <a:schemeClr val="dk1"/>
              </a:solidFill>
              <a:latin typeface="Calibri"/>
              <a:ea typeface="Calibri"/>
              <a:cs typeface="Calibri"/>
              <a:sym typeface="Calibri"/>
            </a:endParaRPr>
          </a:p>
        </p:txBody>
      </p:sp>
      <p:sp>
        <p:nvSpPr>
          <p:cNvPr id="193" name="Google Shape;193;p16"/>
          <p:cNvSpPr/>
          <p:nvPr/>
        </p:nvSpPr>
        <p:spPr>
          <a:xfrm>
            <a:off x="661475" y="1689795"/>
            <a:ext cx="10868745" cy="616545"/>
          </a:xfrm>
          <a:prstGeom prst="rect">
            <a:avLst/>
          </a:prstGeom>
          <a:noFill/>
          <a:ln>
            <a:noFill/>
          </a:ln>
        </p:spPr>
        <p:txBody>
          <a:bodyPr spcFirstLastPara="1" wrap="square" lIns="0" tIns="47250" rIns="0" bIns="0" anchor="t" anchorCtr="0">
            <a:noAutofit/>
          </a:bodyPr>
          <a:lstStyle/>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Source-aware text cleaning — Gmail strips HTML, tracking pixels, signatures and quoted replies; Chrome extracts readable article content; YouTube combines title, description and transcript</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Embedding generation using all-MiniLM-L6-v2, producing 384-dimension vectors locally</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Four-stage classifier — structural signals, domain lookup, centroid similarity, then LLM fallback</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Two-tier attachment handling, with full text extracted on demand during retrieval</a:t>
            </a:r>
            <a:endParaRPr sz="900" b="0" i="0" u="none" strike="noStrike" cap="none">
              <a:solidFill>
                <a:schemeClr val="dk1"/>
              </a:solidFill>
              <a:latin typeface="Calibri"/>
              <a:ea typeface="Calibri"/>
              <a:cs typeface="Calibri"/>
              <a:sym typeface="Calibri"/>
            </a:endParaRPr>
          </a:p>
        </p:txBody>
      </p:sp>
      <p:sp>
        <p:nvSpPr>
          <p:cNvPr id="194" name="Google Shape;194;p16"/>
          <p:cNvSpPr/>
          <p:nvPr/>
        </p:nvSpPr>
        <p:spPr>
          <a:xfrm>
            <a:off x="661475" y="2377182"/>
            <a:ext cx="10868745" cy="17720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Inter"/>
              <a:buNone/>
            </a:pPr>
            <a:r>
              <a:rPr lang="en-US" sz="1100" b="1" i="0" u="none" strike="noStrike" cap="none">
                <a:solidFill>
                  <a:srgbClr val="000000"/>
                </a:solidFill>
                <a:latin typeface="Inter"/>
                <a:ea typeface="Inter"/>
                <a:cs typeface="Inter"/>
                <a:sym typeface="Inter"/>
              </a:rPr>
              <a:t>NEW IN PHASE III</a:t>
            </a:r>
            <a:endParaRPr sz="1100" b="0" i="0" u="none" strike="noStrike" cap="none">
              <a:solidFill>
                <a:schemeClr val="dk1"/>
              </a:solidFill>
              <a:latin typeface="Calibri"/>
              <a:ea typeface="Calibri"/>
              <a:cs typeface="Calibri"/>
              <a:sym typeface="Calibri"/>
            </a:endParaRPr>
          </a:p>
        </p:txBody>
      </p:sp>
      <p:sp>
        <p:nvSpPr>
          <p:cNvPr id="195" name="Google Shape;195;p16"/>
          <p:cNvSpPr/>
          <p:nvPr/>
        </p:nvSpPr>
        <p:spPr>
          <a:xfrm>
            <a:off x="661475" y="2625229"/>
            <a:ext cx="10868745" cy="616545"/>
          </a:xfrm>
          <a:prstGeom prst="rect">
            <a:avLst/>
          </a:prstGeom>
          <a:noFill/>
          <a:ln>
            <a:noFill/>
          </a:ln>
        </p:spPr>
        <p:txBody>
          <a:bodyPr spcFirstLastPara="1" wrap="square" lIns="0" tIns="47250" rIns="0" bIns="0" anchor="t" anchorCtr="0">
            <a:noAutofit/>
          </a:bodyPr>
          <a:lstStyle/>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Items that fail processing are marked and held separately, so they are never wrongly counted as complete</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Incremental index updates — new items are appended instead of rebuilding the whole index</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Classifier centroids now saved to disk and refreshed by a maintenance script</a:t>
            </a:r>
            <a:endParaRPr sz="900" b="0" i="0" u="none" strike="noStrike" cap="none">
              <a:solidFill>
                <a:schemeClr val="dk1"/>
              </a:solidFill>
              <a:latin typeface="Calibri"/>
              <a:ea typeface="Calibri"/>
              <a:cs typeface="Calibri"/>
              <a:sym typeface="Calibri"/>
            </a:endParaRPr>
          </a:p>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Deferred handling for YouTube items still awaiting metadata</a:t>
            </a:r>
            <a:endParaRPr sz="900" b="0" i="0" u="none" strike="noStrike" cap="none">
              <a:solidFill>
                <a:schemeClr val="dk1"/>
              </a:solidFill>
              <a:latin typeface="Calibri"/>
              <a:ea typeface="Calibri"/>
              <a:cs typeface="Calibri"/>
              <a:sym typeface="Calibri"/>
            </a:endParaRPr>
          </a:p>
        </p:txBody>
      </p:sp>
      <p:sp>
        <p:nvSpPr>
          <p:cNvPr id="196" name="Google Shape;196;p16"/>
          <p:cNvSpPr/>
          <p:nvPr/>
        </p:nvSpPr>
        <p:spPr>
          <a:xfrm>
            <a:off x="661475" y="3312616"/>
            <a:ext cx="10868745" cy="17720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Inter"/>
              <a:buNone/>
            </a:pPr>
            <a:r>
              <a:rPr lang="en-US" sz="1100" b="1" i="0" u="none" strike="noStrike" cap="none">
                <a:solidFill>
                  <a:srgbClr val="000000"/>
                </a:solidFill>
                <a:latin typeface="Inter"/>
                <a:ea typeface="Inter"/>
                <a:cs typeface="Inter"/>
                <a:sym typeface="Inter"/>
              </a:rPr>
              <a:t>MODEL</a:t>
            </a:r>
            <a:endParaRPr sz="1100" b="0" i="0" u="none" strike="noStrike" cap="none">
              <a:solidFill>
                <a:schemeClr val="dk1"/>
              </a:solidFill>
              <a:latin typeface="Calibri"/>
              <a:ea typeface="Calibri"/>
              <a:cs typeface="Calibri"/>
              <a:sym typeface="Calibri"/>
            </a:endParaRPr>
          </a:p>
        </p:txBody>
      </p:sp>
      <p:sp>
        <p:nvSpPr>
          <p:cNvPr id="197" name="Google Shape;197;p16"/>
          <p:cNvSpPr/>
          <p:nvPr/>
        </p:nvSpPr>
        <p:spPr>
          <a:xfrm>
            <a:off x="661475" y="3560663"/>
            <a:ext cx="11478330" cy="141784"/>
          </a:xfrm>
          <a:prstGeom prst="rect">
            <a:avLst/>
          </a:prstGeom>
          <a:noFill/>
          <a:ln>
            <a:noFill/>
          </a:ln>
        </p:spPr>
        <p:txBody>
          <a:bodyPr spcFirstLastPara="1" wrap="square" lIns="0" tIns="47250" rIns="0" bIns="0" anchor="t" anchorCtr="0">
            <a:noAutofit/>
          </a:bodyPr>
          <a:lstStyle/>
          <a:p>
            <a:pPr marL="182880" marR="0" lvl="0" indent="-182880" algn="l" rtl="0">
              <a:lnSpc>
                <a:spcPct val="100000"/>
              </a:lnSpc>
              <a:spcBef>
                <a:spcPts val="0"/>
              </a:spcBef>
              <a:spcAft>
                <a:spcPts val="0"/>
              </a:spcAft>
              <a:buClr>
                <a:srgbClr val="272525"/>
              </a:buClr>
              <a:buSzPts val="900"/>
              <a:buFont typeface="Inter"/>
              <a:buChar char="•"/>
            </a:pPr>
            <a:r>
              <a:rPr lang="en-US" sz="900" b="0" i="0" u="none" strike="noStrike" cap="none">
                <a:solidFill>
                  <a:srgbClr val="272525"/>
                </a:solidFill>
                <a:latin typeface="Inter"/>
                <a:ea typeface="Inter"/>
                <a:cs typeface="Inter"/>
                <a:sym typeface="Inter"/>
              </a:rPr>
              <a:t>all-MiniLM-L6-v2 — 384-dimension sentence embeddings.</a:t>
            </a:r>
            <a:endParaRPr sz="900" b="0" i="0" u="none" strike="noStrike" cap="none">
              <a:solidFill>
                <a:schemeClr val="dk1"/>
              </a:solidFill>
              <a:latin typeface="Calibri"/>
              <a:ea typeface="Calibri"/>
              <a:cs typeface="Calibri"/>
              <a:sym typeface="Calibri"/>
            </a:endParaRPr>
          </a:p>
        </p:txBody>
      </p:sp>
      <p:sp>
        <p:nvSpPr>
          <p:cNvPr id="198" name="Google Shape;198;p16"/>
          <p:cNvSpPr/>
          <p:nvPr/>
        </p:nvSpPr>
        <p:spPr>
          <a:xfrm>
            <a:off x="661475" y="3773289"/>
            <a:ext cx="10868745" cy="17720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Inter"/>
              <a:buNone/>
            </a:pPr>
            <a:r>
              <a:rPr lang="en-US" sz="1100" b="1" i="0" u="none" strike="noStrike" cap="none">
                <a:solidFill>
                  <a:srgbClr val="000000"/>
                </a:solidFill>
                <a:latin typeface="Inter"/>
                <a:ea typeface="Inter"/>
                <a:cs typeface="Inter"/>
                <a:sym typeface="Inter"/>
              </a:rPr>
              <a:t>LIBRARIES</a:t>
            </a:r>
            <a:endParaRPr sz="1100" b="0" i="0" u="none" strike="noStrike" cap="none">
              <a:solidFill>
                <a:schemeClr val="dk1"/>
              </a:solidFill>
              <a:latin typeface="Calibri"/>
              <a:ea typeface="Calibri"/>
              <a:cs typeface="Calibri"/>
              <a:sym typeface="Calibri"/>
            </a:endParaRPr>
          </a:p>
        </p:txBody>
      </p:sp>
      <p:graphicFrame>
        <p:nvGraphicFramePr>
          <p:cNvPr id="199" name="Google Shape;199;p16"/>
          <p:cNvGraphicFramePr/>
          <p:nvPr/>
        </p:nvGraphicFramePr>
        <p:xfrm>
          <a:off x="661475" y="4021336"/>
          <a:ext cx="10868750" cy="2226025"/>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216875">
                <a:tc>
                  <a:txBody>
                    <a:bodyPr/>
                    <a:lstStyle/>
                    <a:p>
                      <a:pPr marL="0" marR="0" lvl="0" indent="0" algn="l" rtl="0">
                        <a:spcBef>
                          <a:spcPts val="0"/>
                        </a:spcBef>
                        <a:spcAft>
                          <a:spcPts val="0"/>
                        </a:spcAft>
                        <a:buClr>
                          <a:srgbClr val="272525"/>
                        </a:buClr>
                        <a:buSzPts val="900"/>
                        <a:buFont typeface="Inter"/>
                        <a:buNone/>
                      </a:pPr>
                      <a:r>
                        <a:rPr lang="en-US" sz="900" b="1" u="none" strike="noStrike" cap="none">
                          <a:solidFill>
                            <a:srgbClr val="272525"/>
                          </a:solidFill>
                          <a:latin typeface="Inter"/>
                          <a:ea typeface="Inter"/>
                          <a:cs typeface="Inter"/>
                          <a:sym typeface="Inter"/>
                        </a:rPr>
                        <a:t>Tool</a:t>
                      </a:r>
                      <a:endParaRPr sz="9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b="1" u="none" strike="noStrike" cap="none">
                          <a:solidFill>
                            <a:srgbClr val="272525"/>
                          </a:solidFill>
                          <a:latin typeface="Inter"/>
                          <a:ea typeface="Inter"/>
                          <a:cs typeface="Inter"/>
                          <a:sym typeface="Inter"/>
                        </a:rPr>
                        <a:t>Category</a:t>
                      </a:r>
                      <a:endParaRPr sz="9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sentence-transformers</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Embedding generation</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faiss-cpu</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Vector index</a:t>
                      </a:r>
                      <a:endParaRPr sz="8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scikit-learn</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Centroid similarity</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3"/>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NumPy</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Vector maths</a:t>
                      </a:r>
                      <a:endParaRPr sz="8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4"/>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BeautifulSoup4</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HTML cleaning</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5"/>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readability-lxml</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Article extraction</a:t>
                      </a:r>
                      <a:endParaRPr sz="8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6"/>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pypdf</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PDF text extraction</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7"/>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pdfplumber</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PDF text extraction</a:t>
                      </a:r>
                      <a:endParaRPr sz="8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8"/>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python-docx</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Word document extraction</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9"/>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Pillow</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Image handling</a:t>
                      </a:r>
                      <a:endParaRPr sz="800" u="none" strike="noStrike" cap="none">
                        <a:latin typeface="Inter"/>
                        <a:ea typeface="Inter"/>
                        <a:cs typeface="Inter"/>
                        <a:sym typeface="Inter"/>
                      </a:endParaRPr>
                    </a:p>
                  </a:txBody>
                  <a:tcPr marL="94500" marR="94500"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10"/>
                  </a:ext>
                </a:extLst>
              </a:tr>
              <a:tr h="182650">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psycopg2</a:t>
                      </a:r>
                      <a:endParaRPr sz="800" u="none" strike="noStrike" cap="none">
                        <a:latin typeface="Inter"/>
                        <a:ea typeface="Inter"/>
                        <a:cs typeface="Inter"/>
                        <a:sym typeface="Inter"/>
                      </a:endParaRPr>
                    </a:p>
                  </a:txBody>
                  <a:tcPr marL="94500" marR="94500"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C0C1D7"/>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800"/>
                        <a:buFont typeface="Inter"/>
                        <a:buNone/>
                      </a:pPr>
                      <a:r>
                        <a:rPr lang="en-US" sz="800" u="none" strike="noStrike" cap="none">
                          <a:solidFill>
                            <a:srgbClr val="272525"/>
                          </a:solidFill>
                          <a:latin typeface="Inter"/>
                          <a:ea typeface="Inter"/>
                          <a:cs typeface="Inter"/>
                          <a:sym typeface="Inter"/>
                        </a:rPr>
                        <a:t>PostgreSQL driver</a:t>
                      </a:r>
                      <a:endParaRPr sz="800" u="none" strike="noStrike" cap="none">
                        <a:latin typeface="Inter"/>
                        <a:ea typeface="Inter"/>
                        <a:cs typeface="Inter"/>
                        <a:sym typeface="Inter"/>
                      </a:endParaRPr>
                    </a:p>
                  </a:txBody>
                  <a:tcPr marL="94500" marR="94500"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C0C1D7"/>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11"/>
                  </a:ext>
                </a:extLst>
              </a:tr>
            </a:tbl>
          </a:graphicData>
        </a:graphic>
      </p:graphicFrame>
      <p:pic>
        <p:nvPicPr>
          <p:cNvPr id="200" name="Google Shape;200;p16"/>
          <p:cNvPicPr preferRelativeResize="0"/>
          <p:nvPr/>
        </p:nvPicPr>
        <p:blipFill>
          <a:blip r:embed="rId4">
            <a:alphaModFix/>
          </a:blip>
          <a:stretch>
            <a:fillRect/>
          </a:stretch>
        </p:blipFill>
        <p:spPr>
          <a:xfrm>
            <a:off x="10463400" y="6318175"/>
            <a:ext cx="1676400" cy="466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17" descr="preencoded.png"/>
          <p:cNvPicPr preferRelativeResize="0"/>
          <p:nvPr/>
        </p:nvPicPr>
        <p:blipFill rotWithShape="1">
          <a:blip r:embed="rId3">
            <a:alphaModFix/>
          </a:blip>
          <a:srcRect/>
          <a:stretch/>
        </p:blipFill>
        <p:spPr>
          <a:xfrm>
            <a:off x="11215903" y="598884"/>
            <a:ext cx="314317" cy="113209"/>
          </a:xfrm>
          <a:prstGeom prst="rect">
            <a:avLst/>
          </a:prstGeom>
          <a:noFill/>
          <a:ln>
            <a:noFill/>
          </a:ln>
        </p:spPr>
      </p:pic>
      <p:sp>
        <p:nvSpPr>
          <p:cNvPr id="207" name="Google Shape;207;p17"/>
          <p:cNvSpPr/>
          <p:nvPr/>
        </p:nvSpPr>
        <p:spPr>
          <a:xfrm>
            <a:off x="661475" y="787400"/>
            <a:ext cx="10868745" cy="30460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900"/>
              <a:buFont typeface="Inter"/>
              <a:buNone/>
            </a:pPr>
            <a:r>
              <a:rPr lang="en-US" sz="1900" b="1" i="0" u="none" strike="noStrike" cap="none">
                <a:solidFill>
                  <a:srgbClr val="000000"/>
                </a:solidFill>
                <a:latin typeface="Inter"/>
                <a:ea typeface="Inter"/>
                <a:cs typeface="Inter"/>
                <a:sym typeface="Inter"/>
              </a:rPr>
              <a:t>Retrieval Intelligence and Quality Path</a:t>
            </a:r>
            <a:endParaRPr sz="1900" b="0" i="0" u="none" strike="noStrike" cap="none">
              <a:solidFill>
                <a:schemeClr val="dk1"/>
              </a:solidFill>
              <a:latin typeface="Calibri"/>
              <a:ea typeface="Calibri"/>
              <a:cs typeface="Calibri"/>
              <a:sym typeface="Calibri"/>
            </a:endParaRPr>
          </a:p>
        </p:txBody>
      </p:sp>
      <p:sp>
        <p:nvSpPr>
          <p:cNvPr id="208" name="Google Shape;208;p17"/>
          <p:cNvSpPr/>
          <p:nvPr/>
        </p:nvSpPr>
        <p:spPr>
          <a:xfrm>
            <a:off x="661475" y="1112044"/>
            <a:ext cx="10868745" cy="15230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50"/>
              <a:buFont typeface="Inter"/>
              <a:buNone/>
            </a:pPr>
            <a:r>
              <a:rPr lang="en-US" sz="950" b="1" i="0" u="none" strike="noStrike" cap="none">
                <a:solidFill>
                  <a:srgbClr val="000000"/>
                </a:solidFill>
                <a:latin typeface="Inter"/>
                <a:ea typeface="Inter"/>
                <a:cs typeface="Inter"/>
                <a:sym typeface="Inter"/>
              </a:rPr>
              <a:t>Mohammed Shehzaad Khan — PES2UG23CS349 </a:t>
            </a:r>
            <a:endParaRPr sz="950" b="0" i="0" u="none" strike="noStrike" cap="none">
              <a:solidFill>
                <a:schemeClr val="dk1"/>
              </a:solidFill>
              <a:latin typeface="Calibri"/>
              <a:ea typeface="Calibri"/>
              <a:cs typeface="Calibri"/>
              <a:sym typeface="Calibri"/>
            </a:endParaRPr>
          </a:p>
        </p:txBody>
      </p:sp>
      <p:sp>
        <p:nvSpPr>
          <p:cNvPr id="209" name="Google Shape;209;p17"/>
          <p:cNvSpPr/>
          <p:nvPr/>
        </p:nvSpPr>
        <p:spPr>
          <a:xfrm>
            <a:off x="661475" y="1363960"/>
            <a:ext cx="10868745" cy="1270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7"/>
          <p:cNvSpPr/>
          <p:nvPr/>
        </p:nvSpPr>
        <p:spPr>
          <a:xfrm>
            <a:off x="661475" y="1457424"/>
            <a:ext cx="11478330" cy="147638"/>
          </a:xfrm>
          <a:prstGeom prst="rect">
            <a:avLst/>
          </a:prstGeom>
          <a:noFill/>
          <a:ln>
            <a:noFill/>
          </a:ln>
        </p:spPr>
        <p:txBody>
          <a:bodyPr spcFirstLastPara="1" wrap="square" lIns="0" tIns="0" rIns="0" bIns="0" anchor="t" anchorCtr="0">
            <a:noAutofit/>
          </a:bodyPr>
          <a:lstStyle/>
          <a:p>
            <a:pPr marL="0" marR="0" lvl="0" indent="0" algn="l" rtl="0">
              <a:lnSpc>
                <a:spcPct val="101000"/>
              </a:lnSpc>
              <a:spcBef>
                <a:spcPts val="0"/>
              </a:spcBef>
              <a:spcAft>
                <a:spcPts val="0"/>
              </a:spcAft>
              <a:buClr>
                <a:srgbClr val="272525"/>
              </a:buClr>
              <a:buSzPts val="950"/>
              <a:buFont typeface="Inter"/>
              <a:buNone/>
            </a:pPr>
            <a:r>
              <a:rPr lang="en-US" sz="950" b="0" i="0" u="none" strike="noStrike" cap="none">
                <a:solidFill>
                  <a:srgbClr val="272525"/>
                </a:solidFill>
                <a:latin typeface="Inter"/>
                <a:ea typeface="Inter"/>
                <a:cs typeface="Inter"/>
                <a:sym typeface="Inter"/>
              </a:rPr>
              <a:t>Hybrid retrieval architecture built with LangGraph to combine keyword search, semantic search, deterministic quality checks, and self-correcting reranking for stronger answer generation.</a:t>
            </a:r>
            <a:endParaRPr sz="950" b="0" i="0" u="none" strike="noStrike" cap="none">
              <a:solidFill>
                <a:schemeClr val="dk1"/>
              </a:solidFill>
              <a:latin typeface="Calibri"/>
              <a:ea typeface="Calibri"/>
              <a:cs typeface="Calibri"/>
              <a:sym typeface="Calibri"/>
            </a:endParaRPr>
          </a:p>
        </p:txBody>
      </p:sp>
      <p:pic>
        <p:nvPicPr>
          <p:cNvPr id="211" name="Google Shape;211;p17" descr="preencoded.png"/>
          <p:cNvPicPr preferRelativeResize="0"/>
          <p:nvPr/>
        </p:nvPicPr>
        <p:blipFill rotWithShape="1">
          <a:blip r:embed="rId4">
            <a:alphaModFix/>
          </a:blip>
          <a:srcRect/>
          <a:stretch/>
        </p:blipFill>
        <p:spPr>
          <a:xfrm>
            <a:off x="661475" y="1661517"/>
            <a:ext cx="5604032" cy="3152279"/>
          </a:xfrm>
          <a:prstGeom prst="rect">
            <a:avLst/>
          </a:prstGeom>
          <a:noFill/>
          <a:ln>
            <a:noFill/>
          </a:ln>
        </p:spPr>
      </p:pic>
      <p:sp>
        <p:nvSpPr>
          <p:cNvPr id="212" name="Google Shape;212;p17"/>
          <p:cNvSpPr/>
          <p:nvPr/>
        </p:nvSpPr>
        <p:spPr>
          <a:xfrm>
            <a:off x="661475" y="4889103"/>
            <a:ext cx="10868745" cy="18266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50"/>
              <a:buFont typeface="Inter"/>
              <a:buNone/>
            </a:pPr>
            <a:r>
              <a:rPr lang="en-US" sz="1150" b="1" i="0" u="none" strike="noStrike" cap="none">
                <a:solidFill>
                  <a:srgbClr val="000000"/>
                </a:solidFill>
                <a:latin typeface="Inter"/>
                <a:ea typeface="Inter"/>
                <a:cs typeface="Inter"/>
                <a:sym typeface="Inter"/>
              </a:rPr>
              <a:t>ARCHITECTURE OVERVIEW:</a:t>
            </a:r>
            <a:endParaRPr sz="1150" b="0" i="0" u="none" strike="noStrike" cap="none">
              <a:solidFill>
                <a:schemeClr val="dk1"/>
              </a:solidFill>
              <a:latin typeface="Calibri"/>
              <a:ea typeface="Calibri"/>
              <a:cs typeface="Calibri"/>
              <a:sym typeface="Calibri"/>
            </a:endParaRPr>
          </a:p>
        </p:txBody>
      </p:sp>
      <p:sp>
        <p:nvSpPr>
          <p:cNvPr id="213" name="Google Shape;213;p17"/>
          <p:cNvSpPr/>
          <p:nvPr/>
        </p:nvSpPr>
        <p:spPr>
          <a:xfrm>
            <a:off x="661475" y="5147072"/>
            <a:ext cx="10868745" cy="660598"/>
          </a:xfrm>
          <a:prstGeom prst="rect">
            <a:avLst/>
          </a:prstGeom>
          <a:noFill/>
          <a:ln>
            <a:noFill/>
          </a:ln>
        </p:spPr>
        <p:txBody>
          <a:bodyPr spcFirstLastPara="1" wrap="square" lIns="0" tIns="38975" rIns="0" bIns="0" anchor="t" anchorCtr="0">
            <a:noAutofit/>
          </a:bodyPr>
          <a:lstStyle/>
          <a:p>
            <a:pPr marL="152400" marR="0" lvl="0" indent="-152400" algn="l" rtl="0">
              <a:lnSpc>
                <a:spcPct val="101000"/>
              </a:lnSpc>
              <a:spcBef>
                <a:spcPts val="0"/>
              </a:spcBef>
              <a:spcAft>
                <a:spcPts val="0"/>
              </a:spcAft>
              <a:buClr>
                <a:srgbClr val="272525"/>
              </a:buClr>
              <a:buSzPts val="750"/>
              <a:buFont typeface="Inter"/>
              <a:buChar char="•"/>
            </a:pPr>
            <a:r>
              <a:rPr lang="en-US" sz="750" b="0" i="0" u="none" strike="noStrike" cap="none">
                <a:solidFill>
                  <a:srgbClr val="272525"/>
                </a:solidFill>
                <a:latin typeface="Inter"/>
                <a:ea typeface="Inter"/>
                <a:cs typeface="Inter"/>
                <a:sym typeface="Inter"/>
              </a:rPr>
              <a:t>LangGraph orchestrates the retrieval workflow end to end</a:t>
            </a:r>
            <a:endParaRPr sz="750" b="0" i="0" u="none" strike="noStrike" cap="none">
              <a:solidFill>
                <a:schemeClr val="dk1"/>
              </a:solidFill>
              <a:latin typeface="Calibri"/>
              <a:ea typeface="Calibri"/>
              <a:cs typeface="Calibri"/>
              <a:sym typeface="Calibri"/>
            </a:endParaRPr>
          </a:p>
          <a:p>
            <a:pPr marL="152400" marR="0" lvl="0" indent="-152400" algn="l" rtl="0">
              <a:lnSpc>
                <a:spcPct val="101000"/>
              </a:lnSpc>
              <a:spcBef>
                <a:spcPts val="0"/>
              </a:spcBef>
              <a:spcAft>
                <a:spcPts val="0"/>
              </a:spcAft>
              <a:buClr>
                <a:srgbClr val="272525"/>
              </a:buClr>
              <a:buSzPts val="750"/>
              <a:buFont typeface="Inter"/>
              <a:buChar char="•"/>
            </a:pPr>
            <a:r>
              <a:rPr lang="en-US" sz="750" b="0" i="0" u="none" strike="noStrike" cap="none">
                <a:solidFill>
                  <a:srgbClr val="272525"/>
                </a:solidFill>
                <a:latin typeface="Inter"/>
                <a:ea typeface="Inter"/>
                <a:cs typeface="Inter"/>
                <a:sym typeface="Inter"/>
              </a:rPr>
              <a:t>PostgreSQL keyword retrieval and FAISS semantic retrieval run in parallel</a:t>
            </a:r>
            <a:endParaRPr sz="750" b="0" i="0" u="none" strike="noStrike" cap="none">
              <a:solidFill>
                <a:schemeClr val="dk1"/>
              </a:solidFill>
              <a:latin typeface="Calibri"/>
              <a:ea typeface="Calibri"/>
              <a:cs typeface="Calibri"/>
              <a:sym typeface="Calibri"/>
            </a:endParaRPr>
          </a:p>
          <a:p>
            <a:pPr marL="152400" marR="0" lvl="0" indent="-152400" algn="l" rtl="0">
              <a:lnSpc>
                <a:spcPct val="101000"/>
              </a:lnSpc>
              <a:spcBef>
                <a:spcPts val="0"/>
              </a:spcBef>
              <a:spcAft>
                <a:spcPts val="0"/>
              </a:spcAft>
              <a:buClr>
                <a:srgbClr val="272525"/>
              </a:buClr>
              <a:buSzPts val="750"/>
              <a:buFont typeface="Inter"/>
              <a:buChar char="•"/>
            </a:pPr>
            <a:r>
              <a:rPr lang="en-US" sz="750" b="0" i="0" u="none" strike="noStrike" cap="none">
                <a:solidFill>
                  <a:srgbClr val="272525"/>
                </a:solidFill>
                <a:latin typeface="Inter"/>
                <a:ea typeface="Inter"/>
                <a:cs typeface="Inter"/>
                <a:sym typeface="Inter"/>
              </a:rPr>
              <a:t>Reciprocal Rank Fusion combines ranking signals safely by position</a:t>
            </a:r>
            <a:endParaRPr sz="750" b="0" i="0" u="none" strike="noStrike" cap="none">
              <a:solidFill>
                <a:schemeClr val="dk1"/>
              </a:solidFill>
              <a:latin typeface="Calibri"/>
              <a:ea typeface="Calibri"/>
              <a:cs typeface="Calibri"/>
              <a:sym typeface="Calibri"/>
            </a:endParaRPr>
          </a:p>
          <a:p>
            <a:pPr marL="152400" marR="0" lvl="0" indent="-152400" algn="l" rtl="0">
              <a:lnSpc>
                <a:spcPct val="101000"/>
              </a:lnSpc>
              <a:spcBef>
                <a:spcPts val="0"/>
              </a:spcBef>
              <a:spcAft>
                <a:spcPts val="0"/>
              </a:spcAft>
              <a:buClr>
                <a:srgbClr val="272525"/>
              </a:buClr>
              <a:buSzPts val="750"/>
              <a:buFont typeface="Inter"/>
              <a:buChar char="•"/>
            </a:pPr>
            <a:r>
              <a:rPr lang="en-US" sz="750" b="0" i="0" u="none" strike="noStrike" cap="none">
                <a:solidFill>
                  <a:srgbClr val="272525"/>
                </a:solidFill>
                <a:latin typeface="Inter"/>
                <a:ea typeface="Inter"/>
                <a:cs typeface="Inter"/>
                <a:sym typeface="Inter"/>
              </a:rPr>
              <a:t>Deterministic quality checks gate weak or incomplete retrieval results</a:t>
            </a:r>
            <a:endParaRPr sz="750" b="0" i="0" u="none" strike="noStrike" cap="none">
              <a:solidFill>
                <a:schemeClr val="dk1"/>
              </a:solidFill>
              <a:latin typeface="Calibri"/>
              <a:ea typeface="Calibri"/>
              <a:cs typeface="Calibri"/>
              <a:sym typeface="Calibri"/>
            </a:endParaRPr>
          </a:p>
          <a:p>
            <a:pPr marL="152400" marR="0" lvl="0" indent="-152400" algn="l" rtl="0">
              <a:lnSpc>
                <a:spcPct val="101000"/>
              </a:lnSpc>
              <a:spcBef>
                <a:spcPts val="0"/>
              </a:spcBef>
              <a:spcAft>
                <a:spcPts val="0"/>
              </a:spcAft>
              <a:buClr>
                <a:srgbClr val="272525"/>
              </a:buClr>
              <a:buSzPts val="750"/>
              <a:buFont typeface="Inter"/>
              <a:buChar char="•"/>
            </a:pPr>
            <a:r>
              <a:rPr lang="en-US" sz="750" b="0" i="0" u="none" strike="noStrike" cap="none">
                <a:solidFill>
                  <a:srgbClr val="272525"/>
                </a:solidFill>
                <a:latin typeface="Inter"/>
                <a:ea typeface="Inter"/>
                <a:cs typeface="Inter"/>
                <a:sym typeface="Inter"/>
              </a:rPr>
              <a:t>Cross-encoder reranking and surrounding context support improve final relevance</a:t>
            </a:r>
            <a:endParaRPr sz="750" b="0" i="0" u="none" strike="noStrike" cap="none">
              <a:solidFill>
                <a:schemeClr val="dk1"/>
              </a:solidFill>
              <a:latin typeface="Calibri"/>
              <a:ea typeface="Calibri"/>
              <a:cs typeface="Calibri"/>
              <a:sym typeface="Calibri"/>
            </a:endParaRPr>
          </a:p>
        </p:txBody>
      </p:sp>
      <p:sp>
        <p:nvSpPr>
          <p:cNvPr id="214" name="Google Shape;214;p17"/>
          <p:cNvSpPr/>
          <p:nvPr/>
        </p:nvSpPr>
        <p:spPr>
          <a:xfrm>
            <a:off x="661475" y="5882977"/>
            <a:ext cx="10868745" cy="18266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50"/>
              <a:buFont typeface="Inter"/>
              <a:buNone/>
            </a:pPr>
            <a:r>
              <a:rPr lang="en-US" sz="1150" b="1" i="0" u="none" strike="noStrike" cap="none">
                <a:solidFill>
                  <a:srgbClr val="000000"/>
                </a:solidFill>
                <a:latin typeface="Inter"/>
                <a:ea typeface="Inter"/>
                <a:cs typeface="Inter"/>
                <a:sym typeface="Inter"/>
              </a:rPr>
              <a:t>DELIVERABLE:</a:t>
            </a:r>
            <a:endParaRPr sz="1150" b="0" i="0" u="none" strike="noStrike" cap="none">
              <a:solidFill>
                <a:schemeClr val="dk1"/>
              </a:solidFill>
              <a:latin typeface="Calibri"/>
              <a:ea typeface="Calibri"/>
              <a:cs typeface="Calibri"/>
              <a:sym typeface="Calibri"/>
            </a:endParaRPr>
          </a:p>
        </p:txBody>
      </p:sp>
      <p:sp>
        <p:nvSpPr>
          <p:cNvPr id="215" name="Google Shape;215;p17"/>
          <p:cNvSpPr/>
          <p:nvPr/>
        </p:nvSpPr>
        <p:spPr>
          <a:xfrm>
            <a:off x="661475" y="6140946"/>
            <a:ext cx="11478330" cy="118070"/>
          </a:xfrm>
          <a:prstGeom prst="rect">
            <a:avLst/>
          </a:prstGeom>
          <a:noFill/>
          <a:ln>
            <a:noFill/>
          </a:ln>
        </p:spPr>
        <p:txBody>
          <a:bodyPr spcFirstLastPara="1" wrap="square" lIns="0" tIns="0" rIns="0" bIns="0" anchor="t" anchorCtr="0">
            <a:noAutofit/>
          </a:bodyPr>
          <a:lstStyle/>
          <a:p>
            <a:pPr marL="0" marR="0" lvl="0" indent="0" algn="l" rtl="0">
              <a:lnSpc>
                <a:spcPct val="101000"/>
              </a:lnSpc>
              <a:spcBef>
                <a:spcPts val="0"/>
              </a:spcBef>
              <a:spcAft>
                <a:spcPts val="0"/>
              </a:spcAft>
              <a:buClr>
                <a:srgbClr val="272525"/>
              </a:buClr>
              <a:buSzPts val="750"/>
              <a:buFont typeface="Inter"/>
              <a:buNone/>
            </a:pPr>
            <a:r>
              <a:rPr lang="en-US" sz="750" b="0" i="0" u="none" strike="noStrike" cap="none">
                <a:solidFill>
                  <a:srgbClr val="272525"/>
                </a:solidFill>
                <a:latin typeface="Inter"/>
                <a:ea typeface="Inter"/>
                <a:cs typeface="Inter"/>
                <a:sym typeface="Inter"/>
              </a:rPr>
              <a:t>Hybrid deterministic retrieval intelligence implemented, with final empirical relevance benchmarking and query-by-query tuning remaining.</a:t>
            </a:r>
            <a:endParaRPr sz="750" b="0" i="0" u="none" strike="noStrike" cap="none">
              <a:solidFill>
                <a:schemeClr val="dk1"/>
              </a:solidFill>
              <a:latin typeface="Calibri"/>
              <a:ea typeface="Calibri"/>
              <a:cs typeface="Calibri"/>
              <a:sym typeface="Calibri"/>
            </a:endParaRPr>
          </a:p>
        </p:txBody>
      </p:sp>
      <p:pic>
        <p:nvPicPr>
          <p:cNvPr id="216" name="Google Shape;216;p17"/>
          <p:cNvPicPr preferRelativeResize="0"/>
          <p:nvPr/>
        </p:nvPicPr>
        <p:blipFill>
          <a:blip r:embed="rId5">
            <a:alphaModFix/>
          </a:blip>
          <a:stretch>
            <a:fillRect/>
          </a:stretch>
        </p:blipFill>
        <p:spPr>
          <a:xfrm>
            <a:off x="10463395" y="6334337"/>
            <a:ext cx="1676400" cy="466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8"/>
          <p:cNvSpPr/>
          <p:nvPr/>
        </p:nvSpPr>
        <p:spPr>
          <a:xfrm>
            <a:off x="661475" y="596007"/>
            <a:ext cx="10868745" cy="47992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000"/>
              <a:buFont typeface="Inter"/>
              <a:buNone/>
            </a:pPr>
            <a:r>
              <a:rPr lang="en-US" sz="3000" b="1" i="0" u="none" strike="noStrike" cap="none">
                <a:solidFill>
                  <a:srgbClr val="000000"/>
                </a:solidFill>
                <a:latin typeface="Inter"/>
                <a:ea typeface="Inter"/>
                <a:cs typeface="Inter"/>
                <a:sym typeface="Inter"/>
              </a:rPr>
              <a:t>Retrieval Intelligence: Technical Implementation</a:t>
            </a:r>
            <a:endParaRPr sz="3000" b="0" i="0" u="none" strike="noStrike" cap="none">
              <a:solidFill>
                <a:schemeClr val="dk1"/>
              </a:solidFill>
              <a:latin typeface="Calibri"/>
              <a:ea typeface="Calibri"/>
              <a:cs typeface="Calibri"/>
              <a:sym typeface="Calibri"/>
            </a:endParaRPr>
          </a:p>
        </p:txBody>
      </p:sp>
      <p:sp>
        <p:nvSpPr>
          <p:cNvPr id="223" name="Google Shape;223;p18"/>
          <p:cNvSpPr/>
          <p:nvPr/>
        </p:nvSpPr>
        <p:spPr>
          <a:xfrm>
            <a:off x="661475" y="1125835"/>
            <a:ext cx="10868745" cy="23991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500"/>
              <a:buFont typeface="Inter"/>
              <a:buNone/>
            </a:pPr>
            <a:r>
              <a:rPr lang="en-US" sz="1500" b="1" i="0" u="none" strike="noStrike" cap="none">
                <a:solidFill>
                  <a:srgbClr val="000000"/>
                </a:solidFill>
                <a:latin typeface="Inter"/>
                <a:ea typeface="Inter"/>
                <a:cs typeface="Inter"/>
                <a:sym typeface="Inter"/>
              </a:rPr>
              <a:t>Mohammed Shehzaad Khan — PES2UG23CS349</a:t>
            </a:r>
            <a:endParaRPr sz="1500" b="0" i="0" u="none" strike="noStrike" cap="none">
              <a:solidFill>
                <a:schemeClr val="dk1"/>
              </a:solidFill>
              <a:latin typeface="Calibri"/>
              <a:ea typeface="Calibri"/>
              <a:cs typeface="Calibri"/>
              <a:sym typeface="Calibri"/>
            </a:endParaRPr>
          </a:p>
        </p:txBody>
      </p:sp>
      <p:sp>
        <p:nvSpPr>
          <p:cNvPr id="224" name="Google Shape;224;p18"/>
          <p:cNvSpPr/>
          <p:nvPr/>
        </p:nvSpPr>
        <p:spPr>
          <a:xfrm>
            <a:off x="661475" y="1591171"/>
            <a:ext cx="10868745" cy="1905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8"/>
          <p:cNvSpPr/>
          <p:nvPr/>
        </p:nvSpPr>
        <p:spPr>
          <a:xfrm>
            <a:off x="661475" y="1835646"/>
            <a:ext cx="10868745" cy="28793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00"/>
              <a:buFont typeface="Inter"/>
              <a:buNone/>
            </a:pPr>
            <a:r>
              <a:rPr lang="en-US" sz="1800" b="1" i="0" u="none" strike="noStrike" cap="none">
                <a:solidFill>
                  <a:srgbClr val="000000"/>
                </a:solidFill>
                <a:latin typeface="Inter"/>
                <a:ea typeface="Inter"/>
                <a:cs typeface="Inter"/>
                <a:sym typeface="Inter"/>
              </a:rPr>
              <a:t>IMPROVED FROM PHASE II</a:t>
            </a:r>
            <a:endParaRPr sz="1800" b="0" i="0" u="none" strike="noStrike" cap="none">
              <a:solidFill>
                <a:schemeClr val="dk1"/>
              </a:solidFill>
              <a:latin typeface="Calibri"/>
              <a:ea typeface="Calibri"/>
              <a:cs typeface="Calibri"/>
              <a:sym typeface="Calibri"/>
            </a:endParaRPr>
          </a:p>
        </p:txBody>
      </p:sp>
      <p:sp>
        <p:nvSpPr>
          <p:cNvPr id="226" name="Google Shape;226;p18"/>
          <p:cNvSpPr/>
          <p:nvPr/>
        </p:nvSpPr>
        <p:spPr>
          <a:xfrm>
            <a:off x="661475" y="2310705"/>
            <a:ext cx="10868745" cy="922238"/>
          </a:xfrm>
          <a:prstGeom prst="rect">
            <a:avLst/>
          </a:prstGeom>
          <a:noFill/>
          <a:ln>
            <a:noFill/>
          </a:ln>
        </p:spPr>
        <p:txBody>
          <a:bodyPr spcFirstLastPara="1" wrap="square" lIns="0" tIns="76775" rIns="0" bIns="0" anchor="t" anchorCtr="0">
            <a:noAutofit/>
          </a:bodyPr>
          <a:lstStyle/>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Retrieval graph expanded from 9 nodes to 14</a:t>
            </a:r>
            <a:endParaRPr sz="1500" b="0" i="0" u="none" strike="noStrike" cap="none">
              <a:solidFill>
                <a:schemeClr val="dk1"/>
              </a:solidFill>
              <a:latin typeface="Calibri"/>
              <a:ea typeface="Calibri"/>
              <a:cs typeface="Calibri"/>
              <a:sym typeface="Calibri"/>
            </a:endParaRPr>
          </a:p>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Keyword and semantic search now run in the same graph step and merge at fusion, instead of one after the other</a:t>
            </a:r>
            <a:endParaRPr sz="1500" b="0" i="0" u="none" strike="noStrike" cap="none">
              <a:solidFill>
                <a:schemeClr val="dk1"/>
              </a:solidFill>
              <a:latin typeface="Calibri"/>
              <a:ea typeface="Calibri"/>
              <a:cs typeface="Calibri"/>
              <a:sym typeface="Calibri"/>
            </a:endParaRPr>
          </a:p>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Self-correcting loop that widens the search up to three times before giving up</a:t>
            </a:r>
            <a:endParaRPr sz="1500" b="0" i="0" u="none" strike="noStrike" cap="none">
              <a:solidFill>
                <a:schemeClr val="dk1"/>
              </a:solidFill>
              <a:latin typeface="Calibri"/>
              <a:ea typeface="Calibri"/>
              <a:cs typeface="Calibri"/>
              <a:sym typeface="Calibri"/>
            </a:endParaRPr>
          </a:p>
        </p:txBody>
      </p:sp>
      <p:sp>
        <p:nvSpPr>
          <p:cNvPr id="227" name="Google Shape;227;p18"/>
          <p:cNvSpPr/>
          <p:nvPr/>
        </p:nvSpPr>
        <p:spPr>
          <a:xfrm>
            <a:off x="661475" y="3420070"/>
            <a:ext cx="10868745" cy="28793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00"/>
              <a:buFont typeface="Inter"/>
              <a:buNone/>
            </a:pPr>
            <a:r>
              <a:rPr lang="en-US" sz="1800" b="1" i="0" u="none" strike="noStrike" cap="none">
                <a:solidFill>
                  <a:srgbClr val="000000"/>
                </a:solidFill>
                <a:latin typeface="Inter"/>
                <a:ea typeface="Inter"/>
                <a:cs typeface="Inter"/>
                <a:sym typeface="Inter"/>
              </a:rPr>
              <a:t>NEW IN PHASE III</a:t>
            </a:r>
            <a:endParaRPr sz="1800" b="0" i="0" u="none" strike="noStrike" cap="none">
              <a:solidFill>
                <a:schemeClr val="dk1"/>
              </a:solidFill>
              <a:latin typeface="Calibri"/>
              <a:ea typeface="Calibri"/>
              <a:cs typeface="Calibri"/>
              <a:sym typeface="Calibri"/>
            </a:endParaRPr>
          </a:p>
        </p:txBody>
      </p:sp>
      <p:sp>
        <p:nvSpPr>
          <p:cNvPr id="228" name="Google Shape;228;p18"/>
          <p:cNvSpPr/>
          <p:nvPr/>
        </p:nvSpPr>
        <p:spPr>
          <a:xfrm>
            <a:off x="661475" y="3895130"/>
            <a:ext cx="10868745" cy="1244203"/>
          </a:xfrm>
          <a:prstGeom prst="rect">
            <a:avLst/>
          </a:prstGeom>
          <a:noFill/>
          <a:ln>
            <a:noFill/>
          </a:ln>
        </p:spPr>
        <p:txBody>
          <a:bodyPr spcFirstLastPara="1" wrap="square" lIns="0" tIns="76775" rIns="0" bIns="0" anchor="t" anchorCtr="0">
            <a:noAutofit/>
          </a:bodyPr>
          <a:lstStyle/>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Rank fusion merges keyword and semantic results by position rather than raw score</a:t>
            </a:r>
            <a:endParaRPr sz="1500" b="0" i="0" u="none" strike="noStrike" cap="none">
              <a:solidFill>
                <a:schemeClr val="dk1"/>
              </a:solidFill>
              <a:latin typeface="Calibri"/>
              <a:ea typeface="Calibri"/>
              <a:cs typeface="Calibri"/>
              <a:sym typeface="Calibri"/>
            </a:endParaRPr>
          </a:p>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Cross-encoder re-ranking re-scores candidates against the original question</a:t>
            </a:r>
            <a:endParaRPr sz="1500" b="0" i="0" u="none" strike="noStrike" cap="none">
              <a:solidFill>
                <a:schemeClr val="dk1"/>
              </a:solidFill>
              <a:latin typeface="Calibri"/>
              <a:ea typeface="Calibri"/>
              <a:cs typeface="Calibri"/>
              <a:sym typeface="Calibri"/>
            </a:endParaRPr>
          </a:p>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Time-anchor resolution turns "after the interview email" into a hard date constraint by finding that item first</a:t>
            </a:r>
            <a:endParaRPr sz="1500" b="0" i="0" u="none" strike="noStrike" cap="none">
              <a:solidFill>
                <a:schemeClr val="dk1"/>
              </a:solidFill>
              <a:latin typeface="Calibri"/>
              <a:ea typeface="Calibri"/>
              <a:cs typeface="Calibri"/>
              <a:sym typeface="Calibri"/>
            </a:endParaRPr>
          </a:p>
          <a:p>
            <a:pPr marL="304800" marR="0" lvl="0" indent="-304800" algn="l" rtl="0">
              <a:lnSpc>
                <a:spcPct val="121000"/>
              </a:lnSpc>
              <a:spcBef>
                <a:spcPts val="0"/>
              </a:spcBef>
              <a:spcAft>
                <a:spcPts val="0"/>
              </a:spcAft>
              <a:buClr>
                <a:srgbClr val="272525"/>
              </a:buClr>
              <a:buSzPts val="1500"/>
              <a:buFont typeface="Inter"/>
              <a:buChar char="•"/>
            </a:pPr>
            <a:r>
              <a:rPr lang="en-US" sz="1500" b="0" i="0" u="none" strike="noStrike" cap="none">
                <a:solidFill>
                  <a:srgbClr val="272525"/>
                </a:solidFill>
                <a:latin typeface="Inter"/>
                <a:ea typeface="Inter"/>
                <a:cs typeface="Inter"/>
                <a:sym typeface="Inter"/>
              </a:rPr>
              <a:t>Surrounding-context retrieval pulls nearby items from the same email thread or activity session</a:t>
            </a:r>
            <a:endParaRPr sz="1500" b="0" i="0" u="none" strike="noStrike" cap="none">
              <a:solidFill>
                <a:schemeClr val="dk1"/>
              </a:solidFill>
              <a:latin typeface="Calibri"/>
              <a:ea typeface="Calibri"/>
              <a:cs typeface="Calibri"/>
              <a:sym typeface="Calibri"/>
            </a:endParaRPr>
          </a:p>
        </p:txBody>
      </p:sp>
      <p:sp>
        <p:nvSpPr>
          <p:cNvPr id="229" name="Google Shape;229;p18"/>
          <p:cNvSpPr/>
          <p:nvPr/>
        </p:nvSpPr>
        <p:spPr>
          <a:xfrm>
            <a:off x="661475" y="5279628"/>
            <a:ext cx="10868745" cy="982365"/>
          </a:xfrm>
          <a:prstGeom prst="roundRect">
            <a:avLst>
              <a:gd name="adj" fmla="val 6566"/>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0" name="Google Shape;230;p18" descr="preencoded.png"/>
          <p:cNvPicPr preferRelativeResize="0"/>
          <p:nvPr/>
        </p:nvPicPr>
        <p:blipFill rotWithShape="1">
          <a:blip r:embed="rId3">
            <a:alphaModFix/>
          </a:blip>
          <a:srcRect/>
          <a:stretch/>
        </p:blipFill>
        <p:spPr>
          <a:xfrm>
            <a:off x="814962" y="5477867"/>
            <a:ext cx="239905" cy="191889"/>
          </a:xfrm>
          <a:prstGeom prst="rect">
            <a:avLst/>
          </a:prstGeom>
          <a:noFill/>
          <a:ln>
            <a:noFill/>
          </a:ln>
        </p:spPr>
      </p:pic>
      <p:sp>
        <p:nvSpPr>
          <p:cNvPr id="231" name="Google Shape;231;p18"/>
          <p:cNvSpPr/>
          <p:nvPr/>
        </p:nvSpPr>
        <p:spPr>
          <a:xfrm>
            <a:off x="1208355" y="5442645"/>
            <a:ext cx="10168378" cy="668834"/>
          </a:xfrm>
          <a:prstGeom prst="rect">
            <a:avLst/>
          </a:prstGeom>
          <a:noFill/>
          <a:ln>
            <a:noFill/>
          </a:ln>
        </p:spPr>
        <p:txBody>
          <a:bodyPr spcFirstLastPara="1" wrap="square" lIns="0" tIns="0" rIns="0" bIns="0" anchor="t" anchorCtr="0">
            <a:noAutofit/>
          </a:bodyPr>
          <a:lstStyle/>
          <a:p>
            <a:pPr marL="0" marR="0" lvl="0" indent="0" algn="l" rtl="0">
              <a:lnSpc>
                <a:spcPct val="121000"/>
              </a:lnSpc>
              <a:spcBef>
                <a:spcPts val="0"/>
              </a:spcBef>
              <a:spcAft>
                <a:spcPts val="0"/>
              </a:spcAft>
              <a:buClr>
                <a:srgbClr val="000000"/>
              </a:buClr>
              <a:buSzPts val="1500"/>
              <a:buFont typeface="Inter"/>
              <a:buNone/>
            </a:pPr>
            <a:r>
              <a:rPr lang="en-US" sz="1500" b="0" i="0" u="none" strike="noStrike" cap="none">
                <a:solidFill>
                  <a:srgbClr val="000000"/>
                </a:solidFill>
                <a:latin typeface="Inter"/>
                <a:ea typeface="Inter"/>
                <a:cs typeface="Inter"/>
                <a:sym typeface="Inter"/>
              </a:rPr>
              <a:t>Still exactly 2 LLM calls per query — everything between them is deterministic Python</a:t>
            </a:r>
            <a:endParaRPr sz="1500" b="0" i="0" u="none" strike="noStrike" cap="none">
              <a:solidFill>
                <a:schemeClr val="dk1"/>
              </a:solidFill>
              <a:latin typeface="Calibri"/>
              <a:ea typeface="Calibri"/>
              <a:cs typeface="Calibri"/>
              <a:sym typeface="Calibri"/>
            </a:endParaRPr>
          </a:p>
        </p:txBody>
      </p:sp>
      <p:pic>
        <p:nvPicPr>
          <p:cNvPr id="232" name="Google Shape;232;p18"/>
          <p:cNvPicPr preferRelativeResize="0"/>
          <p:nvPr/>
        </p:nvPicPr>
        <p:blipFill>
          <a:blip r:embed="rId4">
            <a:alphaModFix/>
          </a:blip>
          <a:stretch>
            <a:fillRect/>
          </a:stretch>
        </p:blipFill>
        <p:spPr>
          <a:xfrm>
            <a:off x="10711025" y="6402304"/>
            <a:ext cx="1407775" cy="391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p:nvPr/>
        </p:nvSpPr>
        <p:spPr>
          <a:xfrm>
            <a:off x="661475" y="552152"/>
            <a:ext cx="10868745" cy="28237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750"/>
              <a:buFont typeface="Inter"/>
              <a:buNone/>
            </a:pPr>
            <a:r>
              <a:rPr lang="en-US" sz="1750" b="1" i="0" u="none" strike="noStrike" cap="none">
                <a:solidFill>
                  <a:srgbClr val="000000"/>
                </a:solidFill>
                <a:latin typeface="Inter"/>
                <a:ea typeface="Inter"/>
                <a:cs typeface="Inter"/>
                <a:sym typeface="Inter"/>
              </a:rPr>
              <a:t>MODELS</a:t>
            </a:r>
            <a:endParaRPr sz="1750" b="0" i="0" u="none" strike="noStrike" cap="none">
              <a:solidFill>
                <a:schemeClr val="dk1"/>
              </a:solidFill>
              <a:latin typeface="Calibri"/>
              <a:ea typeface="Calibri"/>
              <a:cs typeface="Calibri"/>
              <a:sym typeface="Calibri"/>
            </a:endParaRPr>
          </a:p>
        </p:txBody>
      </p:sp>
      <p:graphicFrame>
        <p:nvGraphicFramePr>
          <p:cNvPr id="239" name="Google Shape;239;p19"/>
          <p:cNvGraphicFramePr/>
          <p:nvPr/>
        </p:nvGraphicFramePr>
        <p:xfrm>
          <a:off x="661475" y="1074539"/>
          <a:ext cx="3000000" cy="3000000"/>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427225">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Model</a:t>
                      </a:r>
                      <a:endParaRPr sz="14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Purpose</a:t>
                      </a:r>
                      <a:endParaRPr sz="14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ms-marco-MiniLM-L-6-v2</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Cross-encoder re-ranking</a:t>
                      </a:r>
                      <a:endParaRPr sz="1150" u="none" strike="noStrike" cap="none">
                        <a:latin typeface="Inter"/>
                        <a:ea typeface="Inter"/>
                        <a:cs typeface="Inter"/>
                        <a:sym typeface="Inter"/>
                      </a:endParaRPr>
                    </a:p>
                  </a:txBody>
                  <a:tcPr marL="150625" marR="1506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Gemini 2.5 Flash</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Intent parsing and answer synthesis</a:t>
                      </a:r>
                      <a:endParaRPr sz="11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bl>
          </a:graphicData>
        </a:graphic>
      </p:graphicFrame>
      <p:sp>
        <p:nvSpPr>
          <p:cNvPr id="240" name="Google Shape;240;p19"/>
          <p:cNvSpPr/>
          <p:nvPr/>
        </p:nvSpPr>
        <p:spPr>
          <a:xfrm>
            <a:off x="661475" y="2792016"/>
            <a:ext cx="10868745" cy="28237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750"/>
              <a:buFont typeface="Inter"/>
              <a:buNone/>
            </a:pPr>
            <a:r>
              <a:rPr lang="en-US" sz="1750" b="1" i="0" u="none" strike="noStrike" cap="none">
                <a:solidFill>
                  <a:srgbClr val="000000"/>
                </a:solidFill>
                <a:latin typeface="Inter"/>
                <a:ea typeface="Inter"/>
                <a:cs typeface="Inter"/>
                <a:sym typeface="Inter"/>
              </a:rPr>
              <a:t>LIBRARIES</a:t>
            </a:r>
            <a:endParaRPr sz="1750" b="0" i="0" u="none" strike="noStrike" cap="none">
              <a:solidFill>
                <a:schemeClr val="dk1"/>
              </a:solidFill>
              <a:latin typeface="Calibri"/>
              <a:ea typeface="Calibri"/>
              <a:cs typeface="Calibri"/>
              <a:sym typeface="Calibri"/>
            </a:endParaRPr>
          </a:p>
        </p:txBody>
      </p:sp>
      <p:graphicFrame>
        <p:nvGraphicFramePr>
          <p:cNvPr id="241" name="Google Shape;241;p19"/>
          <p:cNvGraphicFramePr/>
          <p:nvPr/>
        </p:nvGraphicFramePr>
        <p:xfrm>
          <a:off x="661475" y="3254375"/>
          <a:ext cx="3000000" cy="3000000"/>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427225">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Tool</a:t>
                      </a:r>
                      <a:endParaRPr sz="14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Category</a:t>
                      </a:r>
                      <a:endParaRPr sz="14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LangGraph</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Stateful retrieval graph</a:t>
                      </a:r>
                      <a:endParaRPr sz="1150" u="none" strike="noStrike" cap="none">
                        <a:latin typeface="Inter"/>
                        <a:ea typeface="Inter"/>
                        <a:cs typeface="Inter"/>
                        <a:sym typeface="Inter"/>
                      </a:endParaRPr>
                    </a:p>
                  </a:txBody>
                  <a:tcPr marL="150625" marR="1506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LangChain Core</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LLM abstraction, structured output</a:t>
                      </a:r>
                      <a:endParaRPr sz="11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LangChain Community</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Conversation history storage</a:t>
                      </a:r>
                      <a:endParaRPr sz="1150" u="none" strike="noStrike" cap="none">
                        <a:latin typeface="Inter"/>
                        <a:ea typeface="Inter"/>
                        <a:cs typeface="Inter"/>
                        <a:sym typeface="Inter"/>
                      </a:endParaRPr>
                    </a:p>
                  </a:txBody>
                  <a:tcPr marL="150625" marR="1506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3"/>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sentence-transformers</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Cross-encoder model loading</a:t>
                      </a:r>
                      <a:endParaRPr sz="11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4"/>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faiss-cpu</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Semantic vector search</a:t>
                      </a:r>
                      <a:endParaRPr sz="1150" u="none" strike="noStrike" cap="none">
                        <a:latin typeface="Inter"/>
                        <a:ea typeface="Inter"/>
                        <a:cs typeface="Inter"/>
                        <a:sym typeface="Inter"/>
                      </a:endParaRPr>
                    </a:p>
                  </a:txBody>
                  <a:tcPr marL="150625" marR="1506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5"/>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NumPy</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Vector maths</a:t>
                      </a:r>
                      <a:endParaRPr sz="1150" u="none" strike="noStrike" cap="none">
                        <a:latin typeface="Inter"/>
                        <a:ea typeface="Inter"/>
                        <a:cs typeface="Inter"/>
                        <a:sym typeface="Inter"/>
                      </a:endParaRPr>
                    </a:p>
                  </a:txBody>
                  <a:tcPr marL="150625" marR="1506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6"/>
                  </a:ext>
                </a:extLst>
              </a:tr>
              <a:tr h="373050">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psycopg2</a:t>
                      </a:r>
                      <a:endParaRPr sz="1150" u="none" strike="noStrike" cap="none">
                        <a:latin typeface="Inter"/>
                        <a:ea typeface="Inter"/>
                        <a:cs typeface="Inter"/>
                        <a:sym typeface="Inter"/>
                      </a:endParaRPr>
                    </a:p>
                  </a:txBody>
                  <a:tcPr marL="150625" marR="1506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C0C1D7"/>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PostgreSQL driver</a:t>
                      </a:r>
                      <a:endParaRPr sz="1150" u="none" strike="noStrike" cap="none">
                        <a:latin typeface="Inter"/>
                        <a:ea typeface="Inter"/>
                        <a:cs typeface="Inter"/>
                        <a:sym typeface="Inter"/>
                      </a:endParaRPr>
                    </a:p>
                  </a:txBody>
                  <a:tcPr marL="150625" marR="1506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C0C1D7"/>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7"/>
                  </a:ext>
                </a:extLst>
              </a:tr>
            </a:tbl>
          </a:graphicData>
        </a:graphic>
      </p:graphicFrame>
      <p:pic>
        <p:nvPicPr>
          <p:cNvPr id="242" name="Google Shape;242;p19"/>
          <p:cNvPicPr preferRelativeResize="0"/>
          <p:nvPr/>
        </p:nvPicPr>
        <p:blipFill>
          <a:blip r:embed="rId3">
            <a:alphaModFix/>
          </a:blip>
          <a:stretch>
            <a:fillRect/>
          </a:stretch>
        </p:blipFill>
        <p:spPr>
          <a:xfrm>
            <a:off x="10649450" y="6445350"/>
            <a:ext cx="1482171" cy="412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p:nvPr/>
        </p:nvSpPr>
        <p:spPr>
          <a:xfrm>
            <a:off x="661475" y="549275"/>
            <a:ext cx="10868745" cy="44301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750"/>
              <a:buFont typeface="Inter"/>
              <a:buNone/>
            </a:pPr>
            <a:r>
              <a:rPr lang="en-US" sz="2750" b="1" i="0" u="none" strike="noStrike" cap="none">
                <a:solidFill>
                  <a:srgbClr val="000000"/>
                </a:solidFill>
                <a:latin typeface="Inter"/>
                <a:ea typeface="Inter"/>
                <a:cs typeface="Inter"/>
                <a:sym typeface="Inter"/>
              </a:rPr>
              <a:t> Digital Wellbeing &amp; User Interface Layer</a:t>
            </a:r>
            <a:endParaRPr sz="2750" b="0" i="0" u="none" strike="noStrike" cap="none">
              <a:solidFill>
                <a:schemeClr val="dk1"/>
              </a:solidFill>
              <a:latin typeface="Calibri"/>
              <a:ea typeface="Calibri"/>
              <a:cs typeface="Calibri"/>
              <a:sym typeface="Calibri"/>
            </a:endParaRPr>
          </a:p>
        </p:txBody>
      </p:sp>
      <p:sp>
        <p:nvSpPr>
          <p:cNvPr id="249" name="Google Shape;249;p20"/>
          <p:cNvSpPr/>
          <p:nvPr/>
        </p:nvSpPr>
        <p:spPr>
          <a:xfrm>
            <a:off x="661475" y="1034752"/>
            <a:ext cx="10868745" cy="2214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50"/>
              <a:buFont typeface="Inter"/>
              <a:buNone/>
            </a:pPr>
            <a:r>
              <a:rPr lang="en-US" sz="1350" b="1" i="0" u="none" strike="noStrike" cap="none">
                <a:solidFill>
                  <a:srgbClr val="000000"/>
                </a:solidFill>
                <a:latin typeface="Inter"/>
                <a:ea typeface="Inter"/>
                <a:cs typeface="Inter"/>
                <a:sym typeface="Inter"/>
              </a:rPr>
              <a:t>Arjun Sai N — PES2UG23CS091 </a:t>
            </a:r>
            <a:endParaRPr sz="1350" b="0" i="0" u="none" strike="noStrike" cap="none">
              <a:solidFill>
                <a:schemeClr val="dk1"/>
              </a:solidFill>
              <a:latin typeface="Calibri"/>
              <a:ea typeface="Calibri"/>
              <a:cs typeface="Calibri"/>
              <a:sym typeface="Calibri"/>
            </a:endParaRPr>
          </a:p>
        </p:txBody>
      </p:sp>
      <p:sp>
        <p:nvSpPr>
          <p:cNvPr id="250" name="Google Shape;250;p20"/>
          <p:cNvSpPr/>
          <p:nvPr/>
        </p:nvSpPr>
        <p:spPr>
          <a:xfrm>
            <a:off x="661475" y="1451074"/>
            <a:ext cx="10868745" cy="1905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p:nvPr/>
        </p:nvSpPr>
        <p:spPr>
          <a:xfrm>
            <a:off x="661475" y="1664990"/>
            <a:ext cx="10868745" cy="26570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650"/>
              <a:buFont typeface="Inter"/>
              <a:buNone/>
            </a:pPr>
            <a:r>
              <a:rPr lang="en-US" sz="1650" b="1" i="0" u="none" strike="noStrike" cap="none">
                <a:solidFill>
                  <a:srgbClr val="000000"/>
                </a:solidFill>
                <a:latin typeface="Inter"/>
                <a:ea typeface="Inter"/>
                <a:cs typeface="Inter"/>
                <a:sym typeface="Inter"/>
              </a:rPr>
              <a:t>RESPONSIBILITIES</a:t>
            </a:r>
            <a:endParaRPr sz="1650" b="0" i="0" u="none" strike="noStrike" cap="none">
              <a:solidFill>
                <a:schemeClr val="dk1"/>
              </a:solidFill>
              <a:latin typeface="Calibri"/>
              <a:ea typeface="Calibri"/>
              <a:cs typeface="Calibri"/>
              <a:sym typeface="Calibri"/>
            </a:endParaRPr>
          </a:p>
        </p:txBody>
      </p:sp>
      <p:sp>
        <p:nvSpPr>
          <p:cNvPr id="252" name="Google Shape;252;p20"/>
          <p:cNvSpPr/>
          <p:nvPr/>
        </p:nvSpPr>
        <p:spPr>
          <a:xfrm>
            <a:off x="661475" y="2090142"/>
            <a:ext cx="10868745" cy="1389063"/>
          </a:xfrm>
          <a:prstGeom prst="rect">
            <a:avLst/>
          </a:prstGeom>
          <a:noFill/>
          <a:ln>
            <a:noFill/>
          </a:ln>
        </p:spPr>
        <p:txBody>
          <a:bodyPr spcFirstLastPara="1" wrap="square" lIns="0" tIns="70875" rIns="0" bIns="0" anchor="t" anchorCtr="0">
            <a:noAutofit/>
          </a:bodyPr>
          <a:lstStyle/>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Build the web dashboard users interact with</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Build the browser extension popup for quick access</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Connect every screen to the backend API</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Keep the interface usable when the backend is unavailable</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Begin work on wellbeing analytics</a:t>
            </a:r>
            <a:endParaRPr sz="1350" b="0" i="0" u="none" strike="noStrike" cap="none">
              <a:solidFill>
                <a:schemeClr val="dk1"/>
              </a:solidFill>
              <a:latin typeface="Calibri"/>
              <a:ea typeface="Calibri"/>
              <a:cs typeface="Calibri"/>
              <a:sym typeface="Calibri"/>
            </a:endParaRPr>
          </a:p>
        </p:txBody>
      </p:sp>
      <p:sp>
        <p:nvSpPr>
          <p:cNvPr id="253" name="Google Shape;253;p20"/>
          <p:cNvSpPr/>
          <p:nvPr/>
        </p:nvSpPr>
        <p:spPr>
          <a:xfrm>
            <a:off x="661475" y="3638649"/>
            <a:ext cx="10868745" cy="26570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650"/>
              <a:buFont typeface="Inter"/>
              <a:buNone/>
            </a:pPr>
            <a:r>
              <a:rPr lang="en-US" sz="1650" b="1" i="0" u="none" strike="noStrike" cap="none">
                <a:solidFill>
                  <a:srgbClr val="000000"/>
                </a:solidFill>
                <a:latin typeface="Inter"/>
                <a:ea typeface="Inter"/>
                <a:cs typeface="Inter"/>
                <a:sym typeface="Inter"/>
              </a:rPr>
              <a:t>NEW IN PHASE III</a:t>
            </a:r>
            <a:endParaRPr sz="1650" b="0" i="0" u="none" strike="noStrike" cap="none">
              <a:solidFill>
                <a:schemeClr val="dk1"/>
              </a:solidFill>
              <a:latin typeface="Calibri"/>
              <a:ea typeface="Calibri"/>
              <a:cs typeface="Calibri"/>
              <a:sym typeface="Calibri"/>
            </a:endParaRPr>
          </a:p>
        </p:txBody>
      </p:sp>
      <p:sp>
        <p:nvSpPr>
          <p:cNvPr id="254" name="Google Shape;254;p20"/>
          <p:cNvSpPr/>
          <p:nvPr/>
        </p:nvSpPr>
        <p:spPr>
          <a:xfrm>
            <a:off x="661475" y="4063802"/>
            <a:ext cx="10868745" cy="2244824"/>
          </a:xfrm>
          <a:prstGeom prst="rect">
            <a:avLst/>
          </a:prstGeom>
          <a:noFill/>
          <a:ln>
            <a:noFill/>
          </a:ln>
        </p:spPr>
        <p:txBody>
          <a:bodyPr spcFirstLastPara="1" wrap="square" lIns="0" tIns="70875" rIns="0" bIns="0" anchor="t" anchorCtr="0">
            <a:noAutofit/>
          </a:bodyPr>
          <a:lstStyle/>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Recall — ask a question in plain language and see the answer</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Timeline — browse recent captured items and mark regret</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Patterns — daily time summary, category breakdown and activity heatmap</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Reflections — regret analytics and currently regretted items</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Settings — capture toggles for Gmail, Chrome and YouTube</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Extension popup — quick search and recent items without opening the dashboard</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Demo mode — every screen falls back to sample data when the backend is offline, so the interface never breaks</a:t>
            </a:r>
            <a:endParaRPr sz="1350" b="0" i="0" u="none" strike="noStrike" cap="none">
              <a:solidFill>
                <a:schemeClr val="dk1"/>
              </a:solidFill>
              <a:latin typeface="Calibri"/>
              <a:ea typeface="Calibri"/>
              <a:cs typeface="Calibri"/>
              <a:sym typeface="Calibri"/>
            </a:endParaRPr>
          </a:p>
          <a:p>
            <a:pPr marL="274320" marR="0" lvl="0" indent="-274320" algn="l" rtl="0">
              <a:lnSpc>
                <a:spcPct val="117000"/>
              </a:lnSpc>
              <a:spcBef>
                <a:spcPts val="0"/>
              </a:spcBef>
              <a:spcAft>
                <a:spcPts val="0"/>
              </a:spcAft>
              <a:buClr>
                <a:srgbClr val="272525"/>
              </a:buClr>
              <a:buSzPts val="1350"/>
              <a:buFont typeface="Inter"/>
              <a:buChar char="•"/>
            </a:pPr>
            <a:r>
              <a:rPr lang="en-US" sz="1350" b="0" i="0" u="none" strike="noStrike" cap="none">
                <a:solidFill>
                  <a:srgbClr val="272525"/>
                </a:solidFill>
                <a:latin typeface="Inter"/>
                <a:ea typeface="Inter"/>
                <a:cs typeface="Inter"/>
                <a:sym typeface="Inter"/>
              </a:rPr>
              <a:t>Custom-built visualisations, written directly rather than using a chart library</a:t>
            </a:r>
            <a:endParaRPr sz="1350" b="0" i="0" u="none" strike="noStrike" cap="none">
              <a:solidFill>
                <a:schemeClr val="dk1"/>
              </a:solidFill>
              <a:latin typeface="Calibri"/>
              <a:ea typeface="Calibri"/>
              <a:cs typeface="Calibri"/>
              <a:sym typeface="Calibri"/>
            </a:endParaRPr>
          </a:p>
        </p:txBody>
      </p:sp>
      <p:pic>
        <p:nvPicPr>
          <p:cNvPr id="255" name="Google Shape;255;p20"/>
          <p:cNvPicPr preferRelativeResize="0"/>
          <p:nvPr/>
        </p:nvPicPr>
        <p:blipFill>
          <a:blip r:embed="rId3">
            <a:alphaModFix/>
          </a:blip>
          <a:stretch>
            <a:fillRect/>
          </a:stretch>
        </p:blipFill>
        <p:spPr>
          <a:xfrm>
            <a:off x="10600500" y="6414999"/>
            <a:ext cx="1591187" cy="443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p:nvPr/>
        </p:nvSpPr>
        <p:spPr>
          <a:xfrm>
            <a:off x="661475" y="532110"/>
            <a:ext cx="10868745" cy="36919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300"/>
              <a:buFont typeface="Inter"/>
              <a:buNone/>
            </a:pPr>
            <a:r>
              <a:rPr lang="en-US" sz="2300" b="1" i="0" u="none" strike="noStrike" cap="none">
                <a:solidFill>
                  <a:srgbClr val="000000"/>
                </a:solidFill>
                <a:latin typeface="Inter"/>
                <a:ea typeface="Inter"/>
                <a:cs typeface="Inter"/>
                <a:sym typeface="Inter"/>
              </a:rPr>
              <a:t>User Interface Layer: Dashboard &amp; Extension</a:t>
            </a:r>
            <a:endParaRPr sz="2300" b="0" i="0" u="none" strike="noStrike" cap="none">
              <a:solidFill>
                <a:schemeClr val="dk1"/>
              </a:solidFill>
              <a:latin typeface="Calibri"/>
              <a:ea typeface="Calibri"/>
              <a:cs typeface="Calibri"/>
              <a:sym typeface="Calibri"/>
            </a:endParaRPr>
          </a:p>
        </p:txBody>
      </p:sp>
      <p:sp>
        <p:nvSpPr>
          <p:cNvPr id="262" name="Google Shape;262;p21"/>
          <p:cNvSpPr/>
          <p:nvPr/>
        </p:nvSpPr>
        <p:spPr>
          <a:xfrm>
            <a:off x="661475" y="930771"/>
            <a:ext cx="10868745" cy="18454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50"/>
              <a:buFont typeface="Inter"/>
              <a:buNone/>
            </a:pPr>
            <a:r>
              <a:rPr lang="en-US" sz="1150" b="1" i="0" u="none" strike="noStrike" cap="none">
                <a:solidFill>
                  <a:srgbClr val="000000"/>
                </a:solidFill>
                <a:latin typeface="Inter"/>
                <a:ea typeface="Inter"/>
                <a:cs typeface="Inter"/>
                <a:sym typeface="Inter"/>
              </a:rPr>
              <a:t>Arjun Sai N — PES2UG23CS091</a:t>
            </a:r>
            <a:endParaRPr sz="1150" b="0" i="0" u="none" strike="noStrike" cap="none">
              <a:solidFill>
                <a:schemeClr val="dk1"/>
              </a:solidFill>
              <a:latin typeface="Calibri"/>
              <a:ea typeface="Calibri"/>
              <a:cs typeface="Calibri"/>
              <a:sym typeface="Calibri"/>
            </a:endParaRPr>
          </a:p>
        </p:txBody>
      </p:sp>
      <p:sp>
        <p:nvSpPr>
          <p:cNvPr id="263" name="Google Shape;263;p21"/>
          <p:cNvSpPr/>
          <p:nvPr/>
        </p:nvSpPr>
        <p:spPr>
          <a:xfrm>
            <a:off x="661475" y="1255514"/>
            <a:ext cx="10868745" cy="12700"/>
          </a:xfrm>
          <a:prstGeom prst="roundRect">
            <a:avLst>
              <a:gd name="adj" fmla="val 49999"/>
            </a:avLst>
          </a:prstGeom>
          <a:solidFill>
            <a:srgbClr val="272525">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1"/>
          <p:cNvSpPr/>
          <p:nvPr/>
        </p:nvSpPr>
        <p:spPr>
          <a:xfrm>
            <a:off x="661475" y="1408410"/>
            <a:ext cx="10868745" cy="2214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50"/>
              <a:buFont typeface="Inter"/>
              <a:buNone/>
            </a:pPr>
            <a:r>
              <a:rPr lang="en-US" sz="1350" b="1" i="0" u="none" strike="noStrike" cap="none">
                <a:solidFill>
                  <a:srgbClr val="000000"/>
                </a:solidFill>
                <a:latin typeface="Inter"/>
                <a:ea typeface="Inter"/>
                <a:cs typeface="Inter"/>
                <a:sym typeface="Inter"/>
              </a:rPr>
              <a:t>FRAMEWORK AND BUILD</a:t>
            </a:r>
            <a:endParaRPr sz="1350" b="0" i="0" u="none" strike="noStrike" cap="none">
              <a:solidFill>
                <a:schemeClr val="dk1"/>
              </a:solidFill>
              <a:latin typeface="Calibri"/>
              <a:ea typeface="Calibri"/>
              <a:cs typeface="Calibri"/>
              <a:sym typeface="Calibri"/>
            </a:endParaRPr>
          </a:p>
        </p:txBody>
      </p:sp>
      <p:graphicFrame>
        <p:nvGraphicFramePr>
          <p:cNvPr id="265" name="Google Shape;265;p21"/>
          <p:cNvGraphicFramePr/>
          <p:nvPr/>
        </p:nvGraphicFramePr>
        <p:xfrm>
          <a:off x="661475" y="1740595"/>
          <a:ext cx="3000000" cy="3000000"/>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293075">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Tool</a:t>
                      </a:r>
                      <a:endParaRPr sz="115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Category</a:t>
                      </a:r>
                      <a:endParaRPr sz="115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React 18</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UI framework</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TypeScript</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Type-safe development</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Vite</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Build tool and dev server</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3"/>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Tailwind CSS</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Styling</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4"/>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PostCSS</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CSS processing</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5"/>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Autoprefixer</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CSS processing</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6"/>
                  </a:ext>
                </a:extLst>
              </a:tr>
            </a:tbl>
          </a:graphicData>
        </a:graphic>
      </p:graphicFrame>
      <p:sp>
        <p:nvSpPr>
          <p:cNvPr id="266" name="Google Shape;266;p21"/>
          <p:cNvSpPr/>
          <p:nvPr/>
        </p:nvSpPr>
        <p:spPr>
          <a:xfrm>
            <a:off x="661475" y="3922514"/>
            <a:ext cx="10868745" cy="22145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50"/>
              <a:buFont typeface="Inter"/>
              <a:buNone/>
            </a:pPr>
            <a:r>
              <a:rPr lang="en-US" sz="1350" b="1" i="0" u="none" strike="noStrike" cap="none">
                <a:solidFill>
                  <a:srgbClr val="000000"/>
                </a:solidFill>
                <a:latin typeface="Inter"/>
                <a:ea typeface="Inter"/>
                <a:cs typeface="Inter"/>
                <a:sym typeface="Inter"/>
              </a:rPr>
              <a:t>LIBRARIES</a:t>
            </a:r>
            <a:endParaRPr sz="1350" b="0" i="0" u="none" strike="noStrike" cap="none">
              <a:solidFill>
                <a:schemeClr val="dk1"/>
              </a:solidFill>
              <a:latin typeface="Calibri"/>
              <a:ea typeface="Calibri"/>
              <a:cs typeface="Calibri"/>
              <a:sym typeface="Calibri"/>
            </a:endParaRPr>
          </a:p>
        </p:txBody>
      </p:sp>
      <p:graphicFrame>
        <p:nvGraphicFramePr>
          <p:cNvPr id="267" name="Google Shape;267;p21"/>
          <p:cNvGraphicFramePr/>
          <p:nvPr/>
        </p:nvGraphicFramePr>
        <p:xfrm>
          <a:off x="661475" y="4254698"/>
          <a:ext cx="3000000" cy="3000000"/>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293075">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Tool</a:t>
                      </a:r>
                      <a:endParaRPr sz="115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1150"/>
                        <a:buFont typeface="Inter"/>
                        <a:buNone/>
                      </a:pPr>
                      <a:r>
                        <a:rPr lang="en-US" sz="1150" u="none" strike="noStrike" cap="none">
                          <a:solidFill>
                            <a:srgbClr val="272525"/>
                          </a:solidFill>
                          <a:latin typeface="Inter"/>
                          <a:ea typeface="Inter"/>
                          <a:cs typeface="Inter"/>
                          <a:sym typeface="Inter"/>
                        </a:rPr>
                        <a:t>Category</a:t>
                      </a:r>
                      <a:endParaRPr sz="115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0"/>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React Router</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Page navigation</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1"/>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Framer Motion</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Interface animation</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2"/>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GSAP</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Animation timelines</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3"/>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Lenis</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Smooth scrolling</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5F5F5"/>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4"/>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Lucide React</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5F5F5"/>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Icon set</a:t>
                      </a:r>
                      <a:endParaRPr sz="900" u="none" strike="noStrike" cap="none">
                        <a:latin typeface="Inter"/>
                        <a:ea typeface="Inter"/>
                        <a:cs typeface="Inter"/>
                        <a:sym typeface="Inter"/>
                      </a:endParaRPr>
                    </a:p>
                  </a:txBody>
                  <a:tcPr marL="118125" marR="118125" marT="6350" marB="6350" anchor="ctr">
                    <a:lnL w="12700" cap="flat" cmpd="sng">
                      <a:solidFill>
                        <a:srgbClr val="F5F5F5"/>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5F5F5"/>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alpha val="3922"/>
                      </a:srgbClr>
                    </a:solidFill>
                  </a:tcPr>
                </a:tc>
                <a:extLst>
                  <a:ext uri="{0D108BD9-81ED-4DB2-BD59-A6C34878D82A}">
                    <a16:rowId xmlns:a16="http://schemas.microsoft.com/office/drawing/2014/main" val="10005"/>
                  </a:ext>
                </a:extLst>
              </a:tr>
              <a:tr h="254775">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Fontsource</a:t>
                      </a:r>
                      <a:endParaRPr sz="900" u="none" strike="noStrike" cap="none">
                        <a:latin typeface="Inter"/>
                        <a:ea typeface="Inter"/>
                        <a:cs typeface="Inter"/>
                        <a:sym typeface="Inter"/>
                      </a:endParaRPr>
                    </a:p>
                  </a:txBody>
                  <a:tcPr marL="118125" marR="118125" marT="6350" marB="6350" anchor="ctr">
                    <a:lnL w="12700" cap="flat" cmpd="sng">
                      <a:solidFill>
                        <a:srgbClr val="C0C1D7"/>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tc>
                  <a:txBody>
                    <a:bodyPr/>
                    <a:lstStyle/>
                    <a:p>
                      <a:pPr marL="0" marR="0" lvl="0" indent="0" algn="l" rtl="0">
                        <a:spcBef>
                          <a:spcPts val="0"/>
                        </a:spcBef>
                        <a:spcAft>
                          <a:spcPts val="0"/>
                        </a:spcAft>
                        <a:buClr>
                          <a:srgbClr val="272525"/>
                        </a:buClr>
                        <a:buSzPts val="900"/>
                        <a:buFont typeface="Inter"/>
                        <a:buNone/>
                      </a:pPr>
                      <a:r>
                        <a:rPr lang="en-US" sz="900" u="none" strike="noStrike" cap="none">
                          <a:solidFill>
                            <a:srgbClr val="272525"/>
                          </a:solidFill>
                          <a:latin typeface="Inter"/>
                          <a:ea typeface="Inter"/>
                          <a:cs typeface="Inter"/>
                          <a:sym typeface="Inter"/>
                        </a:rPr>
                        <a:t>Locally bundled fonts, no CDN</a:t>
                      </a:r>
                      <a:endParaRPr sz="900" u="none" strike="noStrike" cap="none">
                        <a:latin typeface="Inter"/>
                        <a:ea typeface="Inter"/>
                        <a:cs typeface="Inter"/>
                        <a:sym typeface="Inter"/>
                      </a:endParaRPr>
                    </a:p>
                  </a:txBody>
                  <a:tcPr marL="118125" marR="118125" marT="6350" marB="6350" anchor="ctr">
                    <a:lnL w="12700" cap="flat" cmpd="sng">
                      <a:solidFill>
                        <a:srgbClr val="FFFFFF"/>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solidFill>
                      <a:srgbClr val="FFFFFF">
                        <a:alpha val="3922"/>
                      </a:srgbClr>
                    </a:solidFill>
                  </a:tcPr>
                </a:tc>
                <a:extLst>
                  <a:ext uri="{0D108BD9-81ED-4DB2-BD59-A6C34878D82A}">
                    <a16:rowId xmlns:a16="http://schemas.microsoft.com/office/drawing/2014/main" val="10006"/>
                  </a:ext>
                </a:extLst>
              </a:tr>
            </a:tbl>
          </a:graphicData>
        </a:graphic>
      </p:graphicFrame>
      <p:pic>
        <p:nvPicPr>
          <p:cNvPr id="268" name="Google Shape;268;p21"/>
          <p:cNvPicPr preferRelativeResize="0"/>
          <p:nvPr/>
        </p:nvPicPr>
        <p:blipFill>
          <a:blip r:embed="rId3">
            <a:alphaModFix/>
          </a:blip>
          <a:stretch>
            <a:fillRect/>
          </a:stretch>
        </p:blipFill>
        <p:spPr>
          <a:xfrm>
            <a:off x="10515275" y="6324898"/>
            <a:ext cx="1676400" cy="466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2"/>
          <p:cNvSpPr/>
          <p:nvPr/>
        </p:nvSpPr>
        <p:spPr>
          <a:xfrm>
            <a:off x="661475" y="1562497"/>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Individual Contributions</a:t>
            </a:r>
            <a:endParaRPr sz="3700" b="0" i="0" u="none" strike="noStrike" cap="none">
              <a:solidFill>
                <a:schemeClr val="dk1"/>
              </a:solidFill>
              <a:latin typeface="Calibri"/>
              <a:ea typeface="Calibri"/>
              <a:cs typeface="Calibri"/>
              <a:sym typeface="Calibri"/>
            </a:endParaRPr>
          </a:p>
        </p:txBody>
      </p:sp>
      <p:graphicFrame>
        <p:nvGraphicFramePr>
          <p:cNvPr id="275" name="Google Shape;275;p22"/>
          <p:cNvGraphicFramePr/>
          <p:nvPr/>
        </p:nvGraphicFramePr>
        <p:xfrm>
          <a:off x="661475" y="2531170"/>
          <a:ext cx="3000000" cy="3000000"/>
        </p:xfrm>
        <a:graphic>
          <a:graphicData uri="http://schemas.openxmlformats.org/drawingml/2006/table">
            <a:tbl>
              <a:tblPr>
                <a:noFill/>
                <a:tableStyleId>{46ECF8E9-5879-42D1-B8A0-3D792A3639C8}</a:tableStyleId>
              </a:tblPr>
              <a:tblGrid>
                <a:gridCol w="5434375">
                  <a:extLst>
                    <a:ext uri="{9D8B030D-6E8A-4147-A177-3AD203B41FA5}">
                      <a16:colId xmlns:a16="http://schemas.microsoft.com/office/drawing/2014/main" val="20000"/>
                    </a:ext>
                  </a:extLst>
                </a:gridCol>
                <a:gridCol w="5434375">
                  <a:extLst>
                    <a:ext uri="{9D8B030D-6E8A-4147-A177-3AD203B41FA5}">
                      <a16:colId xmlns:a16="http://schemas.microsoft.com/office/drawing/2014/main" val="20001"/>
                    </a:ext>
                  </a:extLst>
                </a:gridCol>
              </a:tblGrid>
              <a:tr h="830050">
                <a:tc>
                  <a:txBody>
                    <a:bodyPr/>
                    <a:lstStyle/>
                    <a:p>
                      <a:pPr marL="0" marR="0" lvl="0" indent="0" algn="l" rtl="0">
                        <a:spcBef>
                          <a:spcPts val="0"/>
                        </a:spcBef>
                        <a:spcAft>
                          <a:spcPts val="0"/>
                        </a:spcAft>
                        <a:buClr>
                          <a:srgbClr val="272525"/>
                        </a:buClr>
                        <a:buSzPts val="1850"/>
                        <a:buFont typeface="Inter"/>
                        <a:buNone/>
                      </a:pPr>
                      <a:r>
                        <a:rPr lang="en-US" sz="1850" b="1" u="none" strike="noStrike" cap="none">
                          <a:solidFill>
                            <a:srgbClr val="272525"/>
                          </a:solidFill>
                          <a:latin typeface="Inter"/>
                          <a:ea typeface="Inter"/>
                          <a:cs typeface="Inter"/>
                          <a:sym typeface="Inter"/>
                        </a:rPr>
                        <a:t>MRIGANK JAIN — PES2UG23CS352</a:t>
                      </a:r>
                      <a:endParaRPr sz="18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spcBef>
                          <a:spcPts val="0"/>
                        </a:spcBef>
                        <a:spcAft>
                          <a:spcPts val="0"/>
                        </a:spcAft>
                        <a:buClr>
                          <a:srgbClr val="272525"/>
                        </a:buClr>
                        <a:buSzPts val="1850"/>
                        <a:buFont typeface="Inter"/>
                        <a:buNone/>
                      </a:pPr>
                      <a:r>
                        <a:rPr lang="en-US" sz="1850" b="1" u="none" strike="noStrike" cap="none">
                          <a:solidFill>
                            <a:srgbClr val="272525"/>
                          </a:solidFill>
                          <a:latin typeface="Inter"/>
                          <a:ea typeface="Inter"/>
                          <a:cs typeface="Inter"/>
                          <a:sym typeface="Inter"/>
                        </a:rPr>
                        <a:t>MOHAMMED MIR FAZLAI ALI — PES2UG23CS346</a:t>
                      </a:r>
                      <a:endParaRPr sz="18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C0C1D7"/>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1828800">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FastAPI and endpoint consistency</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Canonical storage workflow</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Source metadata and engagement handling</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Health/operational scripts</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Connector validation coordination</a:t>
                      </a:r>
                      <a:endParaRPr sz="14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tcPr>
                </a:tc>
                <a:tc>
                  <a:txBody>
                    <a:bodyPr/>
                    <a:lstStyle/>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Source-specific context assembly</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Text cleaning and embeddable text</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Embedding generation</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FAISS lifecycle</a:t>
                      </a:r>
                      <a:endParaRPr sz="1450" u="none" strike="noStrike" cap="none">
                        <a:latin typeface="Inter"/>
                        <a:ea typeface="Inter"/>
                        <a:cs typeface="Inter"/>
                        <a:sym typeface="Inter"/>
                      </a:endParaRPr>
                    </a:p>
                    <a:p>
                      <a:pPr marL="0" marR="0" lvl="0" indent="0" algn="l" rtl="0">
                        <a:spcBef>
                          <a:spcPts val="0"/>
                        </a:spcBef>
                        <a:spcAft>
                          <a:spcPts val="0"/>
                        </a:spcAft>
                        <a:buClr>
                          <a:srgbClr val="272525"/>
                        </a:buClr>
                        <a:buSzPts val="1450"/>
                        <a:buFont typeface="Inter"/>
                        <a:buNone/>
                      </a:pPr>
                      <a:r>
                        <a:rPr lang="en-US" sz="1450" u="none" strike="noStrike" cap="none">
                          <a:solidFill>
                            <a:srgbClr val="272525"/>
                          </a:solidFill>
                          <a:latin typeface="Inter"/>
                          <a:ea typeface="Inter"/>
                          <a:cs typeface="Inter"/>
                          <a:sym typeface="Inter"/>
                        </a:rPr>
                        <a:t>Classification and preprocessing state handling</a:t>
                      </a:r>
                      <a:endParaRPr sz="1450" u="none" strike="noStrike" cap="none">
                        <a:latin typeface="Inter"/>
                        <a:ea typeface="Inter"/>
                        <a:cs typeface="Inter"/>
                        <a:sym typeface="Inter"/>
                      </a:endParaRPr>
                    </a:p>
                  </a:txBody>
                  <a:tcPr marL="189025" marR="189025" marT="6350" marB="6350" anchor="ctr">
                    <a:lnL w="12700" cap="flat" cmpd="sng">
                      <a:solidFill>
                        <a:srgbClr val="C0C1D7"/>
                      </a:solidFill>
                      <a:prstDash val="solid"/>
                      <a:round/>
                      <a:headEnd type="none" w="sm" len="sm"/>
                      <a:tailEnd type="none" w="sm" len="sm"/>
                    </a:lnL>
                    <a:lnR w="12700" cap="flat" cmpd="sng">
                      <a:solidFill>
                        <a:srgbClr val="C0C1D7"/>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C0C1D7"/>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76" name="Google Shape;276;p22"/>
          <p:cNvPicPr preferRelativeResize="0"/>
          <p:nvPr/>
        </p:nvPicPr>
        <p:blipFill>
          <a:blip r:embed="rId3">
            <a:alphaModFix/>
          </a:blip>
          <a:stretch>
            <a:fillRect/>
          </a:stretch>
        </p:blipFill>
        <p:spPr>
          <a:xfrm>
            <a:off x="10515275" y="6391270"/>
            <a:ext cx="1676400" cy="466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3"/>
          <p:cNvSpPr/>
          <p:nvPr/>
        </p:nvSpPr>
        <p:spPr>
          <a:xfrm>
            <a:off x="661475" y="1400969"/>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Individual Contributions - Retrieval &amp; Wellbeing</a:t>
            </a:r>
            <a:endParaRPr sz="3700" b="0" i="0" u="none" strike="noStrike" cap="none">
              <a:solidFill>
                <a:schemeClr val="dk1"/>
              </a:solidFill>
              <a:latin typeface="Calibri"/>
              <a:ea typeface="Calibri"/>
              <a:cs typeface="Calibri"/>
              <a:sym typeface="Calibri"/>
            </a:endParaRPr>
          </a:p>
        </p:txBody>
      </p:sp>
      <p:sp>
        <p:nvSpPr>
          <p:cNvPr id="283" name="Google Shape;283;p23"/>
          <p:cNvSpPr/>
          <p:nvPr/>
        </p:nvSpPr>
        <p:spPr>
          <a:xfrm>
            <a:off x="661475" y="2464098"/>
            <a:ext cx="5203794" cy="59055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MOHAMMED SHEHZAAD KHAN — PES2UG23CS349</a:t>
            </a:r>
            <a:endParaRPr sz="1850" b="0" i="0" u="none" strike="noStrike" cap="none">
              <a:solidFill>
                <a:schemeClr val="dk1"/>
              </a:solidFill>
              <a:latin typeface="Calibri"/>
              <a:ea typeface="Calibri"/>
              <a:cs typeface="Calibri"/>
              <a:sym typeface="Calibri"/>
            </a:endParaRPr>
          </a:p>
        </p:txBody>
      </p:sp>
      <p:sp>
        <p:nvSpPr>
          <p:cNvPr id="284" name="Google Shape;284;p23"/>
          <p:cNvSpPr/>
          <p:nvPr/>
        </p:nvSpPr>
        <p:spPr>
          <a:xfrm>
            <a:off x="661475" y="3130252"/>
            <a:ext cx="5203794" cy="29527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Retrieval Intelligence</a:t>
            </a:r>
            <a:endParaRPr sz="1850" b="0" i="0" u="none" strike="noStrike" cap="none">
              <a:solidFill>
                <a:schemeClr val="dk1"/>
              </a:solidFill>
              <a:latin typeface="Calibri"/>
              <a:ea typeface="Calibri"/>
              <a:cs typeface="Calibri"/>
              <a:sym typeface="Calibri"/>
            </a:endParaRPr>
          </a:p>
        </p:txBody>
      </p:sp>
      <p:sp>
        <p:nvSpPr>
          <p:cNvPr id="285" name="Google Shape;285;p23"/>
          <p:cNvSpPr/>
          <p:nvPr/>
        </p:nvSpPr>
        <p:spPr>
          <a:xfrm>
            <a:off x="661475" y="3614539"/>
            <a:ext cx="5203794" cy="1776413"/>
          </a:xfrm>
          <a:prstGeom prst="rect">
            <a:avLst/>
          </a:prstGeom>
          <a:noFill/>
          <a:ln>
            <a:noFill/>
          </a:ln>
        </p:spPr>
        <p:txBody>
          <a:bodyPr spcFirstLastPara="1" wrap="square" lIns="0" tIns="7560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LangGraph retrieval path</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PostgreSQL + FAISS hybrid retrieval</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RRF and cross-encoder reranking</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Time anchors and fallback logic</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Quality evaluation set and metrics</a:t>
            </a:r>
            <a:endParaRPr sz="1450" b="0" i="0" u="none" strike="noStrike" cap="none">
              <a:solidFill>
                <a:schemeClr val="dk1"/>
              </a:solidFill>
              <a:latin typeface="Calibri"/>
              <a:ea typeface="Calibri"/>
              <a:cs typeface="Calibri"/>
              <a:sym typeface="Calibri"/>
            </a:endParaRPr>
          </a:p>
        </p:txBody>
      </p:sp>
      <p:sp>
        <p:nvSpPr>
          <p:cNvPr id="286" name="Google Shape;286;p23"/>
          <p:cNvSpPr/>
          <p:nvPr/>
        </p:nvSpPr>
        <p:spPr>
          <a:xfrm>
            <a:off x="6332776" y="2464098"/>
            <a:ext cx="5203794" cy="29527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ARJUN SAI N — PES2UG23CS091</a:t>
            </a:r>
            <a:endParaRPr sz="1850" b="0" i="0" u="none" strike="noStrike" cap="none">
              <a:solidFill>
                <a:schemeClr val="dk1"/>
              </a:solidFill>
              <a:latin typeface="Calibri"/>
              <a:ea typeface="Calibri"/>
              <a:cs typeface="Calibri"/>
              <a:sym typeface="Calibri"/>
            </a:endParaRPr>
          </a:p>
        </p:txBody>
      </p:sp>
      <p:sp>
        <p:nvSpPr>
          <p:cNvPr id="287" name="Google Shape;287;p23"/>
          <p:cNvSpPr/>
          <p:nvPr/>
        </p:nvSpPr>
        <p:spPr>
          <a:xfrm>
            <a:off x="6332776" y="2834977"/>
            <a:ext cx="5203794" cy="29527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rgbClr val="000000"/>
                </a:solidFill>
                <a:latin typeface="Inter"/>
                <a:ea typeface="Inter"/>
                <a:cs typeface="Inter"/>
                <a:sym typeface="Inter"/>
              </a:rPr>
              <a:t>Digital Wellbeing &amp; UIL</a:t>
            </a:r>
            <a:endParaRPr sz="1850" b="0" i="0" u="none" strike="noStrike" cap="none">
              <a:solidFill>
                <a:schemeClr val="dk1"/>
              </a:solidFill>
              <a:latin typeface="Calibri"/>
              <a:ea typeface="Calibri"/>
              <a:cs typeface="Calibri"/>
              <a:sym typeface="Calibri"/>
            </a:endParaRPr>
          </a:p>
        </p:txBody>
      </p:sp>
      <p:sp>
        <p:nvSpPr>
          <p:cNvPr id="288" name="Google Shape;288;p23"/>
          <p:cNvSpPr/>
          <p:nvPr/>
        </p:nvSpPr>
        <p:spPr>
          <a:xfrm>
            <a:off x="6332776" y="3319264"/>
            <a:ext cx="5203794" cy="1776413"/>
          </a:xfrm>
          <a:prstGeom prst="rect">
            <a:avLst/>
          </a:prstGeom>
          <a:noFill/>
          <a:ln>
            <a:noFill/>
          </a:ln>
        </p:spPr>
        <p:txBody>
          <a:bodyPr spcFirstLastPara="1" wrap="square" lIns="0" tIns="7560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Time/session analytics</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Groups and review queue</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Regret and weekly insight system</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FastAPI wellbeing APIs</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rgbClr val="272525"/>
                </a:solidFill>
                <a:latin typeface="Inter"/>
                <a:ea typeface="Inter"/>
                <a:cs typeface="Inter"/>
                <a:sym typeface="Inter"/>
              </a:rPr>
              <a:t>React dashboard and extension popup</a:t>
            </a:r>
            <a:endParaRPr sz="1450" b="0" i="0" u="none" strike="noStrike" cap="none">
              <a:solidFill>
                <a:schemeClr val="dk1"/>
              </a:solidFill>
              <a:latin typeface="Calibri"/>
              <a:ea typeface="Calibri"/>
              <a:cs typeface="Calibri"/>
              <a:sym typeface="Calibri"/>
            </a:endParaRPr>
          </a:p>
        </p:txBody>
      </p:sp>
      <p:pic>
        <p:nvPicPr>
          <p:cNvPr id="289" name="Google Shape;289;p23"/>
          <p:cNvPicPr preferRelativeResize="0"/>
          <p:nvPr/>
        </p:nvPicPr>
        <p:blipFill>
          <a:blip r:embed="rId3">
            <a:alphaModFix/>
          </a:blip>
          <a:stretch>
            <a:fillRect/>
          </a:stretch>
        </p:blipFill>
        <p:spPr>
          <a:xfrm>
            <a:off x="10515275" y="6330127"/>
            <a:ext cx="1676400" cy="466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4"/>
          <p:cNvSpPr/>
          <p:nvPr/>
        </p:nvSpPr>
        <p:spPr>
          <a:xfrm>
            <a:off x="661475" y="562173"/>
            <a:ext cx="10868745" cy="516731"/>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250"/>
              <a:buFont typeface="Inter"/>
              <a:buNone/>
            </a:pPr>
            <a:r>
              <a:rPr lang="en-US" sz="3250" b="1" i="0" u="none" strike="noStrike" cap="none">
                <a:solidFill>
                  <a:srgbClr val="000000"/>
                </a:solidFill>
                <a:latin typeface="Inter"/>
                <a:ea typeface="Inter"/>
                <a:cs typeface="Inter"/>
                <a:sym typeface="Inter"/>
              </a:rPr>
              <a:t>Remaining Work and Phase III Completion Plan</a:t>
            </a:r>
            <a:endParaRPr sz="3250" b="0" i="0" u="none" strike="noStrike" cap="none">
              <a:solidFill>
                <a:schemeClr val="dk1"/>
              </a:solidFill>
              <a:latin typeface="Calibri"/>
              <a:ea typeface="Calibri"/>
              <a:cs typeface="Calibri"/>
              <a:sym typeface="Calibri"/>
            </a:endParaRPr>
          </a:p>
        </p:txBody>
      </p:sp>
      <p:pic>
        <p:nvPicPr>
          <p:cNvPr id="296" name="Google Shape;296;p24" descr="preencoded.png"/>
          <p:cNvPicPr preferRelativeResize="0"/>
          <p:nvPr/>
        </p:nvPicPr>
        <p:blipFill rotWithShape="1">
          <a:blip r:embed="rId3">
            <a:alphaModFix/>
          </a:blip>
          <a:srcRect/>
          <a:stretch/>
        </p:blipFill>
        <p:spPr>
          <a:xfrm>
            <a:off x="661475" y="1368326"/>
            <a:ext cx="9509978" cy="4193480"/>
          </a:xfrm>
          <a:prstGeom prst="rect">
            <a:avLst/>
          </a:prstGeom>
          <a:noFill/>
          <a:ln>
            <a:noFill/>
          </a:ln>
        </p:spPr>
      </p:pic>
      <p:sp>
        <p:nvSpPr>
          <p:cNvPr id="297" name="Google Shape;297;p24"/>
          <p:cNvSpPr/>
          <p:nvPr/>
        </p:nvSpPr>
        <p:spPr>
          <a:xfrm>
            <a:off x="661475" y="5778798"/>
            <a:ext cx="10868745" cy="51693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0000"/>
              </a:buClr>
              <a:buSzPts val="1600"/>
              <a:buFont typeface="Inter"/>
              <a:buNone/>
            </a:pPr>
            <a:r>
              <a:rPr lang="en-US" sz="1600" b="1" i="0" u="none" strike="noStrike" cap="none">
                <a:solidFill>
                  <a:srgbClr val="000000"/>
                </a:solidFill>
                <a:latin typeface="Inter"/>
                <a:ea typeface="Inter"/>
                <a:cs typeface="Inter"/>
                <a:sym typeface="Inter"/>
              </a:rPr>
              <a:t>A high-level timeline of the remaining Phase III workstreams, showing current progress and the final validation/refinement stages ahead.</a:t>
            </a:r>
            <a:endParaRPr sz="1600" b="0" i="0" u="none" strike="noStrike" cap="none">
              <a:solidFill>
                <a:schemeClr val="dk1"/>
              </a:solidFill>
              <a:latin typeface="Calibri"/>
              <a:ea typeface="Calibri"/>
              <a:cs typeface="Calibri"/>
              <a:sym typeface="Calibri"/>
            </a:endParaRPr>
          </a:p>
        </p:txBody>
      </p:sp>
      <p:pic>
        <p:nvPicPr>
          <p:cNvPr id="298" name="Google Shape;298;p24"/>
          <p:cNvPicPr preferRelativeResize="0"/>
          <p:nvPr/>
        </p:nvPicPr>
        <p:blipFill>
          <a:blip r:embed="rId4">
            <a:alphaModFix/>
          </a:blip>
          <a:stretch>
            <a:fillRect/>
          </a:stretch>
        </p:blipFill>
        <p:spPr>
          <a:xfrm>
            <a:off x="10515278" y="6391279"/>
            <a:ext cx="1676400" cy="466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5"/>
          <p:cNvSpPr/>
          <p:nvPr/>
        </p:nvSpPr>
        <p:spPr>
          <a:xfrm>
            <a:off x="661475" y="1007269"/>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Remaining Work: Detailed Task Breakdown</a:t>
            </a:r>
            <a:endParaRPr sz="3700" b="0" i="0" u="none" strike="noStrike" cap="none">
              <a:solidFill>
                <a:schemeClr val="dk1"/>
              </a:solidFill>
              <a:latin typeface="Calibri"/>
              <a:ea typeface="Calibri"/>
              <a:cs typeface="Calibri"/>
              <a:sym typeface="Calibri"/>
            </a:endParaRPr>
          </a:p>
        </p:txBody>
      </p:sp>
      <p:sp>
        <p:nvSpPr>
          <p:cNvPr id="305" name="Google Shape;305;p25"/>
          <p:cNvSpPr/>
          <p:nvPr/>
        </p:nvSpPr>
        <p:spPr>
          <a:xfrm>
            <a:off x="661475" y="1975941"/>
            <a:ext cx="10868745" cy="3874691"/>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1 · Wellbeing analytics</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Complete the time, session and regret analytics, and validate them against real captured data.</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2 · Dashboard refinements</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Add source citation cards with timestamps and excerpts to the Recall page. Add a dedicated source-breakdown visual.</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3 · End-to-end validation</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Run all three connectors live and confirm capture, storage, enrichment and indexing work together on real data.</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4 · Retrieval quality measurement</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Run the evaluation set on captured data and record relevance, coverage and response time against a baseline.</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1" i="0" u="none" strike="noStrike" cap="none">
                <a:solidFill>
                  <a:srgbClr val="272525"/>
                </a:solidFill>
                <a:latin typeface="Inter"/>
                <a:ea typeface="Inter"/>
                <a:cs typeface="Inter"/>
                <a:sym typeface="Inter"/>
              </a:rPr>
              <a:t>5 · Privacy audit and documentation</a:t>
            </a:r>
            <a:endParaRPr sz="145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rgbClr val="272525"/>
                </a:solidFill>
                <a:latin typeface="Inter"/>
                <a:ea typeface="Inter"/>
                <a:cs typeface="Inter"/>
                <a:sym typeface="Inter"/>
              </a:rPr>
              <a:t>Verify no personal data leaves the local machine through any code path, then complete final documentation.</a:t>
            </a:r>
            <a:endParaRPr sz="1450" b="0" i="0" u="none" strike="noStrike" cap="none">
              <a:solidFill>
                <a:schemeClr val="dk1"/>
              </a:solidFill>
              <a:latin typeface="Calibri"/>
              <a:ea typeface="Calibri"/>
              <a:cs typeface="Calibri"/>
              <a:sym typeface="Calibri"/>
            </a:endParaRPr>
          </a:p>
        </p:txBody>
      </p:sp>
      <p:pic>
        <p:nvPicPr>
          <p:cNvPr id="306" name="Google Shape;306;p25"/>
          <p:cNvPicPr preferRelativeResize="0"/>
          <p:nvPr/>
        </p:nvPicPr>
        <p:blipFill>
          <a:blip r:embed="rId3">
            <a:alphaModFix/>
          </a:blip>
          <a:stretch>
            <a:fillRect/>
          </a:stretch>
        </p:blipFill>
        <p:spPr>
          <a:xfrm>
            <a:off x="10515275" y="6317732"/>
            <a:ext cx="1676400" cy="466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6"/>
          <p:cNvSpPr/>
          <p:nvPr/>
        </p:nvSpPr>
        <p:spPr>
          <a:xfrm>
            <a:off x="661475" y="575072"/>
            <a:ext cx="10868745" cy="4705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950"/>
              <a:buFont typeface="Inter"/>
              <a:buNone/>
            </a:pPr>
            <a:r>
              <a:rPr lang="en-US" sz="2950" b="1" i="0" u="none" strike="noStrike" cap="none">
                <a:solidFill>
                  <a:srgbClr val="000000"/>
                </a:solidFill>
                <a:latin typeface="Inter"/>
                <a:ea typeface="Inter"/>
                <a:cs typeface="Inter"/>
                <a:sym typeface="Inter"/>
              </a:rPr>
              <a:t>Repository, References, and Conclusion</a:t>
            </a:r>
            <a:endParaRPr sz="2950" b="0" i="0" u="none" strike="noStrike" cap="none">
              <a:solidFill>
                <a:schemeClr val="dk1"/>
              </a:solidFill>
              <a:latin typeface="Calibri"/>
              <a:ea typeface="Calibri"/>
              <a:cs typeface="Calibri"/>
              <a:sym typeface="Calibri"/>
            </a:endParaRPr>
          </a:p>
        </p:txBody>
      </p:sp>
      <p:sp>
        <p:nvSpPr>
          <p:cNvPr id="313" name="Google Shape;313;p26"/>
          <p:cNvSpPr/>
          <p:nvPr/>
        </p:nvSpPr>
        <p:spPr>
          <a:xfrm>
            <a:off x="661475" y="1093589"/>
            <a:ext cx="10868745" cy="23534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450"/>
              <a:buFont typeface="Inter"/>
              <a:buNone/>
            </a:pPr>
            <a:r>
              <a:rPr lang="en-US" sz="1450" b="1" i="0" u="none" strike="noStrike" cap="none">
                <a:solidFill>
                  <a:srgbClr val="000000"/>
                </a:solidFill>
                <a:latin typeface="Inter"/>
                <a:ea typeface="Inter"/>
                <a:cs typeface="Inter"/>
                <a:sym typeface="Inter"/>
              </a:rPr>
              <a:t>REPOSITORY SECTION:</a:t>
            </a:r>
            <a:endParaRPr sz="1450" b="0" i="0" u="none" strike="noStrike" cap="none">
              <a:solidFill>
                <a:schemeClr val="dk1"/>
              </a:solidFill>
              <a:latin typeface="Calibri"/>
              <a:ea typeface="Calibri"/>
              <a:cs typeface="Calibri"/>
              <a:sym typeface="Calibri"/>
            </a:endParaRPr>
          </a:p>
        </p:txBody>
      </p:sp>
      <p:sp>
        <p:nvSpPr>
          <p:cNvPr id="314" name="Google Shape;314;p26"/>
          <p:cNvSpPr/>
          <p:nvPr/>
        </p:nvSpPr>
        <p:spPr>
          <a:xfrm>
            <a:off x="661475" y="1508919"/>
            <a:ext cx="11478330" cy="216495"/>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72525"/>
              </a:buClr>
              <a:buSzPts val="1150"/>
              <a:buFont typeface="Inter"/>
              <a:buNone/>
            </a:pPr>
            <a:r>
              <a:rPr lang="en-US" sz="1150" b="0" i="0" u="none" strike="noStrike" cap="none">
                <a:solidFill>
                  <a:srgbClr val="272525"/>
                </a:solidFill>
                <a:latin typeface="Inter"/>
                <a:ea typeface="Inter"/>
                <a:cs typeface="Inter"/>
                <a:sym typeface="Inter"/>
              </a:rPr>
              <a:t>GitHub Repository: </a:t>
            </a:r>
            <a:r>
              <a:rPr lang="en-US" sz="1150" b="1" i="0" u="sng" strike="noStrike" cap="none">
                <a:solidFill>
                  <a:schemeClr val="hlink"/>
                </a:solidFill>
                <a:latin typeface="Inter"/>
                <a:ea typeface="Inter"/>
                <a:cs typeface="Inter"/>
                <a:sym typeface="Inter"/>
                <a:hlinkClick r:id="rId3"/>
              </a:rPr>
              <a:t>https://github.com/Shehzaad-khan/Efficient-Contextualized-History-Orchestrator-E.C.H.O.git</a:t>
            </a:r>
            <a:endParaRPr sz="1150" b="0" i="0" u="none" strike="noStrike" cap="none">
              <a:solidFill>
                <a:schemeClr val="dk1"/>
              </a:solidFill>
              <a:latin typeface="Calibri"/>
              <a:ea typeface="Calibri"/>
              <a:cs typeface="Calibri"/>
              <a:sym typeface="Calibri"/>
            </a:endParaRPr>
          </a:p>
        </p:txBody>
      </p:sp>
      <p:sp>
        <p:nvSpPr>
          <p:cNvPr id="315" name="Google Shape;315;p26"/>
          <p:cNvSpPr/>
          <p:nvPr/>
        </p:nvSpPr>
        <p:spPr>
          <a:xfrm>
            <a:off x="661475" y="1905397"/>
            <a:ext cx="10868745" cy="23534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450"/>
              <a:buFont typeface="Inter"/>
              <a:buNone/>
            </a:pPr>
            <a:r>
              <a:rPr lang="en-US" sz="1450" b="1" i="0" u="none" strike="noStrike" cap="none">
                <a:solidFill>
                  <a:srgbClr val="000000"/>
                </a:solidFill>
                <a:latin typeface="Inter"/>
                <a:ea typeface="Inter"/>
                <a:cs typeface="Inter"/>
                <a:sym typeface="Inter"/>
              </a:rPr>
              <a:t>Repository Overview:</a:t>
            </a:r>
            <a:endParaRPr sz="1450" b="0" i="0" u="none" strike="noStrike" cap="none">
              <a:solidFill>
                <a:schemeClr val="dk1"/>
              </a:solidFill>
              <a:latin typeface="Calibri"/>
              <a:ea typeface="Calibri"/>
              <a:cs typeface="Calibri"/>
              <a:sym typeface="Calibri"/>
            </a:endParaRPr>
          </a:p>
        </p:txBody>
      </p:sp>
      <p:sp>
        <p:nvSpPr>
          <p:cNvPr id="316" name="Google Shape;316;p26"/>
          <p:cNvSpPr/>
          <p:nvPr/>
        </p:nvSpPr>
        <p:spPr>
          <a:xfrm>
            <a:off x="661475" y="2320727"/>
            <a:ext cx="10868745" cy="2284214"/>
          </a:xfrm>
          <a:prstGeom prst="rect">
            <a:avLst/>
          </a:prstGeom>
          <a:noFill/>
          <a:ln>
            <a:noFill/>
          </a:ln>
        </p:spPr>
        <p:txBody>
          <a:bodyPr spcFirstLastPara="1" wrap="square" lIns="0" tIns="60250" rIns="0" bIns="0" anchor="t" anchorCtr="0">
            <a:noAutofit/>
          </a:bodyPr>
          <a:lstStyle/>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backend/: FastAPI gateway, retrieval, wellbeing, user-data controls</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ste/: storage, PostgreSQL, Redis, FAISS, settings</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enp/: enrichment, cleaning, embeddings, classification</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rse/: LangGraph hybrid retrieval engine</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wba/: time analytics, sessions, groups, regret, insights</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frontend/: React dashboard</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extension/: Chrome Manifest V3 extension and popup</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scripts/: setup, auth checks, enrichment maintenance</a:t>
            </a:r>
            <a:endParaRPr sz="1150" b="0" i="0" u="none" strike="noStrike" cap="none">
              <a:solidFill>
                <a:schemeClr val="dk1"/>
              </a:solidFill>
              <a:latin typeface="Calibri"/>
              <a:ea typeface="Calibri"/>
              <a:cs typeface="Calibri"/>
              <a:sym typeface="Calibri"/>
            </a:endParaRPr>
          </a:p>
          <a:p>
            <a:pPr marL="233680" marR="0" lvl="0" indent="-233680" algn="l" rtl="0">
              <a:lnSpc>
                <a:spcPct val="120000"/>
              </a:lnSpc>
              <a:spcBef>
                <a:spcPts val="0"/>
              </a:spcBef>
              <a:spcAft>
                <a:spcPts val="0"/>
              </a:spcAft>
              <a:buClr>
                <a:srgbClr val="272525"/>
              </a:buClr>
              <a:buSzPts val="1150"/>
              <a:buFont typeface="Inter"/>
              <a:buChar char="•"/>
            </a:pPr>
            <a:r>
              <a:rPr lang="en-US" sz="1150" b="0" i="0" u="none" strike="noStrike" cap="none">
                <a:solidFill>
                  <a:srgbClr val="272525"/>
                </a:solidFill>
                <a:latin typeface="Inter"/>
                <a:ea typeface="Inter"/>
                <a:cs typeface="Inter"/>
                <a:sym typeface="Inter"/>
              </a:rPr>
              <a:t>docs/: architecture and database design documents</a:t>
            </a:r>
            <a:endParaRPr sz="1150" b="0" i="0" u="none" strike="noStrike" cap="none">
              <a:solidFill>
                <a:schemeClr val="dk1"/>
              </a:solidFill>
              <a:latin typeface="Calibri"/>
              <a:ea typeface="Calibri"/>
              <a:cs typeface="Calibri"/>
              <a:sym typeface="Calibri"/>
            </a:endParaRPr>
          </a:p>
        </p:txBody>
      </p:sp>
      <p:sp>
        <p:nvSpPr>
          <p:cNvPr id="317" name="Google Shape;317;p26"/>
          <p:cNvSpPr/>
          <p:nvPr/>
        </p:nvSpPr>
        <p:spPr>
          <a:xfrm>
            <a:off x="661475" y="4784923"/>
            <a:ext cx="10868745" cy="23534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450"/>
              <a:buFont typeface="Inter"/>
              <a:buNone/>
            </a:pPr>
            <a:r>
              <a:rPr lang="en-US" sz="1450" b="1" i="0" u="none" strike="noStrike" cap="none">
                <a:solidFill>
                  <a:srgbClr val="000000"/>
                </a:solidFill>
                <a:latin typeface="Inter"/>
                <a:ea typeface="Inter"/>
                <a:cs typeface="Inter"/>
                <a:sym typeface="Inter"/>
              </a:rPr>
              <a:t>CONCLUSION:</a:t>
            </a:r>
            <a:endParaRPr sz="1450" b="0" i="0" u="none" strike="noStrike" cap="none">
              <a:solidFill>
                <a:schemeClr val="dk1"/>
              </a:solidFill>
              <a:latin typeface="Calibri"/>
              <a:ea typeface="Calibri"/>
              <a:cs typeface="Calibri"/>
              <a:sym typeface="Calibri"/>
            </a:endParaRPr>
          </a:p>
        </p:txBody>
      </p:sp>
      <p:sp>
        <p:nvSpPr>
          <p:cNvPr id="318" name="Google Shape;318;p26"/>
          <p:cNvSpPr/>
          <p:nvPr/>
        </p:nvSpPr>
        <p:spPr>
          <a:xfrm>
            <a:off x="661475" y="5200253"/>
            <a:ext cx="10868745" cy="1082675"/>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72525"/>
              </a:buClr>
              <a:buSzPts val="1450"/>
              <a:buFont typeface="Inter"/>
              <a:buNone/>
            </a:pPr>
            <a:r>
              <a:rPr lang="en-US" sz="1450" b="0" i="1" u="none" strike="noStrike" cap="none">
                <a:solidFill>
                  <a:srgbClr val="272525"/>
                </a:solidFill>
                <a:latin typeface="Inter"/>
                <a:ea typeface="Inter"/>
                <a:cs typeface="Inter"/>
                <a:sym typeface="Inter"/>
              </a:rPr>
              <a:t>Phase III advances E.C.H.O. from a modular foundation toward an integrated local-first memory system. The repository contains canonical storage, source-aware enrichment and FAISS indexing, deterministic hybrid retrieval, digital wellbeing analytics, and a React/Chrome-extension interface. The final phase focuses on runtime reconciliation, empirical validation, UI refinements, privacy verification, and complete end-to-end testing.</a:t>
            </a:r>
            <a:endParaRPr sz="1450" b="0" i="0" u="none" strike="noStrike" cap="none">
              <a:solidFill>
                <a:schemeClr val="dk1"/>
              </a:solidFill>
              <a:latin typeface="Calibri"/>
              <a:ea typeface="Calibri"/>
              <a:cs typeface="Calibri"/>
              <a:sym typeface="Calibri"/>
            </a:endParaRPr>
          </a:p>
        </p:txBody>
      </p:sp>
      <p:pic>
        <p:nvPicPr>
          <p:cNvPr id="319" name="Google Shape;319;p26"/>
          <p:cNvPicPr preferRelativeResize="0"/>
          <p:nvPr/>
        </p:nvPicPr>
        <p:blipFill>
          <a:blip r:embed="rId4">
            <a:alphaModFix/>
          </a:blip>
          <a:stretch>
            <a:fillRect/>
          </a:stretch>
        </p:blipFill>
        <p:spPr>
          <a:xfrm>
            <a:off x="10793775" y="6462900"/>
            <a:ext cx="1346029" cy="374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7"/>
          <p:cNvSpPr/>
          <p:nvPr/>
        </p:nvSpPr>
        <p:spPr>
          <a:xfrm>
            <a:off x="661475" y="981472"/>
            <a:ext cx="10868745" cy="59064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3700"/>
              <a:buFont typeface="Inter"/>
              <a:buNone/>
            </a:pPr>
            <a:r>
              <a:rPr lang="en-US" sz="3700" b="1" i="0" u="none" strike="noStrike" cap="none">
                <a:solidFill>
                  <a:srgbClr val="000000"/>
                </a:solidFill>
                <a:latin typeface="Inter"/>
                <a:ea typeface="Inter"/>
                <a:cs typeface="Inter"/>
                <a:sym typeface="Inter"/>
              </a:rPr>
              <a:t>References and Key Technologies</a:t>
            </a:r>
            <a:endParaRPr sz="3700" b="0" i="0" u="none" strike="noStrike" cap="none">
              <a:solidFill>
                <a:schemeClr val="dk1"/>
              </a:solidFill>
              <a:latin typeface="Calibri"/>
              <a:ea typeface="Calibri"/>
              <a:cs typeface="Calibri"/>
              <a:sym typeface="Calibri"/>
            </a:endParaRPr>
          </a:p>
        </p:txBody>
      </p:sp>
      <p:sp>
        <p:nvSpPr>
          <p:cNvPr id="326" name="Google Shape;326;p27"/>
          <p:cNvSpPr/>
          <p:nvPr/>
        </p:nvSpPr>
        <p:spPr>
          <a:xfrm>
            <a:off x="661475" y="1647726"/>
            <a:ext cx="10868745" cy="35440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2200"/>
              <a:buFont typeface="Inter"/>
              <a:buNone/>
            </a:pPr>
            <a:r>
              <a:rPr lang="en-US" sz="2200" b="1" i="0" u="none" strike="noStrike" cap="none">
                <a:solidFill>
                  <a:srgbClr val="000000"/>
                </a:solidFill>
                <a:latin typeface="Inter"/>
                <a:ea typeface="Inter"/>
                <a:cs typeface="Inter"/>
                <a:sym typeface="Inter"/>
              </a:rPr>
              <a:t>REFERENCES (IEEE Format):</a:t>
            </a:r>
            <a:endParaRPr sz="2200" b="0" i="0" u="none" strike="noStrike" cap="none">
              <a:solidFill>
                <a:schemeClr val="dk1"/>
              </a:solidFill>
              <a:latin typeface="Calibri"/>
              <a:ea typeface="Calibri"/>
              <a:cs typeface="Calibri"/>
              <a:sym typeface="Calibri"/>
            </a:endParaRPr>
          </a:p>
        </p:txBody>
      </p:sp>
      <p:sp>
        <p:nvSpPr>
          <p:cNvPr id="327" name="Google Shape;327;p27"/>
          <p:cNvSpPr/>
          <p:nvPr/>
        </p:nvSpPr>
        <p:spPr>
          <a:xfrm>
            <a:off x="661475" y="2285603"/>
            <a:ext cx="10868745" cy="3590925"/>
          </a:xfrm>
          <a:prstGeom prst="rect">
            <a:avLst/>
          </a:prstGeom>
          <a:noFill/>
          <a:ln>
            <a:noFill/>
          </a:ln>
        </p:spPr>
        <p:txBody>
          <a:bodyPr spcFirstLastPara="1" wrap="square" lIns="0" tIns="0" rIns="0" bIns="0" anchor="t" anchorCtr="0">
            <a:noAutofit/>
          </a:bodyPr>
          <a:lstStyle/>
          <a:p>
            <a:pPr marL="294640" marR="0" lvl="0" indent="-294640" algn="l" rtl="0">
              <a:lnSpc>
                <a:spcPct val="133000"/>
              </a:lnSpc>
              <a:spcBef>
                <a:spcPts val="0"/>
              </a:spcBef>
              <a:spcAft>
                <a:spcPts val="0"/>
              </a:spcAft>
              <a:buClr>
                <a:srgbClr val="272525"/>
              </a:buClr>
              <a:buSzPts val="1450"/>
              <a:buFont typeface="Calibri"/>
              <a:buAutoNum type="arabicPeriod"/>
            </a:pPr>
            <a:r>
              <a:rPr lang="en-US" sz="1450" b="0" i="0" u="none" strike="noStrike" cap="none">
                <a:solidFill>
                  <a:srgbClr val="272525"/>
                </a:solidFill>
                <a:latin typeface="Inter"/>
                <a:ea typeface="Inter"/>
                <a:cs typeface="Inter"/>
                <a:sym typeface="Inter"/>
              </a:rPr>
              <a:t>[1] N. Reimers and I. Gurevych, "Sentence-BERT: Sentence embeddings using Siamese BERT-networks," in Proceedings of the 2019 Conference on Empirical Methods in Natural Language Processing, 2019.</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Calibri"/>
              <a:buAutoNum type="arabicPeriod"/>
            </a:pPr>
            <a:r>
              <a:rPr lang="en-US" sz="1450" b="0" i="0" u="none" strike="noStrike" cap="none">
                <a:solidFill>
                  <a:srgbClr val="272525"/>
                </a:solidFill>
                <a:latin typeface="Inter"/>
                <a:ea typeface="Inter"/>
                <a:cs typeface="Inter"/>
                <a:sym typeface="Inter"/>
              </a:rPr>
              <a:t>[2] J. Johnson, M. Douze, and H. Jégou, "Billion-scale similarity search with GPUs," IEEE Transactions on Big Data, vol. 7, no. 3, pp. 535–547, 2021.</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Calibri"/>
              <a:buAutoNum type="arabicPeriod"/>
            </a:pPr>
            <a:r>
              <a:rPr lang="en-US" sz="1450" b="0" i="0" u="none" strike="noStrike" cap="none">
                <a:solidFill>
                  <a:srgbClr val="272525"/>
                </a:solidFill>
                <a:latin typeface="Inter"/>
                <a:ea typeface="Inter"/>
                <a:cs typeface="Inter"/>
                <a:sym typeface="Inter"/>
              </a:rPr>
              <a:t>[3] LangChain and LangGraph Documentation, "Building language model applications with composable components," https://python.langchain.com, 2024.</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Calibri"/>
              <a:buAutoNum type="arabicPeriod"/>
            </a:pPr>
            <a:r>
              <a:rPr lang="en-US" sz="1450" b="0" i="0" u="none" strike="noStrike" cap="none">
                <a:solidFill>
                  <a:srgbClr val="272525"/>
                </a:solidFill>
                <a:latin typeface="Inter"/>
                <a:ea typeface="Inter"/>
                <a:cs typeface="Inter"/>
                <a:sym typeface="Inter"/>
              </a:rPr>
              <a:t>[4] M. Kleppmann, A. Wiggins, P. van Hardenberg, and M. McGranaghan, "Local-first software: You own your data, in spite of the cloud," in Proceedings of the 2019 ACM SIGPLAN International Symposium on New Ideas, New Paradigms, and Reflections on Programming and Software, 2019.</a:t>
            </a:r>
            <a:endParaRPr sz="1450" b="0" i="0" u="none" strike="noStrike" cap="none">
              <a:solidFill>
                <a:schemeClr val="dk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Calibri"/>
              <a:buAutoNum type="arabicPeriod"/>
            </a:pPr>
            <a:r>
              <a:rPr lang="en-US" sz="1450" b="0" i="0" u="none" strike="noStrike" cap="none">
                <a:solidFill>
                  <a:srgbClr val="272525"/>
                </a:solidFill>
                <a:latin typeface="Inter"/>
                <a:ea typeface="Inter"/>
                <a:cs typeface="Inter"/>
                <a:sym typeface="Inter"/>
              </a:rPr>
              <a:t>[5] A. Thorp, "Digital wellbeing and regrettable usage patterns: A framework for understanding and supporting healthy digital habits," Journal of Digital Wellbeing, vol. 5, no. 2, pp. 112–128, 2023.</a:t>
            </a:r>
            <a:endParaRPr sz="1450" b="0" i="0" u="none" strike="noStrike" cap="none">
              <a:solidFill>
                <a:schemeClr val="dk1"/>
              </a:solidFill>
              <a:latin typeface="Calibri"/>
              <a:ea typeface="Calibri"/>
              <a:cs typeface="Calibri"/>
              <a:sym typeface="Calibri"/>
            </a:endParaRPr>
          </a:p>
        </p:txBody>
      </p:sp>
      <p:pic>
        <p:nvPicPr>
          <p:cNvPr id="328" name="Google Shape;328;p27"/>
          <p:cNvPicPr preferRelativeResize="0"/>
          <p:nvPr/>
        </p:nvPicPr>
        <p:blipFill>
          <a:blip r:embed="rId3">
            <a:alphaModFix/>
          </a:blip>
          <a:stretch>
            <a:fillRect/>
          </a:stretch>
        </p:blipFill>
        <p:spPr>
          <a:xfrm>
            <a:off x="10515275" y="6391275"/>
            <a:ext cx="1676400" cy="4667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950B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950B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FBC4408-F37C-4ED5-A9F0-282405E2B470}">
  <we:reference id="wa200010001" version="1.0.0.1" store="en-US" storeType="OMEX"/>
  <we:alternateReferences>
    <we:reference id="WA200010001" version="1.0.0.1" store="" storeType="OMEX"/>
  </we:alternateReferences>
  <we:properties>
    <we:property name="claude.fileId" value="&quot;3499abb7-2706-425d-b41e-7d2870dfc98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2450</Words>
  <Application>Microsoft Office PowerPoint</Application>
  <PresentationFormat>Widescreen</PresentationFormat>
  <Paragraphs>369</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Calibri</vt:lpstr>
      <vt:lpstr>Trebuchet MS</vt:lpstr>
      <vt:lpstr>Wingdings</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shehzaad khan</cp:lastModifiedBy>
  <cp:revision>1</cp:revision>
  <dcterms:modified xsi:type="dcterms:W3CDTF">2026-09-30T06:09:48Z</dcterms:modified>
</cp:coreProperties>
</file>