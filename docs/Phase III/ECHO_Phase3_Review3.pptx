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2"/>
  </p:notesMasterIdLst>
  <p:handoutMasterIdLst>
    <p:handoutMasterId r:id="rId23"/>
  </p:handoutMasterIdLst>
  <p:sldIdLst>
    <p:sldId id="538" r:id="rId2"/>
    <p:sldId id="587" r:id="rId3"/>
    <p:sldId id="535" r:id="rId4"/>
    <p:sldId id="569" r:id="rId5"/>
    <p:sldId id="568" r:id="rId6"/>
    <p:sldId id="586" r:id="rId7"/>
    <p:sldId id="584" r:id="rId8"/>
    <p:sldId id="588" r:id="rId9"/>
    <p:sldId id="589" r:id="rId10"/>
    <p:sldId id="590" r:id="rId11"/>
    <p:sldId id="591" r:id="rId12"/>
    <p:sldId id="592" r:id="rId13"/>
    <p:sldId id="583" r:id="rId14"/>
    <p:sldId id="581" r:id="rId15"/>
    <p:sldId id="593" r:id="rId16"/>
    <p:sldId id="582" r:id="rId17"/>
    <p:sldId id="580" r:id="rId18"/>
    <p:sldId id="577" r:id="rId19"/>
    <p:sldId id="579" r:id="rId20"/>
    <p:sldId id="549" r:id="rId21"/>
  </p:sldIdLst>
  <p:sldSz cx="12192000"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CC"/>
    <a:srgbClr val="FF0066"/>
    <a:srgbClr val="0000FF"/>
    <a:srgbClr val="33CC33"/>
    <a:srgbClr val="00FFFF"/>
    <a:srgbClr val="6600FF"/>
    <a:srgbClr val="CC66FF"/>
    <a:srgbClr val="62832D"/>
    <a:srgbClr val="0066FF"/>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137" autoAdjust="0"/>
    <p:restoredTop sz="86811" autoAdjust="0"/>
  </p:normalViewPr>
  <p:slideViewPr>
    <p:cSldViewPr>
      <p:cViewPr varScale="1">
        <p:scale>
          <a:sx n="64" d="100"/>
          <a:sy n="64" d="100"/>
        </p:scale>
        <p:origin x="403" y="72"/>
      </p:cViewPr>
      <p:guideLst>
        <p:guide orient="horz" pos="2160"/>
        <p:guide pos="3840"/>
      </p:guideLst>
    </p:cSldViewPr>
  </p:slideViewPr>
  <p:notesTextViewPr>
    <p:cViewPr>
      <p:scale>
        <a:sx n="100" d="100"/>
        <a:sy n="100" d="100"/>
      </p:scale>
      <p:origin x="0" y="0"/>
    </p:cViewPr>
  </p:notesTextViewPr>
  <p:sorterViewPr>
    <p:cViewPr>
      <p:scale>
        <a:sx n="90" d="100"/>
        <a:sy n="90" d="100"/>
      </p:scale>
      <p:origin x="0" y="130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038648" cy="465138"/>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sz="quarter" idx="1"/>
          </p:nvPr>
        </p:nvSpPr>
        <p:spPr>
          <a:xfrm>
            <a:off x="3970135" y="0"/>
            <a:ext cx="3038648" cy="465138"/>
          </a:xfrm>
          <a:prstGeom prst="rect">
            <a:avLst/>
          </a:prstGeom>
        </p:spPr>
        <p:txBody>
          <a:bodyPr vert="horz" lIns="91440" tIns="45720" rIns="91440" bIns="45720" rtlCol="0"/>
          <a:lstStyle>
            <a:lvl1pPr algn="r">
              <a:defRPr sz="1200"/>
            </a:lvl1pPr>
          </a:lstStyle>
          <a:p>
            <a:pPr>
              <a:defRPr/>
            </a:pPr>
            <a:fld id="{26A7C97D-3554-44E0-8E72-665D45387ACC}" type="datetimeFigureOut">
              <a:rPr lang="en-US"/>
              <a:pPr>
                <a:defRPr/>
              </a:pPr>
              <a:t>10/22/2026</a:t>
            </a:fld>
            <a:endParaRPr lang="en-US"/>
          </a:p>
        </p:txBody>
      </p:sp>
      <p:sp>
        <p:nvSpPr>
          <p:cNvPr id="4" name="Footer Placeholder 3"/>
          <p:cNvSpPr>
            <a:spLocks noGrp="1"/>
          </p:cNvSpPr>
          <p:nvPr>
            <p:ph type="ftr" sz="quarter" idx="2"/>
          </p:nvPr>
        </p:nvSpPr>
        <p:spPr>
          <a:xfrm>
            <a:off x="2" y="8829675"/>
            <a:ext cx="3038648" cy="465138"/>
          </a:xfrm>
          <a:prstGeom prst="rect">
            <a:avLst/>
          </a:prstGeom>
        </p:spPr>
        <p:txBody>
          <a:bodyPr vert="horz" lIns="91440" tIns="45720" rIns="91440" bIns="45720" rtlCol="0" anchor="b"/>
          <a:lstStyle>
            <a:lvl1pPr algn="l">
              <a:defRPr sz="1200"/>
            </a:lvl1pPr>
          </a:lstStyle>
          <a:p>
            <a:pPr>
              <a:defRPr/>
            </a:pPr>
            <a:endParaRPr lang="en-US"/>
          </a:p>
        </p:txBody>
      </p:sp>
      <p:sp>
        <p:nvSpPr>
          <p:cNvPr id="5" name="Slide Number Placeholder 4"/>
          <p:cNvSpPr>
            <a:spLocks noGrp="1"/>
          </p:cNvSpPr>
          <p:nvPr>
            <p:ph type="sldNum" sz="quarter" idx="3"/>
          </p:nvPr>
        </p:nvSpPr>
        <p:spPr>
          <a:xfrm>
            <a:off x="3970135" y="8829675"/>
            <a:ext cx="3038648" cy="465138"/>
          </a:xfrm>
          <a:prstGeom prst="rect">
            <a:avLst/>
          </a:prstGeom>
        </p:spPr>
        <p:txBody>
          <a:bodyPr vert="horz" lIns="91440" tIns="45720" rIns="91440" bIns="45720" rtlCol="0" anchor="b"/>
          <a:lstStyle>
            <a:lvl1pPr algn="r">
              <a:defRPr sz="1200"/>
            </a:lvl1pPr>
          </a:lstStyle>
          <a:p>
            <a:pPr>
              <a:defRPr/>
            </a:pPr>
            <a:fld id="{1486DC43-659C-4A17-BDC0-5684401D4FAB}" type="slidenum">
              <a:rPr lang="en-US"/>
              <a:pPr>
                <a:defRPr/>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038648" cy="465138"/>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idx="1"/>
          </p:nvPr>
        </p:nvSpPr>
        <p:spPr>
          <a:xfrm>
            <a:off x="3970135" y="0"/>
            <a:ext cx="3038648" cy="465138"/>
          </a:xfrm>
          <a:prstGeom prst="rect">
            <a:avLst/>
          </a:prstGeom>
        </p:spPr>
        <p:txBody>
          <a:bodyPr vert="horz" lIns="91440" tIns="45720" rIns="91440" bIns="45720" rtlCol="0"/>
          <a:lstStyle>
            <a:lvl1pPr algn="r">
              <a:defRPr sz="1200"/>
            </a:lvl1pPr>
          </a:lstStyle>
          <a:p>
            <a:pPr>
              <a:defRPr/>
            </a:pPr>
            <a:fld id="{C973BE83-6A1D-4DA3-83D0-ED76C71EFE38}" type="datetimeFigureOut">
              <a:rPr lang="en-US"/>
              <a:pPr>
                <a:defRPr/>
              </a:pPr>
              <a:t>10/22/2026</a:t>
            </a:fld>
            <a:endParaRPr lang="en-US"/>
          </a:p>
        </p:txBody>
      </p:sp>
      <p:sp>
        <p:nvSpPr>
          <p:cNvPr id="4" name="Slide Image Placeholder 3"/>
          <p:cNvSpPr>
            <a:spLocks noGrp="1" noRot="1" noChangeAspect="1"/>
          </p:cNvSpPr>
          <p:nvPr>
            <p:ph type="sldImg" idx="2"/>
          </p:nvPr>
        </p:nvSpPr>
        <p:spPr>
          <a:xfrm>
            <a:off x="407988" y="696913"/>
            <a:ext cx="6196012" cy="348615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701848" y="4416426"/>
            <a:ext cx="5608320" cy="4183063"/>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2" y="8829675"/>
            <a:ext cx="3038648" cy="465138"/>
          </a:xfrm>
          <a:prstGeom prst="rect">
            <a:avLst/>
          </a:prstGeom>
        </p:spPr>
        <p:txBody>
          <a:bodyPr vert="horz" lIns="91440" tIns="45720" rIns="91440" bIns="45720" rtlCol="0" anchor="b"/>
          <a:lstStyle>
            <a:lvl1pPr algn="l">
              <a:defRPr sz="1200"/>
            </a:lvl1pPr>
          </a:lstStyle>
          <a:p>
            <a:pPr>
              <a:defRPr/>
            </a:pPr>
            <a:endParaRPr lang="en-US"/>
          </a:p>
        </p:txBody>
      </p:sp>
      <p:sp>
        <p:nvSpPr>
          <p:cNvPr id="7" name="Slide Number Placeholder 6"/>
          <p:cNvSpPr>
            <a:spLocks noGrp="1"/>
          </p:cNvSpPr>
          <p:nvPr>
            <p:ph type="sldNum" sz="quarter" idx="5"/>
          </p:nvPr>
        </p:nvSpPr>
        <p:spPr>
          <a:xfrm>
            <a:off x="3970135" y="8829675"/>
            <a:ext cx="3038648" cy="465138"/>
          </a:xfrm>
          <a:prstGeom prst="rect">
            <a:avLst/>
          </a:prstGeom>
        </p:spPr>
        <p:txBody>
          <a:bodyPr vert="horz" lIns="91440" tIns="45720" rIns="91440" bIns="45720" rtlCol="0" anchor="b"/>
          <a:lstStyle>
            <a:lvl1pPr algn="r">
              <a:defRPr sz="1200"/>
            </a:lvl1pPr>
          </a:lstStyle>
          <a:p>
            <a:pPr>
              <a:defRPr/>
            </a:pPr>
            <a:fld id="{01C81575-24DE-4F6C-A73E-0331B3B2E418}" type="slidenum">
              <a:rPr lang="en-US"/>
              <a:pPr>
                <a:defRPr/>
              </a:pPr>
              <a:t>‹#›</a:t>
            </a:fld>
            <a:endParaRPr 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8-minute talk, 8-minute demo, 4 minutes of questions.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empty on purpose: paste the guide's approval mail here. It is not part of the Review 3 template; delete this slide if it is not wanted (build_deck_r3.py: INCLUDE_GUIDE_APPROVAL_SLIDE = False).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Outline exactly as the template asks.</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~45 s. The problem in one line (interview email, articles, tutorials, spread over three places). Then the three things E.C.H.O. does. Scope: one user, one laptop, desktop Chrome plus the Gmail API and YouTube. Privacy: storage and processing are local; only the question and short snippets go to the language model, never whole mails, pages or transcripts; the Gmail and YouTube APIs fetch your own data.</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4</a:t>
            </a:fld>
            <a:endParaRPr lang="en-US"/>
          </a:p>
        </p:txBody>
      </p:sp>
    </p:spTree>
    <p:extLst>
      <p:ext uri="{BB962C8B-B14F-4D97-AF65-F5344CB8AC3E}">
        <p14:creationId xmlns:p14="http://schemas.microsoft.com/office/powerpoint/2010/main" val="4131966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~40 s. Review 1 asked for (1) a retention period: now a user setting, default keep forever; a job at startup deletes older items from PostgreSQL, the FAISS index and Redis. (2) A spam filter: Gmail's own spam filter is our filter, so Spam and Trash are never read, also in the incremental sync; drafts are skipped; Promotions and Social mail are kept by choice.</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5</a:t>
            </a:fld>
            <a:endParaRPr lang="en-US"/>
          </a:p>
        </p:txBody>
      </p:sp>
    </p:spTree>
    <p:extLst>
      <p:ext uri="{BB962C8B-B14F-4D97-AF65-F5344CB8AC3E}">
        <p14:creationId xmlns:p14="http://schemas.microsoft.com/office/powerpoint/2010/main" val="32257309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C449A-5201-CC7D-2628-41F5EFD10B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19807-78FE-CE28-4D49-3B77EAD73F58}"/>
              </a:ext>
            </a:extLst>
          </p:cNvPr>
          <p:cNvSpPr>
            <a:spLocks noGrp="1" noRot="1" noChangeAspect="1"/>
          </p:cNvSpPr>
          <p:nvPr>
            <p:ph type="sldImg"/>
          </p:nvPr>
        </p:nvSpPr>
        <p:spPr>
          <a:xfrm>
            <a:off x="407988" y="696913"/>
            <a:ext cx="6196012" cy="3486150"/>
          </a:xfrm>
        </p:spPr>
      </p:sp>
      <p:sp>
        <p:nvSpPr>
          <p:cNvPr id="3" name="Notes Placeholder 2">
            <a:extLst>
              <a:ext uri="{FF2B5EF4-FFF2-40B4-BE49-F238E27FC236}">
                <a16:creationId xmlns:a16="http://schemas.microsoft.com/office/drawing/2014/main" id="{4158A6CE-3FDF-31EA-638A-292044A8B888}"/>
              </a:ext>
            </a:extLst>
          </p:cNvPr>
          <p:cNvSpPr>
            <a:spLocks noGrp="1"/>
          </p:cNvSpPr>
          <p:nvPr>
            <p:ph type="body" idx="1"/>
          </p:nvPr>
        </p:nvSpPr>
        <p:spPr/>
        <p:txBody>
          <a:bodyPr>
            <a:normAutofit/>
          </a:bodyPr>
          <a:lstStyle/>
          <a:p>
            <a:r>
              <a:t>~60 s. Read it left to right: the life of one memory. Mail comes in through the Gmail API (checked every 30 s); pages and videos come in through the Chrome extension, whose background script is the only way data leaves the browser. Each connector writes through ONE storage engine, one transaction per item, into PostgreSQL (the permanent truth); FAISS holds the vectors and Redis the revisit flags and settings. The enrichment worker runs in the background: it reads new rows, writes vectors and groups, and asks the language model only about unclear items. The recall engine and the wellbeing module only read. The dashboard and the MCP server (Claude Desktop) call them. Only two things leave the laptop: the Google APIs, which return your own data, and the language model, which gets the question and short snippets. Wellbeing sends it weekly totals only.</a:t>
            </a:r>
          </a:p>
        </p:txBody>
      </p:sp>
      <p:sp>
        <p:nvSpPr>
          <p:cNvPr id="4" name="Slide Number Placeholder 3">
            <a:extLst>
              <a:ext uri="{FF2B5EF4-FFF2-40B4-BE49-F238E27FC236}">
                <a16:creationId xmlns:a16="http://schemas.microsoft.com/office/drawing/2014/main" id="{09E8687F-D3EA-6227-4365-ACA80893300E}"/>
              </a:ext>
            </a:extLst>
          </p:cNvPr>
          <p:cNvSpPr>
            <a:spLocks noGrp="1"/>
          </p:cNvSpPr>
          <p:nvPr>
            <p:ph type="sldNum" sz="quarter" idx="10"/>
          </p:nvPr>
        </p:nvSpPr>
        <p:spPr/>
        <p:txBody>
          <a:bodyPr/>
          <a:lstStyle/>
          <a:p>
            <a:pPr>
              <a:defRPr/>
            </a:pPr>
            <a:fld id="{01C81575-24DE-4F6C-A73E-0331B3B2E418}" type="slidenum">
              <a:rPr lang="en-US" smtClean="0"/>
              <a:pPr>
                <a:defRPr/>
              </a:pPr>
              <a:t>6</a:t>
            </a:fld>
            <a:endParaRPr lang="en-US"/>
          </a:p>
        </p:txBody>
      </p:sp>
    </p:spTree>
    <p:extLst>
      <p:ext uri="{BB962C8B-B14F-4D97-AF65-F5344CB8AC3E}">
        <p14:creationId xmlns:p14="http://schemas.microsoft.com/office/powerpoint/2010/main" val="1852420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~45 s. Chrome: the extension counts only active time (tab in front, window focused, not idle for 30 s). Phase 1: 5 s in front. Phase 2, any one of: 10 s active, scrolled 15 %, a click or text selection (link clicks do not count), or the same page again within 24 h. The server repeats the same checks because it never trusts the client. YouTube: watched 20 s (Short 10 s), or at least 10 % with 5 s watched, or seen again within 24 h, or paused/seeked by you. Gmail: every mail is kept; the poll runs every 30 s and asks only for new mail; Spam, Trash and drafts are skipped; reading time is recorded when you open a mail. Sensitive pages are matched by whole words (login, payment, settings ...); app pages (Slack, Notion, Jira) keep only the title; secret keys (token, code, key ...) are removed from URLs before storing. Each item is stored in one atomic transaction, and the same item is never stored twice.</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7</a:t>
            </a:fld>
            <a:endParaRPr lang="en-US"/>
          </a:p>
        </p:txBody>
      </p:sp>
    </p:spTree>
    <p:extLst>
      <p:ext uri="{BB962C8B-B14F-4D97-AF65-F5344CB8AC3E}">
        <p14:creationId xmlns:p14="http://schemas.microsoft.com/office/powerpoint/2010/main" val="3225730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 The worker runs as a background thread in the backend: every 10 s it picks up to 10 new rows, oldest first, and never blocks capture. Clean: mail HTML to text and quoted replies cut (signatures are kept on purpose: removing them cut real text in 6 of 8 test mails); page text arrives already extracted with its headings; attachment text is extracted here. Build text: short hints first (subject, keywords, sender domain or title, channel), long text last, cut at the model's own 512-token window; what is stored is exactly what was embedded. Classify: 1 structural signals; 2 curated domain list; 3 nearest centroid (meaning compared with example vectors per group, refreshed from confirmed items when the worker starts and the file is over 30 days old); 4 the language model sees the title and a 300-character snippet and answers with one of the five names. Unsure or failed -&gt; misc; a row never has an empty group. The FAISS file is saved before rows are marked done, so a crash loses nothing. The embedding model was chosen over all-MiniLM-L6-v2 after a 39-question comparison on our own test set (right item first: 37 of 39 vs 31 of 39).</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 s, the core. The model decides WHAT to search for; HOW the search runs is fixed Python, and the model never touches the database. It calls one read-only tool, search_memories (query, sources, a time phrase such as 'after the interview email', an optional sender). Rounds are capped at 5, then it must answer: usually 2 model calls, at most 6, enforced in code. Python resolves the time phrase to a hard date filter, runs PostgreSQL full-text search and FAISS meaning search (three rephrasings) at the same time, and merges by rank with Reciprocal Rank Fusion. A quality check can widen the search up to three times. A local cross-encoder (ms-marco-MiniLM-L-6-v2) reads the question and each item together; the final score is 0.8 x cross-encoder + 0.2 x effort (time spent, scroll, revisits). Then the thread or the items within 5 minutes are added as context, and the model writes the answer from at most 10 snippets of 500 characters. Recency boost and diversity re-ranking are deliberately not used. If the model is down, a deterministic search runs on the raw question.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 The example question is traced from the design; it is not a recorded run, and the chat on the right is an illustration of the answer format, not a screenshot. Answers are short chat replies; each citation becomes a memory pill (source logo, sender or site, date). Solid = the item says it, dashed = related context. Clicking a pill opens the original mail or page. Live progress ('Searching Gmail...') streams while it works. Follow-ups: each chat has its own session, so the next question continues from the earlier turns. Attachment questions send the best three matching passages (about 1,500 characters). The MCP server lets Claude Desktop call the same read-only tools: search_memories, get_memory, recent_activity.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 Time is computed on request from the source tables and never stored as a total: mails count only if you opened them, pages count when stored, videos count their watch time, and each visit is added on the day it happened. Sessions: items less than 20 minutes apart belong to one sitting; the example uses made-up times run through the real function. Regret: you mark or unmark an item yourself; each mark is a new event (odd count = currently regretted); optional reminders (at most 2 a day, only for a habit) quote your own earlier note. Weekly insight: the model receives only totals, counts and hours, never titles or URLs; a reply containing judging words is replaced by a plain summary.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 s. You create a goal group ('Capstone project'), add a few items, and write rules. Every new item is scored by rules (do any match?) and similarity (mean cosine to its 3 nearest confirmed members). Confident means a rule matches AND similarity is above the bar: the item is added at once, marked 'added automatically', and shown in the Sunday review where one click undoes it (human-on-the-loop). Anything less certain waits as pending for your yes or no (human-in-the-loop). Only items you confirmed teach the similarity. User groups are independent of the five system groups. Panel line: 'Echo never decides alone when it is unsure.'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over to the demo (8 min). 1 Ingestion: read a fresh article and scroll past 15 %; play a video for 20 s; show the new rows in Timeline. 2 Enrichment: one worker cycle (about 10 s); the item turns processed and gets a group. 3 Recall: ask about the article, then 'Did anyone email me about it?' in the same chat; show live steps and memory pills; click a pill. 4 Wellbeing: Patterns and Reflections; mark one item regretted; accept or undo a group suggestion. Optional: one query from Claude Desktop through the MCP server. Before starting: local PostgreSQL and Redis running, backend and worker up, extension loaded in the browser used, one fresh mail in the test inbox, sessions rebuilt and group auto-assign run once. Revoke the Google token shown on screen after the demo.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7988" y="696913"/>
            <a:ext cx="6196012" cy="3486150"/>
          </a:xfrm>
        </p:spPr>
      </p:sp>
      <p:sp>
        <p:nvSpPr>
          <p:cNvPr id="3" name="Notes Placeholder 2"/>
          <p:cNvSpPr>
            <a:spLocks noGrp="1"/>
          </p:cNvSpPr>
          <p:nvPr>
            <p:ph type="body" idx="1"/>
          </p:nvPr>
        </p:nvSpPr>
        <p:spPr/>
        <p:txBody>
          <a:bodyPr>
            <a:normAutofit/>
          </a:bodyPr>
          <a:lstStyle/>
          <a:p>
            <a:r>
              <a:t>~30 s. 6-19 Oct: every file reviewed with offline simulation tests (fake database, fake Redis, FastAPI test client; a Node harness with a fake browser for the extension): 30 and 56 checks, recorded in the commit messages. 22-25 Oct: thresholds re-measured on the re-embedded data; unit and integration tests for the 25 scenarios in the design document; code freeze on 25 Oct. 26-27 Oct: end-to-end run of all three sources, evaluation, rehearsal. Team: four equal shares; each member owns one area and cross-checks one area of another member (four equal shares).</a:t>
            </a:r>
          </a:p>
        </p:txBody>
      </p:sp>
      <p:sp>
        <p:nvSpPr>
          <p:cNvPr id="4" name="Slide Number Placeholder 3"/>
          <p:cNvSpPr>
            <a:spLocks noGrp="1"/>
          </p:cNvSpPr>
          <p:nvPr>
            <p:ph type="sldNum" sz="quarter" idx="10"/>
          </p:nvPr>
        </p:nvSpPr>
        <p:spPr/>
        <p:txBody>
          <a:bodyPr/>
          <a:lstStyle/>
          <a:p>
            <a:pPr>
              <a:defRPr/>
            </a:pPr>
            <a:fld id="{01C81575-24DE-4F6C-A73E-0331B3B2E418}" type="slidenum">
              <a:rPr lang="en-US" smtClean="0"/>
              <a:pPr>
                <a:defRPr/>
              </a:pPr>
              <a:t>14</a:t>
            </a:fld>
            <a:endParaRPr lang="en-US"/>
          </a:p>
        </p:txBody>
      </p:sp>
    </p:spTree>
    <p:extLst>
      <p:ext uri="{BB962C8B-B14F-4D97-AF65-F5344CB8AC3E}">
        <p14:creationId xmlns:p14="http://schemas.microsoft.com/office/powerpoint/2010/main" val="32257309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 Unit: intent gates at every boundary (3 s, 6 s, 8 s with 20 % scroll, a login page), the 20-minute session gap (exactly 20 min vs 20 min 1 s), rank fusion on a small fixed list. Integration: routes through the FastAPI test client with a fake database; capture -&gt; stored row -&gt; enriched -&gt; searchable. End to end: live capture, enrichment and recall on the test account. Performance: query time, model calls per question, enrichment speed. Privacy: inspect every model payload; sensitive-page probe URLs; check that incognito, Spam and Trash never create a row. Reliability: each failure and its fallback (design document section 23). Drawback example: YouTube's caption endpoint was found empty only by a live probe.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 The template asks for results versus expectations, reasons for any deviation, and a comparison with other methods. Nothing here is a result yet: replace every 'to be measured' with a value from the 26-27 Oct runs. Recall@5 and MRR on a fixed question set; keyword-only vs meaning-only vs hybrid; the previous embedding model vs the new one; median and 95th-percentile time per question; model calls and cost per question; enrichment speed and how many items each classification stage resolves. Do not present estimates as results.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 Month-level, taken from the project's commit history. Apr-Jun: capture, enrichment, retrieval and the storage engine merged and hardened. Jul: wellbeing module, finished retrieval engine, first dashboard. Aug: Review 1, scope focused on recall. Sep: wellbeing and dashboard restored, Review 2. 1-21 Oct: every file reviewed (logging, thread safety, privacy fixes) and every design decision closed. 22-25 Oct: final build (local stack, new embedding model, agent recall, memory pills, MCP server, retention, auto-grouping) and code freeze. 26-27 Oct: end-to-end run and rehearsal. Wed 28 Oct: Review 3.</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 Four points: one private memory; ask, don't search; reflect without judging; privacy by design. Future work: import past history (Google Takeout for YouTube, the Chrome History file) and export your memories (an export route for JSON and CSV already exists); publish the extension on the Chrome Web Store; extend to more apps such as Google Calendar and Google Drive. Other ideas kept in reserve: several vectors per long document, and a self-learning domain list.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[2], [6], [7] are the Review 2 references. [3] rank fusion and [4] cross-encoder re-ranking back the two ranking steps. [5] Arctic-Embed backs the embedding model: CHECK the author list, title and arXiv number against arxiv.org before presenting (typed from memory).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Questions (4 minutes).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713C8-F183-1D43-AE77-BF9BD4D2AE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7AF752-0EC0-CF4D-965A-5129A91359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3E32540-0688-DC4A-809A-52FB3313D316}"/>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5" name="Footer Placeholder 4">
            <a:extLst>
              <a:ext uri="{FF2B5EF4-FFF2-40B4-BE49-F238E27FC236}">
                <a16:creationId xmlns:a16="http://schemas.microsoft.com/office/drawing/2014/main" id="{0F2CA43E-0611-D047-BC7B-31F920B659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6E4123-5713-BC41-BBD0-42ADF35D9634}"/>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21920703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DED43-C903-1F44-A779-40DF9AEFDE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9975D8-34AD-544B-B0E2-83FA77D2FAF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D24DD5-B8E0-534E-B68A-EF415575E505}"/>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5" name="Footer Placeholder 4">
            <a:extLst>
              <a:ext uri="{FF2B5EF4-FFF2-40B4-BE49-F238E27FC236}">
                <a16:creationId xmlns:a16="http://schemas.microsoft.com/office/drawing/2014/main" id="{45096688-5BB1-5E48-BD14-BBC9FA67D4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DC407C-3003-DB44-98B5-0DEC6272B111}"/>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31229166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5630D-09E2-0742-AED8-D3F732546CD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15B2CD3-A564-8044-A4EC-7EBA262987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2A64EE-79C1-8B46-BA9C-199117C7B485}"/>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5" name="Footer Placeholder 4">
            <a:extLst>
              <a:ext uri="{FF2B5EF4-FFF2-40B4-BE49-F238E27FC236}">
                <a16:creationId xmlns:a16="http://schemas.microsoft.com/office/drawing/2014/main" id="{A851AAB2-DA47-AE48-A088-6FC7C16945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48FF9C-19C9-FA46-8C21-74202499420D}"/>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21717916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CBAF5-C913-024F-8BE6-64C58F97021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5E6DB7-D3D7-1443-A583-8730715E2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3CEB82F-3E99-7441-9B06-6D7C2156AB8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426D282-1572-D344-87D1-785DA8576020}"/>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6" name="Footer Placeholder 5">
            <a:extLst>
              <a:ext uri="{FF2B5EF4-FFF2-40B4-BE49-F238E27FC236}">
                <a16:creationId xmlns:a16="http://schemas.microsoft.com/office/drawing/2014/main" id="{3723D760-065F-6442-AF7E-1A7AAFFCA9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6BF4C15-EC3A-7E41-A2B3-D2AB7D70EB32}"/>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32657047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2CC90-B8AE-8A46-A8A5-F7E8DA615EE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8E152C5-AA77-4B47-965C-21A00C1EECE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C466F8D-3502-5242-9160-E1CDE38E0A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754302-8F9A-5648-9C5E-6D037F1C75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A9FC9CD-8823-F145-9952-EFBA9ACD2E8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65EF4D9-655F-4842-A6B8-D44A050122B8}"/>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8" name="Footer Placeholder 7">
            <a:extLst>
              <a:ext uri="{FF2B5EF4-FFF2-40B4-BE49-F238E27FC236}">
                <a16:creationId xmlns:a16="http://schemas.microsoft.com/office/drawing/2014/main" id="{08E68A74-725F-8F40-8F80-E96287703E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9D868FA-8565-A740-9B9C-B3CD6AB33570}"/>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1827854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DFCE3-1C1E-7448-AF7E-5E46BB1408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19D5C9-50F6-8546-8D8C-AFACC1BC1B4F}"/>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4" name="Footer Placeholder 3">
            <a:extLst>
              <a:ext uri="{FF2B5EF4-FFF2-40B4-BE49-F238E27FC236}">
                <a16:creationId xmlns:a16="http://schemas.microsoft.com/office/drawing/2014/main" id="{1DEA0D0C-FCAF-4F4C-AAF5-C9B78C03C47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568836A-EEA3-7347-A63C-8E66DF7B3451}"/>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36022871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7A43C1-2303-5A41-B234-90D15E2A4B17}"/>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3" name="Footer Placeholder 2">
            <a:extLst>
              <a:ext uri="{FF2B5EF4-FFF2-40B4-BE49-F238E27FC236}">
                <a16:creationId xmlns:a16="http://schemas.microsoft.com/office/drawing/2014/main" id="{9EA77971-B281-6149-9884-0E9C45F816B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1D0F6F3-1061-E842-B540-6BD0D6CB8D59}"/>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28737328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B970D-13D5-B346-968D-400B0BCCF6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019FFE0-37CD-7644-A007-76E5304F12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210BE7-EA92-B44F-9EEC-94E6F6955C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B6D810-D2A1-B549-A5BC-25CCA5CDCD3C}"/>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6" name="Footer Placeholder 5">
            <a:extLst>
              <a:ext uri="{FF2B5EF4-FFF2-40B4-BE49-F238E27FC236}">
                <a16:creationId xmlns:a16="http://schemas.microsoft.com/office/drawing/2014/main" id="{6AD872D2-2005-3043-A02D-3E2DB9334E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F9F01D-1164-4249-AD67-1D51D33C01DC}"/>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35803867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D3B30-2A71-A043-9BD7-3B8C66BF74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2B08A9-6B45-4340-8859-996D9B9490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26B1F4B2-96C1-614B-9110-8D1AEE080D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7DF3EB-6252-5845-AE7D-FB94ECF9F136}"/>
              </a:ext>
            </a:extLst>
          </p:cNvPr>
          <p:cNvSpPr>
            <a:spLocks noGrp="1"/>
          </p:cNvSpPr>
          <p:nvPr>
            <p:ph type="dt" sz="half" idx="10"/>
          </p:nvPr>
        </p:nvSpPr>
        <p:spPr/>
        <p:txBody>
          <a:bodyPr/>
          <a:lstStyle/>
          <a:p>
            <a:fld id="{2D1A7037-0853-0447-B5BA-F1548123F733}" type="datetimeFigureOut">
              <a:rPr lang="en-US" smtClean="0"/>
              <a:pPr/>
              <a:t>10/22/2026</a:t>
            </a:fld>
            <a:endParaRPr lang="en-US"/>
          </a:p>
        </p:txBody>
      </p:sp>
      <p:sp>
        <p:nvSpPr>
          <p:cNvPr id="6" name="Footer Placeholder 5">
            <a:extLst>
              <a:ext uri="{FF2B5EF4-FFF2-40B4-BE49-F238E27FC236}">
                <a16:creationId xmlns:a16="http://schemas.microsoft.com/office/drawing/2014/main" id="{D2D65DB7-EFE7-7446-8DEC-69F1FB47AE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A0E09F-0F32-5644-881A-A61CD82461E5}"/>
              </a:ext>
            </a:extLst>
          </p:cNvPr>
          <p:cNvSpPr>
            <a:spLocks noGrp="1"/>
          </p:cNvSpPr>
          <p:nvPr>
            <p:ph type="sldNum" sz="quarter" idx="12"/>
          </p:nvPr>
        </p:nvSpPr>
        <p:spPr/>
        <p:txBody>
          <a:bodyPr/>
          <a:lstStyle/>
          <a:p>
            <a:fld id="{102F0E29-F314-934F-92DB-8EEB8DA68833}" type="slidenum">
              <a:rPr lang="en-US" smtClean="0"/>
              <a:pPr/>
              <a:t>‹#›</a:t>
            </a:fld>
            <a:endParaRPr lang="en-US"/>
          </a:p>
        </p:txBody>
      </p:sp>
    </p:spTree>
    <p:extLst>
      <p:ext uri="{BB962C8B-B14F-4D97-AF65-F5344CB8AC3E}">
        <p14:creationId xmlns:p14="http://schemas.microsoft.com/office/powerpoint/2010/main" val="5045944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26E61B7-8DCD-1544-BC5D-B4592F60C6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AB61D9-7FB3-1343-9555-936FC6036D9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C2A79E-2DF5-4E41-BDCF-90E9D26B7E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D1A7037-0853-0447-B5BA-F1548123F733}" type="datetimeFigureOut">
              <a:rPr lang="en-US" smtClean="0"/>
              <a:pPr/>
              <a:t>10/22/2026</a:t>
            </a:fld>
            <a:endParaRPr lang="en-US"/>
          </a:p>
        </p:txBody>
      </p:sp>
      <p:sp>
        <p:nvSpPr>
          <p:cNvPr id="5" name="Footer Placeholder 4">
            <a:extLst>
              <a:ext uri="{FF2B5EF4-FFF2-40B4-BE49-F238E27FC236}">
                <a16:creationId xmlns:a16="http://schemas.microsoft.com/office/drawing/2014/main" id="{556D5DC5-E1CB-B84F-BCAB-EB319B3718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9712A2C-5C91-4B43-A114-209348A10C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02F0E29-F314-934F-92DB-8EEB8DA68833}" type="slidenum">
              <a:rPr lang="en-US" smtClean="0"/>
              <a:pPr/>
              <a:t>‹#›</a:t>
            </a:fld>
            <a:endParaRPr lang="en-US"/>
          </a:p>
        </p:txBody>
      </p:sp>
      <p:pic>
        <p:nvPicPr>
          <p:cNvPr id="7" name="Picture 6" descr="PESSAT - All India Online Entrance Exam for Admission to PES University">
            <a:extLst>
              <a:ext uri="{FF2B5EF4-FFF2-40B4-BE49-F238E27FC236}">
                <a16:creationId xmlns:a16="http://schemas.microsoft.com/office/drawing/2014/main" id="{3728FDCA-2BCC-C6D2-944C-DE172626AE8A}"/>
              </a:ext>
            </a:extLst>
          </p:cNvPr>
          <p:cNvPicPr>
            <a:picLocks noChangeAspect="1" noChangeArrowheads="1"/>
          </p:cNvPicPr>
          <p:nvPr userDrawn="1"/>
        </p:nvPicPr>
        <p:blipFill>
          <a:blip r:embed="rId11" cstate="print">
            <a:extLst>
              <a:ext uri="{28A0092B-C50C-407E-A947-70E740481C1C}">
                <a14:useLocalDpi xmlns:a14="http://schemas.microsoft.com/office/drawing/2010/main" val="0"/>
              </a:ext>
            </a:extLst>
          </a:blip>
          <a:srcRect/>
          <a:stretch>
            <a:fillRect/>
          </a:stretch>
        </p:blipFill>
        <p:spPr bwMode="auto">
          <a:xfrm>
            <a:off x="10772775" y="339725"/>
            <a:ext cx="1162050" cy="53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2383200"/>
      </p:ext>
    </p:extLst>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p:nvPr/>
        </p:nvSpPr>
        <p:spPr>
          <a:xfrm>
            <a:off x="2133600" y="914400"/>
            <a:ext cx="7924800" cy="1446550"/>
          </a:xfrm>
          <a:prstGeom prst="rect">
            <a:avLst/>
          </a:prstGeom>
        </p:spPr>
        <p:txBody>
          <a:bodyPr wrap="square">
            <a:spAutoFit/>
          </a:bodyPr>
          <a:lstStyle/>
          <a:p>
            <a:pPr algn="ctr"/>
            <a:r>
              <a:rPr lang="en-US" sz="2800" dirty="0">
                <a:latin typeface="Trebuchet MS" pitchFamily="34" charset="0"/>
              </a:rPr>
              <a:t>UE23CS441A –Project Phase – 3</a:t>
            </a:r>
          </a:p>
          <a:p>
            <a:pPr algn="ctr"/>
            <a:endParaRPr lang="en-US" sz="2800" dirty="0">
              <a:latin typeface="Trebuchet MS" pitchFamily="34" charset="0"/>
            </a:endParaRPr>
          </a:p>
          <a:p>
            <a:pPr algn="ctr"/>
            <a:r>
              <a:rPr lang="en-US" sz="3200" b="1" dirty="0">
                <a:solidFill>
                  <a:srgbClr val="FF0000"/>
                </a:solidFill>
                <a:latin typeface="Trebuchet MS" pitchFamily="34" charset="0"/>
              </a:rPr>
              <a:t>Project Progress Review #3</a:t>
            </a:r>
          </a:p>
        </p:txBody>
      </p:sp>
      <p:sp>
        <p:nvSpPr>
          <p:cNvPr id="3" name="TextBox 2"/>
          <p:cNvSpPr txBox="1"/>
          <p:nvPr/>
        </p:nvSpPr>
        <p:spPr>
          <a:xfrm>
            <a:off x="1188720" y="2487168"/>
            <a:ext cx="2103120" cy="2606040"/>
          </a:xfrm>
          <a:prstGeom prst="rect">
            <a:avLst/>
          </a:prstGeom>
          <a:noFill/>
        </p:spPr>
        <p:txBody>
          <a:bodyPr wrap="square" lIns="73152" tIns="43891" rIns="73152" bIns="43891" anchor="t">
            <a:spAutoFit/>
          </a:bodyPr>
          <a:lstStyle/>
          <a:p>
            <a:pPr algn="l">
              <a:spcAft>
                <a:spcPts val="200"/>
              </a:spcAft>
            </a:pPr>
            <a:r>
              <a:rPr sz="2000" b="0" i="0">
                <a:solidFill>
                  <a:srgbClr val="0033CC"/>
                </a:solidFill>
                <a:latin typeface="Trebuchet MS"/>
              </a:rPr>
              <a:t>Project Title</a:t>
            </a:r>
            <a:endParaRPr sz="2000"/>
          </a:p>
          <a:p>
            <a:pPr algn="l">
              <a:spcAft>
                <a:spcPts val="200"/>
              </a:spcAft>
            </a:pPr>
            <a:r>
              <a:rPr sz="2000" b="0" i="0">
                <a:solidFill>
                  <a:srgbClr val="0033CC"/>
                </a:solidFill>
                <a:latin typeface="Trebuchet MS"/>
              </a:rPr>
              <a:t>Project ID</a:t>
            </a:r>
            <a:endParaRPr sz="2000"/>
          </a:p>
          <a:p>
            <a:pPr algn="l">
              <a:spcAft>
                <a:spcPts val="200"/>
              </a:spcAft>
            </a:pPr>
            <a:r>
              <a:rPr sz="2000" b="0" i="0">
                <a:solidFill>
                  <a:srgbClr val="0033CC"/>
                </a:solidFill>
                <a:latin typeface="Trebuchet MS"/>
              </a:rPr>
              <a:t>Project Guide</a:t>
            </a:r>
            <a:endParaRPr sz="2000"/>
          </a:p>
          <a:p>
            <a:pPr algn="l">
              <a:spcAft>
                <a:spcPts val="200"/>
              </a:spcAft>
            </a:pPr>
            <a:r>
              <a:rPr sz="2000" b="0" i="0">
                <a:solidFill>
                  <a:srgbClr val="0033CC"/>
                </a:solidFill>
                <a:latin typeface="Trebuchet MS"/>
              </a:rPr>
              <a:t>Project Team</a:t>
            </a:r>
            <a:endParaRPr sz="2000"/>
          </a:p>
        </p:txBody>
      </p:sp>
      <p:sp>
        <p:nvSpPr>
          <p:cNvPr id="4" name="TextBox 3"/>
          <p:cNvSpPr txBox="1"/>
          <p:nvPr/>
        </p:nvSpPr>
        <p:spPr>
          <a:xfrm>
            <a:off x="3154680" y="2487168"/>
            <a:ext cx="274320" cy="2606040"/>
          </a:xfrm>
          <a:prstGeom prst="rect">
            <a:avLst/>
          </a:prstGeom>
          <a:noFill/>
        </p:spPr>
        <p:txBody>
          <a:bodyPr wrap="square" lIns="73152" tIns="43891" rIns="73152" bIns="43891" anchor="t">
            <a:spAutoFit/>
          </a:bodyPr>
          <a:lstStyle/>
          <a:p>
            <a:pPr algn="l">
              <a:spcAft>
                <a:spcPts val="200"/>
              </a:spcAft>
            </a:pPr>
            <a:r>
              <a:rPr sz="2000" b="0" i="0">
                <a:solidFill>
                  <a:srgbClr val="0033CC"/>
                </a:solidFill>
                <a:latin typeface="Trebuchet MS"/>
              </a:rPr>
              <a:t>:</a:t>
            </a:r>
            <a:endParaRPr sz="2000"/>
          </a:p>
          <a:p>
            <a:pPr algn="l">
              <a:spcAft>
                <a:spcPts val="200"/>
              </a:spcAft>
            </a:pPr>
            <a:r>
              <a:rPr sz="2000" b="0" i="0">
                <a:solidFill>
                  <a:srgbClr val="0033CC"/>
                </a:solidFill>
                <a:latin typeface="Trebuchet MS"/>
              </a:rPr>
              <a:t>:</a:t>
            </a:r>
            <a:endParaRPr sz="2000"/>
          </a:p>
          <a:p>
            <a:pPr algn="l">
              <a:spcAft>
                <a:spcPts val="200"/>
              </a:spcAft>
            </a:pPr>
            <a:r>
              <a:rPr sz="2000" b="0" i="0">
                <a:solidFill>
                  <a:srgbClr val="0033CC"/>
                </a:solidFill>
                <a:latin typeface="Trebuchet MS"/>
              </a:rPr>
              <a:t>:</a:t>
            </a:r>
            <a:endParaRPr sz="2000"/>
          </a:p>
          <a:p>
            <a:pPr algn="l">
              <a:spcAft>
                <a:spcPts val="200"/>
              </a:spcAft>
            </a:pPr>
            <a:r>
              <a:rPr sz="2000" b="0" i="0">
                <a:solidFill>
                  <a:srgbClr val="0033CC"/>
                </a:solidFill>
                <a:latin typeface="Trebuchet MS"/>
              </a:rPr>
              <a:t>:</a:t>
            </a:r>
            <a:endParaRPr sz="2000"/>
          </a:p>
        </p:txBody>
      </p:sp>
      <p:sp>
        <p:nvSpPr>
          <p:cNvPr id="5" name="TextBox 4"/>
          <p:cNvSpPr txBox="1"/>
          <p:nvPr/>
        </p:nvSpPr>
        <p:spPr>
          <a:xfrm>
            <a:off x="3429000" y="2487168"/>
            <a:ext cx="7863840" cy="2606040"/>
          </a:xfrm>
          <a:prstGeom prst="rect">
            <a:avLst/>
          </a:prstGeom>
          <a:noFill/>
        </p:spPr>
        <p:txBody>
          <a:bodyPr wrap="square" lIns="73152" tIns="43891" rIns="73152" bIns="43891" anchor="t">
            <a:spAutoFit/>
          </a:bodyPr>
          <a:lstStyle/>
          <a:p>
            <a:pPr algn="l">
              <a:spcAft>
                <a:spcPts val="200"/>
              </a:spcAft>
            </a:pPr>
            <a:r>
              <a:rPr sz="2000" b="0" i="0">
                <a:solidFill>
                  <a:srgbClr val="0033CC"/>
                </a:solidFill>
                <a:latin typeface="Trebuchet MS"/>
              </a:rPr>
              <a:t>E.C.H.O. – Efficient Contextualized History Orchestrator</a:t>
            </a:r>
            <a:endParaRPr sz="2000"/>
          </a:p>
          <a:p>
            <a:pPr algn="l">
              <a:spcAft>
                <a:spcPts val="200"/>
              </a:spcAft>
            </a:pPr>
            <a:r>
              <a:rPr sz="2000" b="0" i="0">
                <a:solidFill>
                  <a:srgbClr val="0033CC"/>
                </a:solidFill>
                <a:latin typeface="Trebuchet MS"/>
              </a:rPr>
              <a:t>92</a:t>
            </a:r>
            <a:endParaRPr sz="2000"/>
          </a:p>
          <a:p>
            <a:pPr algn="l">
              <a:spcAft>
                <a:spcPts val="200"/>
              </a:spcAft>
            </a:pPr>
            <a:r>
              <a:rPr sz="2000" b="0" i="0">
                <a:solidFill>
                  <a:srgbClr val="0033CC"/>
                </a:solidFill>
                <a:latin typeface="Trebuchet MS"/>
              </a:rPr>
              <a:t>Dr. M. Shalima Sulthana</a:t>
            </a:r>
            <a:endParaRPr sz="2000"/>
          </a:p>
          <a:p>
            <a:pPr algn="l">
              <a:spcAft>
                <a:spcPts val="200"/>
              </a:spcAft>
            </a:pPr>
            <a:r>
              <a:rPr sz="2000" b="0" i="0">
                <a:solidFill>
                  <a:srgbClr val="0033CC"/>
                </a:solidFill>
                <a:latin typeface="Trebuchet MS"/>
              </a:rPr>
              <a:t>Mrigank Jain — PES2UG23CS352</a:t>
            </a:r>
            <a:endParaRPr sz="2000"/>
          </a:p>
          <a:p>
            <a:pPr algn="l">
              <a:spcAft>
                <a:spcPts val="200"/>
              </a:spcAft>
            </a:pPr>
            <a:r>
              <a:rPr sz="2000" b="0" i="0">
                <a:solidFill>
                  <a:srgbClr val="0033CC"/>
                </a:solidFill>
                <a:latin typeface="Trebuchet MS"/>
              </a:rPr>
              <a:t>Mohammed Mir Fazlai Ali — PES2UG23CS346</a:t>
            </a:r>
            <a:endParaRPr sz="2000"/>
          </a:p>
          <a:p>
            <a:pPr algn="l">
              <a:spcAft>
                <a:spcPts val="200"/>
              </a:spcAft>
            </a:pPr>
            <a:r>
              <a:rPr sz="2000" b="0" i="0">
                <a:solidFill>
                  <a:srgbClr val="0033CC"/>
                </a:solidFill>
                <a:latin typeface="Trebuchet MS"/>
              </a:rPr>
              <a:t>Mohammed Shehzaad Khan — PES2UG23CS349</a:t>
            </a:r>
            <a:endParaRPr sz="2000"/>
          </a:p>
          <a:p>
            <a:pPr algn="l">
              <a:spcAft>
                <a:spcPts val="200"/>
              </a:spcAft>
            </a:pPr>
            <a:r>
              <a:rPr sz="2000" b="0" i="0">
                <a:solidFill>
                  <a:srgbClr val="0033CC"/>
                </a:solidFill>
                <a:latin typeface="Trebuchet MS"/>
              </a:rPr>
              <a:t>Arjun Sai N — PES2UG23CS091</a:t>
            </a:r>
            <a:endParaRPr sz="2000"/>
          </a:p>
        </p:txBody>
      </p:sp>
      <p:sp>
        <p:nvSpPr>
          <p:cNvPr id="6" name="TextBox 5"/>
          <p:cNvSpPr txBox="1"/>
          <p:nvPr/>
        </p:nvSpPr>
        <p:spPr>
          <a:xfrm>
            <a:off x="640080" y="5779008"/>
            <a:ext cx="7680960" cy="566928"/>
          </a:xfrm>
          <a:prstGeom prst="rect">
            <a:avLst/>
          </a:prstGeom>
          <a:noFill/>
        </p:spPr>
        <p:txBody>
          <a:bodyPr wrap="square" lIns="73152" tIns="43891" rIns="73152" bIns="43891" anchor="ctr">
            <a:spAutoFit/>
          </a:bodyPr>
          <a:lstStyle/>
          <a:p>
            <a:pPr algn="l">
              <a:spcAft>
                <a:spcPts val="0"/>
              </a:spcAft>
            </a:pPr>
            <a:r>
              <a:rPr sz="2400" b="1" i="0">
                <a:solidFill>
                  <a:srgbClr val="FFFFFF"/>
                </a:solidFill>
                <a:latin typeface="Trebuchet MS"/>
              </a:rPr>
              <a:t>Your private, searchable memory.</a:t>
            </a:r>
            <a:endParaRPr sz="2400"/>
          </a:p>
        </p:txBody>
      </p:sp>
      <p:sp>
        <p:nvSpPr>
          <p:cNvPr id="7" name="Rounded Rectangle 6"/>
          <p:cNvSpPr/>
          <p:nvPr/>
        </p:nvSpPr>
        <p:spPr>
          <a:xfrm>
            <a:off x="8732520" y="5687568"/>
            <a:ext cx="749808" cy="749808"/>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4"/>
          <a:stretch>
            <a:fillRect/>
          </a:stretch>
        </p:blipFill>
        <p:spPr>
          <a:xfrm>
            <a:off x="8833104" y="5857447"/>
            <a:ext cx="548640" cy="410048"/>
          </a:xfrm>
          <a:prstGeom prst="rect">
            <a:avLst/>
          </a:prstGeom>
        </p:spPr>
      </p:pic>
      <p:sp>
        <p:nvSpPr>
          <p:cNvPr id="9" name="Rounded Rectangle 8"/>
          <p:cNvSpPr/>
          <p:nvPr/>
        </p:nvSpPr>
        <p:spPr>
          <a:xfrm>
            <a:off x="9646920" y="5687568"/>
            <a:ext cx="749808" cy="749808"/>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image.png"/>
          <p:cNvPicPr>
            <a:picLocks noChangeAspect="1"/>
          </p:cNvPicPr>
          <p:nvPr/>
        </p:nvPicPr>
        <p:blipFill>
          <a:blip r:embed="rId5"/>
          <a:stretch>
            <a:fillRect/>
          </a:stretch>
        </p:blipFill>
        <p:spPr>
          <a:xfrm>
            <a:off x="9747504" y="5802666"/>
            <a:ext cx="548640" cy="519611"/>
          </a:xfrm>
          <a:prstGeom prst="rect">
            <a:avLst/>
          </a:prstGeom>
        </p:spPr>
      </p:pic>
      <p:sp>
        <p:nvSpPr>
          <p:cNvPr id="11" name="Rounded Rectangle 10"/>
          <p:cNvSpPr/>
          <p:nvPr/>
        </p:nvSpPr>
        <p:spPr>
          <a:xfrm>
            <a:off x="10561320" y="5687568"/>
            <a:ext cx="749808" cy="749808"/>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6"/>
          <a:stretch>
            <a:fillRect/>
          </a:stretch>
        </p:blipFill>
        <p:spPr>
          <a:xfrm>
            <a:off x="10661904" y="5849043"/>
            <a:ext cx="548640" cy="42685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Guide Approval Mail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0" name="Content Placeholder 2"/>
          <p:cNvSpPr txBox="1">
            <a:spLocks/>
          </p:cNvSpPr>
          <p:nvPr/>
        </p:nvSpPr>
        <p:spPr>
          <a:xfrm>
            <a:off x="1600200" y="1828800"/>
            <a:ext cx="9448800" cy="4572000"/>
          </a:xfrm>
          <a:prstGeom prst="rect">
            <a:avLst/>
          </a:prstGeom>
        </p:spPr>
        <p:txBody>
          <a:bodyPr/>
          <a:lstStyle/>
          <a:p>
            <a:pPr marL="685791" indent="-342900" algn="just" eaLnBrk="0" hangingPunct="0">
              <a:spcBef>
                <a:spcPct val="20000"/>
              </a:spcBef>
              <a:buFont typeface="Arial" panose="020B0604020202020204" pitchFamily="34" charset="0"/>
              <a:buChar char="•"/>
              <a:defRPr/>
            </a:pPr>
            <a:endParaRPr lang="en-IN" sz="2000" kern="0" dirty="0">
              <a:solidFill>
                <a:srgbClr val="0000FF"/>
              </a:solidFill>
              <a:latin typeface="Trebuchet MS" pitchFamily="34" charset="0"/>
            </a:endParaRP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Abstract and Scope of the Project</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Suggestions from Review – 1 &amp; 2</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Complete pipeline/Architecture of Project</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Implementation Details (for each module)</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Project Demonstration</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Test Plan and Strategy</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Results and Discussion</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Conclusion and Future Work</a:t>
            </a:r>
          </a:p>
          <a:p>
            <a:pPr marL="685791" indent="-342900" algn="just" eaLnBrk="0" hangingPunct="0">
              <a:spcBef>
                <a:spcPts val="0"/>
              </a:spcBef>
              <a:spcAft>
                <a:spcPts val="0"/>
              </a:spcAft>
              <a:buFont typeface="Wingdings" pitchFamily="2" charset="2"/>
              <a:buChar char="§"/>
              <a:defRPr/>
            </a:pPr>
            <a:r>
              <a:rPr lang="en-US" sz="2400" dirty="0">
                <a:solidFill>
                  <a:srgbClr val="0033CC"/>
                </a:solidFill>
                <a:latin typeface="Trebuchet MS"/>
                <a:ea typeface="Trebuchet MS"/>
                <a:cs typeface="Trebuchet MS"/>
                <a:sym typeface="Trebuchet MS"/>
              </a:rPr>
              <a:t>References</a:t>
            </a:r>
          </a:p>
          <a:p>
            <a:pPr marL="685791" lvl="0" indent="-342900" algn="just" eaLnBrk="0" hangingPunct="0">
              <a:spcBef>
                <a:spcPts val="0"/>
              </a:spcBef>
              <a:spcAft>
                <a:spcPts val="0"/>
              </a:spcAft>
              <a:buFont typeface="Wingdings" pitchFamily="2" charset="2"/>
              <a:buChar char="§"/>
              <a:defRPr/>
            </a:pPr>
            <a:endParaRPr lang="en-US" sz="2400" dirty="0">
              <a:solidFill>
                <a:srgbClr val="0033CC"/>
              </a:solidFill>
              <a:latin typeface="Trebuchet MS"/>
              <a:ea typeface="Trebuchet MS"/>
              <a:cs typeface="Trebuchet MS"/>
              <a:sym typeface="Trebuchet MS"/>
            </a:endParaRPr>
          </a:p>
          <a:p>
            <a:pPr marL="685791" indent="-342900" algn="just" eaLnBrk="0" hangingPunct="0">
              <a:spcBef>
                <a:spcPts val="0"/>
              </a:spcBef>
              <a:spcAft>
                <a:spcPts val="0"/>
              </a:spcAft>
              <a:defRPr/>
            </a:pPr>
            <a:endParaRPr lang="en-US" sz="2400" dirty="0">
              <a:solidFill>
                <a:srgbClr val="0033CC"/>
              </a:solidFill>
              <a:latin typeface="Trebuchet MS"/>
              <a:ea typeface="Trebuchet MS"/>
              <a:cs typeface="Trebuchet MS"/>
              <a:sym typeface="Trebuchet MS"/>
            </a:endParaRPr>
          </a:p>
        </p:txBody>
      </p:sp>
      <p:sp>
        <p:nvSpPr>
          <p:cNvPr id="14"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Outline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Abstract and Scope</a:t>
            </a:r>
          </a:p>
        </p:txBody>
      </p:sp>
      <p:sp>
        <p:nvSpPr>
          <p:cNvPr id="15" name="Rounded Rectangle 14"/>
          <p:cNvSpPr/>
          <p:nvPr/>
        </p:nvSpPr>
        <p:spPr>
          <a:xfrm>
            <a:off x="640080" y="1874519"/>
            <a:ext cx="10908792" cy="9601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image.png"/>
          <p:cNvPicPr>
            <a:picLocks noChangeAspect="1"/>
          </p:cNvPicPr>
          <p:nvPr/>
        </p:nvPicPr>
        <p:blipFill>
          <a:blip r:embed="rId4"/>
          <a:stretch>
            <a:fillRect/>
          </a:stretch>
        </p:blipFill>
        <p:spPr>
          <a:xfrm>
            <a:off x="822959" y="2115385"/>
            <a:ext cx="640080" cy="478389"/>
          </a:xfrm>
          <a:prstGeom prst="rect">
            <a:avLst/>
          </a:prstGeom>
        </p:spPr>
      </p:pic>
      <p:pic>
        <p:nvPicPr>
          <p:cNvPr id="17" name="Picture 16" descr="image.png"/>
          <p:cNvPicPr>
            <a:picLocks noChangeAspect="1"/>
          </p:cNvPicPr>
          <p:nvPr/>
        </p:nvPicPr>
        <p:blipFill>
          <a:blip r:embed="rId5"/>
          <a:stretch>
            <a:fillRect/>
          </a:stretch>
        </p:blipFill>
        <p:spPr>
          <a:xfrm>
            <a:off x="1600200" y="2051473"/>
            <a:ext cx="640080" cy="606213"/>
          </a:xfrm>
          <a:prstGeom prst="rect">
            <a:avLst/>
          </a:prstGeom>
        </p:spPr>
      </p:pic>
      <p:pic>
        <p:nvPicPr>
          <p:cNvPr id="18" name="Picture 17" descr="image.png"/>
          <p:cNvPicPr>
            <a:picLocks noChangeAspect="1"/>
          </p:cNvPicPr>
          <p:nvPr/>
        </p:nvPicPr>
        <p:blipFill>
          <a:blip r:embed="rId6"/>
          <a:stretch>
            <a:fillRect/>
          </a:stretch>
        </p:blipFill>
        <p:spPr>
          <a:xfrm>
            <a:off x="2377439" y="2105580"/>
            <a:ext cx="640080" cy="497999"/>
          </a:xfrm>
          <a:prstGeom prst="rect">
            <a:avLst/>
          </a:prstGeom>
        </p:spPr>
      </p:pic>
      <p:cxnSp>
        <p:nvCxnSpPr>
          <p:cNvPr id="19" name="Connector 18"/>
          <p:cNvCxnSpPr/>
          <p:nvPr/>
        </p:nvCxnSpPr>
        <p:spPr>
          <a:xfrm>
            <a:off x="3200400" y="2354579"/>
            <a:ext cx="457200" cy="0"/>
          </a:xfrm>
          <a:prstGeom prst="line">
            <a:avLst/>
          </a:prstGeom>
          <a:ln w="38100">
            <a:solidFill>
              <a:srgbClr val="0033CC"/>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794760" y="1874519"/>
            <a:ext cx="7662672" cy="960120"/>
          </a:xfrm>
          <a:prstGeom prst="rect">
            <a:avLst/>
          </a:prstGeom>
          <a:noFill/>
        </p:spPr>
        <p:txBody>
          <a:bodyPr wrap="square" lIns="73152" tIns="43891" rIns="73152" bIns="43891" anchor="ctr">
            <a:spAutoFit/>
          </a:bodyPr>
          <a:lstStyle/>
          <a:p>
            <a:pPr algn="l">
              <a:spcAft>
                <a:spcPts val="0"/>
              </a:spcAft>
            </a:pPr>
            <a:r>
              <a:rPr sz="1900" b="1" i="0">
                <a:solidFill>
                  <a:srgbClr val="10204A"/>
                </a:solidFill>
                <a:latin typeface="Trebuchet MS"/>
              </a:rPr>
              <a:t>The problem. </a:t>
            </a:r>
            <a:r>
              <a:rPr sz="1900" b="0" i="0">
                <a:solidFill>
                  <a:srgbClr val="10204A"/>
                </a:solidFill>
                <a:latin typeface="Trebuchet MS"/>
              </a:rPr>
              <a:t>A student gets an interview email, reads articles and watches tutorials. A week later it is spread over Gmail, Chrome and YouTube, and no tool searches all three.</a:t>
            </a:r>
            <a:endParaRPr sz="1900"/>
          </a:p>
        </p:txBody>
      </p:sp>
      <p:sp>
        <p:nvSpPr>
          <p:cNvPr id="21" name="Rounded Rectangle 20"/>
          <p:cNvSpPr/>
          <p:nvPr/>
        </p:nvSpPr>
        <p:spPr>
          <a:xfrm>
            <a:off x="640080" y="2944368"/>
            <a:ext cx="3483864" cy="23317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0080" y="3054096"/>
            <a:ext cx="73152" cy="2112263"/>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86384" y="2980944"/>
            <a:ext cx="3282696" cy="2258568"/>
          </a:xfrm>
          <a:prstGeom prst="rect">
            <a:avLst/>
          </a:prstGeom>
          <a:noFill/>
        </p:spPr>
        <p:txBody>
          <a:bodyPr wrap="square" tIns="54864" bIns="54864" anchor="t">
            <a:spAutoFit/>
          </a:bodyPr>
          <a:lstStyle/>
          <a:p>
            <a:pPr algn="l">
              <a:spcAft>
                <a:spcPts val="600"/>
              </a:spcAft>
            </a:pPr>
            <a:r>
              <a:rPr sz="2400" b="1" i="0">
                <a:solidFill>
                  <a:srgbClr val="1F4FE0"/>
                </a:solidFill>
                <a:latin typeface="Trebuchet MS"/>
              </a:rPr>
              <a:t>Capture</a:t>
            </a:r>
            <a:endParaRPr sz="2400"/>
          </a:p>
          <a:p>
            <a:pPr marL="256032" indent="-256032" algn="l">
              <a:spcAft>
                <a:spcPts val="500"/>
              </a:spcAft>
              <a:buFont typeface="Arial"/>
              <a:buChar char="•"/>
            </a:pPr>
            <a:r>
              <a:rPr sz="1900" b="0" i="0">
                <a:solidFill>
                  <a:srgbClr val="10204A"/>
                </a:solidFill>
                <a:latin typeface="Trebuchet MS"/>
              </a:rPr>
              <a:t>Every email is kept</a:t>
            </a:r>
            <a:endParaRPr sz="1900"/>
          </a:p>
          <a:p>
            <a:pPr marL="256032" indent="-256032" algn="l">
              <a:spcAft>
                <a:spcPts val="500"/>
              </a:spcAft>
              <a:buFont typeface="Arial"/>
              <a:buChar char="•"/>
            </a:pPr>
            <a:r>
              <a:rPr sz="1900" b="0" i="0">
                <a:solidFill>
                  <a:srgbClr val="10204A"/>
                </a:solidFill>
                <a:latin typeface="Trebuchet MS"/>
              </a:rPr>
              <a:t>Pages and videos only if you engaged</a:t>
            </a:r>
            <a:endParaRPr sz="1900"/>
          </a:p>
          <a:p>
            <a:pPr marL="256032" indent="-256032" algn="l">
              <a:spcAft>
                <a:spcPts val="500"/>
              </a:spcAft>
              <a:buFont typeface="Arial"/>
              <a:buChar char="•"/>
            </a:pPr>
            <a:r>
              <a:rPr sz="1900" b="0" i="0">
                <a:solidFill>
                  <a:srgbClr val="10204A"/>
                </a:solidFill>
                <a:latin typeface="Trebuchet MS"/>
              </a:rPr>
              <a:t>Sensitive pages never stored</a:t>
            </a:r>
            <a:endParaRPr sz="1900"/>
          </a:p>
        </p:txBody>
      </p:sp>
      <p:sp>
        <p:nvSpPr>
          <p:cNvPr id="24" name="Rounded Rectangle 23"/>
          <p:cNvSpPr/>
          <p:nvPr/>
        </p:nvSpPr>
        <p:spPr>
          <a:xfrm>
            <a:off x="4352544" y="2944368"/>
            <a:ext cx="3483864" cy="23317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352544" y="3054096"/>
            <a:ext cx="73152" cy="2112263"/>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98848" y="2980944"/>
            <a:ext cx="3282696" cy="2258568"/>
          </a:xfrm>
          <a:prstGeom prst="rect">
            <a:avLst/>
          </a:prstGeom>
          <a:noFill/>
        </p:spPr>
        <p:txBody>
          <a:bodyPr wrap="square" tIns="54864" bIns="54864" anchor="t">
            <a:spAutoFit/>
          </a:bodyPr>
          <a:lstStyle/>
          <a:p>
            <a:pPr algn="l">
              <a:spcAft>
                <a:spcPts val="600"/>
              </a:spcAft>
            </a:pPr>
            <a:r>
              <a:rPr sz="2400" b="1" i="0">
                <a:solidFill>
                  <a:srgbClr val="1F4FE0"/>
                </a:solidFill>
                <a:latin typeface="Trebuchet MS"/>
              </a:rPr>
              <a:t>Recall</a:t>
            </a:r>
            <a:endParaRPr sz="2400"/>
          </a:p>
          <a:p>
            <a:pPr marL="256032" indent="-256032" algn="l">
              <a:spcAft>
                <a:spcPts val="500"/>
              </a:spcAft>
              <a:buFont typeface="Arial"/>
              <a:buChar char="•"/>
            </a:pPr>
            <a:r>
              <a:rPr sz="1900" b="0" i="0">
                <a:solidFill>
                  <a:srgbClr val="10204A"/>
                </a:solidFill>
                <a:latin typeface="Trebuchet MS"/>
              </a:rPr>
              <a:t>One question, all sources</a:t>
            </a:r>
            <a:endParaRPr sz="1900"/>
          </a:p>
          <a:p>
            <a:pPr marL="256032" indent="-256032" algn="l">
              <a:spcAft>
                <a:spcPts val="500"/>
              </a:spcAft>
              <a:buFont typeface="Arial"/>
              <a:buChar char="•"/>
            </a:pPr>
            <a:r>
              <a:rPr sz="1900" b="0" i="0">
                <a:solidFill>
                  <a:srgbClr val="10204A"/>
                </a:solidFill>
                <a:latin typeface="Trebuchet MS"/>
              </a:rPr>
              <a:t>Links to the original</a:t>
            </a:r>
            <a:endParaRPr sz="1900"/>
          </a:p>
          <a:p>
            <a:pPr marL="256032" indent="-256032" algn="l">
              <a:spcAft>
                <a:spcPts val="500"/>
              </a:spcAft>
              <a:buFont typeface="Arial"/>
              <a:buChar char="•"/>
            </a:pPr>
            <a:r>
              <a:rPr sz="1900" b="0" i="0">
                <a:solidFill>
                  <a:srgbClr val="10204A"/>
                </a:solidFill>
                <a:latin typeface="Trebuchet MS"/>
              </a:rPr>
              <a:t>Follow-ups keep context</a:t>
            </a:r>
            <a:endParaRPr sz="1900"/>
          </a:p>
        </p:txBody>
      </p:sp>
      <p:sp>
        <p:nvSpPr>
          <p:cNvPr id="27" name="Rounded Rectangle 26"/>
          <p:cNvSpPr/>
          <p:nvPr/>
        </p:nvSpPr>
        <p:spPr>
          <a:xfrm>
            <a:off x="8065008" y="2944368"/>
            <a:ext cx="3483864" cy="23317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065008" y="3054096"/>
            <a:ext cx="73152" cy="2112263"/>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11312" y="2980944"/>
            <a:ext cx="3282696" cy="2258568"/>
          </a:xfrm>
          <a:prstGeom prst="rect">
            <a:avLst/>
          </a:prstGeom>
          <a:noFill/>
        </p:spPr>
        <p:txBody>
          <a:bodyPr wrap="square" tIns="54864" bIns="54864" anchor="t">
            <a:spAutoFit/>
          </a:bodyPr>
          <a:lstStyle/>
          <a:p>
            <a:pPr algn="l">
              <a:spcAft>
                <a:spcPts val="600"/>
              </a:spcAft>
            </a:pPr>
            <a:r>
              <a:rPr sz="2400" b="1" i="0">
                <a:solidFill>
                  <a:srgbClr val="1F4FE0"/>
                </a:solidFill>
                <a:latin typeface="Trebuchet MS"/>
              </a:rPr>
              <a:t>Reflect</a:t>
            </a:r>
            <a:endParaRPr sz="2400"/>
          </a:p>
          <a:p>
            <a:pPr marL="256032" indent="-256032" algn="l">
              <a:spcAft>
                <a:spcPts val="500"/>
              </a:spcAft>
              <a:buFont typeface="Arial"/>
              <a:buChar char="•"/>
            </a:pPr>
            <a:r>
              <a:rPr sz="1900" b="0" i="0">
                <a:solidFill>
                  <a:srgbClr val="10204A"/>
                </a:solidFill>
                <a:latin typeface="Trebuchet MS"/>
              </a:rPr>
              <a:t>Time per category</a:t>
            </a:r>
            <a:endParaRPr sz="1900"/>
          </a:p>
          <a:p>
            <a:pPr marL="256032" indent="-256032" algn="l">
              <a:spcAft>
                <a:spcPts val="500"/>
              </a:spcAft>
              <a:buFont typeface="Arial"/>
              <a:buChar char="•"/>
            </a:pPr>
            <a:r>
              <a:rPr sz="1900" b="0" i="0">
                <a:solidFill>
                  <a:srgbClr val="10204A"/>
                </a:solidFill>
                <a:latin typeface="Trebuchet MS"/>
              </a:rPr>
              <a:t>Sessions and regret you mark</a:t>
            </a:r>
            <a:endParaRPr sz="1900"/>
          </a:p>
          <a:p>
            <a:pPr marL="256032" indent="-256032" algn="l">
              <a:spcAft>
                <a:spcPts val="500"/>
              </a:spcAft>
              <a:buFont typeface="Arial"/>
              <a:buChar char="•"/>
            </a:pPr>
            <a:r>
              <a:rPr sz="1900" b="0" i="0">
                <a:solidFill>
                  <a:srgbClr val="10204A"/>
                </a:solidFill>
                <a:latin typeface="Trebuchet MS"/>
              </a:rPr>
              <a:t>Groups change only with your yes</a:t>
            </a:r>
            <a:endParaRPr sz="1900"/>
          </a:p>
        </p:txBody>
      </p:sp>
      <p:sp>
        <p:nvSpPr>
          <p:cNvPr id="30" name="Rounded Rectangle 29"/>
          <p:cNvSpPr/>
          <p:nvPr/>
        </p:nvSpPr>
        <p:spPr>
          <a:xfrm>
            <a:off x="640080" y="5385816"/>
            <a:ext cx="5340096" cy="1124712"/>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1900" b="1" i="0">
                <a:solidFill>
                  <a:srgbClr val="10204A"/>
                </a:solidFill>
                <a:latin typeface="Trebuchet MS"/>
              </a:rPr>
              <a:t>Scope. </a:t>
            </a:r>
            <a:r>
              <a:rPr sz="1900" b="0" i="0">
                <a:solidFill>
                  <a:srgbClr val="10204A"/>
                </a:solidFill>
                <a:latin typeface="Trebuchet MS"/>
              </a:rPr>
              <a:t>One user, one laptop: desktop Chrome, Gmail and YouTube. Not a cloud service, a score or a blocker.</a:t>
            </a:r>
            <a:endParaRPr sz="1900"/>
          </a:p>
        </p:txBody>
      </p:sp>
      <p:sp>
        <p:nvSpPr>
          <p:cNvPr id="31" name="Rounded Rectangle 30"/>
          <p:cNvSpPr/>
          <p:nvPr/>
        </p:nvSpPr>
        <p:spPr>
          <a:xfrm>
            <a:off x="6208776" y="5385816"/>
            <a:ext cx="5340096" cy="1124712"/>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1900" b="1" i="0">
                <a:solidFill>
                  <a:srgbClr val="10204A"/>
                </a:solidFill>
                <a:latin typeface="Trebuchet MS"/>
              </a:rPr>
              <a:t>Local-first. </a:t>
            </a:r>
            <a:r>
              <a:rPr sz="1900" b="0" i="0">
                <a:solidFill>
                  <a:srgbClr val="10204A"/>
                </a:solidFill>
                <a:latin typeface="Trebuchet MS"/>
              </a:rPr>
              <a:t>Storage and processing run on your laptop. Only your question and short snippets go to the language model, never full emails.</a:t>
            </a:r>
            <a:endParaRPr sz="1900"/>
          </a:p>
        </p:txBody>
      </p:sp>
    </p:spTree>
    <p:extLst>
      <p:ext uri="{BB962C8B-B14F-4D97-AF65-F5344CB8AC3E}">
        <p14:creationId xmlns:p14="http://schemas.microsoft.com/office/powerpoint/2010/main" val="38110301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Suggestions from Review – 1 &amp; 2</a:t>
            </a:r>
          </a:p>
        </p:txBody>
      </p:sp>
      <p:sp>
        <p:nvSpPr>
          <p:cNvPr id="15" name="Rectangle 14"/>
          <p:cNvSpPr/>
          <p:nvPr/>
        </p:nvSpPr>
        <p:spPr>
          <a:xfrm>
            <a:off x="640080" y="1874519"/>
            <a:ext cx="1417320" cy="502920"/>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l">
              <a:spcAft>
                <a:spcPts val="400"/>
              </a:spcAft>
            </a:pPr>
            <a:r>
              <a:rPr sz="2000" b="1" i="0">
                <a:solidFill>
                  <a:srgbClr val="FFFFFF"/>
                </a:solidFill>
                <a:latin typeface="Trebuchet MS"/>
              </a:rPr>
              <a:t>Review</a:t>
            </a:r>
            <a:endParaRPr sz="2000"/>
          </a:p>
        </p:txBody>
      </p:sp>
      <p:sp>
        <p:nvSpPr>
          <p:cNvPr id="16" name="Rectangle 15"/>
          <p:cNvSpPr/>
          <p:nvPr/>
        </p:nvSpPr>
        <p:spPr>
          <a:xfrm>
            <a:off x="2057400" y="1874519"/>
            <a:ext cx="2286000" cy="502920"/>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l">
              <a:spcAft>
                <a:spcPts val="400"/>
              </a:spcAft>
            </a:pPr>
            <a:r>
              <a:rPr sz="2000" b="1" i="0">
                <a:solidFill>
                  <a:srgbClr val="FFFFFF"/>
                </a:solidFill>
                <a:latin typeface="Trebuchet MS"/>
              </a:rPr>
              <a:t>Suggestion</a:t>
            </a:r>
            <a:endParaRPr sz="2000"/>
          </a:p>
        </p:txBody>
      </p:sp>
      <p:sp>
        <p:nvSpPr>
          <p:cNvPr id="17" name="Rectangle 16"/>
          <p:cNvSpPr/>
          <p:nvPr/>
        </p:nvSpPr>
        <p:spPr>
          <a:xfrm>
            <a:off x="4343400" y="1874519"/>
            <a:ext cx="5577840" cy="502920"/>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l">
              <a:spcAft>
                <a:spcPts val="400"/>
              </a:spcAft>
            </a:pPr>
            <a:r>
              <a:rPr sz="2000" b="1" i="0">
                <a:solidFill>
                  <a:srgbClr val="FFFFFF"/>
                </a:solidFill>
                <a:latin typeface="Trebuchet MS"/>
              </a:rPr>
              <a:t>Our response</a:t>
            </a:r>
            <a:endParaRPr sz="2000"/>
          </a:p>
        </p:txBody>
      </p:sp>
      <p:sp>
        <p:nvSpPr>
          <p:cNvPr id="18" name="Rectangle 17"/>
          <p:cNvSpPr/>
          <p:nvPr/>
        </p:nvSpPr>
        <p:spPr>
          <a:xfrm>
            <a:off x="9921240" y="1874519"/>
            <a:ext cx="1627632" cy="502920"/>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65836" rIns="109728" bIns="65836" rtlCol="0" anchor="ctr"/>
          <a:lstStyle/>
          <a:p>
            <a:pPr algn="l">
              <a:spcAft>
                <a:spcPts val="400"/>
              </a:spcAft>
            </a:pPr>
            <a:r>
              <a:rPr sz="2000" b="1" i="0">
                <a:solidFill>
                  <a:srgbClr val="FFFFFF"/>
                </a:solidFill>
                <a:latin typeface="Trebuchet MS"/>
              </a:rPr>
              <a:t>Status</a:t>
            </a:r>
            <a:endParaRPr sz="2000"/>
          </a:p>
        </p:txBody>
      </p:sp>
      <p:sp>
        <p:nvSpPr>
          <p:cNvPr id="19" name="Rounded Rectangle 18"/>
          <p:cNvSpPr/>
          <p:nvPr/>
        </p:nvSpPr>
        <p:spPr>
          <a:xfrm>
            <a:off x="640080" y="2514600"/>
            <a:ext cx="10908792" cy="173736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49808" y="3154680"/>
            <a:ext cx="1197864" cy="457200"/>
          </a:xfrm>
          <a:prstGeom prst="roundRect">
            <a:avLst>
              <a:gd name="adj" fmla="val 50000"/>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Review 1</a:t>
            </a:r>
            <a:endParaRPr sz="1800"/>
          </a:p>
        </p:txBody>
      </p:sp>
      <p:sp>
        <p:nvSpPr>
          <p:cNvPr id="21" name="TextBox 20"/>
          <p:cNvSpPr txBox="1"/>
          <p:nvPr/>
        </p:nvSpPr>
        <p:spPr>
          <a:xfrm>
            <a:off x="2057400" y="2514600"/>
            <a:ext cx="2286000" cy="1737360"/>
          </a:xfrm>
          <a:prstGeom prst="rect">
            <a:avLst/>
          </a:prstGeom>
          <a:noFill/>
        </p:spPr>
        <p:txBody>
          <a:bodyPr wrap="square" lIns="109728" tIns="65836" rIns="109728" bIns="65836" anchor="ctr">
            <a:spAutoFit/>
          </a:bodyPr>
          <a:lstStyle/>
          <a:p>
            <a:pPr algn="l">
              <a:spcAft>
                <a:spcPts val="0"/>
              </a:spcAft>
            </a:pPr>
            <a:r>
              <a:rPr sz="2200" b="1" i="0">
                <a:solidFill>
                  <a:srgbClr val="10204A"/>
                </a:solidFill>
                <a:latin typeface="Trebuchet MS"/>
              </a:rPr>
              <a:t>Data retention</a:t>
            </a:r>
            <a:endParaRPr sz="2200"/>
          </a:p>
        </p:txBody>
      </p:sp>
      <p:sp>
        <p:nvSpPr>
          <p:cNvPr id="22" name="TextBox 21"/>
          <p:cNvSpPr txBox="1"/>
          <p:nvPr/>
        </p:nvSpPr>
        <p:spPr>
          <a:xfrm>
            <a:off x="4343400" y="2514600"/>
            <a:ext cx="5577840" cy="1737360"/>
          </a:xfrm>
          <a:prstGeom prst="rect">
            <a:avLst/>
          </a:prstGeom>
          <a:noFill/>
        </p:spPr>
        <p:txBody>
          <a:bodyPr wrap="square" lIns="109728" tIns="65836" rIns="109728" bIns="65836" anchor="ctr">
            <a:spAutoFit/>
          </a:bodyPr>
          <a:lstStyle/>
          <a:p>
            <a:pPr algn="l">
              <a:spcAft>
                <a:spcPts val="0"/>
              </a:spcAft>
            </a:pPr>
            <a:r>
              <a:rPr sz="2000" b="0" i="0">
                <a:solidFill>
                  <a:srgbClr val="10204A"/>
                </a:solidFill>
                <a:latin typeface="Trebuchet MS"/>
              </a:rPr>
              <a:t>A setting: keep forever, 1 year or 6 months. Older items are deleted from the database, the vector index and the cache.</a:t>
            </a:r>
            <a:endParaRPr sz="2000"/>
          </a:p>
        </p:txBody>
      </p:sp>
      <p:sp>
        <p:nvSpPr>
          <p:cNvPr id="23" name="Rounded Rectangle 22"/>
          <p:cNvSpPr/>
          <p:nvPr/>
        </p:nvSpPr>
        <p:spPr>
          <a:xfrm>
            <a:off x="10058400" y="3154680"/>
            <a:ext cx="1353312" cy="45720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
        <p:nvSpPr>
          <p:cNvPr id="24" name="Rounded Rectangle 23"/>
          <p:cNvSpPr/>
          <p:nvPr/>
        </p:nvSpPr>
        <p:spPr>
          <a:xfrm>
            <a:off x="640080" y="4361688"/>
            <a:ext cx="10908792" cy="173736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749808" y="5001768"/>
            <a:ext cx="1197864" cy="457200"/>
          </a:xfrm>
          <a:prstGeom prst="roundRect">
            <a:avLst>
              <a:gd name="adj" fmla="val 50000"/>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Review 1</a:t>
            </a:r>
            <a:endParaRPr sz="1800"/>
          </a:p>
        </p:txBody>
      </p:sp>
      <p:sp>
        <p:nvSpPr>
          <p:cNvPr id="26" name="TextBox 25"/>
          <p:cNvSpPr txBox="1"/>
          <p:nvPr/>
        </p:nvSpPr>
        <p:spPr>
          <a:xfrm>
            <a:off x="2057400" y="4361688"/>
            <a:ext cx="2286000" cy="1737360"/>
          </a:xfrm>
          <a:prstGeom prst="rect">
            <a:avLst/>
          </a:prstGeom>
          <a:noFill/>
        </p:spPr>
        <p:txBody>
          <a:bodyPr wrap="square" lIns="109728" tIns="65836" rIns="109728" bIns="65836" anchor="ctr">
            <a:spAutoFit/>
          </a:bodyPr>
          <a:lstStyle/>
          <a:p>
            <a:pPr algn="l">
              <a:spcAft>
                <a:spcPts val="0"/>
              </a:spcAft>
            </a:pPr>
            <a:r>
              <a:rPr sz="2200" b="1" i="0">
                <a:solidFill>
                  <a:srgbClr val="10204A"/>
                </a:solidFill>
                <a:latin typeface="Trebuchet MS"/>
              </a:rPr>
              <a:t>Spam filtering</a:t>
            </a:r>
            <a:endParaRPr sz="2200"/>
          </a:p>
        </p:txBody>
      </p:sp>
      <p:sp>
        <p:nvSpPr>
          <p:cNvPr id="27" name="TextBox 26"/>
          <p:cNvSpPr txBox="1"/>
          <p:nvPr/>
        </p:nvSpPr>
        <p:spPr>
          <a:xfrm>
            <a:off x="4343400" y="4361688"/>
            <a:ext cx="5577840" cy="1737360"/>
          </a:xfrm>
          <a:prstGeom prst="rect">
            <a:avLst/>
          </a:prstGeom>
          <a:noFill/>
        </p:spPr>
        <p:txBody>
          <a:bodyPr wrap="square" lIns="109728" tIns="65836" rIns="109728" bIns="65836" anchor="ctr">
            <a:spAutoFit/>
          </a:bodyPr>
          <a:lstStyle/>
          <a:p>
            <a:pPr algn="l">
              <a:spcAft>
                <a:spcPts val="0"/>
              </a:spcAft>
            </a:pPr>
            <a:r>
              <a:rPr sz="2000" b="0" i="0">
                <a:solidFill>
                  <a:srgbClr val="10204A"/>
                </a:solidFill>
                <a:latin typeface="Trebuchet MS"/>
              </a:rPr>
              <a:t>Gmail's own filter is our spam filter. Spam, Trash and draft mail is never read.</a:t>
            </a:r>
            <a:endParaRPr sz="2000"/>
          </a:p>
        </p:txBody>
      </p:sp>
      <p:sp>
        <p:nvSpPr>
          <p:cNvPr id="28" name="Rounded Rectangle 27"/>
          <p:cNvSpPr/>
          <p:nvPr/>
        </p:nvSpPr>
        <p:spPr>
          <a:xfrm>
            <a:off x="10058400" y="5001768"/>
            <a:ext cx="1353312" cy="45720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Tree>
    <p:extLst>
      <p:ext uri="{BB962C8B-B14F-4D97-AF65-F5344CB8AC3E}">
        <p14:creationId xmlns:p14="http://schemas.microsoft.com/office/powerpoint/2010/main" val="4205369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a:extLst>
            <a:ext uri="{FF2B5EF4-FFF2-40B4-BE49-F238E27FC236}">
              <a16:creationId xmlns:a16="http://schemas.microsoft.com/office/drawing/2014/main" id="{048C8ED5-E723-136E-FDC0-3A005013980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8AE750B-D869-952A-66FD-67A61F4ACA7A}"/>
              </a:ext>
            </a:extLst>
          </p:cNvPr>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a:extLst>
              <a:ext uri="{FF2B5EF4-FFF2-40B4-BE49-F238E27FC236}">
                <a16:creationId xmlns:a16="http://schemas.microsoft.com/office/drawing/2014/main" id="{BF8CE69B-69B8-0295-A31E-C148A00B4E16}"/>
              </a:ext>
            </a:extLst>
          </p:cNvPr>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891" indent="-342891" algn="r" eaLnBrk="0" hangingPunct="0">
              <a:defRPr/>
            </a:pPr>
            <a:r>
              <a:rPr lang="en-US" sz="3200" dirty="0">
                <a:solidFill>
                  <a:srgbClr val="FF0000"/>
                </a:solidFill>
                <a:latin typeface="Trebuchet MS" pitchFamily="34" charset="0"/>
              </a:rPr>
              <a:t>Complete Pipeline / Architecture of Project</a:t>
            </a:r>
          </a:p>
        </p:txBody>
      </p:sp>
      <p:sp>
        <p:nvSpPr>
          <p:cNvPr id="15" name="Rounded Rectangle 14"/>
          <p:cNvSpPr/>
          <p:nvPr/>
        </p:nvSpPr>
        <p:spPr>
          <a:xfrm>
            <a:off x="1783080" y="1865376"/>
            <a:ext cx="9765792" cy="3666744"/>
          </a:xfrm>
          <a:prstGeom prst="roundRect">
            <a:avLst>
              <a:gd name="adj" fmla="val 3000"/>
            </a:avLst>
          </a:prstGeom>
          <a:solidFill>
            <a:srgbClr val="FFFFFF">
              <a:alpha val="96000"/>
            </a:srgbClr>
          </a:solidFill>
          <a:ln w="22225">
            <a:solidFill>
              <a:srgbClr val="0033C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920240" y="1892807"/>
            <a:ext cx="7315200" cy="384048"/>
          </a:xfrm>
          <a:prstGeom prst="rect">
            <a:avLst/>
          </a:prstGeom>
          <a:noFill/>
        </p:spPr>
        <p:txBody>
          <a:bodyPr wrap="square" lIns="18288" tIns="10972" rIns="18288" bIns="10972" anchor="t">
            <a:spAutoFit/>
          </a:bodyPr>
          <a:lstStyle/>
          <a:p>
            <a:pPr algn="l">
              <a:spcAft>
                <a:spcPts val="400"/>
              </a:spcAft>
            </a:pPr>
            <a:r>
              <a:rPr sz="2000" b="1" i="0">
                <a:solidFill>
                  <a:srgbClr val="0033CC"/>
                </a:solidFill>
                <a:latin typeface="Trebuchet MS"/>
              </a:rPr>
              <a:t>YOUR LAPTOP — everything stays local</a:t>
            </a:r>
            <a:endParaRPr sz="2000"/>
          </a:p>
        </p:txBody>
      </p:sp>
      <p:sp>
        <p:nvSpPr>
          <p:cNvPr id="17" name="TextBox 16"/>
          <p:cNvSpPr txBox="1"/>
          <p:nvPr/>
        </p:nvSpPr>
        <p:spPr>
          <a:xfrm>
            <a:off x="1874519" y="2276856"/>
            <a:ext cx="155448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Browser</a:t>
            </a:r>
            <a:endParaRPr sz="1800"/>
          </a:p>
        </p:txBody>
      </p:sp>
      <p:sp>
        <p:nvSpPr>
          <p:cNvPr id="18" name="TextBox 17"/>
          <p:cNvSpPr txBox="1"/>
          <p:nvPr/>
        </p:nvSpPr>
        <p:spPr>
          <a:xfrm>
            <a:off x="3474720" y="2276856"/>
            <a:ext cx="1463039"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Connectors</a:t>
            </a:r>
            <a:endParaRPr sz="1800"/>
          </a:p>
        </p:txBody>
      </p:sp>
      <p:sp>
        <p:nvSpPr>
          <p:cNvPr id="19" name="TextBox 18"/>
          <p:cNvSpPr txBox="1"/>
          <p:nvPr/>
        </p:nvSpPr>
        <p:spPr>
          <a:xfrm>
            <a:off x="4983480" y="2276856"/>
            <a:ext cx="141732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Write path</a:t>
            </a:r>
            <a:endParaRPr sz="1800"/>
          </a:p>
        </p:txBody>
      </p:sp>
      <p:sp>
        <p:nvSpPr>
          <p:cNvPr id="20" name="TextBox 19"/>
          <p:cNvSpPr txBox="1"/>
          <p:nvPr/>
        </p:nvSpPr>
        <p:spPr>
          <a:xfrm>
            <a:off x="6446520" y="2276856"/>
            <a:ext cx="173736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Local stores</a:t>
            </a:r>
            <a:endParaRPr sz="1800"/>
          </a:p>
        </p:txBody>
      </p:sp>
      <p:sp>
        <p:nvSpPr>
          <p:cNvPr id="21" name="TextBox 20"/>
          <p:cNvSpPr txBox="1"/>
          <p:nvPr/>
        </p:nvSpPr>
        <p:spPr>
          <a:xfrm>
            <a:off x="8229600" y="2276856"/>
            <a:ext cx="164592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Processing</a:t>
            </a:r>
            <a:endParaRPr sz="1800"/>
          </a:p>
        </p:txBody>
      </p:sp>
      <p:sp>
        <p:nvSpPr>
          <p:cNvPr id="22" name="TextBox 21"/>
          <p:cNvSpPr txBox="1"/>
          <p:nvPr/>
        </p:nvSpPr>
        <p:spPr>
          <a:xfrm>
            <a:off x="9921240" y="2276856"/>
            <a:ext cx="1600200" cy="365760"/>
          </a:xfrm>
          <a:prstGeom prst="rect">
            <a:avLst/>
          </a:prstGeom>
          <a:noFill/>
        </p:spPr>
        <p:txBody>
          <a:bodyPr wrap="square" lIns="0" tIns="0" rIns="0" bIns="0" anchor="t">
            <a:spAutoFit/>
          </a:bodyPr>
          <a:lstStyle/>
          <a:p>
            <a:pPr algn="ctr">
              <a:spcAft>
                <a:spcPts val="0"/>
              </a:spcAft>
            </a:pPr>
            <a:r>
              <a:rPr sz="1800" b="1" i="0">
                <a:solidFill>
                  <a:srgbClr val="1E263A"/>
                </a:solidFill>
                <a:latin typeface="Trebuchet MS"/>
              </a:rPr>
              <a:t>Interfaces</a:t>
            </a:r>
            <a:endParaRPr sz="1800"/>
          </a:p>
        </p:txBody>
      </p:sp>
      <p:sp>
        <p:nvSpPr>
          <p:cNvPr id="23" name="Rounded Rectangle 22"/>
          <p:cNvSpPr/>
          <p:nvPr/>
        </p:nvSpPr>
        <p:spPr>
          <a:xfrm>
            <a:off x="685800" y="2743200"/>
            <a:ext cx="960120" cy="777240"/>
          </a:xfrm>
          <a:prstGeom prst="roundRect">
            <a:avLst>
              <a:gd name="adj" fmla="val 12000"/>
            </a:avLst>
          </a:prstGeom>
          <a:solidFill>
            <a:srgbClr val="FFFFFF"/>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4"/>
          <a:stretch>
            <a:fillRect/>
          </a:stretch>
        </p:blipFill>
        <p:spPr>
          <a:xfrm>
            <a:off x="841247" y="2904031"/>
            <a:ext cx="621792" cy="464721"/>
          </a:xfrm>
          <a:prstGeom prst="rect">
            <a:avLst/>
          </a:prstGeom>
        </p:spPr>
      </p:pic>
      <p:cxnSp>
        <p:nvCxnSpPr>
          <p:cNvPr id="25" name="Connector 24"/>
          <p:cNvCxnSpPr/>
          <p:nvPr/>
        </p:nvCxnSpPr>
        <p:spPr>
          <a:xfrm>
            <a:off x="1664208" y="3131820"/>
            <a:ext cx="28346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85800" y="3639312"/>
            <a:ext cx="960120" cy="777240"/>
          </a:xfrm>
          <a:prstGeom prst="roundRect">
            <a:avLst>
              <a:gd name="adj" fmla="val 12000"/>
            </a:avLst>
          </a:prstGeom>
          <a:solidFill>
            <a:srgbClr val="FFFFFF"/>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26" descr="image.png"/>
          <p:cNvPicPr>
            <a:picLocks noChangeAspect="1"/>
          </p:cNvPicPr>
          <p:nvPr/>
        </p:nvPicPr>
        <p:blipFill>
          <a:blip r:embed="rId5"/>
          <a:stretch>
            <a:fillRect/>
          </a:stretch>
        </p:blipFill>
        <p:spPr>
          <a:xfrm>
            <a:off x="841247" y="3738057"/>
            <a:ext cx="621792" cy="588892"/>
          </a:xfrm>
          <a:prstGeom prst="rect">
            <a:avLst/>
          </a:prstGeom>
        </p:spPr>
      </p:pic>
      <p:cxnSp>
        <p:nvCxnSpPr>
          <p:cNvPr id="28" name="Connector 27"/>
          <p:cNvCxnSpPr/>
          <p:nvPr/>
        </p:nvCxnSpPr>
        <p:spPr>
          <a:xfrm>
            <a:off x="1664208" y="4027932"/>
            <a:ext cx="28346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85800" y="4535424"/>
            <a:ext cx="960120" cy="777240"/>
          </a:xfrm>
          <a:prstGeom prst="roundRect">
            <a:avLst>
              <a:gd name="adj" fmla="val 12000"/>
            </a:avLst>
          </a:prstGeom>
          <a:solidFill>
            <a:srgbClr val="FFFFFF"/>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image.png"/>
          <p:cNvPicPr>
            <a:picLocks noChangeAspect="1"/>
          </p:cNvPicPr>
          <p:nvPr/>
        </p:nvPicPr>
        <p:blipFill>
          <a:blip r:embed="rId6"/>
          <a:stretch>
            <a:fillRect/>
          </a:stretch>
        </p:blipFill>
        <p:spPr>
          <a:xfrm>
            <a:off x="841247" y="4686730"/>
            <a:ext cx="621792" cy="483770"/>
          </a:xfrm>
          <a:prstGeom prst="rect">
            <a:avLst/>
          </a:prstGeom>
        </p:spPr>
      </p:pic>
      <p:cxnSp>
        <p:nvCxnSpPr>
          <p:cNvPr id="31" name="Connector 30"/>
          <p:cNvCxnSpPr/>
          <p:nvPr/>
        </p:nvCxnSpPr>
        <p:spPr>
          <a:xfrm>
            <a:off x="1664208" y="4924044"/>
            <a:ext cx="28346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965960" y="2743200"/>
            <a:ext cx="1371600" cy="2569463"/>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0B2272"/>
                </a:solidFill>
                <a:latin typeface="Trebuchet MS"/>
              </a:rPr>
              <a:t>Extension</a:t>
            </a:r>
            <a:endParaRPr sz="1800"/>
          </a:p>
          <a:p>
            <a:pPr algn="ctr">
              <a:spcAft>
                <a:spcPts val="0"/>
              </a:spcAft>
            </a:pPr>
            <a:r>
              <a:rPr sz="1800" b="0" i="0">
                <a:solidFill>
                  <a:srgbClr val="0B2272"/>
                </a:solidFill>
                <a:latin typeface="Trebuchet MS"/>
              </a:rPr>
              <a:t>trackers + gate</a:t>
            </a:r>
            <a:endParaRPr sz="1800"/>
          </a:p>
        </p:txBody>
      </p:sp>
      <p:sp>
        <p:nvSpPr>
          <p:cNvPr id="33" name="Rounded Rectangle 32"/>
          <p:cNvSpPr/>
          <p:nvPr/>
        </p:nvSpPr>
        <p:spPr>
          <a:xfrm>
            <a:off x="3566160" y="2743200"/>
            <a:ext cx="128016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0B2272"/>
                </a:solidFill>
                <a:latin typeface="Trebuchet MS"/>
              </a:rPr>
              <a:t>Gmail connector</a:t>
            </a:r>
            <a:endParaRPr sz="1800"/>
          </a:p>
        </p:txBody>
      </p:sp>
      <p:cxnSp>
        <p:nvCxnSpPr>
          <p:cNvPr id="34" name="Connector 33"/>
          <p:cNvCxnSpPr/>
          <p:nvPr/>
        </p:nvCxnSpPr>
        <p:spPr>
          <a:xfrm>
            <a:off x="3355848" y="3131820"/>
            <a:ext cx="19202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566160" y="3639312"/>
            <a:ext cx="128016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0B2272"/>
                </a:solidFill>
                <a:latin typeface="Trebuchet MS"/>
              </a:rPr>
              <a:t>Chrome connector</a:t>
            </a:r>
            <a:endParaRPr sz="1800"/>
          </a:p>
        </p:txBody>
      </p:sp>
      <p:cxnSp>
        <p:nvCxnSpPr>
          <p:cNvPr id="36" name="Connector 35"/>
          <p:cNvCxnSpPr/>
          <p:nvPr/>
        </p:nvCxnSpPr>
        <p:spPr>
          <a:xfrm>
            <a:off x="3355848" y="4027932"/>
            <a:ext cx="19202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566160" y="4535424"/>
            <a:ext cx="128016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0B2272"/>
                </a:solidFill>
                <a:latin typeface="Trebuchet MS"/>
              </a:rPr>
              <a:t>YouTube connector</a:t>
            </a:r>
            <a:endParaRPr sz="1800"/>
          </a:p>
        </p:txBody>
      </p:sp>
      <p:cxnSp>
        <p:nvCxnSpPr>
          <p:cNvPr id="38" name="Connector 37"/>
          <p:cNvCxnSpPr/>
          <p:nvPr/>
        </p:nvCxnSpPr>
        <p:spPr>
          <a:xfrm>
            <a:off x="3355848" y="4924044"/>
            <a:ext cx="19202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5074920" y="2743200"/>
            <a:ext cx="1234440" cy="2569463"/>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Storage engine</a:t>
            </a:r>
            <a:endParaRPr sz="1900"/>
          </a:p>
        </p:txBody>
      </p:sp>
      <p:cxnSp>
        <p:nvCxnSpPr>
          <p:cNvPr id="40" name="Connector 39"/>
          <p:cNvCxnSpPr/>
          <p:nvPr/>
        </p:nvCxnSpPr>
        <p:spPr>
          <a:xfrm>
            <a:off x="4864607" y="3131820"/>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864607" y="4027932"/>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864607" y="4924044"/>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37960" y="2743200"/>
            <a:ext cx="1554480" cy="2569463"/>
          </a:xfrm>
          <a:prstGeom prst="roundRect">
            <a:avLst>
              <a:gd name="adj" fmla="val 5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Can 43"/>
          <p:cNvSpPr/>
          <p:nvPr/>
        </p:nvSpPr>
        <p:spPr>
          <a:xfrm>
            <a:off x="6647688" y="2852928"/>
            <a:ext cx="1335024" cy="713232"/>
          </a:xfrm>
          <a:prstGeom prst="can">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1E263A"/>
                </a:solidFill>
                <a:latin typeface="Trebuchet MS"/>
              </a:rPr>
              <a:t>PostgreSQL</a:t>
            </a:r>
            <a:endParaRPr sz="1800"/>
          </a:p>
        </p:txBody>
      </p:sp>
      <p:sp>
        <p:nvSpPr>
          <p:cNvPr id="45" name="Can 44"/>
          <p:cNvSpPr/>
          <p:nvPr/>
        </p:nvSpPr>
        <p:spPr>
          <a:xfrm>
            <a:off x="6647688" y="3675888"/>
            <a:ext cx="1335024" cy="713232"/>
          </a:xfrm>
          <a:prstGeom prst="can">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1E263A"/>
                </a:solidFill>
                <a:latin typeface="Trebuchet MS"/>
              </a:rPr>
              <a:t>FAISS</a:t>
            </a:r>
            <a:endParaRPr sz="1800"/>
          </a:p>
        </p:txBody>
      </p:sp>
      <p:sp>
        <p:nvSpPr>
          <p:cNvPr id="46" name="Can 45"/>
          <p:cNvSpPr/>
          <p:nvPr/>
        </p:nvSpPr>
        <p:spPr>
          <a:xfrm>
            <a:off x="6647688" y="4498848"/>
            <a:ext cx="1335024" cy="713232"/>
          </a:xfrm>
          <a:prstGeom prst="can">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800" b="1" i="0">
                <a:solidFill>
                  <a:srgbClr val="1E263A"/>
                </a:solidFill>
                <a:latin typeface="Trebuchet MS"/>
              </a:rPr>
              <a:t>Redis</a:t>
            </a:r>
            <a:endParaRPr sz="1800"/>
          </a:p>
        </p:txBody>
      </p:sp>
      <p:cxnSp>
        <p:nvCxnSpPr>
          <p:cNvPr id="47" name="Connector 46"/>
          <p:cNvCxnSpPr/>
          <p:nvPr/>
        </p:nvCxnSpPr>
        <p:spPr>
          <a:xfrm>
            <a:off x="6327648" y="4027931"/>
            <a:ext cx="192024"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321040" y="2743200"/>
            <a:ext cx="146304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Enrichment worker</a:t>
            </a:r>
            <a:endParaRPr sz="1900"/>
          </a:p>
        </p:txBody>
      </p:sp>
      <p:sp>
        <p:nvSpPr>
          <p:cNvPr id="49" name="Rounded Rectangle 48"/>
          <p:cNvSpPr/>
          <p:nvPr/>
        </p:nvSpPr>
        <p:spPr>
          <a:xfrm>
            <a:off x="8321040" y="3639312"/>
            <a:ext cx="146304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Recall engine</a:t>
            </a:r>
            <a:endParaRPr sz="1900"/>
          </a:p>
        </p:txBody>
      </p:sp>
      <p:sp>
        <p:nvSpPr>
          <p:cNvPr id="50" name="Rounded Rectangle 49"/>
          <p:cNvSpPr/>
          <p:nvPr/>
        </p:nvSpPr>
        <p:spPr>
          <a:xfrm>
            <a:off x="8321040" y="4535424"/>
            <a:ext cx="146304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Wellbeing</a:t>
            </a:r>
            <a:endParaRPr sz="1900"/>
          </a:p>
        </p:txBody>
      </p:sp>
      <p:cxnSp>
        <p:nvCxnSpPr>
          <p:cNvPr id="51" name="Connector 50"/>
          <p:cNvCxnSpPr/>
          <p:nvPr/>
        </p:nvCxnSpPr>
        <p:spPr>
          <a:xfrm flipH="1">
            <a:off x="8110727" y="2948939"/>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110727" y="3314700"/>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110727" y="4027932"/>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110727" y="4924044"/>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0012680" y="2743200"/>
            <a:ext cx="141732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MCP server</a:t>
            </a:r>
            <a:endParaRPr sz="1900"/>
          </a:p>
        </p:txBody>
      </p:sp>
      <p:sp>
        <p:nvSpPr>
          <p:cNvPr id="56" name="Rounded Rectangle 55"/>
          <p:cNvSpPr/>
          <p:nvPr/>
        </p:nvSpPr>
        <p:spPr>
          <a:xfrm>
            <a:off x="10012680" y="3639312"/>
            <a:ext cx="1417320" cy="1673351"/>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Dashboard</a:t>
            </a:r>
            <a:endParaRPr sz="1900"/>
          </a:p>
          <a:p>
            <a:pPr algn="ctr">
              <a:spcAft>
                <a:spcPts val="0"/>
              </a:spcAft>
            </a:pPr>
            <a:r>
              <a:rPr sz="1800" b="0" i="0">
                <a:solidFill>
                  <a:srgbClr val="0B2272"/>
                </a:solidFill>
                <a:latin typeface="Trebuchet MS"/>
              </a:rPr>
              <a:t>React</a:t>
            </a:r>
            <a:endParaRPr sz="1800"/>
          </a:p>
        </p:txBody>
      </p:sp>
      <p:cxnSp>
        <p:nvCxnSpPr>
          <p:cNvPr id="57" name="Connector 56"/>
          <p:cNvCxnSpPr/>
          <p:nvPr/>
        </p:nvCxnSpPr>
        <p:spPr>
          <a:xfrm flipH="1">
            <a:off x="9802367" y="3314700"/>
            <a:ext cx="192025" cy="530352"/>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9802367" y="4027932"/>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9802367" y="4924044"/>
            <a:ext cx="192025" cy="0"/>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640080" y="5669280"/>
            <a:ext cx="4754880" cy="841247"/>
          </a:xfrm>
          <a:prstGeom prst="roundRect">
            <a:avLst>
              <a:gd name="adj" fmla="val 20000"/>
            </a:avLst>
          </a:prstGeom>
          <a:solidFill>
            <a:srgbClr val="FFFFFF"/>
          </a:solidFill>
          <a:ln w="19050">
            <a:solidFill>
              <a:srgbClr val="4A556E"/>
            </a:solidFill>
            <a:prstDash val="dash"/>
          </a:ln>
          <a:effectLst/>
        </p:spPr>
        <p:style>
          <a:lnRef idx="1">
            <a:schemeClr val="accent1"/>
          </a:lnRef>
          <a:fillRef idx="3">
            <a:schemeClr val="accent1"/>
          </a:fillRef>
          <a:effectRef idx="2">
            <a:schemeClr val="accent1"/>
          </a:effectRef>
          <a:fontRef idx="minor">
            <a:schemeClr val="lt1"/>
          </a:fontRef>
        </p:style>
        <p:txBody>
          <a:bodyPr wrap="square" lIns="128016" tIns="76809" rIns="128016" bIns="76809" rtlCol="0" anchor="ctr"/>
          <a:lstStyle/>
          <a:p>
            <a:pPr algn="l">
              <a:spcAft>
                <a:spcPts val="0"/>
              </a:spcAft>
            </a:pPr>
            <a:r>
              <a:rPr sz="1900" b="1" i="0">
                <a:solidFill>
                  <a:srgbClr val="1E263A"/>
                </a:solidFill>
                <a:latin typeface="Trebuchet MS"/>
              </a:rPr>
              <a:t>Gmail and YouTube APIs → </a:t>
            </a:r>
            <a:r>
              <a:rPr sz="1900" b="0" i="0">
                <a:solidFill>
                  <a:srgbClr val="1E263A"/>
                </a:solidFill>
                <a:latin typeface="Trebuchet MS"/>
              </a:rPr>
              <a:t>your own mail and video details</a:t>
            </a:r>
            <a:endParaRPr sz="1900"/>
          </a:p>
        </p:txBody>
      </p:sp>
      <p:sp>
        <p:nvSpPr>
          <p:cNvPr id="61" name="Rounded Rectangle 60"/>
          <p:cNvSpPr/>
          <p:nvPr/>
        </p:nvSpPr>
        <p:spPr>
          <a:xfrm>
            <a:off x="5623560" y="5669280"/>
            <a:ext cx="5925312" cy="841247"/>
          </a:xfrm>
          <a:prstGeom prst="roundRect">
            <a:avLst>
              <a:gd name="adj" fmla="val 20000"/>
            </a:avLst>
          </a:prstGeom>
          <a:solidFill>
            <a:srgbClr val="F3F5FA"/>
          </a:solidFill>
          <a:ln w="19050">
            <a:solidFill>
              <a:srgbClr val="5B6B8C"/>
            </a:solidFill>
            <a:prstDash val="dash"/>
          </a:ln>
          <a:effectLst/>
        </p:spPr>
        <p:style>
          <a:lnRef idx="1">
            <a:schemeClr val="accent1"/>
          </a:lnRef>
          <a:fillRef idx="3">
            <a:schemeClr val="accent1"/>
          </a:fillRef>
          <a:effectRef idx="2">
            <a:schemeClr val="accent1"/>
          </a:effectRef>
          <a:fontRef idx="minor">
            <a:schemeClr val="lt1"/>
          </a:fontRef>
        </p:style>
        <p:txBody>
          <a:bodyPr wrap="square" lIns="128016" tIns="76809" rIns="128016" bIns="76809" rtlCol="0" anchor="ctr"/>
          <a:lstStyle/>
          <a:p>
            <a:pPr algn="l">
              <a:spcAft>
                <a:spcPts val="0"/>
              </a:spcAft>
            </a:pPr>
            <a:r>
              <a:rPr sz="1900" b="1" i="0">
                <a:solidFill>
                  <a:srgbClr val="242F4A"/>
                </a:solidFill>
                <a:latin typeface="Trebuchet MS"/>
              </a:rPr>
              <a:t>OpenAI language model ← </a:t>
            </a:r>
            <a:r>
              <a:rPr sz="1900" b="0" i="0">
                <a:solidFill>
                  <a:srgbClr val="242F4A"/>
                </a:solidFill>
                <a:latin typeface="Trebuchet MS"/>
              </a:rPr>
              <a:t>your question and short snippets, never full emails</a:t>
            </a:r>
            <a:endParaRPr sz="1900"/>
          </a:p>
        </p:txBody>
      </p:sp>
      <p:cxnSp>
        <p:nvCxnSpPr>
          <p:cNvPr id="62" name="Connector 61"/>
          <p:cNvCxnSpPr/>
          <p:nvPr/>
        </p:nvCxnSpPr>
        <p:spPr>
          <a:xfrm>
            <a:off x="4206240" y="5541264"/>
            <a:ext cx="0" cy="109728"/>
          </a:xfrm>
          <a:prstGeom prst="line">
            <a:avLst/>
          </a:prstGeom>
          <a:ln w="28575">
            <a:solidFill>
              <a:srgbClr val="4A556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052560" y="5541264"/>
            <a:ext cx="0" cy="109728"/>
          </a:xfrm>
          <a:prstGeom prst="line">
            <a:avLst/>
          </a:prstGeom>
          <a:ln w="28575">
            <a:solidFill>
              <a:srgbClr val="5B6B8C"/>
            </a:solidFill>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58823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1: Capture (1/2)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10058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82296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1901951"/>
            <a:ext cx="10634472" cy="950976"/>
          </a:xfrm>
          <a:prstGeom prst="rect">
            <a:avLst/>
          </a:prstGeom>
          <a:noFill/>
        </p:spPr>
        <p:txBody>
          <a:bodyPr wrap="square" lIns="54864" tIns="32918" rIns="54864" bIns="32918" anchor="ctr">
            <a:spAutoFit/>
          </a:bodyPr>
          <a:lstStyle/>
          <a:p>
            <a:pPr algn="l">
              <a:spcAft>
                <a:spcPts val="200"/>
              </a:spcAft>
            </a:pPr>
            <a:r>
              <a:rPr sz="2200" b="1" i="0">
                <a:solidFill>
                  <a:srgbClr val="0B2272"/>
                </a:solidFill>
                <a:latin typeface="Trebuchet MS"/>
              </a:rPr>
              <a:t>Module 1 · Memory Capture and Enrichment — Part A: Capture</a:t>
            </a:r>
            <a:endParaRPr sz="2200"/>
          </a:p>
          <a:p>
            <a:pPr algn="l">
              <a:spcAft>
                <a:spcPts val="0"/>
              </a:spcAft>
            </a:pPr>
            <a:r>
              <a:rPr sz="1800" b="1" i="0">
                <a:solidFill>
                  <a:srgbClr val="10204A"/>
                </a:solidFill>
                <a:latin typeface="Trebuchet MS"/>
              </a:rPr>
              <a:t>Technology: </a:t>
            </a:r>
            <a:r>
              <a:rPr sz="1800" b="0" i="0">
                <a:solidFill>
                  <a:srgbClr val="10204A"/>
                </a:solidFill>
                <a:latin typeface="Trebuchet MS"/>
              </a:rPr>
              <a:t>Chrome extension (Manifest V3) · FastAPI · Gmail API and YouTube Data API · PostgreSQL · Redis</a:t>
            </a:r>
            <a:endParaRPr sz="1800"/>
          </a:p>
        </p:txBody>
      </p:sp>
      <p:sp>
        <p:nvSpPr>
          <p:cNvPr id="18" name="Rounded Rectangle 17"/>
          <p:cNvSpPr/>
          <p:nvPr/>
        </p:nvSpPr>
        <p:spPr>
          <a:xfrm>
            <a:off x="640080" y="2990088"/>
            <a:ext cx="3483864" cy="18288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40080" y="2990088"/>
            <a:ext cx="3483864"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image.png"/>
          <p:cNvPicPr>
            <a:picLocks noChangeAspect="1"/>
          </p:cNvPicPr>
          <p:nvPr/>
        </p:nvPicPr>
        <p:blipFill>
          <a:blip r:embed="rId4"/>
          <a:stretch>
            <a:fillRect/>
          </a:stretch>
        </p:blipFill>
        <p:spPr>
          <a:xfrm>
            <a:off x="822959" y="3186272"/>
            <a:ext cx="502920" cy="476310"/>
          </a:xfrm>
          <a:prstGeom prst="rect">
            <a:avLst/>
          </a:prstGeom>
        </p:spPr>
      </p:pic>
      <p:sp>
        <p:nvSpPr>
          <p:cNvPr id="21" name="TextBox 20"/>
          <p:cNvSpPr txBox="1"/>
          <p:nvPr/>
        </p:nvSpPr>
        <p:spPr>
          <a:xfrm>
            <a:off x="1508760" y="3145536"/>
            <a:ext cx="2523744" cy="566928"/>
          </a:xfrm>
          <a:prstGeom prst="rect">
            <a:avLst/>
          </a:prstGeom>
          <a:noFill/>
        </p:spPr>
        <p:txBody>
          <a:bodyPr wrap="square" lIns="18288" tIns="10972" rIns="18288" bIns="10972" anchor="ctr">
            <a:spAutoFit/>
          </a:bodyPr>
          <a:lstStyle/>
          <a:p>
            <a:pPr algn="l">
              <a:spcAft>
                <a:spcPts val="0"/>
              </a:spcAft>
            </a:pPr>
            <a:r>
              <a:rPr sz="2400" b="1" i="0">
                <a:solidFill>
                  <a:srgbClr val="0B2272"/>
                </a:solidFill>
                <a:latin typeface="Trebuchet MS"/>
              </a:rPr>
              <a:t>Chrome</a:t>
            </a:r>
            <a:endParaRPr sz="2400"/>
          </a:p>
        </p:txBody>
      </p:sp>
      <p:sp>
        <p:nvSpPr>
          <p:cNvPr id="22" name="TextBox 21"/>
          <p:cNvSpPr txBox="1"/>
          <p:nvPr/>
        </p:nvSpPr>
        <p:spPr>
          <a:xfrm>
            <a:off x="749808" y="3739896"/>
            <a:ext cx="3264408" cy="1042416"/>
          </a:xfrm>
          <a:prstGeom prst="rect">
            <a:avLst/>
          </a:prstGeom>
          <a:noFill/>
        </p:spPr>
        <p:txBody>
          <a:bodyPr wrap="square" lIns="54864" tIns="32918" rIns="54864" bIns="32918" anchor="t">
            <a:spAutoFit/>
          </a:bodyPr>
          <a:lstStyle/>
          <a:p>
            <a:pPr marL="256032" indent="-256032" algn="l">
              <a:spcAft>
                <a:spcPts val="200"/>
              </a:spcAft>
              <a:buFont typeface="Arial"/>
              <a:buChar char="•"/>
            </a:pPr>
            <a:r>
              <a:rPr sz="1900" b="0" i="0">
                <a:solidFill>
                  <a:srgbClr val="10204A"/>
                </a:solidFill>
                <a:latin typeface="Trebuchet MS"/>
              </a:rPr>
              <a:t>5 s seen, then any one of:</a:t>
            </a:r>
            <a:endParaRPr sz="1900"/>
          </a:p>
          <a:p>
            <a:pPr marL="256032" indent="-256032" algn="l">
              <a:spcAft>
                <a:spcPts val="200"/>
              </a:spcAft>
              <a:buFont typeface="Arial"/>
              <a:buChar char="•"/>
            </a:pPr>
            <a:r>
              <a:rPr sz="1900" b="0" i="0">
                <a:solidFill>
                  <a:srgbClr val="10204A"/>
                </a:solidFill>
                <a:latin typeface="Trebuchet MS"/>
              </a:rPr>
              <a:t>10 s, 15 % scroll, a click</a:t>
            </a:r>
            <a:endParaRPr sz="1900"/>
          </a:p>
          <a:p>
            <a:pPr marL="256032" indent="-256032" algn="l">
              <a:spcAft>
                <a:spcPts val="200"/>
              </a:spcAft>
              <a:buFont typeface="Arial"/>
              <a:buChar char="•"/>
            </a:pPr>
            <a:r>
              <a:rPr sz="1900" b="0" i="0">
                <a:solidFill>
                  <a:srgbClr val="10204A"/>
                </a:solidFill>
                <a:latin typeface="Trebuchet MS"/>
              </a:rPr>
              <a:t>or a return within 24 h</a:t>
            </a:r>
            <a:endParaRPr sz="1900"/>
          </a:p>
        </p:txBody>
      </p:sp>
      <p:sp>
        <p:nvSpPr>
          <p:cNvPr id="23" name="Rounded Rectangle 22"/>
          <p:cNvSpPr/>
          <p:nvPr/>
        </p:nvSpPr>
        <p:spPr>
          <a:xfrm>
            <a:off x="4352544" y="2990088"/>
            <a:ext cx="3483864" cy="18288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352544" y="2990088"/>
            <a:ext cx="3483864"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image.png"/>
          <p:cNvPicPr>
            <a:picLocks noChangeAspect="1"/>
          </p:cNvPicPr>
          <p:nvPr/>
        </p:nvPicPr>
        <p:blipFill>
          <a:blip r:embed="rId5"/>
          <a:stretch>
            <a:fillRect/>
          </a:stretch>
        </p:blipFill>
        <p:spPr>
          <a:xfrm>
            <a:off x="4535424" y="3228785"/>
            <a:ext cx="502920" cy="391285"/>
          </a:xfrm>
          <a:prstGeom prst="rect">
            <a:avLst/>
          </a:prstGeom>
        </p:spPr>
      </p:pic>
      <p:sp>
        <p:nvSpPr>
          <p:cNvPr id="26" name="TextBox 25"/>
          <p:cNvSpPr txBox="1"/>
          <p:nvPr/>
        </p:nvSpPr>
        <p:spPr>
          <a:xfrm>
            <a:off x="5221224" y="3145536"/>
            <a:ext cx="2523744" cy="566928"/>
          </a:xfrm>
          <a:prstGeom prst="rect">
            <a:avLst/>
          </a:prstGeom>
          <a:noFill/>
        </p:spPr>
        <p:txBody>
          <a:bodyPr wrap="square" lIns="18288" tIns="10972" rIns="18288" bIns="10972" anchor="ctr">
            <a:spAutoFit/>
          </a:bodyPr>
          <a:lstStyle/>
          <a:p>
            <a:pPr algn="l">
              <a:spcAft>
                <a:spcPts val="0"/>
              </a:spcAft>
            </a:pPr>
            <a:r>
              <a:rPr sz="2400" b="1" i="0">
                <a:solidFill>
                  <a:srgbClr val="0B2272"/>
                </a:solidFill>
                <a:latin typeface="Trebuchet MS"/>
              </a:rPr>
              <a:t>YouTube</a:t>
            </a:r>
            <a:endParaRPr sz="2400"/>
          </a:p>
        </p:txBody>
      </p:sp>
      <p:sp>
        <p:nvSpPr>
          <p:cNvPr id="27" name="TextBox 26"/>
          <p:cNvSpPr txBox="1"/>
          <p:nvPr/>
        </p:nvSpPr>
        <p:spPr>
          <a:xfrm>
            <a:off x="4462272" y="3739896"/>
            <a:ext cx="3264408" cy="1042416"/>
          </a:xfrm>
          <a:prstGeom prst="rect">
            <a:avLst/>
          </a:prstGeom>
          <a:noFill/>
        </p:spPr>
        <p:txBody>
          <a:bodyPr wrap="square" lIns="54864" tIns="32918" rIns="54864" bIns="32918" anchor="t">
            <a:spAutoFit/>
          </a:bodyPr>
          <a:lstStyle/>
          <a:p>
            <a:pPr marL="256032" indent="-256032" algn="l">
              <a:spcAft>
                <a:spcPts val="200"/>
              </a:spcAft>
              <a:buFont typeface="Arial"/>
              <a:buChar char="•"/>
            </a:pPr>
            <a:r>
              <a:rPr sz="1900" b="0" i="0">
                <a:solidFill>
                  <a:srgbClr val="10204A"/>
                </a:solidFill>
                <a:latin typeface="Trebuchet MS"/>
              </a:rPr>
              <a:t>Short 10 s · video 20 s</a:t>
            </a:r>
            <a:endParaRPr sz="1900"/>
          </a:p>
          <a:p>
            <a:pPr marL="256032" indent="-256032" algn="l">
              <a:spcAft>
                <a:spcPts val="200"/>
              </a:spcAft>
              <a:buFont typeface="Arial"/>
              <a:buChar char="•"/>
            </a:pPr>
            <a:r>
              <a:rPr sz="1900" b="0" i="0">
                <a:solidFill>
                  <a:srgbClr val="10204A"/>
                </a:solidFill>
                <a:latin typeface="Trebuchet MS"/>
              </a:rPr>
              <a:t>or 10 % watched (≥ 5 s)</a:t>
            </a:r>
            <a:endParaRPr sz="1900"/>
          </a:p>
          <a:p>
            <a:pPr marL="256032" indent="-256032" algn="l">
              <a:spcAft>
                <a:spcPts val="200"/>
              </a:spcAft>
              <a:buFont typeface="Arial"/>
              <a:buChar char="•"/>
            </a:pPr>
            <a:r>
              <a:rPr sz="1900" b="0" i="0">
                <a:solidFill>
                  <a:srgbClr val="10204A"/>
                </a:solidFill>
                <a:latin typeface="Trebuchet MS"/>
              </a:rPr>
              <a:t>or a return, pause or seek</a:t>
            </a:r>
            <a:endParaRPr sz="1900"/>
          </a:p>
        </p:txBody>
      </p:sp>
      <p:sp>
        <p:nvSpPr>
          <p:cNvPr id="28" name="Rounded Rectangle 27"/>
          <p:cNvSpPr/>
          <p:nvPr/>
        </p:nvSpPr>
        <p:spPr>
          <a:xfrm>
            <a:off x="8065008" y="2990088"/>
            <a:ext cx="3483864" cy="18288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065008" y="2990088"/>
            <a:ext cx="3483864"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image.png"/>
          <p:cNvPicPr>
            <a:picLocks noChangeAspect="1"/>
          </p:cNvPicPr>
          <p:nvPr/>
        </p:nvPicPr>
        <p:blipFill>
          <a:blip r:embed="rId6"/>
          <a:stretch>
            <a:fillRect/>
          </a:stretch>
        </p:blipFill>
        <p:spPr>
          <a:xfrm>
            <a:off x="8247888" y="3236489"/>
            <a:ext cx="502920" cy="375877"/>
          </a:xfrm>
          <a:prstGeom prst="rect">
            <a:avLst/>
          </a:prstGeom>
        </p:spPr>
      </p:pic>
      <p:sp>
        <p:nvSpPr>
          <p:cNvPr id="31" name="TextBox 30"/>
          <p:cNvSpPr txBox="1"/>
          <p:nvPr/>
        </p:nvSpPr>
        <p:spPr>
          <a:xfrm>
            <a:off x="8933688" y="3145536"/>
            <a:ext cx="2523744" cy="566928"/>
          </a:xfrm>
          <a:prstGeom prst="rect">
            <a:avLst/>
          </a:prstGeom>
          <a:noFill/>
        </p:spPr>
        <p:txBody>
          <a:bodyPr wrap="square" lIns="18288" tIns="10972" rIns="18288" bIns="10972" anchor="ctr">
            <a:spAutoFit/>
          </a:bodyPr>
          <a:lstStyle/>
          <a:p>
            <a:pPr algn="l">
              <a:spcAft>
                <a:spcPts val="0"/>
              </a:spcAft>
            </a:pPr>
            <a:r>
              <a:rPr sz="2400" b="1" i="0">
                <a:solidFill>
                  <a:srgbClr val="0B2272"/>
                </a:solidFill>
                <a:latin typeface="Trebuchet MS"/>
              </a:rPr>
              <a:t>Gmail</a:t>
            </a:r>
            <a:endParaRPr sz="2400"/>
          </a:p>
        </p:txBody>
      </p:sp>
      <p:sp>
        <p:nvSpPr>
          <p:cNvPr id="32" name="TextBox 31"/>
          <p:cNvSpPr txBox="1"/>
          <p:nvPr/>
        </p:nvSpPr>
        <p:spPr>
          <a:xfrm>
            <a:off x="8174736" y="3739896"/>
            <a:ext cx="3264408" cy="1042416"/>
          </a:xfrm>
          <a:prstGeom prst="rect">
            <a:avLst/>
          </a:prstGeom>
          <a:noFill/>
        </p:spPr>
        <p:txBody>
          <a:bodyPr wrap="square" lIns="54864" tIns="32918" rIns="54864" bIns="32918" anchor="t">
            <a:spAutoFit/>
          </a:bodyPr>
          <a:lstStyle/>
          <a:p>
            <a:pPr marL="256032" indent="-256032" algn="l">
              <a:spcAft>
                <a:spcPts val="200"/>
              </a:spcAft>
              <a:buFont typeface="Arial"/>
              <a:buChar char="•"/>
            </a:pPr>
            <a:r>
              <a:rPr sz="1900" b="0" i="0">
                <a:solidFill>
                  <a:srgbClr val="10204A"/>
                </a:solidFill>
                <a:latin typeface="Trebuchet MS"/>
              </a:rPr>
              <a:t>Every mail is kept</a:t>
            </a:r>
            <a:endParaRPr sz="1900"/>
          </a:p>
          <a:p>
            <a:pPr marL="256032" indent="-256032" algn="l">
              <a:spcAft>
                <a:spcPts val="200"/>
              </a:spcAft>
              <a:buFont typeface="Arial"/>
              <a:buChar char="•"/>
            </a:pPr>
            <a:r>
              <a:rPr sz="1900" b="0" i="0">
                <a:solidFill>
                  <a:srgbClr val="10204A"/>
                </a:solidFill>
                <a:latin typeface="Trebuchet MS"/>
              </a:rPr>
              <a:t>New mail every 30 s</a:t>
            </a:r>
            <a:endParaRPr sz="1900"/>
          </a:p>
          <a:p>
            <a:pPr marL="256032" indent="-256032" algn="l">
              <a:spcAft>
                <a:spcPts val="200"/>
              </a:spcAft>
              <a:buFont typeface="Arial"/>
              <a:buChar char="•"/>
            </a:pPr>
            <a:r>
              <a:rPr sz="1900" b="0" i="0">
                <a:solidFill>
                  <a:srgbClr val="10204A"/>
                </a:solidFill>
                <a:latin typeface="Trebuchet MS"/>
              </a:rPr>
              <a:t>No Spam, Trash or drafts</a:t>
            </a:r>
            <a:endParaRPr sz="1900"/>
          </a:p>
        </p:txBody>
      </p:sp>
      <p:sp>
        <p:nvSpPr>
          <p:cNvPr id="33" name="Rounded Rectangle 32"/>
          <p:cNvSpPr/>
          <p:nvPr/>
        </p:nvSpPr>
        <p:spPr>
          <a:xfrm>
            <a:off x="640080" y="4928616"/>
            <a:ext cx="5760720" cy="1581912"/>
          </a:xfrm>
          <a:prstGeom prst="roundRect">
            <a:avLst>
              <a:gd name="adj" fmla="val 4000"/>
            </a:avLst>
          </a:prstGeom>
          <a:solidFill>
            <a:srgbClr val="F1F4FB"/>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46304" tIns="87782" rIns="146304" bIns="87782" rtlCol="0" anchor="ctr"/>
          <a:lstStyle/>
          <a:p>
            <a:pPr algn="l">
              <a:spcAft>
                <a:spcPts val="300"/>
              </a:spcAft>
            </a:pPr>
            <a:r>
              <a:rPr sz="1800" b="1" i="0">
                <a:solidFill>
                  <a:srgbClr val="455068"/>
                </a:solidFill>
                <a:latin typeface="Trebuchet MS"/>
              </a:rPr>
              <a:t>Chrome gate (extension)</a:t>
            </a:r>
            <a:endParaRPr sz="1800"/>
          </a:p>
          <a:p>
            <a:pPr algn="l">
              <a:spcAft>
                <a:spcPts val="0"/>
              </a:spcAft>
            </a:pPr>
            <a:r>
              <a:rPr sz="1800" b="0" i="0">
                <a:solidFill>
                  <a:srgbClr val="10204A"/>
                </a:solidFill>
                <a:latin typeface="Consolas"/>
              </a:rPr>
              <a:t>if seconds_in_front &gt;= 5:      # phase 1</a:t>
            </a:r>
            <a:endParaRPr sz="1800"/>
          </a:p>
          <a:p>
            <a:pPr algn="l">
              <a:spcAft>
                <a:spcPts val="0"/>
              </a:spcAft>
            </a:pPr>
            <a:r>
              <a:rPr sz="1800" b="0" i="0">
                <a:solidFill>
                  <a:srgbClr val="10204A"/>
                </a:solidFill>
                <a:latin typeface="Consolas"/>
              </a:rPr>
              <a:t>    keep = active &gt;= 10 s or scroll &gt;= 15 %</a:t>
            </a:r>
            <a:endParaRPr sz="1800"/>
          </a:p>
          <a:p>
            <a:pPr algn="l">
              <a:spcAft>
                <a:spcPts val="0"/>
              </a:spcAft>
            </a:pPr>
            <a:r>
              <a:rPr sz="1800" b="0" i="0">
                <a:solidFill>
                  <a:srgbClr val="10204A"/>
                </a:solidFill>
                <a:latin typeface="Consolas"/>
              </a:rPr>
              <a:t>        or clicked or opened_again_in_24h</a:t>
            </a:r>
            <a:endParaRPr sz="1800"/>
          </a:p>
        </p:txBody>
      </p:sp>
      <p:sp>
        <p:nvSpPr>
          <p:cNvPr id="34" name="Rounded Rectangle 33"/>
          <p:cNvSpPr/>
          <p:nvPr/>
        </p:nvSpPr>
        <p:spPr>
          <a:xfrm>
            <a:off x="6583680" y="4928616"/>
            <a:ext cx="4965192" cy="1581912"/>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583680" y="5038344"/>
            <a:ext cx="73152" cy="1362456"/>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29984" y="4965192"/>
            <a:ext cx="4764024" cy="1508760"/>
          </a:xfrm>
          <a:prstGeom prst="rect">
            <a:avLst/>
          </a:prstGeom>
          <a:noFill/>
        </p:spPr>
        <p:txBody>
          <a:bodyPr wrap="square" tIns="54864" bIns="54864" anchor="t">
            <a:spAutoFit/>
          </a:bodyPr>
          <a:lstStyle/>
          <a:p>
            <a:pPr algn="l">
              <a:spcAft>
                <a:spcPts val="600"/>
              </a:spcAft>
            </a:pPr>
            <a:r>
              <a:rPr sz="2100" b="1" i="0">
                <a:solidFill>
                  <a:srgbClr val="4A556E"/>
                </a:solidFill>
                <a:latin typeface="Trebuchet MS"/>
              </a:rPr>
              <a:t>Never captured</a:t>
            </a:r>
            <a:endParaRPr sz="2100"/>
          </a:p>
          <a:p>
            <a:pPr algn="l">
              <a:spcAft>
                <a:spcPts val="0"/>
              </a:spcAft>
            </a:pPr>
            <a:r>
              <a:rPr sz="1900" b="0" i="0">
                <a:solidFill>
                  <a:srgbClr val="10204A"/>
                </a:solidFill>
                <a:latin typeface="Trebuchet MS"/>
              </a:rPr>
              <a:t>Incognito windows · typed text, passwords, forms · sensitive pages · app-page text (title only) · secret URL keys</a:t>
            </a:r>
            <a:endParaRPr sz="1900"/>
          </a:p>
        </p:txBody>
      </p:sp>
    </p:spTree>
    <p:extLst>
      <p:ext uri="{BB962C8B-B14F-4D97-AF65-F5344CB8AC3E}">
        <p14:creationId xmlns:p14="http://schemas.microsoft.com/office/powerpoint/2010/main" val="42053692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1: Enrichment (2/2)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86868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68580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1901951"/>
            <a:ext cx="10634472" cy="813815"/>
          </a:xfrm>
          <a:prstGeom prst="rect">
            <a:avLst/>
          </a:prstGeom>
          <a:noFill/>
        </p:spPr>
        <p:txBody>
          <a:bodyPr wrap="square" lIns="54864" tIns="32918" rIns="54864" bIns="32918" anchor="ctr">
            <a:spAutoFit/>
          </a:bodyPr>
          <a:lstStyle/>
          <a:p>
            <a:pPr algn="l">
              <a:spcAft>
                <a:spcPts val="200"/>
              </a:spcAft>
            </a:pPr>
            <a:r>
              <a:rPr sz="2200" b="1" i="0">
                <a:solidFill>
                  <a:srgbClr val="0B2272"/>
                </a:solidFill>
                <a:latin typeface="Trebuchet MS"/>
              </a:rPr>
              <a:t>Module 1 · Memory Capture and Enrichment — Part B: Enrichment</a:t>
            </a:r>
            <a:endParaRPr sz="2200"/>
          </a:p>
          <a:p>
            <a:pPr algn="l">
              <a:spcAft>
                <a:spcPts val="0"/>
              </a:spcAft>
            </a:pPr>
            <a:r>
              <a:rPr sz="1800" b="1" i="0">
                <a:solidFill>
                  <a:srgbClr val="10204A"/>
                </a:solidFill>
                <a:latin typeface="Trebuchet MS"/>
              </a:rPr>
              <a:t>Technology: </a:t>
            </a:r>
            <a:r>
              <a:rPr sz="1800" b="0" i="0">
                <a:solidFill>
                  <a:srgbClr val="10204A"/>
                </a:solidFill>
                <a:latin typeface="Trebuchet MS"/>
              </a:rPr>
              <a:t>Python worker thread · sentence-transformers · FAISS · PostgreSQL · OpenAI</a:t>
            </a:r>
            <a:endParaRPr sz="1800"/>
          </a:p>
        </p:txBody>
      </p:sp>
      <p:sp>
        <p:nvSpPr>
          <p:cNvPr id="18" name="Pentagon 17"/>
          <p:cNvSpPr/>
          <p:nvPr/>
        </p:nvSpPr>
        <p:spPr>
          <a:xfrm>
            <a:off x="640080" y="2834640"/>
            <a:ext cx="2284171" cy="822960"/>
          </a:xfrm>
          <a:prstGeom prst="homePlate">
            <a:avLst>
              <a:gd name="adj" fmla="val 20000"/>
            </a:avLst>
          </a:prstGeom>
          <a:solidFill>
            <a:srgbClr val="FFFFFF"/>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8" y="2834640"/>
            <a:ext cx="1900123"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Clean</a:t>
            </a:r>
            <a:endParaRPr sz="2100"/>
          </a:p>
          <a:p>
            <a:pPr algn="ctr">
              <a:spcAft>
                <a:spcPts val="0"/>
              </a:spcAft>
            </a:pPr>
            <a:r>
              <a:rPr sz="1800" b="0" i="0">
                <a:solidFill>
                  <a:srgbClr val="10204A"/>
                </a:solidFill>
                <a:latin typeface="Trebuchet MS"/>
              </a:rPr>
              <a:t>mail HTML → text</a:t>
            </a:r>
            <a:endParaRPr sz="1800"/>
          </a:p>
        </p:txBody>
      </p:sp>
      <p:sp>
        <p:nvSpPr>
          <p:cNvPr id="20" name="Chevron 19"/>
          <p:cNvSpPr/>
          <p:nvPr/>
        </p:nvSpPr>
        <p:spPr>
          <a:xfrm>
            <a:off x="2796235" y="2834640"/>
            <a:ext cx="2284171" cy="822960"/>
          </a:xfrm>
          <a:prstGeom prst="chevron">
            <a:avLst>
              <a:gd name="adj" fmla="val 20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107131" y="2834640"/>
            <a:ext cx="1698955"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Build text</a:t>
            </a:r>
            <a:endParaRPr sz="2100"/>
          </a:p>
          <a:p>
            <a:pPr algn="ctr">
              <a:spcAft>
                <a:spcPts val="0"/>
              </a:spcAft>
            </a:pPr>
            <a:r>
              <a:rPr sz="1800" b="0" i="0">
                <a:solidFill>
                  <a:srgbClr val="10204A"/>
                </a:solidFill>
                <a:latin typeface="Trebuchet MS"/>
              </a:rPr>
              <a:t>hints first</a:t>
            </a:r>
            <a:endParaRPr sz="1800"/>
          </a:p>
        </p:txBody>
      </p:sp>
      <p:sp>
        <p:nvSpPr>
          <p:cNvPr id="22" name="Chevron 21"/>
          <p:cNvSpPr/>
          <p:nvPr/>
        </p:nvSpPr>
        <p:spPr>
          <a:xfrm>
            <a:off x="4952390" y="2834640"/>
            <a:ext cx="2284171" cy="822960"/>
          </a:xfrm>
          <a:prstGeom prst="chevron">
            <a:avLst>
              <a:gd name="adj" fmla="val 20000"/>
            </a:avLst>
          </a:prstGeom>
          <a:solidFill>
            <a:srgbClr val="FFFFFF"/>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263286" y="2834640"/>
            <a:ext cx="1698955"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Embed</a:t>
            </a:r>
            <a:endParaRPr sz="2100"/>
          </a:p>
          <a:p>
            <a:pPr algn="ctr">
              <a:spcAft>
                <a:spcPts val="0"/>
              </a:spcAft>
            </a:pPr>
            <a:r>
              <a:rPr sz="1800" b="0" i="0">
                <a:solidFill>
                  <a:srgbClr val="10204A"/>
                </a:solidFill>
                <a:latin typeface="Trebuchet MS"/>
              </a:rPr>
              <a:t>384-d vector</a:t>
            </a:r>
            <a:endParaRPr sz="1800"/>
          </a:p>
        </p:txBody>
      </p:sp>
      <p:sp>
        <p:nvSpPr>
          <p:cNvPr id="24" name="Chevron 23"/>
          <p:cNvSpPr/>
          <p:nvPr/>
        </p:nvSpPr>
        <p:spPr>
          <a:xfrm>
            <a:off x="7108545" y="2834640"/>
            <a:ext cx="2284171" cy="822960"/>
          </a:xfrm>
          <a:prstGeom prst="chevron">
            <a:avLst>
              <a:gd name="adj" fmla="val 20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419441" y="2834640"/>
            <a:ext cx="1698955"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Classify</a:t>
            </a:r>
            <a:endParaRPr sz="2100"/>
          </a:p>
          <a:p>
            <a:pPr algn="ctr">
              <a:spcAft>
                <a:spcPts val="0"/>
              </a:spcAft>
            </a:pPr>
            <a:r>
              <a:rPr sz="1800" b="0" i="0">
                <a:solidFill>
                  <a:srgbClr val="10204A"/>
                </a:solidFill>
                <a:latin typeface="Trebuchet MS"/>
              </a:rPr>
              <a:t>5 groups</a:t>
            </a:r>
            <a:endParaRPr sz="1800"/>
          </a:p>
        </p:txBody>
      </p:sp>
      <p:sp>
        <p:nvSpPr>
          <p:cNvPr id="26" name="Chevron 25"/>
          <p:cNvSpPr/>
          <p:nvPr/>
        </p:nvSpPr>
        <p:spPr>
          <a:xfrm>
            <a:off x="9264700" y="2834640"/>
            <a:ext cx="2284171" cy="822960"/>
          </a:xfrm>
          <a:prstGeom prst="chevron">
            <a:avLst>
              <a:gd name="adj" fmla="val 20000"/>
            </a:avLst>
          </a:prstGeom>
          <a:solidFill>
            <a:srgbClr val="FFFFFF"/>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575596" y="2834640"/>
            <a:ext cx="1698955" cy="822960"/>
          </a:xfrm>
          <a:prstGeom prst="rect">
            <a:avLst/>
          </a:prstGeom>
          <a:noFill/>
        </p:spPr>
        <p:txBody>
          <a:bodyPr wrap="square" lIns="0" tIns="0" rIns="0" bIns="0" anchor="ctr">
            <a:spAutoFit/>
          </a:bodyPr>
          <a:lstStyle/>
          <a:p>
            <a:pPr algn="ctr">
              <a:spcAft>
                <a:spcPts val="0"/>
              </a:spcAft>
            </a:pPr>
            <a:r>
              <a:rPr sz="2100" b="1" i="0">
                <a:solidFill>
                  <a:srgbClr val="0B2272"/>
                </a:solidFill>
                <a:latin typeface="Trebuchet MS"/>
              </a:rPr>
              <a:t>Index</a:t>
            </a:r>
            <a:endParaRPr sz="2100"/>
          </a:p>
          <a:p>
            <a:pPr algn="ctr">
              <a:spcAft>
                <a:spcPts val="0"/>
              </a:spcAft>
            </a:pPr>
            <a:r>
              <a:rPr sz="1800" b="0" i="0">
                <a:solidFill>
                  <a:srgbClr val="10204A"/>
                </a:solidFill>
                <a:latin typeface="Trebuchet MS"/>
              </a:rPr>
              <a:t>into FAISS</a:t>
            </a:r>
            <a:endParaRPr sz="1800"/>
          </a:p>
        </p:txBody>
      </p:sp>
      <p:sp>
        <p:nvSpPr>
          <p:cNvPr id="28" name="Rounded Rectangle 27"/>
          <p:cNvSpPr/>
          <p:nvPr/>
        </p:nvSpPr>
        <p:spPr>
          <a:xfrm>
            <a:off x="640080" y="3767328"/>
            <a:ext cx="5943600" cy="457200"/>
          </a:xfrm>
          <a:prstGeom prst="roundRect">
            <a:avLst>
              <a:gd name="adj" fmla="val 25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900" b="1" i="0">
                <a:solidFill>
                  <a:srgbClr val="0B2272"/>
                </a:solidFill>
                <a:latin typeface="Trebuchet MS"/>
              </a:rPr>
              <a:t>1 · Structural signals: labels, .edu</a:t>
            </a:r>
            <a:endParaRPr sz="1900"/>
          </a:p>
        </p:txBody>
      </p:sp>
      <p:sp>
        <p:nvSpPr>
          <p:cNvPr id="29" name="Rounded Rectangle 28"/>
          <p:cNvSpPr/>
          <p:nvPr/>
        </p:nvSpPr>
        <p:spPr>
          <a:xfrm>
            <a:off x="868680" y="4288536"/>
            <a:ext cx="5486400" cy="457200"/>
          </a:xfrm>
          <a:prstGeom prst="roundRect">
            <a:avLst>
              <a:gd name="adj" fmla="val 25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900" b="1" i="0">
                <a:solidFill>
                  <a:srgbClr val="0B2272"/>
                </a:solidFill>
                <a:latin typeface="Trebuchet MS"/>
              </a:rPr>
              <a:t>2 · Curated domain list (Chrome)</a:t>
            </a:r>
            <a:endParaRPr sz="1900"/>
          </a:p>
        </p:txBody>
      </p:sp>
      <p:sp>
        <p:nvSpPr>
          <p:cNvPr id="30" name="Rounded Rectangle 29"/>
          <p:cNvSpPr/>
          <p:nvPr/>
        </p:nvSpPr>
        <p:spPr>
          <a:xfrm>
            <a:off x="1097280" y="4809744"/>
            <a:ext cx="5029200" cy="457200"/>
          </a:xfrm>
          <a:prstGeom prst="roundRect">
            <a:avLst>
              <a:gd name="adj" fmla="val 25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900" b="1" i="0">
                <a:solidFill>
                  <a:srgbClr val="0B2272"/>
                </a:solidFill>
                <a:latin typeface="Trebuchet MS"/>
              </a:rPr>
              <a:t>3 · Nearest centroid: meaning</a:t>
            </a:r>
            <a:endParaRPr sz="1900"/>
          </a:p>
        </p:txBody>
      </p:sp>
      <p:sp>
        <p:nvSpPr>
          <p:cNvPr id="31" name="Rounded Rectangle 30"/>
          <p:cNvSpPr/>
          <p:nvPr/>
        </p:nvSpPr>
        <p:spPr>
          <a:xfrm>
            <a:off x="1325880" y="5330952"/>
            <a:ext cx="4572000" cy="457200"/>
          </a:xfrm>
          <a:prstGeom prst="roundRect">
            <a:avLst>
              <a:gd name="adj" fmla="val 25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0"/>
              </a:spcAft>
            </a:pPr>
            <a:r>
              <a:rPr sz="1900" b="1" i="0">
                <a:solidFill>
                  <a:srgbClr val="0B2272"/>
                </a:solidFill>
                <a:latin typeface="Trebuchet MS"/>
              </a:rPr>
              <a:t>4 · Language model: unclear items</a:t>
            </a:r>
            <a:endParaRPr sz="1900"/>
          </a:p>
        </p:txBody>
      </p:sp>
      <p:sp>
        <p:nvSpPr>
          <p:cNvPr id="32" name="Rounded Rectangle 31"/>
          <p:cNvSpPr/>
          <p:nvPr/>
        </p:nvSpPr>
        <p:spPr>
          <a:xfrm>
            <a:off x="6812280" y="3767328"/>
            <a:ext cx="4736592" cy="202082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6812280" y="3877056"/>
            <a:ext cx="73152" cy="180136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958584" y="3803904"/>
            <a:ext cx="4535424" cy="1947672"/>
          </a:xfrm>
          <a:prstGeom prst="rect">
            <a:avLst/>
          </a:prstGeom>
          <a:noFill/>
        </p:spPr>
        <p:txBody>
          <a:bodyPr wrap="square" tIns="54864" bIns="54864" anchor="t">
            <a:spAutoFit/>
          </a:bodyPr>
          <a:lstStyle/>
          <a:p>
            <a:pPr algn="l">
              <a:spcAft>
                <a:spcPts val="600"/>
              </a:spcAft>
            </a:pPr>
            <a:r>
              <a:rPr sz="2000" b="1" i="0">
                <a:solidFill>
                  <a:srgbClr val="1F4FE0"/>
                </a:solidFill>
                <a:latin typeface="Trebuchet MS"/>
              </a:rPr>
              <a:t>Example</a:t>
            </a:r>
            <a:endParaRPr sz="2000"/>
          </a:p>
          <a:p>
            <a:pPr algn="l">
              <a:spcAft>
                <a:spcPts val="300"/>
              </a:spcAft>
            </a:pPr>
            <a:r>
              <a:rPr sz="1800" b="0" i="0">
                <a:solidFill>
                  <a:srgbClr val="10204A"/>
                </a:solidFill>
                <a:latin typeface="Trebuchet MS"/>
              </a:rPr>
              <a:t>Interview mail → work-list sender → </a:t>
            </a:r>
            <a:r>
              <a:rPr sz="1800" b="1" i="0">
                <a:solidFill>
                  <a:srgbClr val="10204A"/>
                </a:solidFill>
                <a:latin typeface="Trebuchet MS"/>
              </a:rPr>
              <a:t>work</a:t>
            </a:r>
            <a:endParaRPr sz="1800"/>
          </a:p>
          <a:p>
            <a:pPr algn="l">
              <a:spcAft>
                <a:spcPts val="300"/>
              </a:spcAft>
            </a:pPr>
            <a:r>
              <a:rPr sz="1800" b="0" i="0">
                <a:solidFill>
                  <a:srgbClr val="10204A"/>
                </a:solidFill>
                <a:latin typeface="Trebuchet MS"/>
              </a:rPr>
              <a:t>geeksforgeeks.org → domain list → </a:t>
            </a:r>
            <a:r>
              <a:rPr sz="1800" b="1" i="0">
                <a:solidFill>
                  <a:srgbClr val="10204A"/>
                </a:solidFill>
                <a:latin typeface="Trebuchet MS"/>
              </a:rPr>
              <a:t>study</a:t>
            </a:r>
            <a:endParaRPr sz="1800"/>
          </a:p>
          <a:p>
            <a:pPr algn="l">
              <a:spcAft>
                <a:spcPts val="0"/>
              </a:spcAft>
            </a:pPr>
            <a:r>
              <a:rPr sz="1800" b="0" i="0">
                <a:solidFill>
                  <a:srgbClr val="10204A"/>
                </a:solidFill>
                <a:latin typeface="Trebuchet MS"/>
              </a:rPr>
              <a:t>Unlisted blog → centroid, else the model</a:t>
            </a:r>
            <a:endParaRPr sz="1800"/>
          </a:p>
        </p:txBody>
      </p:sp>
      <p:sp>
        <p:nvSpPr>
          <p:cNvPr id="35" name="Rounded Rectangle 34"/>
          <p:cNvSpPr/>
          <p:nvPr/>
        </p:nvSpPr>
        <p:spPr>
          <a:xfrm>
            <a:off x="640080" y="5879592"/>
            <a:ext cx="10908792" cy="630936"/>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200"/>
              </a:spcAft>
            </a:pPr>
            <a:r>
              <a:rPr sz="1900" b="1" i="0">
                <a:solidFill>
                  <a:srgbClr val="10204A"/>
                </a:solidFill>
                <a:latin typeface="Trebuchet MS"/>
              </a:rPr>
              <a:t>The first stage that is sure wins. </a:t>
            </a:r>
            <a:r>
              <a:rPr sz="1900" b="0" i="0">
                <a:solidFill>
                  <a:srgbClr val="10204A"/>
                </a:solidFill>
                <a:latin typeface="Trebuchet MS"/>
              </a:rPr>
              <a:t>Output: work · study · entertainment · personal · misc.</a:t>
            </a:r>
            <a:endParaRPr sz="1900"/>
          </a:p>
          <a:p>
            <a:pPr algn="l">
              <a:spcAft>
                <a:spcPts val="0"/>
              </a:spcAft>
            </a:pPr>
            <a:r>
              <a:rPr sz="1900" b="1" i="0">
                <a:solidFill>
                  <a:srgbClr val="10204A"/>
                </a:solidFill>
                <a:latin typeface="Trebuchet MS"/>
              </a:rPr>
              <a:t>Embedding model: </a:t>
            </a:r>
            <a:r>
              <a:rPr sz="1900" b="0" i="0">
                <a:solidFill>
                  <a:srgbClr val="10204A"/>
                </a:solidFill>
                <a:latin typeface="Trebuchet MS"/>
              </a:rPr>
              <a:t>snowflake-arctic-embed-xs · 384-d · reads 512 tokens</a:t>
            </a:r>
            <a:endParaRPr sz="19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2: Recall (1/2)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10058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82296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1901951"/>
            <a:ext cx="10634472" cy="950976"/>
          </a:xfrm>
          <a:prstGeom prst="rect">
            <a:avLst/>
          </a:prstGeom>
          <a:noFill/>
        </p:spPr>
        <p:txBody>
          <a:bodyPr wrap="square" lIns="54864" tIns="32918" rIns="54864" bIns="32918" anchor="ctr">
            <a:spAutoFit/>
          </a:bodyPr>
          <a:lstStyle/>
          <a:p>
            <a:pPr algn="l">
              <a:spcAft>
                <a:spcPts val="200"/>
              </a:spcAft>
            </a:pPr>
            <a:r>
              <a:rPr sz="2200" b="1" i="0">
                <a:solidFill>
                  <a:srgbClr val="0B2272"/>
                </a:solidFill>
                <a:latin typeface="Trebuchet MS"/>
              </a:rPr>
              <a:t>Module 2 · Retrieval and Synthesis Engine (RSE) — how a question is answered</a:t>
            </a:r>
            <a:endParaRPr sz="2200"/>
          </a:p>
          <a:p>
            <a:pPr algn="l">
              <a:spcAft>
                <a:spcPts val="0"/>
              </a:spcAft>
            </a:pPr>
            <a:r>
              <a:rPr sz="1800" b="1" i="0">
                <a:solidFill>
                  <a:srgbClr val="10204A"/>
                </a:solidFill>
                <a:latin typeface="Trebuchet MS"/>
              </a:rPr>
              <a:t>Technology: </a:t>
            </a:r>
            <a:r>
              <a:rPr sz="1800" b="0" i="0">
                <a:solidFill>
                  <a:srgbClr val="10204A"/>
                </a:solidFill>
                <a:latin typeface="Trebuchet MS"/>
              </a:rPr>
              <a:t>LangGraph + LangChain · OpenAI gpt-5.6-luna · PostgreSQL full-text search · FAISS · local cross-encoder · FastAPI · React · MCP</a:t>
            </a:r>
            <a:endParaRPr sz="1800"/>
          </a:p>
        </p:txBody>
      </p:sp>
      <p:sp>
        <p:nvSpPr>
          <p:cNvPr id="18" name="Rounded Rectangle 17"/>
          <p:cNvSpPr/>
          <p:nvPr/>
        </p:nvSpPr>
        <p:spPr>
          <a:xfrm>
            <a:off x="640080" y="2990088"/>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68096" y="3035808"/>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1</a:t>
            </a:r>
            <a:endParaRPr sz="1800"/>
          </a:p>
        </p:txBody>
      </p:sp>
      <p:sp>
        <p:nvSpPr>
          <p:cNvPr id="20" name="TextBox 19"/>
          <p:cNvSpPr txBox="1"/>
          <p:nvPr/>
        </p:nvSpPr>
        <p:spPr>
          <a:xfrm>
            <a:off x="1298448" y="2990088"/>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Model calls the search tool (≤ 5 rounds)</a:t>
            </a:r>
            <a:endParaRPr sz="1900"/>
          </a:p>
        </p:txBody>
      </p:sp>
      <p:sp>
        <p:nvSpPr>
          <p:cNvPr id="21" name="Rounded Rectangle 20"/>
          <p:cNvSpPr/>
          <p:nvPr/>
        </p:nvSpPr>
        <p:spPr>
          <a:xfrm>
            <a:off x="640080" y="3557016"/>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68096" y="3602736"/>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2</a:t>
            </a:r>
            <a:endParaRPr sz="1800"/>
          </a:p>
        </p:txBody>
      </p:sp>
      <p:sp>
        <p:nvSpPr>
          <p:cNvPr id="23" name="TextBox 22"/>
          <p:cNvSpPr txBox="1"/>
          <p:nvPr/>
        </p:nvSpPr>
        <p:spPr>
          <a:xfrm>
            <a:off x="1298448" y="3557016"/>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Time phrase → hard date filter</a:t>
            </a:r>
            <a:endParaRPr sz="1900"/>
          </a:p>
        </p:txBody>
      </p:sp>
      <p:sp>
        <p:nvSpPr>
          <p:cNvPr id="24" name="Rounded Rectangle 23"/>
          <p:cNvSpPr/>
          <p:nvPr/>
        </p:nvSpPr>
        <p:spPr>
          <a:xfrm>
            <a:off x="640080" y="4123944"/>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68096" y="4169663"/>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3</a:t>
            </a:r>
            <a:endParaRPr sz="1800"/>
          </a:p>
        </p:txBody>
      </p:sp>
      <p:sp>
        <p:nvSpPr>
          <p:cNvPr id="26" name="TextBox 25"/>
          <p:cNvSpPr txBox="1"/>
          <p:nvPr/>
        </p:nvSpPr>
        <p:spPr>
          <a:xfrm>
            <a:off x="1298448" y="4123944"/>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Keyword and meaning search together</a:t>
            </a:r>
            <a:endParaRPr sz="1900"/>
          </a:p>
        </p:txBody>
      </p:sp>
      <p:sp>
        <p:nvSpPr>
          <p:cNvPr id="27" name="Rounded Rectangle 26"/>
          <p:cNvSpPr/>
          <p:nvPr/>
        </p:nvSpPr>
        <p:spPr>
          <a:xfrm>
            <a:off x="640080" y="4690872"/>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768096" y="4736592"/>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4</a:t>
            </a:r>
            <a:endParaRPr sz="1800"/>
          </a:p>
        </p:txBody>
      </p:sp>
      <p:sp>
        <p:nvSpPr>
          <p:cNvPr id="29" name="TextBox 28"/>
          <p:cNvSpPr txBox="1"/>
          <p:nvPr/>
        </p:nvSpPr>
        <p:spPr>
          <a:xfrm>
            <a:off x="1298448" y="4690872"/>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Merge by rank (RRF, k = 60)</a:t>
            </a:r>
            <a:endParaRPr sz="1900"/>
          </a:p>
        </p:txBody>
      </p:sp>
      <p:sp>
        <p:nvSpPr>
          <p:cNvPr id="30" name="Rounded Rectangle 29"/>
          <p:cNvSpPr/>
          <p:nvPr/>
        </p:nvSpPr>
        <p:spPr>
          <a:xfrm>
            <a:off x="6185916" y="2990088"/>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6313932" y="3035808"/>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5</a:t>
            </a:r>
            <a:endParaRPr sz="1800"/>
          </a:p>
        </p:txBody>
      </p:sp>
      <p:sp>
        <p:nvSpPr>
          <p:cNvPr id="32" name="TextBox 31"/>
          <p:cNvSpPr txBox="1"/>
          <p:nvPr/>
        </p:nvSpPr>
        <p:spPr>
          <a:xfrm>
            <a:off x="6844284" y="2990088"/>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Weak results? Widen, up to 3 times</a:t>
            </a:r>
            <a:endParaRPr sz="1900"/>
          </a:p>
        </p:txBody>
      </p:sp>
      <p:sp>
        <p:nvSpPr>
          <p:cNvPr id="33" name="Rounded Rectangle 32"/>
          <p:cNvSpPr/>
          <p:nvPr/>
        </p:nvSpPr>
        <p:spPr>
          <a:xfrm>
            <a:off x="6185916" y="3557016"/>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6313932" y="3602736"/>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6</a:t>
            </a:r>
            <a:endParaRPr sz="1800"/>
          </a:p>
        </p:txBody>
      </p:sp>
      <p:sp>
        <p:nvSpPr>
          <p:cNvPr id="35" name="TextBox 34"/>
          <p:cNvSpPr txBox="1"/>
          <p:nvPr/>
        </p:nvSpPr>
        <p:spPr>
          <a:xfrm>
            <a:off x="6844284" y="3557016"/>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Re-rank: cross-encoder + effort</a:t>
            </a:r>
            <a:endParaRPr sz="1900"/>
          </a:p>
        </p:txBody>
      </p:sp>
      <p:sp>
        <p:nvSpPr>
          <p:cNvPr id="36" name="Rounded Rectangle 35"/>
          <p:cNvSpPr/>
          <p:nvPr/>
        </p:nvSpPr>
        <p:spPr>
          <a:xfrm>
            <a:off x="6185916" y="4123944"/>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6313932" y="4169663"/>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7</a:t>
            </a:r>
            <a:endParaRPr sz="1800"/>
          </a:p>
        </p:txBody>
      </p:sp>
      <p:sp>
        <p:nvSpPr>
          <p:cNvPr id="38" name="TextBox 37"/>
          <p:cNvSpPr txBox="1"/>
          <p:nvPr/>
        </p:nvSpPr>
        <p:spPr>
          <a:xfrm>
            <a:off x="6844284" y="4123944"/>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Add thread / ±5-minute context</a:t>
            </a:r>
            <a:endParaRPr sz="1900"/>
          </a:p>
        </p:txBody>
      </p:sp>
      <p:sp>
        <p:nvSpPr>
          <p:cNvPr id="39" name="Rounded Rectangle 38"/>
          <p:cNvSpPr/>
          <p:nvPr/>
        </p:nvSpPr>
        <p:spPr>
          <a:xfrm>
            <a:off x="6185916" y="4690872"/>
            <a:ext cx="5362956" cy="51206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6313932" y="4736592"/>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8</a:t>
            </a:r>
            <a:endParaRPr sz="1800"/>
          </a:p>
        </p:txBody>
      </p:sp>
      <p:sp>
        <p:nvSpPr>
          <p:cNvPr id="41" name="TextBox 40"/>
          <p:cNvSpPr txBox="1"/>
          <p:nvPr/>
        </p:nvSpPr>
        <p:spPr>
          <a:xfrm>
            <a:off x="6844284" y="4690872"/>
            <a:ext cx="4613148" cy="512064"/>
          </a:xfrm>
          <a:prstGeom prst="rect">
            <a:avLst/>
          </a:prstGeom>
          <a:noFill/>
        </p:spPr>
        <p:txBody>
          <a:bodyPr wrap="square" lIns="36576" tIns="21945" rIns="36576" bIns="21945" anchor="ctr">
            <a:spAutoFit/>
          </a:bodyPr>
          <a:lstStyle/>
          <a:p>
            <a:pPr algn="l">
              <a:spcAft>
                <a:spcPts val="0"/>
              </a:spcAft>
            </a:pPr>
            <a:r>
              <a:rPr sz="1900" b="0" i="0">
                <a:solidFill>
                  <a:srgbClr val="10204A"/>
                </a:solidFill>
                <a:latin typeface="Trebuchet MS"/>
              </a:rPr>
              <a:t>Answer with numbered citations</a:t>
            </a:r>
            <a:endParaRPr sz="1900"/>
          </a:p>
        </p:txBody>
      </p:sp>
      <p:sp>
        <p:nvSpPr>
          <p:cNvPr id="42" name="Rounded Rectangle 41"/>
          <p:cNvSpPr/>
          <p:nvPr/>
        </p:nvSpPr>
        <p:spPr>
          <a:xfrm>
            <a:off x="640080" y="5312664"/>
            <a:ext cx="6675120" cy="1197864"/>
          </a:xfrm>
          <a:prstGeom prst="roundRect">
            <a:avLst>
              <a:gd name="adj" fmla="val 4000"/>
            </a:avLst>
          </a:prstGeom>
          <a:solidFill>
            <a:srgbClr val="F1F4FB"/>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46304" tIns="87782" rIns="146304" bIns="87782" rtlCol="0" anchor="ctr"/>
          <a:lstStyle/>
          <a:p>
            <a:pPr algn="l">
              <a:spcAft>
                <a:spcPts val="300"/>
              </a:spcAft>
            </a:pPr>
            <a:r>
              <a:rPr sz="1800" b="1" i="0">
                <a:solidFill>
                  <a:srgbClr val="455068"/>
                </a:solidFill>
                <a:latin typeface="Trebuchet MS"/>
              </a:rPr>
              <a:t>Ranking (rse/fusion.py, rse/reranker.py)</a:t>
            </a:r>
            <a:endParaRPr sz="1800"/>
          </a:p>
          <a:p>
            <a:pPr algn="l">
              <a:spcAft>
                <a:spcPts val="0"/>
              </a:spcAft>
            </a:pPr>
            <a:r>
              <a:rPr sz="1800" b="0" i="0">
                <a:solidFill>
                  <a:srgbClr val="10204A"/>
                </a:solidFill>
                <a:latin typeface="Consolas"/>
              </a:rPr>
              <a:t>rrf(item)   = sum(1 / (60 + rank)) per list</a:t>
            </a:r>
            <a:endParaRPr sz="1800"/>
          </a:p>
          <a:p>
            <a:pPr algn="l">
              <a:spcAft>
                <a:spcPts val="0"/>
              </a:spcAft>
            </a:pPr>
            <a:r>
              <a:rPr sz="1800" b="0" i="0">
                <a:solidFill>
                  <a:srgbClr val="10204A"/>
                </a:solidFill>
                <a:latin typeface="Consolas"/>
              </a:rPr>
              <a:t>final(item) = 0.8 * cross_encoder + 0.2 * effort</a:t>
            </a:r>
            <a:endParaRPr sz="1800"/>
          </a:p>
        </p:txBody>
      </p:sp>
      <p:sp>
        <p:nvSpPr>
          <p:cNvPr id="43" name="Rounded Rectangle 42"/>
          <p:cNvSpPr/>
          <p:nvPr/>
        </p:nvSpPr>
        <p:spPr>
          <a:xfrm>
            <a:off x="7498079" y="5312664"/>
            <a:ext cx="4050792" cy="1197864"/>
          </a:xfrm>
          <a:prstGeom prst="roundRect">
            <a:avLst>
              <a:gd name="adj" fmla="val 12000"/>
            </a:avLst>
          </a:prstGeom>
          <a:solidFill>
            <a:srgbClr val="FFFFFF"/>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54864" tIns="32918" rIns="54864" bIns="32918" rtlCol="0" anchor="ctr"/>
          <a:lstStyle/>
          <a:p>
            <a:pPr algn="ctr">
              <a:spcAft>
                <a:spcPts val="0"/>
              </a:spcAft>
            </a:pPr>
            <a:r>
              <a:rPr sz="2400" b="1" i="0">
                <a:solidFill>
                  <a:srgbClr val="1F4FE0"/>
                </a:solidFill>
                <a:latin typeface="Trebuchet MS"/>
              </a:rPr>
              <a:t>2 – 6</a:t>
            </a:r>
            <a:endParaRPr sz="2400"/>
          </a:p>
          <a:p>
            <a:pPr algn="ctr">
              <a:spcAft>
                <a:spcPts val="0"/>
              </a:spcAft>
            </a:pPr>
            <a:r>
              <a:rPr sz="1800" b="0" i="0">
                <a:solidFill>
                  <a:srgbClr val="455068"/>
                </a:solidFill>
                <a:latin typeface="Trebuchet MS"/>
              </a:rPr>
              <a:t>model calls per question</a:t>
            </a:r>
            <a:endParaRPr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2: Recall in action (2/2)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5943600" cy="566928"/>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1900" b="1" i="0">
                <a:solidFill>
                  <a:srgbClr val="10204A"/>
                </a:solidFill>
                <a:latin typeface="Trebuchet MS"/>
              </a:rPr>
              <a:t>Example: </a:t>
            </a:r>
            <a:r>
              <a:rPr sz="1900" b="0" i="0">
                <a:solidFill>
                  <a:srgbClr val="10204A"/>
                </a:solidFill>
                <a:latin typeface="Trebuchet MS"/>
              </a:rPr>
              <a:t>“OS material after the interview email”</a:t>
            </a:r>
            <a:endParaRPr sz="1900"/>
          </a:p>
        </p:txBody>
      </p:sp>
      <p:sp>
        <p:nvSpPr>
          <p:cNvPr id="16" name="Rounded Rectangle 15"/>
          <p:cNvSpPr/>
          <p:nvPr/>
        </p:nvSpPr>
        <p:spPr>
          <a:xfrm>
            <a:off x="640080" y="2532888"/>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68096" y="2624328"/>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1</a:t>
            </a:r>
            <a:endParaRPr sz="1800"/>
          </a:p>
        </p:txBody>
      </p:sp>
      <p:sp>
        <p:nvSpPr>
          <p:cNvPr id="18" name="TextBox 17"/>
          <p:cNvSpPr txBox="1"/>
          <p:nvPr/>
        </p:nvSpPr>
        <p:spPr>
          <a:xfrm>
            <a:off x="1298448" y="2532888"/>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Model: query = operating systems, time phrase = after the interview email</a:t>
            </a:r>
            <a:endParaRPr sz="1800"/>
          </a:p>
        </p:txBody>
      </p:sp>
      <p:sp>
        <p:nvSpPr>
          <p:cNvPr id="19" name="Rounded Rectangle 18"/>
          <p:cNvSpPr/>
          <p:nvPr/>
        </p:nvSpPr>
        <p:spPr>
          <a:xfrm>
            <a:off x="640080" y="3182112"/>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768096" y="3273552"/>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2</a:t>
            </a:r>
            <a:endParaRPr sz="1800"/>
          </a:p>
        </p:txBody>
      </p:sp>
      <p:sp>
        <p:nvSpPr>
          <p:cNvPr id="21" name="TextBox 20"/>
          <p:cNvSpPr txBox="1"/>
          <p:nvPr/>
        </p:nvSpPr>
        <p:spPr>
          <a:xfrm>
            <a:off x="1298448" y="3182112"/>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Python finds the interview email; its time is the filter</a:t>
            </a:r>
            <a:endParaRPr sz="1800"/>
          </a:p>
        </p:txBody>
      </p:sp>
      <p:sp>
        <p:nvSpPr>
          <p:cNvPr id="22" name="Rounded Rectangle 21"/>
          <p:cNvSpPr/>
          <p:nvPr/>
        </p:nvSpPr>
        <p:spPr>
          <a:xfrm>
            <a:off x="640080" y="3831336"/>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768096" y="3922776"/>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3</a:t>
            </a:r>
            <a:endParaRPr sz="1800"/>
          </a:p>
        </p:txBody>
      </p:sp>
      <p:sp>
        <p:nvSpPr>
          <p:cNvPr id="24" name="TextBox 23"/>
          <p:cNvSpPr txBox="1"/>
          <p:nvPr/>
        </p:nvSpPr>
        <p:spPr>
          <a:xfrm>
            <a:off x="1298448" y="3831336"/>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Keyword and meaning search run on later items only</a:t>
            </a:r>
            <a:endParaRPr sz="1800"/>
          </a:p>
        </p:txBody>
      </p:sp>
      <p:sp>
        <p:nvSpPr>
          <p:cNvPr id="25" name="Rounded Rectangle 24"/>
          <p:cNvSpPr/>
          <p:nvPr/>
        </p:nvSpPr>
        <p:spPr>
          <a:xfrm>
            <a:off x="640080" y="4480560"/>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68096" y="4572000"/>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4</a:t>
            </a:r>
            <a:endParaRPr sz="1800"/>
          </a:p>
        </p:txBody>
      </p:sp>
      <p:sp>
        <p:nvSpPr>
          <p:cNvPr id="27" name="TextBox 26"/>
          <p:cNvSpPr txBox="1"/>
          <p:nvPr/>
        </p:nvSpPr>
        <p:spPr>
          <a:xfrm>
            <a:off x="1298448" y="4480560"/>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Rank fusion merges; the cross-encoder re-orders</a:t>
            </a:r>
            <a:endParaRPr sz="1800"/>
          </a:p>
        </p:txBody>
      </p:sp>
      <p:sp>
        <p:nvSpPr>
          <p:cNvPr id="28" name="Rounded Rectangle 27"/>
          <p:cNvSpPr/>
          <p:nvPr/>
        </p:nvSpPr>
        <p:spPr>
          <a:xfrm>
            <a:off x="640080" y="5129784"/>
            <a:ext cx="5943600" cy="60350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8096" y="5221224"/>
            <a:ext cx="420624" cy="420624"/>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1800" b="1" i="0">
                <a:solidFill>
                  <a:srgbClr val="FFFFFF"/>
                </a:solidFill>
                <a:latin typeface="Trebuchet MS"/>
              </a:rPr>
              <a:t>5</a:t>
            </a:r>
            <a:endParaRPr sz="1800"/>
          </a:p>
        </p:txBody>
      </p:sp>
      <p:sp>
        <p:nvSpPr>
          <p:cNvPr id="30" name="TextBox 29"/>
          <p:cNvSpPr txBox="1"/>
          <p:nvPr/>
        </p:nvSpPr>
        <p:spPr>
          <a:xfrm>
            <a:off x="1298448" y="5129784"/>
            <a:ext cx="5193792" cy="603504"/>
          </a:xfrm>
          <a:prstGeom prst="rect">
            <a:avLst/>
          </a:prstGeom>
          <a:noFill/>
        </p:spPr>
        <p:txBody>
          <a:bodyPr wrap="square" lIns="36576" tIns="21945" rIns="36576" bIns="21945" anchor="ctr">
            <a:spAutoFit/>
          </a:bodyPr>
          <a:lstStyle/>
          <a:p>
            <a:pPr algn="l">
              <a:spcAft>
                <a:spcPts val="0"/>
              </a:spcAft>
            </a:pPr>
            <a:r>
              <a:rPr sz="1800" b="0" i="0">
                <a:solidFill>
                  <a:srgbClr val="10204A"/>
                </a:solidFill>
                <a:latin typeface="Trebuchet MS"/>
              </a:rPr>
              <a:t>Answer cites the two best items as pills</a:t>
            </a:r>
            <a:endParaRPr sz="1800"/>
          </a:p>
        </p:txBody>
      </p:sp>
      <p:sp>
        <p:nvSpPr>
          <p:cNvPr id="31" name="Rounded Rectangle 30"/>
          <p:cNvSpPr/>
          <p:nvPr/>
        </p:nvSpPr>
        <p:spPr>
          <a:xfrm>
            <a:off x="6812280" y="1874519"/>
            <a:ext cx="4736592" cy="3858768"/>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949440" y="1920239"/>
            <a:ext cx="4462272" cy="384048"/>
          </a:xfrm>
          <a:prstGeom prst="rect">
            <a:avLst/>
          </a:prstGeom>
          <a:noFill/>
        </p:spPr>
        <p:txBody>
          <a:bodyPr wrap="square" lIns="18288" tIns="10972" rIns="18288" bIns="10972" anchor="t">
            <a:spAutoFit/>
          </a:bodyPr>
          <a:lstStyle/>
          <a:p>
            <a:pPr algn="l">
              <a:spcAft>
                <a:spcPts val="0"/>
              </a:spcAft>
            </a:pPr>
            <a:r>
              <a:rPr sz="1900" b="1" i="0">
                <a:solidFill>
                  <a:srgbClr val="0B2272"/>
                </a:solidFill>
                <a:latin typeface="Trebuchet MS"/>
              </a:rPr>
              <a:t>Answer format </a:t>
            </a:r>
            <a:r>
              <a:rPr sz="1900" b="0" i="1">
                <a:solidFill>
                  <a:srgbClr val="455068"/>
                </a:solidFill>
                <a:latin typeface="Trebuchet MS"/>
              </a:rPr>
              <a:t>(illustration)</a:t>
            </a:r>
            <a:endParaRPr sz="1900"/>
          </a:p>
        </p:txBody>
      </p:sp>
      <p:sp>
        <p:nvSpPr>
          <p:cNvPr id="33" name="Rounded Rectangle 32"/>
          <p:cNvSpPr/>
          <p:nvPr/>
        </p:nvSpPr>
        <p:spPr>
          <a:xfrm>
            <a:off x="7269480" y="2377439"/>
            <a:ext cx="4142232" cy="566928"/>
          </a:xfrm>
          <a:prstGeom prst="roundRect">
            <a:avLst>
              <a:gd name="adj" fmla="val 3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76809" rIns="128016" bIns="76809" rtlCol="0" anchor="ctr"/>
          <a:lstStyle/>
          <a:p>
            <a:pPr algn="l">
              <a:spcAft>
                <a:spcPts val="0"/>
              </a:spcAft>
            </a:pPr>
            <a:r>
              <a:rPr sz="1900" b="0" i="0">
                <a:solidFill>
                  <a:srgbClr val="FFFFFF"/>
                </a:solidFill>
                <a:latin typeface="Trebuchet MS"/>
              </a:rPr>
              <a:t>Did Priya send the checklist?</a:t>
            </a:r>
            <a:endParaRPr sz="1900"/>
          </a:p>
        </p:txBody>
      </p:sp>
      <p:sp>
        <p:nvSpPr>
          <p:cNvPr id="34" name="Rounded Rectangle 33"/>
          <p:cNvSpPr/>
          <p:nvPr/>
        </p:nvSpPr>
        <p:spPr>
          <a:xfrm>
            <a:off x="6949440" y="3063239"/>
            <a:ext cx="4325112" cy="914400"/>
          </a:xfrm>
          <a:prstGeom prst="roundRect">
            <a:avLst>
              <a:gd name="adj" fmla="val 15000"/>
            </a:avLst>
          </a:prstGeom>
          <a:solidFill>
            <a:srgbClr val="E9EFFD"/>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76809" rIns="128016" bIns="76809" rtlCol="0" anchor="ctr"/>
          <a:lstStyle/>
          <a:p>
            <a:pPr algn="l">
              <a:spcAft>
                <a:spcPts val="0"/>
              </a:spcAft>
            </a:pPr>
            <a:r>
              <a:rPr sz="1900" b="0" i="0">
                <a:solidFill>
                  <a:srgbClr val="10204A"/>
                </a:solidFill>
                <a:latin typeface="Trebuchet MS"/>
              </a:rPr>
              <a:t>Yes — </a:t>
            </a:r>
            <a:r>
              <a:rPr sz="1900" b="1" i="0">
                <a:solidFill>
                  <a:srgbClr val="10204A"/>
                </a:solidFill>
                <a:latin typeface="Trebuchet MS"/>
              </a:rPr>
              <a:t>Priya</a:t>
            </a:r>
            <a:r>
              <a:rPr sz="1900" b="0" i="0">
                <a:solidFill>
                  <a:srgbClr val="10204A"/>
                </a:solidFill>
                <a:latin typeface="Trebuchet MS"/>
              </a:rPr>
              <a:t> emailed it on </a:t>
            </a:r>
            <a:r>
              <a:rPr sz="1900" b="1" i="0">
                <a:solidFill>
                  <a:srgbClr val="10204A"/>
                </a:solidFill>
                <a:latin typeface="Trebuchet MS"/>
              </a:rPr>
              <a:t>Tue 14 Oct</a:t>
            </a:r>
            <a:r>
              <a:rPr sz="1900" b="0" i="0">
                <a:solidFill>
                  <a:srgbClr val="10204A"/>
                </a:solidFill>
                <a:latin typeface="Trebuchet MS"/>
              </a:rPr>
              <a:t>, PDF attached.</a:t>
            </a:r>
            <a:endParaRPr sz="1900"/>
          </a:p>
        </p:txBody>
      </p:sp>
      <p:sp>
        <p:nvSpPr>
          <p:cNvPr id="35" name="Rounded Rectangle 34"/>
          <p:cNvSpPr/>
          <p:nvPr/>
        </p:nvSpPr>
        <p:spPr>
          <a:xfrm>
            <a:off x="6949440" y="4114800"/>
            <a:ext cx="2423160" cy="420624"/>
          </a:xfrm>
          <a:prstGeom prst="roundRect">
            <a:avLst>
              <a:gd name="adj" fmla="val 50000"/>
            </a:avLst>
          </a:prstGeom>
          <a:solidFill>
            <a:srgbClr val="FFFFFF"/>
          </a:solidFill>
          <a:ln w="22225">
            <a:solidFill>
              <a:srgbClr val="1F4F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Picture 35" descr="image.png"/>
          <p:cNvPicPr>
            <a:picLocks noChangeAspect="1"/>
          </p:cNvPicPr>
          <p:nvPr/>
        </p:nvPicPr>
        <p:blipFill>
          <a:blip r:embed="rId4"/>
          <a:stretch>
            <a:fillRect/>
          </a:stretch>
        </p:blipFill>
        <p:spPr>
          <a:xfrm>
            <a:off x="7068312" y="4229434"/>
            <a:ext cx="256032" cy="191355"/>
          </a:xfrm>
          <a:prstGeom prst="rect">
            <a:avLst/>
          </a:prstGeom>
        </p:spPr>
      </p:pic>
      <p:sp>
        <p:nvSpPr>
          <p:cNvPr id="37" name="TextBox 36"/>
          <p:cNvSpPr txBox="1"/>
          <p:nvPr/>
        </p:nvSpPr>
        <p:spPr>
          <a:xfrm>
            <a:off x="7406640" y="4114800"/>
            <a:ext cx="1920240" cy="420624"/>
          </a:xfrm>
          <a:prstGeom prst="rect">
            <a:avLst/>
          </a:prstGeom>
          <a:noFill/>
        </p:spPr>
        <p:txBody>
          <a:bodyPr wrap="square" lIns="18288" tIns="10972" rIns="18288" bIns="10972" anchor="ctr">
            <a:spAutoFit/>
          </a:bodyPr>
          <a:lstStyle/>
          <a:p>
            <a:pPr algn="l">
              <a:spcAft>
                <a:spcPts val="0"/>
              </a:spcAft>
            </a:pPr>
            <a:r>
              <a:rPr sz="1800" b="0" i="0">
                <a:solidFill>
                  <a:srgbClr val="0B2272"/>
                </a:solidFill>
                <a:latin typeface="Trebuchet MS"/>
              </a:rPr>
              <a:t>Priya · 14 Oct</a:t>
            </a:r>
            <a:endParaRPr sz="1800"/>
          </a:p>
        </p:txBody>
      </p:sp>
      <p:sp>
        <p:nvSpPr>
          <p:cNvPr id="38" name="Rounded Rectangle 37"/>
          <p:cNvSpPr/>
          <p:nvPr/>
        </p:nvSpPr>
        <p:spPr>
          <a:xfrm>
            <a:off x="6949440" y="4645152"/>
            <a:ext cx="2423160" cy="420624"/>
          </a:xfrm>
          <a:prstGeom prst="roundRect">
            <a:avLst>
              <a:gd name="adj" fmla="val 50000"/>
            </a:avLst>
          </a:prstGeom>
          <a:solidFill>
            <a:srgbClr val="FFFFFF"/>
          </a:solidFill>
          <a:ln w="22225">
            <a:solidFill>
              <a:srgbClr val="1F4FE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image.png"/>
          <p:cNvPicPr>
            <a:picLocks noChangeAspect="1"/>
          </p:cNvPicPr>
          <p:nvPr/>
        </p:nvPicPr>
        <p:blipFill>
          <a:blip r:embed="rId4"/>
          <a:stretch>
            <a:fillRect/>
          </a:stretch>
        </p:blipFill>
        <p:spPr>
          <a:xfrm>
            <a:off x="7068312" y="4759786"/>
            <a:ext cx="256032" cy="191355"/>
          </a:xfrm>
          <a:prstGeom prst="rect">
            <a:avLst/>
          </a:prstGeom>
        </p:spPr>
      </p:pic>
      <p:sp>
        <p:nvSpPr>
          <p:cNvPr id="40" name="TextBox 39"/>
          <p:cNvSpPr txBox="1"/>
          <p:nvPr/>
        </p:nvSpPr>
        <p:spPr>
          <a:xfrm>
            <a:off x="7406640" y="4645152"/>
            <a:ext cx="1920240" cy="420624"/>
          </a:xfrm>
          <a:prstGeom prst="rect">
            <a:avLst/>
          </a:prstGeom>
          <a:noFill/>
        </p:spPr>
        <p:txBody>
          <a:bodyPr wrap="square" lIns="18288" tIns="10972" rIns="18288" bIns="10972" anchor="ctr">
            <a:spAutoFit/>
          </a:bodyPr>
          <a:lstStyle/>
          <a:p>
            <a:pPr algn="l">
              <a:spcAft>
                <a:spcPts val="0"/>
              </a:spcAft>
            </a:pPr>
            <a:r>
              <a:rPr sz="1800" b="0" i="0">
                <a:solidFill>
                  <a:srgbClr val="0B2272"/>
                </a:solidFill>
                <a:latin typeface="Trebuchet MS"/>
              </a:rPr>
              <a:t>HR · 15 Oct</a:t>
            </a:r>
            <a:endParaRPr sz="1800"/>
          </a:p>
        </p:txBody>
      </p:sp>
      <p:sp>
        <p:nvSpPr>
          <p:cNvPr id="41" name="TextBox 40"/>
          <p:cNvSpPr txBox="1"/>
          <p:nvPr/>
        </p:nvSpPr>
        <p:spPr>
          <a:xfrm>
            <a:off x="6949440" y="5212079"/>
            <a:ext cx="4462272" cy="475488"/>
          </a:xfrm>
          <a:prstGeom prst="rect">
            <a:avLst/>
          </a:prstGeom>
          <a:noFill/>
        </p:spPr>
        <p:txBody>
          <a:bodyPr wrap="square" lIns="36576" tIns="21945" rIns="36576" bIns="21945" anchor="ctr">
            <a:spAutoFit/>
          </a:bodyPr>
          <a:lstStyle/>
          <a:p>
            <a:pPr algn="l">
              <a:spcAft>
                <a:spcPts val="0"/>
              </a:spcAft>
            </a:pPr>
            <a:r>
              <a:rPr sz="1800" b="1" i="0">
                <a:solidFill>
                  <a:srgbClr val="10204A"/>
                </a:solidFill>
                <a:latin typeface="Trebuchet MS"/>
              </a:rPr>
              <a:t>Click a pill</a:t>
            </a:r>
            <a:r>
              <a:rPr sz="1800" b="0" i="0">
                <a:solidFill>
                  <a:srgbClr val="10204A"/>
                </a:solidFill>
                <a:latin typeface="Trebuchet MS"/>
              </a:rPr>
              <a:t> → the original mail</a:t>
            </a:r>
            <a:endParaRPr sz="1800"/>
          </a:p>
        </p:txBody>
      </p:sp>
      <p:sp>
        <p:nvSpPr>
          <p:cNvPr id="42" name="Rounded Rectangle 41"/>
          <p:cNvSpPr/>
          <p:nvPr/>
        </p:nvSpPr>
        <p:spPr>
          <a:xfrm>
            <a:off x="640080" y="5843016"/>
            <a:ext cx="10908792" cy="667511"/>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1900" b="1" i="0">
                <a:solidFill>
                  <a:srgbClr val="10204A"/>
                </a:solidFill>
                <a:latin typeface="Trebuchet MS"/>
              </a:rPr>
              <a:t>What the model sees: </a:t>
            </a:r>
            <a:r>
              <a:rPr sz="1900" b="0" i="0">
                <a:solidFill>
                  <a:srgbClr val="10204A"/>
                </a:solidFill>
                <a:latin typeface="Trebuchet MS"/>
              </a:rPr>
              <a:t>your question and short snippets of the best matches, never full emails or pages.</a:t>
            </a:r>
            <a:endParaRPr sz="19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3: Wellbeing (1/2)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10058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822960"/>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59" y="1901951"/>
            <a:ext cx="10634472" cy="950976"/>
          </a:xfrm>
          <a:prstGeom prst="rect">
            <a:avLst/>
          </a:prstGeom>
          <a:noFill/>
        </p:spPr>
        <p:txBody>
          <a:bodyPr wrap="square" lIns="54864" tIns="32918" rIns="54864" bIns="32918" anchor="ctr">
            <a:spAutoFit/>
          </a:bodyPr>
          <a:lstStyle/>
          <a:p>
            <a:pPr algn="l">
              <a:spcAft>
                <a:spcPts val="200"/>
              </a:spcAft>
            </a:pPr>
            <a:r>
              <a:rPr sz="2200" b="1" i="0">
                <a:solidFill>
                  <a:srgbClr val="0B2272"/>
                </a:solidFill>
                <a:latin typeface="Trebuchet MS"/>
              </a:rPr>
              <a:t>Module 3 · Digital Wellbeing and Analytics (WBA) — Part A: what it measures</a:t>
            </a:r>
            <a:endParaRPr sz="2200"/>
          </a:p>
          <a:p>
            <a:pPr algn="l">
              <a:spcAft>
                <a:spcPts val="0"/>
              </a:spcAft>
            </a:pPr>
            <a:r>
              <a:rPr sz="1800" b="1" i="0">
                <a:solidFill>
                  <a:srgbClr val="10204A"/>
                </a:solidFill>
                <a:latin typeface="Trebuchet MS"/>
              </a:rPr>
              <a:t>Technology: </a:t>
            </a:r>
            <a:r>
              <a:rPr sz="1800" b="0" i="0">
                <a:solidFill>
                  <a:srgbClr val="10204A"/>
                </a:solidFill>
                <a:latin typeface="Trebuchet MS"/>
              </a:rPr>
              <a:t>FastAPI router · PostgreSQL (SQLAlchemy) · Redis · OpenAI (weekly numbers only) · React + TypeScript + Vite + Tailwind</a:t>
            </a:r>
            <a:endParaRPr sz="1800"/>
          </a:p>
        </p:txBody>
      </p:sp>
      <p:sp>
        <p:nvSpPr>
          <p:cNvPr id="18" name="Rounded Rectangle 17"/>
          <p:cNvSpPr/>
          <p:nvPr/>
        </p:nvSpPr>
        <p:spPr>
          <a:xfrm>
            <a:off x="640080" y="2990088"/>
            <a:ext cx="2788920" cy="16916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40080" y="3099816"/>
            <a:ext cx="73152" cy="14721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86384" y="3026664"/>
            <a:ext cx="2587751" cy="16184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Time</a:t>
            </a:r>
            <a:endParaRPr sz="2200"/>
          </a:p>
          <a:p>
            <a:pPr algn="l">
              <a:spcAft>
                <a:spcPts val="0"/>
              </a:spcAft>
            </a:pPr>
            <a:r>
              <a:rPr sz="1900" b="0" i="0">
                <a:solidFill>
                  <a:srgbClr val="10204A"/>
                </a:solidFill>
                <a:latin typeface="Trebuchet MS"/>
              </a:rPr>
              <a:t>Per category and source, added up per visit, by day</a:t>
            </a:r>
            <a:endParaRPr sz="1900"/>
          </a:p>
        </p:txBody>
      </p:sp>
      <p:sp>
        <p:nvSpPr>
          <p:cNvPr id="21" name="Rounded Rectangle 20"/>
          <p:cNvSpPr/>
          <p:nvPr/>
        </p:nvSpPr>
        <p:spPr>
          <a:xfrm>
            <a:off x="3611880" y="2990088"/>
            <a:ext cx="2788920" cy="16916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11880" y="3099816"/>
            <a:ext cx="73152" cy="14721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58184" y="3026664"/>
            <a:ext cx="2587751" cy="16184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Sessions</a:t>
            </a:r>
            <a:endParaRPr sz="2200"/>
          </a:p>
          <a:p>
            <a:pPr algn="l">
              <a:spcAft>
                <a:spcPts val="0"/>
              </a:spcAft>
            </a:pPr>
            <a:r>
              <a:rPr sz="1900" b="0" i="0">
                <a:solidFill>
                  <a:srgbClr val="10204A"/>
                </a:solidFill>
                <a:latin typeface="Trebuchet MS"/>
              </a:rPr>
              <a:t>Items under 20 minutes apart form one sitting</a:t>
            </a:r>
            <a:endParaRPr sz="1900"/>
          </a:p>
        </p:txBody>
      </p:sp>
      <p:sp>
        <p:nvSpPr>
          <p:cNvPr id="24" name="Rounded Rectangle 23"/>
          <p:cNvSpPr/>
          <p:nvPr/>
        </p:nvSpPr>
        <p:spPr>
          <a:xfrm>
            <a:off x="640080" y="4818888"/>
            <a:ext cx="2788920" cy="16916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 y="4928616"/>
            <a:ext cx="73152" cy="14721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 y="4855464"/>
            <a:ext cx="2587751" cy="16184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Regret</a:t>
            </a:r>
            <a:endParaRPr sz="2200"/>
          </a:p>
          <a:p>
            <a:pPr algn="l">
              <a:spcAft>
                <a:spcPts val="0"/>
              </a:spcAft>
            </a:pPr>
            <a:r>
              <a:rPr sz="1900" b="0" i="0">
                <a:solidFill>
                  <a:srgbClr val="10204A"/>
                </a:solidFill>
                <a:latin typeface="Trebuchet MS"/>
              </a:rPr>
              <a:t>You mark an item yourself. Never scored, never judged</a:t>
            </a:r>
            <a:endParaRPr sz="1900"/>
          </a:p>
        </p:txBody>
      </p:sp>
      <p:sp>
        <p:nvSpPr>
          <p:cNvPr id="27" name="Rounded Rectangle 26"/>
          <p:cNvSpPr/>
          <p:nvPr/>
        </p:nvSpPr>
        <p:spPr>
          <a:xfrm>
            <a:off x="3611880" y="4818888"/>
            <a:ext cx="2788920" cy="16916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11880" y="4928616"/>
            <a:ext cx="73152" cy="14721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758184" y="4855464"/>
            <a:ext cx="2587751" cy="16184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Weekly insight</a:t>
            </a:r>
            <a:endParaRPr sz="2200"/>
          </a:p>
          <a:p>
            <a:pPr algn="l">
              <a:spcAft>
                <a:spcPts val="0"/>
              </a:spcAft>
            </a:pPr>
            <a:r>
              <a:rPr sz="1900" b="0" i="0">
                <a:solidFill>
                  <a:srgbClr val="10204A"/>
                </a:solidFill>
                <a:latin typeface="Trebuchet MS"/>
              </a:rPr>
              <a:t>The model sees only totals and hours. Judging words are rejected</a:t>
            </a:r>
            <a:endParaRPr sz="1900"/>
          </a:p>
        </p:txBody>
      </p:sp>
      <p:sp>
        <p:nvSpPr>
          <p:cNvPr id="30" name="Rounded Rectangle 29"/>
          <p:cNvSpPr/>
          <p:nvPr/>
        </p:nvSpPr>
        <p:spPr>
          <a:xfrm>
            <a:off x="6629400" y="2990088"/>
            <a:ext cx="4919472" cy="1737360"/>
          </a:xfrm>
          <a:prstGeom prst="roundRect">
            <a:avLst>
              <a:gd name="adj" fmla="val 4000"/>
            </a:avLst>
          </a:prstGeom>
          <a:solidFill>
            <a:srgbClr val="F1F4FB"/>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46304" tIns="87782" rIns="146304" bIns="87782" rtlCol="0" anchor="ctr"/>
          <a:lstStyle/>
          <a:p>
            <a:pPr algn="l">
              <a:spcAft>
                <a:spcPts val="300"/>
              </a:spcAft>
            </a:pPr>
            <a:r>
              <a:rPr sz="1800" b="1" i="0">
                <a:solidFill>
                  <a:srgbClr val="455068"/>
                </a:solidFill>
                <a:latin typeface="Trebuchet MS"/>
              </a:rPr>
              <a:t>Session rule (wba/wellbeing_analytics.py)</a:t>
            </a:r>
            <a:endParaRPr sz="1800"/>
          </a:p>
          <a:p>
            <a:pPr algn="l">
              <a:spcAft>
                <a:spcPts val="0"/>
              </a:spcAft>
            </a:pPr>
            <a:r>
              <a:rPr sz="1800" b="0" i="0">
                <a:solidFill>
                  <a:srgbClr val="10204A"/>
                </a:solidFill>
                <a:latin typeface="Consolas"/>
              </a:rPr>
              <a:t>for item in items_in_time_order:</a:t>
            </a:r>
            <a:endParaRPr sz="1800"/>
          </a:p>
          <a:p>
            <a:pPr algn="l">
              <a:spcAft>
                <a:spcPts val="0"/>
              </a:spcAft>
            </a:pPr>
            <a:r>
              <a:rPr sz="1800" b="0" i="0">
                <a:solidFill>
                  <a:srgbClr val="10204A"/>
                </a:solidFill>
                <a:latin typeface="Consolas"/>
              </a:rPr>
              <a:t>    if gap_to_previous &gt; 20 min:</a:t>
            </a:r>
            <a:endParaRPr sz="1800"/>
          </a:p>
          <a:p>
            <a:pPr algn="l">
              <a:spcAft>
                <a:spcPts val="0"/>
              </a:spcAft>
            </a:pPr>
            <a:r>
              <a:rPr sz="1800" b="0" i="0">
                <a:solidFill>
                  <a:srgbClr val="10204A"/>
                </a:solidFill>
                <a:latin typeface="Consolas"/>
              </a:rPr>
              <a:t>        start a new session</a:t>
            </a:r>
            <a:endParaRPr sz="1800"/>
          </a:p>
          <a:p>
            <a:pPr algn="l">
              <a:spcAft>
                <a:spcPts val="0"/>
              </a:spcAft>
            </a:pPr>
            <a:r>
              <a:rPr sz="1800" b="0" i="0">
                <a:solidFill>
                  <a:srgbClr val="10204A"/>
                </a:solidFill>
                <a:latin typeface="Consolas"/>
              </a:rPr>
              <a:t>    else: add to current session</a:t>
            </a:r>
            <a:endParaRPr sz="1800"/>
          </a:p>
        </p:txBody>
      </p:sp>
      <p:sp>
        <p:nvSpPr>
          <p:cNvPr id="31" name="Rounded Rectangle 30"/>
          <p:cNvSpPr/>
          <p:nvPr/>
        </p:nvSpPr>
        <p:spPr>
          <a:xfrm>
            <a:off x="6629400" y="4864608"/>
            <a:ext cx="4919472" cy="1645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629400" y="4974336"/>
            <a:ext cx="73152" cy="142646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75704" y="4901184"/>
            <a:ext cx="4718304" cy="1572768"/>
          </a:xfrm>
          <a:prstGeom prst="rect">
            <a:avLst/>
          </a:prstGeom>
          <a:noFill/>
        </p:spPr>
        <p:txBody>
          <a:bodyPr wrap="square" tIns="54864" bIns="54864" anchor="t">
            <a:spAutoFit/>
          </a:bodyPr>
          <a:lstStyle/>
          <a:p>
            <a:pPr algn="l">
              <a:spcAft>
                <a:spcPts val="600"/>
              </a:spcAft>
            </a:pPr>
            <a:r>
              <a:rPr sz="2100" b="1" i="0">
                <a:solidFill>
                  <a:srgbClr val="1F4FE0"/>
                </a:solidFill>
                <a:latin typeface="Trebuchet MS"/>
              </a:rPr>
              <a:t>Example</a:t>
            </a:r>
            <a:endParaRPr sz="2100"/>
          </a:p>
          <a:p>
            <a:pPr algn="l">
              <a:spcAft>
                <a:spcPts val="300"/>
              </a:spcAft>
            </a:pPr>
            <a:r>
              <a:rPr sz="1900" b="0" i="0">
                <a:solidFill>
                  <a:srgbClr val="10204A"/>
                </a:solidFill>
                <a:latin typeface="Trebuchet MS"/>
              </a:rPr>
              <a:t>09:00 · 09:12 · 09:25 · 09:40 → session 1</a:t>
            </a:r>
            <a:endParaRPr sz="1900"/>
          </a:p>
          <a:p>
            <a:pPr algn="l">
              <a:spcAft>
                <a:spcPts val="300"/>
              </a:spcAft>
            </a:pPr>
            <a:r>
              <a:rPr sz="1900" b="0" i="0">
                <a:solidFill>
                  <a:srgbClr val="10204A"/>
                </a:solidFill>
                <a:latin typeface="Trebuchet MS"/>
              </a:rPr>
              <a:t>50-minute gap</a:t>
            </a:r>
            <a:endParaRPr sz="1900"/>
          </a:p>
          <a:p>
            <a:pPr algn="l">
              <a:spcAft>
                <a:spcPts val="0"/>
              </a:spcAft>
            </a:pPr>
            <a:r>
              <a:rPr sz="1900" b="0" i="0">
                <a:solidFill>
                  <a:srgbClr val="10204A"/>
                </a:solidFill>
                <a:latin typeface="Trebuchet MS"/>
              </a:rPr>
              <a:t>10:30 · 10:45 → session 2</a:t>
            </a:r>
            <a:endParaRPr sz="19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922787"/>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buClr>
                <a:srgbClr val="FF0000"/>
              </a:buClr>
              <a:buSzPts val="2400"/>
            </a:pPr>
            <a:r>
              <a:rPr lang="en-US" sz="3200" dirty="0">
                <a:solidFill>
                  <a:srgbClr val="FF0000"/>
                </a:solidFill>
                <a:latin typeface="Trebuchet MS"/>
                <a:ea typeface="Trebuchet MS"/>
                <a:cs typeface="Trebuchet MS"/>
                <a:sym typeface="Trebuchet MS"/>
              </a:rPr>
              <a:t>Implementation – Module 3: Groups you control (2/2)</a:t>
            </a:r>
            <a:endParaRPr lang="en-US" dirty="0">
              <a:solidFill>
                <a:schemeClr val="dk1"/>
              </a:solidFill>
              <a:latin typeface="Arial"/>
              <a:ea typeface="Arial"/>
              <a:cs typeface="Arial"/>
              <a:sym typeface="Arial"/>
            </a:endParaRPr>
          </a:p>
        </p:txBody>
      </p:sp>
      <p:sp>
        <p:nvSpPr>
          <p:cNvPr id="15" name="Rounded Rectangle 14"/>
          <p:cNvSpPr/>
          <p:nvPr/>
        </p:nvSpPr>
        <p:spPr>
          <a:xfrm>
            <a:off x="640080" y="1874519"/>
            <a:ext cx="10908792" cy="548640"/>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2100" b="1" i="0">
                <a:solidFill>
                  <a:srgbClr val="10204A"/>
                </a:solidFill>
                <a:latin typeface="Trebuchet MS"/>
              </a:rPr>
              <a:t>Module 3 · Digital Wellbeing and Analytics (WBA) — Part B: your goal groups</a:t>
            </a:r>
            <a:endParaRPr sz="2100"/>
          </a:p>
        </p:txBody>
      </p:sp>
      <p:sp>
        <p:nvSpPr>
          <p:cNvPr id="16" name="Rounded Rectangle 15"/>
          <p:cNvSpPr/>
          <p:nvPr/>
        </p:nvSpPr>
        <p:spPr>
          <a:xfrm>
            <a:off x="640080" y="2532888"/>
            <a:ext cx="5852160" cy="397763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68680" y="2624328"/>
            <a:ext cx="5394960" cy="530352"/>
          </a:xfrm>
          <a:prstGeom prst="roundRect">
            <a:avLst>
              <a:gd name="adj" fmla="val 12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2000" b="1" i="0">
                <a:solidFill>
                  <a:srgbClr val="1E263A"/>
                </a:solidFill>
                <a:latin typeface="Trebuchet MS"/>
              </a:rPr>
              <a:t>New item</a:t>
            </a:r>
            <a:endParaRPr sz="2000"/>
          </a:p>
        </p:txBody>
      </p:sp>
      <p:sp>
        <p:nvSpPr>
          <p:cNvPr id="18" name="Rounded Rectangle 17"/>
          <p:cNvSpPr/>
          <p:nvPr/>
        </p:nvSpPr>
        <p:spPr>
          <a:xfrm>
            <a:off x="868680" y="3383280"/>
            <a:ext cx="5394960" cy="530352"/>
          </a:xfrm>
          <a:prstGeom prst="roundRect">
            <a:avLst>
              <a:gd name="adj" fmla="val 12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1E263A"/>
                </a:solidFill>
                <a:latin typeface="Trebuchet MS"/>
              </a:rPr>
              <a:t>Scored: rules + similarity</a:t>
            </a:r>
            <a:endParaRPr sz="1900"/>
          </a:p>
        </p:txBody>
      </p:sp>
      <p:cxnSp>
        <p:nvCxnSpPr>
          <p:cNvPr id="19" name="Connector 18"/>
          <p:cNvCxnSpPr/>
          <p:nvPr/>
        </p:nvCxnSpPr>
        <p:spPr>
          <a:xfrm>
            <a:off x="3566160" y="3172968"/>
            <a:ext cx="0" cy="192024"/>
          </a:xfrm>
          <a:prstGeom prst="line">
            <a:avLst/>
          </a:prstGeom>
          <a:ln w="28575">
            <a:solidFill>
              <a:srgbClr val="455068"/>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68680" y="3950208"/>
            <a:ext cx="1188720" cy="329184"/>
          </a:xfrm>
          <a:prstGeom prst="rect">
            <a:avLst/>
          </a:prstGeom>
          <a:noFill/>
        </p:spPr>
        <p:txBody>
          <a:bodyPr wrap="square" lIns="0" tIns="0" rIns="0" bIns="0" anchor="t">
            <a:spAutoFit/>
          </a:bodyPr>
          <a:lstStyle/>
          <a:p>
            <a:pPr algn="l">
              <a:spcAft>
                <a:spcPts val="0"/>
              </a:spcAft>
            </a:pPr>
            <a:r>
              <a:rPr sz="1800" b="0" i="0">
                <a:solidFill>
                  <a:srgbClr val="0B2272"/>
                </a:solidFill>
                <a:latin typeface="Trebuchet MS"/>
              </a:rPr>
              <a:t>confident</a:t>
            </a:r>
            <a:endParaRPr sz="1800"/>
          </a:p>
        </p:txBody>
      </p:sp>
      <p:sp>
        <p:nvSpPr>
          <p:cNvPr id="21" name="TextBox 20"/>
          <p:cNvSpPr txBox="1"/>
          <p:nvPr/>
        </p:nvSpPr>
        <p:spPr>
          <a:xfrm>
            <a:off x="5349240" y="3950208"/>
            <a:ext cx="914400" cy="329184"/>
          </a:xfrm>
          <a:prstGeom prst="rect">
            <a:avLst/>
          </a:prstGeom>
          <a:noFill/>
        </p:spPr>
        <p:txBody>
          <a:bodyPr wrap="square" lIns="0" tIns="0" rIns="0" bIns="0" anchor="t">
            <a:spAutoFit/>
          </a:bodyPr>
          <a:lstStyle/>
          <a:p>
            <a:pPr algn="r">
              <a:spcAft>
                <a:spcPts val="0"/>
              </a:spcAft>
            </a:pPr>
            <a:r>
              <a:rPr sz="1800" b="0" i="0">
                <a:solidFill>
                  <a:srgbClr val="1E263A"/>
                </a:solidFill>
                <a:latin typeface="Trebuchet MS"/>
              </a:rPr>
              <a:t>unsure</a:t>
            </a:r>
            <a:endParaRPr sz="1800"/>
          </a:p>
        </p:txBody>
      </p:sp>
      <p:sp>
        <p:nvSpPr>
          <p:cNvPr id="22" name="Rounded Rectangle 21"/>
          <p:cNvSpPr/>
          <p:nvPr/>
        </p:nvSpPr>
        <p:spPr>
          <a:xfrm>
            <a:off x="868680" y="4361688"/>
            <a:ext cx="2606040" cy="68580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Added automatically</a:t>
            </a:r>
            <a:endParaRPr sz="1900"/>
          </a:p>
        </p:txBody>
      </p:sp>
      <p:sp>
        <p:nvSpPr>
          <p:cNvPr id="23" name="Rounded Rectangle 22"/>
          <p:cNvSpPr/>
          <p:nvPr/>
        </p:nvSpPr>
        <p:spPr>
          <a:xfrm>
            <a:off x="3657600" y="4361688"/>
            <a:ext cx="2606040" cy="685800"/>
          </a:xfrm>
          <a:prstGeom prst="roundRect">
            <a:avLst>
              <a:gd name="adj" fmla="val 12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1E263A"/>
                </a:solidFill>
                <a:latin typeface="Trebuchet MS"/>
              </a:rPr>
              <a:t>Waits for you</a:t>
            </a:r>
            <a:endParaRPr sz="1900"/>
          </a:p>
        </p:txBody>
      </p:sp>
      <p:cxnSp>
        <p:nvCxnSpPr>
          <p:cNvPr id="24" name="Connector 23"/>
          <p:cNvCxnSpPr/>
          <p:nvPr/>
        </p:nvCxnSpPr>
        <p:spPr>
          <a:xfrm flipH="1">
            <a:off x="2171700" y="3931920"/>
            <a:ext cx="1120140" cy="411480"/>
          </a:xfrm>
          <a:prstGeom prst="line">
            <a:avLst/>
          </a:prstGeom>
          <a:ln w="28575">
            <a:solidFill>
              <a:srgbClr val="1F4FE0"/>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40480" y="3931920"/>
            <a:ext cx="1120140" cy="411480"/>
          </a:xfrm>
          <a:prstGeom prst="line">
            <a:avLst/>
          </a:prstGeom>
          <a:ln w="28575">
            <a:solidFill>
              <a:srgbClr val="4A556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8680" y="5276088"/>
            <a:ext cx="2606040" cy="777240"/>
          </a:xfrm>
          <a:prstGeom prst="roundRect">
            <a:avLst>
              <a:gd name="adj" fmla="val 12000"/>
            </a:avLst>
          </a:prstGeom>
          <a:solidFill>
            <a:srgbClr val="E9EFFD"/>
          </a:solidFill>
          <a:ln w="25400">
            <a:solidFill>
              <a:srgbClr val="1F4FE0"/>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0B2272"/>
                </a:solidFill>
                <a:latin typeface="Trebuchet MS"/>
              </a:rPr>
              <a:t>Sunday review</a:t>
            </a:r>
            <a:endParaRPr sz="1900"/>
          </a:p>
          <a:p>
            <a:pPr algn="ctr">
              <a:spcAft>
                <a:spcPts val="0"/>
              </a:spcAft>
            </a:pPr>
            <a:r>
              <a:rPr sz="1800" b="0" i="0">
                <a:solidFill>
                  <a:srgbClr val="0B2272"/>
                </a:solidFill>
                <a:latin typeface="Trebuchet MS"/>
              </a:rPr>
              <a:t>one-click undo</a:t>
            </a:r>
            <a:endParaRPr sz="1800"/>
          </a:p>
        </p:txBody>
      </p:sp>
      <p:sp>
        <p:nvSpPr>
          <p:cNvPr id="27" name="Rounded Rectangle 26"/>
          <p:cNvSpPr/>
          <p:nvPr/>
        </p:nvSpPr>
        <p:spPr>
          <a:xfrm>
            <a:off x="3657600" y="5276088"/>
            <a:ext cx="2606040" cy="777240"/>
          </a:xfrm>
          <a:prstGeom prst="roundRect">
            <a:avLst>
              <a:gd name="adj" fmla="val 12000"/>
            </a:avLst>
          </a:prstGeom>
          <a:solidFill>
            <a:srgbClr val="EEF1F7"/>
          </a:solidFill>
          <a:ln w="254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45720" tIns="27432" rIns="45720" bIns="27432" rtlCol="0" anchor="ctr"/>
          <a:lstStyle/>
          <a:p>
            <a:pPr algn="ctr">
              <a:spcAft>
                <a:spcPts val="100"/>
              </a:spcAft>
            </a:pPr>
            <a:r>
              <a:rPr sz="1900" b="1" i="0">
                <a:solidFill>
                  <a:srgbClr val="1E263A"/>
                </a:solidFill>
                <a:latin typeface="Trebuchet MS"/>
              </a:rPr>
              <a:t>Your yes or no</a:t>
            </a:r>
            <a:endParaRPr sz="1900"/>
          </a:p>
        </p:txBody>
      </p:sp>
      <p:cxnSp>
        <p:nvCxnSpPr>
          <p:cNvPr id="28" name="Connector 27"/>
          <p:cNvCxnSpPr/>
          <p:nvPr/>
        </p:nvCxnSpPr>
        <p:spPr>
          <a:xfrm>
            <a:off x="2171700" y="5065776"/>
            <a:ext cx="0" cy="192024"/>
          </a:xfrm>
          <a:prstGeom prst="line">
            <a:avLst/>
          </a:prstGeom>
          <a:ln w="28575">
            <a:solidFill>
              <a:srgbClr val="1F4FE0"/>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960620" y="5065776"/>
            <a:ext cx="0" cy="192024"/>
          </a:xfrm>
          <a:prstGeom prst="line">
            <a:avLst/>
          </a:prstGeom>
          <a:ln w="28575">
            <a:solidFill>
              <a:srgbClr val="4A556E"/>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68680" y="6099048"/>
            <a:ext cx="5394960" cy="365759"/>
          </a:xfrm>
          <a:prstGeom prst="rect">
            <a:avLst/>
          </a:prstGeom>
          <a:noFill/>
        </p:spPr>
        <p:txBody>
          <a:bodyPr wrap="square" lIns="36576" tIns="21945" rIns="36576" bIns="21945" anchor="ctr">
            <a:spAutoFit/>
          </a:bodyPr>
          <a:lstStyle/>
          <a:p>
            <a:pPr algn="ctr">
              <a:spcAft>
                <a:spcPts val="0"/>
              </a:spcAft>
            </a:pPr>
            <a:r>
              <a:rPr sz="1900" b="0" i="1">
                <a:solidFill>
                  <a:srgbClr val="0B2272"/>
                </a:solidFill>
                <a:latin typeface="Trebuchet MS"/>
              </a:rPr>
              <a:t>Echo never decides alone when it is unsure</a:t>
            </a:r>
            <a:endParaRPr sz="1900"/>
          </a:p>
        </p:txBody>
      </p:sp>
      <p:sp>
        <p:nvSpPr>
          <p:cNvPr id="31" name="Rounded Rectangle 30"/>
          <p:cNvSpPr/>
          <p:nvPr/>
        </p:nvSpPr>
        <p:spPr>
          <a:xfrm>
            <a:off x="6720840" y="2532888"/>
            <a:ext cx="4828032" cy="3977639"/>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6720840" y="2642616"/>
            <a:ext cx="73152" cy="3758183"/>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867144" y="2569464"/>
            <a:ext cx="4626864" cy="3904487"/>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How a suggestion is made</a:t>
            </a:r>
            <a:endParaRPr sz="2200"/>
          </a:p>
          <a:p>
            <a:pPr marL="256032" indent="-256032" algn="l">
              <a:spcAft>
                <a:spcPts val="600"/>
              </a:spcAft>
              <a:buFont typeface="Arial"/>
              <a:buChar char="•"/>
            </a:pPr>
            <a:r>
              <a:rPr sz="1900" b="0" i="0">
                <a:solidFill>
                  <a:srgbClr val="10204A"/>
                </a:solidFill>
                <a:latin typeface="Trebuchet MS"/>
              </a:rPr>
              <a:t>Rules you write: keyword, domain, channel, sender, dates</a:t>
            </a:r>
            <a:endParaRPr sz="1900"/>
          </a:p>
          <a:p>
            <a:pPr marL="256032" indent="-256032" algn="l">
              <a:spcAft>
                <a:spcPts val="600"/>
              </a:spcAft>
              <a:buFont typeface="Arial"/>
              <a:buChar char="•"/>
            </a:pPr>
            <a:r>
              <a:rPr sz="1900" b="0" i="0">
                <a:solidFill>
                  <a:srgbClr val="10204A"/>
                </a:solidFill>
                <a:latin typeface="Trebuchet MS"/>
              </a:rPr>
              <a:t>Similarity: mean of the 3 nearest confirmed items</a:t>
            </a:r>
            <a:endParaRPr sz="1900"/>
          </a:p>
          <a:p>
            <a:pPr marL="256032" indent="-256032" algn="l">
              <a:spcAft>
                <a:spcPts val="600"/>
              </a:spcAft>
              <a:buFont typeface="Arial"/>
              <a:buChar char="•"/>
            </a:pPr>
            <a:r>
              <a:rPr sz="1900" b="0" i="0">
                <a:solidFill>
                  <a:srgbClr val="10204A"/>
                </a:solidFill>
                <a:latin typeface="Trebuchet MS"/>
              </a:rPr>
              <a:t>Suggestions start after 5 confirmed items</a:t>
            </a:r>
            <a:endParaRPr sz="1900"/>
          </a:p>
          <a:p>
            <a:pPr marL="256032" indent="-256032" algn="l">
              <a:spcAft>
                <a:spcPts val="600"/>
              </a:spcAft>
              <a:buFont typeface="Arial"/>
              <a:buChar char="•"/>
            </a:pPr>
            <a:r>
              <a:rPr sz="1900" b="0" i="0">
                <a:solidFill>
                  <a:srgbClr val="10204A"/>
                </a:solidFill>
                <a:latin typeface="Trebuchet MS"/>
              </a:rPr>
              <a:t>Confident = a rule matches and similarity is above the bar</a:t>
            </a:r>
            <a:endParaRPr sz="1900"/>
          </a:p>
          <a:p>
            <a:pPr marL="256032" indent="-256032" algn="l">
              <a:spcAft>
                <a:spcPts val="0"/>
              </a:spcAft>
              <a:buFont typeface="Arial"/>
              <a:buChar char="•"/>
            </a:pPr>
            <a:r>
              <a:rPr sz="1900" b="0" i="0">
                <a:solidFill>
                  <a:srgbClr val="10204A"/>
                </a:solidFill>
                <a:latin typeface="Trebuchet MS"/>
              </a:rPr>
              <a:t>Only items you confirmed teach the similarity</a:t>
            </a:r>
            <a:endParaRPr sz="1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Project Demonstration</a:t>
            </a:r>
            <a:endParaRPr lang="en-US" sz="2400" dirty="0"/>
          </a:p>
        </p:txBody>
      </p:sp>
      <p:sp>
        <p:nvSpPr>
          <p:cNvPr id="4" name="Rounded Rectangle 3"/>
          <p:cNvSpPr/>
          <p:nvPr/>
        </p:nvSpPr>
        <p:spPr>
          <a:xfrm>
            <a:off x="640080" y="1874519"/>
            <a:ext cx="10908792" cy="566928"/>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2100" b="1" i="0">
                <a:solidFill>
                  <a:srgbClr val="10204A"/>
                </a:solidFill>
                <a:latin typeface="Trebuchet MS"/>
              </a:rPr>
              <a:t>How the demo runs </a:t>
            </a:r>
            <a:r>
              <a:rPr sz="2100" b="0" i="0">
                <a:solidFill>
                  <a:srgbClr val="10204A"/>
                </a:solidFill>
                <a:latin typeface="Trebuchet MS"/>
              </a:rPr>
              <a:t>· recorded demo video ready as backup</a:t>
            </a:r>
            <a:endParaRPr sz="2100"/>
          </a:p>
        </p:txBody>
      </p:sp>
      <p:sp>
        <p:nvSpPr>
          <p:cNvPr id="5" name="Rounded Rectangle 4"/>
          <p:cNvSpPr/>
          <p:nvPr/>
        </p:nvSpPr>
        <p:spPr>
          <a:xfrm>
            <a:off x="640080" y="2578608"/>
            <a:ext cx="2487168" cy="3931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2578608"/>
            <a:ext cx="2487168"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22959" y="2852927"/>
            <a:ext cx="594360" cy="594360"/>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400" b="1" i="0">
                <a:solidFill>
                  <a:srgbClr val="FFFFFF"/>
                </a:solidFill>
                <a:latin typeface="Trebuchet MS"/>
              </a:rPr>
              <a:t>1</a:t>
            </a:r>
            <a:endParaRPr sz="2400"/>
          </a:p>
        </p:txBody>
      </p:sp>
      <p:sp>
        <p:nvSpPr>
          <p:cNvPr id="8" name="TextBox 7"/>
          <p:cNvSpPr txBox="1"/>
          <p:nvPr/>
        </p:nvSpPr>
        <p:spPr>
          <a:xfrm>
            <a:off x="1508760" y="2852927"/>
            <a:ext cx="1572768" cy="594360"/>
          </a:xfrm>
          <a:prstGeom prst="rect">
            <a:avLst/>
          </a:prstGeom>
          <a:noFill/>
        </p:spPr>
        <p:txBody>
          <a:bodyPr wrap="square" lIns="18288" tIns="10972" rIns="18288" bIns="10972" anchor="ctr">
            <a:spAutoFit/>
          </a:bodyPr>
          <a:lstStyle/>
          <a:p>
            <a:pPr algn="l">
              <a:spcAft>
                <a:spcPts val="0"/>
              </a:spcAft>
            </a:pPr>
            <a:r>
              <a:rPr sz="2100" b="1" i="0">
                <a:solidFill>
                  <a:srgbClr val="0B2272"/>
                </a:solidFill>
                <a:latin typeface="Trebuchet MS"/>
              </a:rPr>
              <a:t>Ingestion</a:t>
            </a:r>
            <a:endParaRPr sz="2100"/>
          </a:p>
        </p:txBody>
      </p:sp>
      <p:sp>
        <p:nvSpPr>
          <p:cNvPr id="9" name="TextBox 8"/>
          <p:cNvSpPr txBox="1"/>
          <p:nvPr/>
        </p:nvSpPr>
        <p:spPr>
          <a:xfrm>
            <a:off x="777240" y="3675887"/>
            <a:ext cx="2212848" cy="2743200"/>
          </a:xfrm>
          <a:prstGeom prst="rect">
            <a:avLst/>
          </a:prstGeom>
          <a:noFill/>
        </p:spPr>
        <p:txBody>
          <a:bodyPr wrap="square" lIns="54864" tIns="32918" rIns="54864" bIns="32918" anchor="t">
            <a:spAutoFit/>
          </a:bodyPr>
          <a:lstStyle/>
          <a:p>
            <a:pPr algn="l">
              <a:spcAft>
                <a:spcPts val="0"/>
              </a:spcAft>
            </a:pPr>
            <a:r>
              <a:rPr sz="2100" b="0" i="0">
                <a:solidFill>
                  <a:srgbClr val="10204A"/>
                </a:solidFill>
                <a:latin typeface="Trebuchet MS"/>
              </a:rPr>
              <a:t>Gmail, Chrome and YouTube activity is captured through the intent gates</a:t>
            </a:r>
            <a:endParaRPr sz="2100"/>
          </a:p>
        </p:txBody>
      </p:sp>
      <p:cxnSp>
        <p:nvCxnSpPr>
          <p:cNvPr id="10" name="Connector 9"/>
          <p:cNvCxnSpPr/>
          <p:nvPr/>
        </p:nvCxnSpPr>
        <p:spPr>
          <a:xfrm>
            <a:off x="3154680" y="3200400"/>
            <a:ext cx="265176" cy="0"/>
          </a:xfrm>
          <a:prstGeom prst="line">
            <a:avLst/>
          </a:prstGeom>
          <a:ln w="38100">
            <a:solidFill>
              <a:srgbClr val="0033CC"/>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47288" y="2578608"/>
            <a:ext cx="2487168" cy="3931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3447288" y="2578608"/>
            <a:ext cx="2487168"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30168" y="2852927"/>
            <a:ext cx="594360" cy="594360"/>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400" b="1" i="0">
                <a:solidFill>
                  <a:srgbClr val="FFFFFF"/>
                </a:solidFill>
                <a:latin typeface="Trebuchet MS"/>
              </a:rPr>
              <a:t>2</a:t>
            </a:r>
            <a:endParaRPr sz="2400"/>
          </a:p>
        </p:txBody>
      </p:sp>
      <p:sp>
        <p:nvSpPr>
          <p:cNvPr id="14" name="TextBox 13"/>
          <p:cNvSpPr txBox="1"/>
          <p:nvPr/>
        </p:nvSpPr>
        <p:spPr>
          <a:xfrm>
            <a:off x="4315968" y="2852927"/>
            <a:ext cx="1572768" cy="594360"/>
          </a:xfrm>
          <a:prstGeom prst="rect">
            <a:avLst/>
          </a:prstGeom>
          <a:noFill/>
        </p:spPr>
        <p:txBody>
          <a:bodyPr wrap="square" lIns="18288" tIns="10972" rIns="18288" bIns="10972" anchor="ctr">
            <a:spAutoFit/>
          </a:bodyPr>
          <a:lstStyle/>
          <a:p>
            <a:pPr algn="l">
              <a:spcAft>
                <a:spcPts val="0"/>
              </a:spcAft>
            </a:pPr>
            <a:r>
              <a:rPr sz="2100" b="1" i="0">
                <a:solidFill>
                  <a:srgbClr val="0B2272"/>
                </a:solidFill>
                <a:latin typeface="Trebuchet MS"/>
              </a:rPr>
              <a:t>Enrichment</a:t>
            </a:r>
            <a:endParaRPr sz="2100"/>
          </a:p>
        </p:txBody>
      </p:sp>
      <p:sp>
        <p:nvSpPr>
          <p:cNvPr id="15" name="TextBox 14"/>
          <p:cNvSpPr txBox="1"/>
          <p:nvPr/>
        </p:nvSpPr>
        <p:spPr>
          <a:xfrm>
            <a:off x="3584448" y="3675887"/>
            <a:ext cx="2212848" cy="2743200"/>
          </a:xfrm>
          <a:prstGeom prst="rect">
            <a:avLst/>
          </a:prstGeom>
          <a:noFill/>
        </p:spPr>
        <p:txBody>
          <a:bodyPr wrap="square" lIns="54864" tIns="32918" rIns="54864" bIns="32918" anchor="t">
            <a:spAutoFit/>
          </a:bodyPr>
          <a:lstStyle/>
          <a:p>
            <a:pPr algn="l">
              <a:spcAft>
                <a:spcPts val="0"/>
              </a:spcAft>
            </a:pPr>
            <a:r>
              <a:rPr sz="2100" b="0" i="0">
                <a:solidFill>
                  <a:srgbClr val="10204A"/>
                </a:solidFill>
                <a:latin typeface="Trebuchet MS"/>
              </a:rPr>
              <a:t>The item is cleaned, embedded, classified into a group and indexed</a:t>
            </a:r>
            <a:endParaRPr sz="2100"/>
          </a:p>
        </p:txBody>
      </p:sp>
      <p:cxnSp>
        <p:nvCxnSpPr>
          <p:cNvPr id="16" name="Connector 15"/>
          <p:cNvCxnSpPr/>
          <p:nvPr/>
        </p:nvCxnSpPr>
        <p:spPr>
          <a:xfrm>
            <a:off x="5961888" y="3200400"/>
            <a:ext cx="265176" cy="0"/>
          </a:xfrm>
          <a:prstGeom prst="line">
            <a:avLst/>
          </a:prstGeom>
          <a:ln w="38100">
            <a:solidFill>
              <a:srgbClr val="0033CC"/>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54496" y="2578608"/>
            <a:ext cx="2487168" cy="3931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54496" y="2578608"/>
            <a:ext cx="2487168"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37376" y="2852927"/>
            <a:ext cx="594360" cy="594360"/>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400" b="1" i="0">
                <a:solidFill>
                  <a:srgbClr val="FFFFFF"/>
                </a:solidFill>
                <a:latin typeface="Trebuchet MS"/>
              </a:rPr>
              <a:t>3</a:t>
            </a:r>
            <a:endParaRPr sz="2400"/>
          </a:p>
        </p:txBody>
      </p:sp>
      <p:sp>
        <p:nvSpPr>
          <p:cNvPr id="20" name="TextBox 19"/>
          <p:cNvSpPr txBox="1"/>
          <p:nvPr/>
        </p:nvSpPr>
        <p:spPr>
          <a:xfrm>
            <a:off x="7123176" y="2852927"/>
            <a:ext cx="1572768" cy="594360"/>
          </a:xfrm>
          <a:prstGeom prst="rect">
            <a:avLst/>
          </a:prstGeom>
          <a:noFill/>
        </p:spPr>
        <p:txBody>
          <a:bodyPr wrap="square" lIns="18288" tIns="10972" rIns="18288" bIns="10972" anchor="ctr">
            <a:spAutoFit/>
          </a:bodyPr>
          <a:lstStyle/>
          <a:p>
            <a:pPr algn="l">
              <a:spcAft>
                <a:spcPts val="0"/>
              </a:spcAft>
            </a:pPr>
            <a:r>
              <a:rPr sz="2100" b="1" i="0">
                <a:solidFill>
                  <a:srgbClr val="0B2272"/>
                </a:solidFill>
                <a:latin typeface="Trebuchet MS"/>
              </a:rPr>
              <a:t>Recall</a:t>
            </a:r>
            <a:endParaRPr sz="2100"/>
          </a:p>
        </p:txBody>
      </p:sp>
      <p:sp>
        <p:nvSpPr>
          <p:cNvPr id="21" name="TextBox 20"/>
          <p:cNvSpPr txBox="1"/>
          <p:nvPr/>
        </p:nvSpPr>
        <p:spPr>
          <a:xfrm>
            <a:off x="6391656" y="3675887"/>
            <a:ext cx="2212848" cy="2743200"/>
          </a:xfrm>
          <a:prstGeom prst="rect">
            <a:avLst/>
          </a:prstGeom>
          <a:noFill/>
        </p:spPr>
        <p:txBody>
          <a:bodyPr wrap="square" lIns="54864" tIns="32918" rIns="54864" bIns="32918" anchor="t">
            <a:spAutoFit/>
          </a:bodyPr>
          <a:lstStyle/>
          <a:p>
            <a:pPr algn="l">
              <a:spcAft>
                <a:spcPts val="0"/>
              </a:spcAft>
            </a:pPr>
            <a:r>
              <a:rPr sz="2100" b="0" i="0">
                <a:solidFill>
                  <a:srgbClr val="10204A"/>
                </a:solidFill>
                <a:latin typeface="Trebuchet MS"/>
              </a:rPr>
              <a:t>A question is answered in chat with memory pills; a follow-up continues the same chat</a:t>
            </a:r>
            <a:endParaRPr sz="2100"/>
          </a:p>
        </p:txBody>
      </p:sp>
      <p:cxnSp>
        <p:nvCxnSpPr>
          <p:cNvPr id="22" name="Connector 21"/>
          <p:cNvCxnSpPr/>
          <p:nvPr/>
        </p:nvCxnSpPr>
        <p:spPr>
          <a:xfrm>
            <a:off x="8769096" y="3200400"/>
            <a:ext cx="265176" cy="0"/>
          </a:xfrm>
          <a:prstGeom prst="line">
            <a:avLst/>
          </a:prstGeom>
          <a:ln w="38100">
            <a:solidFill>
              <a:srgbClr val="0033CC"/>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061704" y="2578608"/>
            <a:ext cx="2487168" cy="393192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061704" y="2578608"/>
            <a:ext cx="2487168" cy="73152"/>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244584" y="2852927"/>
            <a:ext cx="594360" cy="594360"/>
          </a:xfrm>
          <a:prstGeom prst="ellipse">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spcAft>
                <a:spcPts val="0"/>
              </a:spcAft>
            </a:pPr>
            <a:r>
              <a:rPr sz="2400" b="1" i="0">
                <a:solidFill>
                  <a:srgbClr val="FFFFFF"/>
                </a:solidFill>
                <a:latin typeface="Trebuchet MS"/>
              </a:rPr>
              <a:t>4</a:t>
            </a:r>
            <a:endParaRPr sz="2400"/>
          </a:p>
        </p:txBody>
      </p:sp>
      <p:sp>
        <p:nvSpPr>
          <p:cNvPr id="26" name="TextBox 25"/>
          <p:cNvSpPr txBox="1"/>
          <p:nvPr/>
        </p:nvSpPr>
        <p:spPr>
          <a:xfrm>
            <a:off x="9930384" y="2852927"/>
            <a:ext cx="1572768" cy="594360"/>
          </a:xfrm>
          <a:prstGeom prst="rect">
            <a:avLst/>
          </a:prstGeom>
          <a:noFill/>
        </p:spPr>
        <p:txBody>
          <a:bodyPr wrap="square" lIns="18288" tIns="10972" rIns="18288" bIns="10972" anchor="ctr">
            <a:spAutoFit/>
          </a:bodyPr>
          <a:lstStyle/>
          <a:p>
            <a:pPr algn="l">
              <a:spcAft>
                <a:spcPts val="0"/>
              </a:spcAft>
            </a:pPr>
            <a:r>
              <a:rPr sz="2100" b="1" i="0">
                <a:solidFill>
                  <a:srgbClr val="0B2272"/>
                </a:solidFill>
                <a:latin typeface="Trebuchet MS"/>
              </a:rPr>
              <a:t>Wellbeing</a:t>
            </a:r>
            <a:endParaRPr sz="2100"/>
          </a:p>
        </p:txBody>
      </p:sp>
      <p:sp>
        <p:nvSpPr>
          <p:cNvPr id="27" name="TextBox 26"/>
          <p:cNvSpPr txBox="1"/>
          <p:nvPr/>
        </p:nvSpPr>
        <p:spPr>
          <a:xfrm>
            <a:off x="9198864" y="3675887"/>
            <a:ext cx="2212848" cy="2743200"/>
          </a:xfrm>
          <a:prstGeom prst="rect">
            <a:avLst/>
          </a:prstGeom>
          <a:noFill/>
        </p:spPr>
        <p:txBody>
          <a:bodyPr wrap="square" lIns="54864" tIns="32918" rIns="54864" bIns="32918" anchor="t">
            <a:spAutoFit/>
          </a:bodyPr>
          <a:lstStyle/>
          <a:p>
            <a:pPr algn="l">
              <a:spcAft>
                <a:spcPts val="0"/>
              </a:spcAft>
            </a:pPr>
            <a:r>
              <a:rPr sz="2100" b="0" i="0">
                <a:solidFill>
                  <a:srgbClr val="10204A"/>
                </a:solidFill>
                <a:latin typeface="Trebuchet MS"/>
              </a:rPr>
              <a:t>Time and patterns, a regret marked, a group suggestion reviewed</a:t>
            </a:r>
            <a:endParaRPr sz="2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447800"/>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789432"/>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Test Plan and Strategy (1/2) – Activities</a:t>
            </a:r>
            <a:endParaRPr lang="en-US" sz="2400" dirty="0"/>
          </a:p>
        </p:txBody>
      </p:sp>
      <p:sp>
        <p:nvSpPr>
          <p:cNvPr id="15" name="Rounded Rectangle 14"/>
          <p:cNvSpPr/>
          <p:nvPr/>
        </p:nvSpPr>
        <p:spPr>
          <a:xfrm>
            <a:off x="640080" y="1874519"/>
            <a:ext cx="4846320" cy="1453895"/>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65960"/>
            <a:ext cx="73152" cy="1271016"/>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68680" y="1965960"/>
            <a:ext cx="2194560" cy="457200"/>
          </a:xfrm>
          <a:prstGeom prst="rect">
            <a:avLst/>
          </a:prstGeom>
          <a:noFill/>
        </p:spPr>
        <p:txBody>
          <a:bodyPr wrap="square" lIns="18288" tIns="10972" rIns="18288" bIns="10972" anchor="ctr">
            <a:spAutoFit/>
          </a:bodyPr>
          <a:lstStyle/>
          <a:p>
            <a:pPr algn="l">
              <a:spcAft>
                <a:spcPts val="0"/>
              </a:spcAft>
            </a:pPr>
            <a:r>
              <a:rPr sz="2200" b="1" i="0">
                <a:solidFill>
                  <a:srgbClr val="0B2272"/>
                </a:solidFill>
                <a:latin typeface="Trebuchet MS"/>
              </a:rPr>
              <a:t>6 – 19 Oct</a:t>
            </a:r>
            <a:endParaRPr sz="2200"/>
          </a:p>
        </p:txBody>
      </p:sp>
      <p:sp>
        <p:nvSpPr>
          <p:cNvPr id="18" name="Rounded Rectangle 17"/>
          <p:cNvSpPr/>
          <p:nvPr/>
        </p:nvSpPr>
        <p:spPr>
          <a:xfrm>
            <a:off x="3977639" y="2002536"/>
            <a:ext cx="1371600" cy="384048"/>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
        <p:nvSpPr>
          <p:cNvPr id="19" name="TextBox 18"/>
          <p:cNvSpPr txBox="1"/>
          <p:nvPr/>
        </p:nvSpPr>
        <p:spPr>
          <a:xfrm>
            <a:off x="868680" y="2496312"/>
            <a:ext cx="4480559" cy="777239"/>
          </a:xfrm>
          <a:prstGeom prst="rect">
            <a:avLst/>
          </a:prstGeom>
          <a:noFill/>
        </p:spPr>
        <p:txBody>
          <a:bodyPr wrap="square" lIns="18288" tIns="10972" rIns="18288" bIns="10972" anchor="t">
            <a:spAutoFit/>
          </a:bodyPr>
          <a:lstStyle/>
          <a:p>
            <a:pPr algn="l">
              <a:spcAft>
                <a:spcPts val="0"/>
              </a:spcAft>
            </a:pPr>
            <a:r>
              <a:rPr sz="2000" b="0" i="0">
                <a:solidFill>
                  <a:srgbClr val="10204A"/>
                </a:solidFill>
                <a:latin typeface="Trebuchet MS"/>
              </a:rPr>
              <a:t>Every file reviewed, with 30 backend and 56 extension offline checks</a:t>
            </a:r>
            <a:endParaRPr sz="2000"/>
          </a:p>
        </p:txBody>
      </p:sp>
      <p:sp>
        <p:nvSpPr>
          <p:cNvPr id="20" name="Rounded Rectangle 19"/>
          <p:cNvSpPr/>
          <p:nvPr/>
        </p:nvSpPr>
        <p:spPr>
          <a:xfrm>
            <a:off x="640080" y="3465575"/>
            <a:ext cx="4846320" cy="1453895"/>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 y="3557015"/>
            <a:ext cx="73152" cy="1271016"/>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3557015"/>
            <a:ext cx="2194560" cy="457200"/>
          </a:xfrm>
          <a:prstGeom prst="rect">
            <a:avLst/>
          </a:prstGeom>
          <a:noFill/>
        </p:spPr>
        <p:txBody>
          <a:bodyPr wrap="square" lIns="18288" tIns="10972" rIns="18288" bIns="10972" anchor="ctr">
            <a:spAutoFit/>
          </a:bodyPr>
          <a:lstStyle/>
          <a:p>
            <a:pPr algn="l">
              <a:spcAft>
                <a:spcPts val="0"/>
              </a:spcAft>
            </a:pPr>
            <a:r>
              <a:rPr sz="2200" b="1" i="0">
                <a:solidFill>
                  <a:srgbClr val="0B2272"/>
                </a:solidFill>
                <a:latin typeface="Trebuchet MS"/>
              </a:rPr>
              <a:t>22 – 25 Oct</a:t>
            </a:r>
            <a:endParaRPr sz="2200"/>
          </a:p>
        </p:txBody>
      </p:sp>
      <p:sp>
        <p:nvSpPr>
          <p:cNvPr id="23" name="Rounded Rectangle 22"/>
          <p:cNvSpPr/>
          <p:nvPr/>
        </p:nvSpPr>
        <p:spPr>
          <a:xfrm>
            <a:off x="3977639" y="3593591"/>
            <a:ext cx="1371600" cy="384048"/>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
        <p:nvSpPr>
          <p:cNvPr id="24" name="TextBox 23"/>
          <p:cNvSpPr txBox="1"/>
          <p:nvPr/>
        </p:nvSpPr>
        <p:spPr>
          <a:xfrm>
            <a:off x="868680" y="4087368"/>
            <a:ext cx="4480559" cy="777239"/>
          </a:xfrm>
          <a:prstGeom prst="rect">
            <a:avLst/>
          </a:prstGeom>
          <a:noFill/>
        </p:spPr>
        <p:txBody>
          <a:bodyPr wrap="square" lIns="18288" tIns="10972" rIns="18288" bIns="10972" anchor="t">
            <a:spAutoFit/>
          </a:bodyPr>
          <a:lstStyle/>
          <a:p>
            <a:pPr algn="l">
              <a:spcAft>
                <a:spcPts val="0"/>
              </a:spcAft>
            </a:pPr>
            <a:r>
              <a:rPr sz="2000" b="0" i="0">
                <a:solidFill>
                  <a:srgbClr val="10204A"/>
                </a:solidFill>
                <a:latin typeface="Trebuchet MS"/>
              </a:rPr>
              <a:t>Thresholds re-measured; tests written for the 25 scenarios</a:t>
            </a:r>
            <a:endParaRPr sz="2000"/>
          </a:p>
        </p:txBody>
      </p:sp>
      <p:sp>
        <p:nvSpPr>
          <p:cNvPr id="25" name="Rounded Rectangle 24"/>
          <p:cNvSpPr/>
          <p:nvPr/>
        </p:nvSpPr>
        <p:spPr>
          <a:xfrm>
            <a:off x="640080" y="5056631"/>
            <a:ext cx="4846320" cy="1453895"/>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0080" y="5148071"/>
            <a:ext cx="73152" cy="1271016"/>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5148071"/>
            <a:ext cx="2194560" cy="457200"/>
          </a:xfrm>
          <a:prstGeom prst="rect">
            <a:avLst/>
          </a:prstGeom>
          <a:noFill/>
        </p:spPr>
        <p:txBody>
          <a:bodyPr wrap="square" lIns="18288" tIns="10972" rIns="18288" bIns="10972" anchor="ctr">
            <a:spAutoFit/>
          </a:bodyPr>
          <a:lstStyle/>
          <a:p>
            <a:pPr algn="l">
              <a:spcAft>
                <a:spcPts val="0"/>
              </a:spcAft>
            </a:pPr>
            <a:r>
              <a:rPr sz="2200" b="1" i="0">
                <a:solidFill>
                  <a:srgbClr val="0B2272"/>
                </a:solidFill>
                <a:latin typeface="Trebuchet MS"/>
              </a:rPr>
              <a:t>26 – 27 Oct</a:t>
            </a:r>
            <a:endParaRPr sz="2200"/>
          </a:p>
        </p:txBody>
      </p:sp>
      <p:sp>
        <p:nvSpPr>
          <p:cNvPr id="28" name="Rounded Rectangle 27"/>
          <p:cNvSpPr/>
          <p:nvPr/>
        </p:nvSpPr>
        <p:spPr>
          <a:xfrm>
            <a:off x="3977639" y="5184647"/>
            <a:ext cx="1371600" cy="384048"/>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Done</a:t>
            </a:r>
            <a:endParaRPr sz="1800"/>
          </a:p>
        </p:txBody>
      </p:sp>
      <p:sp>
        <p:nvSpPr>
          <p:cNvPr id="29" name="TextBox 28"/>
          <p:cNvSpPr txBox="1"/>
          <p:nvPr/>
        </p:nvSpPr>
        <p:spPr>
          <a:xfrm>
            <a:off x="868680" y="5678423"/>
            <a:ext cx="4480559" cy="777239"/>
          </a:xfrm>
          <a:prstGeom prst="rect">
            <a:avLst/>
          </a:prstGeom>
          <a:noFill/>
        </p:spPr>
        <p:txBody>
          <a:bodyPr wrap="square" lIns="18288" tIns="10972" rIns="18288" bIns="10972" anchor="t">
            <a:spAutoFit/>
          </a:bodyPr>
          <a:lstStyle/>
          <a:p>
            <a:pPr algn="l">
              <a:spcAft>
                <a:spcPts val="0"/>
              </a:spcAft>
            </a:pPr>
            <a:r>
              <a:rPr sz="2000" b="0" i="0">
                <a:solidFill>
                  <a:srgbClr val="10204A"/>
                </a:solidFill>
                <a:latin typeface="Trebuchet MS"/>
              </a:rPr>
              <a:t>End-to-end run of all three sources and rehearsal</a:t>
            </a:r>
            <a:endParaRPr sz="2000"/>
          </a:p>
        </p:txBody>
      </p:sp>
      <p:sp>
        <p:nvSpPr>
          <p:cNvPr id="30" name="Rounded Rectangle 29"/>
          <p:cNvSpPr/>
          <p:nvPr/>
        </p:nvSpPr>
        <p:spPr>
          <a:xfrm>
            <a:off x="5760720" y="1874519"/>
            <a:ext cx="5788152" cy="16002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760720" y="1984248"/>
            <a:ext cx="73152" cy="1380744"/>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07024" y="1911095"/>
            <a:ext cx="5586984" cy="1527048"/>
          </a:xfrm>
          <a:prstGeom prst="rect">
            <a:avLst/>
          </a:prstGeom>
          <a:noFill/>
        </p:spPr>
        <p:txBody>
          <a:bodyPr wrap="square" tIns="54864" bIns="54864" anchor="t">
            <a:spAutoFit/>
          </a:bodyPr>
          <a:lstStyle/>
          <a:p>
            <a:pPr algn="l">
              <a:spcAft>
                <a:spcPts val="600"/>
              </a:spcAft>
            </a:pPr>
            <a:r>
              <a:rPr sz="2000" b="1" i="0">
                <a:solidFill>
                  <a:srgbClr val="4A556E"/>
                </a:solidFill>
                <a:latin typeface="Trebuchet MS"/>
              </a:rPr>
              <a:t>Test environment</a:t>
            </a:r>
            <a:endParaRPr sz="2000"/>
          </a:p>
          <a:p>
            <a:pPr marL="256032" indent="-256032" algn="l">
              <a:spcAft>
                <a:spcPts val="200"/>
              </a:spcAft>
              <a:buFont typeface="Arial"/>
              <a:buChar char="•"/>
            </a:pPr>
            <a:r>
              <a:rPr sz="1800" b="0" i="0">
                <a:solidFill>
                  <a:srgbClr val="10204A"/>
                </a:solidFill>
                <a:latin typeface="Trebuchet MS"/>
              </a:rPr>
              <a:t>Windows 11 laptop, local PostgreSQL 16 + Redis</a:t>
            </a:r>
            <a:endParaRPr sz="1800"/>
          </a:p>
          <a:p>
            <a:pPr marL="256032" indent="-256032" algn="l">
              <a:spcAft>
                <a:spcPts val="0"/>
              </a:spcAft>
              <a:buFont typeface="Arial"/>
              <a:buChar char="•"/>
            </a:pPr>
            <a:r>
              <a:rPr sz="1800" b="0" i="0">
                <a:solidFill>
                  <a:srgbClr val="10204A"/>
                </a:solidFill>
                <a:latin typeface="Trebuchet MS"/>
              </a:rPr>
              <a:t>Chrome with the extension; test Gmail and YouTube accounts</a:t>
            </a:r>
            <a:endParaRPr sz="1800"/>
          </a:p>
        </p:txBody>
      </p:sp>
      <p:sp>
        <p:nvSpPr>
          <p:cNvPr id="33" name="Rectangle 32"/>
          <p:cNvSpPr/>
          <p:nvPr/>
        </p:nvSpPr>
        <p:spPr>
          <a:xfrm>
            <a:off x="5760720" y="3584448"/>
            <a:ext cx="1920240" cy="420624"/>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spcAft>
                <a:spcPts val="400"/>
              </a:spcAft>
            </a:pPr>
            <a:r>
              <a:rPr sz="1800" b="1" i="0">
                <a:solidFill>
                  <a:srgbClr val="FFFFFF"/>
                </a:solidFill>
                <a:latin typeface="Trebuchet MS"/>
              </a:rPr>
              <a:t>Member</a:t>
            </a:r>
            <a:endParaRPr sz="1800"/>
          </a:p>
        </p:txBody>
      </p:sp>
      <p:sp>
        <p:nvSpPr>
          <p:cNvPr id="34" name="Rectangle 33"/>
          <p:cNvSpPr/>
          <p:nvPr/>
        </p:nvSpPr>
        <p:spPr>
          <a:xfrm>
            <a:off x="7680960" y="3584448"/>
            <a:ext cx="2194560" cy="420624"/>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spcAft>
                <a:spcPts val="400"/>
              </a:spcAft>
            </a:pPr>
            <a:r>
              <a:rPr sz="1800" b="1" i="0">
                <a:solidFill>
                  <a:srgbClr val="FFFFFF"/>
                </a:solidFill>
                <a:latin typeface="Trebuchet MS"/>
              </a:rPr>
              <a:t>Owns</a:t>
            </a:r>
            <a:endParaRPr sz="1800"/>
          </a:p>
        </p:txBody>
      </p:sp>
      <p:sp>
        <p:nvSpPr>
          <p:cNvPr id="35" name="Rectangle 34"/>
          <p:cNvSpPr/>
          <p:nvPr/>
        </p:nvSpPr>
        <p:spPr>
          <a:xfrm>
            <a:off x="9875520" y="3584448"/>
            <a:ext cx="1673352" cy="420624"/>
          </a:xfrm>
          <a:prstGeom prst="rect">
            <a:avLst/>
          </a:prstGeom>
          <a:solidFill>
            <a:srgbClr val="0033CC"/>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spcAft>
                <a:spcPts val="400"/>
              </a:spcAft>
            </a:pPr>
            <a:r>
              <a:rPr sz="1800" b="1" i="0">
                <a:solidFill>
                  <a:srgbClr val="FFFFFF"/>
                </a:solidFill>
                <a:latin typeface="Trebuchet MS"/>
              </a:rPr>
              <a:t>Cross-checks</a:t>
            </a:r>
            <a:endParaRPr sz="1800"/>
          </a:p>
        </p:txBody>
      </p:sp>
      <p:sp>
        <p:nvSpPr>
          <p:cNvPr id="36" name="Rounded Rectangle 35"/>
          <p:cNvSpPr/>
          <p:nvPr/>
        </p:nvSpPr>
        <p:spPr>
          <a:xfrm>
            <a:off x="5760720" y="4041648"/>
            <a:ext cx="5788152" cy="58293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60720" y="4041648"/>
            <a:ext cx="1920240" cy="582930"/>
          </a:xfrm>
          <a:prstGeom prst="rect">
            <a:avLst/>
          </a:prstGeom>
          <a:noFill/>
        </p:spPr>
        <p:txBody>
          <a:bodyPr wrap="square" tIns="54864" bIns="54864" anchor="ctr">
            <a:spAutoFit/>
          </a:bodyPr>
          <a:lstStyle/>
          <a:p>
            <a:pPr algn="l">
              <a:spcAft>
                <a:spcPts val="0"/>
              </a:spcAft>
            </a:pPr>
            <a:r>
              <a:rPr sz="1800" b="1" i="0">
                <a:solidFill>
                  <a:srgbClr val="10204A"/>
                </a:solidFill>
                <a:latin typeface="Trebuchet MS"/>
              </a:rPr>
              <a:t>Mrigank Jain</a:t>
            </a:r>
            <a:endParaRPr sz="1800"/>
          </a:p>
        </p:txBody>
      </p:sp>
      <p:sp>
        <p:nvSpPr>
          <p:cNvPr id="38" name="TextBox 37"/>
          <p:cNvSpPr txBox="1"/>
          <p:nvPr/>
        </p:nvSpPr>
        <p:spPr>
          <a:xfrm>
            <a:off x="7680960" y="4041648"/>
            <a:ext cx="2194560"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Capture gates and privacy rules</a:t>
            </a:r>
            <a:endParaRPr sz="1800"/>
          </a:p>
        </p:txBody>
      </p:sp>
      <p:sp>
        <p:nvSpPr>
          <p:cNvPr id="39" name="TextBox 38"/>
          <p:cNvSpPr txBox="1"/>
          <p:nvPr/>
        </p:nvSpPr>
        <p:spPr>
          <a:xfrm>
            <a:off x="9875520" y="4041648"/>
            <a:ext cx="1673352"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Enrichment</a:t>
            </a:r>
            <a:endParaRPr sz="1800"/>
          </a:p>
        </p:txBody>
      </p:sp>
      <p:sp>
        <p:nvSpPr>
          <p:cNvPr id="40" name="Rounded Rectangle 39"/>
          <p:cNvSpPr/>
          <p:nvPr/>
        </p:nvSpPr>
        <p:spPr>
          <a:xfrm>
            <a:off x="5760720" y="4670298"/>
            <a:ext cx="5788152" cy="58293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760720" y="4670298"/>
            <a:ext cx="1920240" cy="582930"/>
          </a:xfrm>
          <a:prstGeom prst="rect">
            <a:avLst/>
          </a:prstGeom>
          <a:noFill/>
        </p:spPr>
        <p:txBody>
          <a:bodyPr wrap="square" tIns="54864" bIns="54864" anchor="ctr">
            <a:spAutoFit/>
          </a:bodyPr>
          <a:lstStyle/>
          <a:p>
            <a:pPr algn="l">
              <a:spcAft>
                <a:spcPts val="0"/>
              </a:spcAft>
            </a:pPr>
            <a:r>
              <a:rPr sz="1800" b="1" i="0">
                <a:solidFill>
                  <a:srgbClr val="10204A"/>
                </a:solidFill>
                <a:latin typeface="Trebuchet MS"/>
              </a:rPr>
              <a:t>Mohammed Mir Fazlai Ali</a:t>
            </a:r>
            <a:endParaRPr sz="1800"/>
          </a:p>
        </p:txBody>
      </p:sp>
      <p:sp>
        <p:nvSpPr>
          <p:cNvPr id="42" name="TextBox 41"/>
          <p:cNvSpPr txBox="1"/>
          <p:nvPr/>
        </p:nvSpPr>
        <p:spPr>
          <a:xfrm>
            <a:off x="7680960" y="4670298"/>
            <a:ext cx="2194560"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Enrichment and classification</a:t>
            </a:r>
            <a:endParaRPr sz="1800"/>
          </a:p>
        </p:txBody>
      </p:sp>
      <p:sp>
        <p:nvSpPr>
          <p:cNvPr id="43" name="TextBox 42"/>
          <p:cNvSpPr txBox="1"/>
          <p:nvPr/>
        </p:nvSpPr>
        <p:spPr>
          <a:xfrm>
            <a:off x="9875520" y="4670298"/>
            <a:ext cx="1673352"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Recall</a:t>
            </a:r>
            <a:endParaRPr sz="1800"/>
          </a:p>
        </p:txBody>
      </p:sp>
      <p:sp>
        <p:nvSpPr>
          <p:cNvPr id="44" name="Rounded Rectangle 43"/>
          <p:cNvSpPr/>
          <p:nvPr/>
        </p:nvSpPr>
        <p:spPr>
          <a:xfrm>
            <a:off x="5760720" y="5298948"/>
            <a:ext cx="5788152" cy="58293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760720" y="5298948"/>
            <a:ext cx="1920240" cy="582930"/>
          </a:xfrm>
          <a:prstGeom prst="rect">
            <a:avLst/>
          </a:prstGeom>
          <a:noFill/>
        </p:spPr>
        <p:txBody>
          <a:bodyPr wrap="square" tIns="54864" bIns="54864" anchor="ctr">
            <a:spAutoFit/>
          </a:bodyPr>
          <a:lstStyle/>
          <a:p>
            <a:pPr algn="l">
              <a:spcAft>
                <a:spcPts val="0"/>
              </a:spcAft>
            </a:pPr>
            <a:r>
              <a:rPr sz="1800" b="1" i="0">
                <a:solidFill>
                  <a:srgbClr val="10204A"/>
                </a:solidFill>
                <a:latin typeface="Trebuchet MS"/>
              </a:rPr>
              <a:t>Mohammed Shehzaad Khan</a:t>
            </a:r>
            <a:endParaRPr sz="1800"/>
          </a:p>
        </p:txBody>
      </p:sp>
      <p:sp>
        <p:nvSpPr>
          <p:cNvPr id="46" name="TextBox 45"/>
          <p:cNvSpPr txBox="1"/>
          <p:nvPr/>
        </p:nvSpPr>
        <p:spPr>
          <a:xfrm>
            <a:off x="7680960" y="5298948"/>
            <a:ext cx="2194560"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Recall quality and citations</a:t>
            </a:r>
            <a:endParaRPr sz="1800"/>
          </a:p>
        </p:txBody>
      </p:sp>
      <p:sp>
        <p:nvSpPr>
          <p:cNvPr id="47" name="TextBox 46"/>
          <p:cNvSpPr txBox="1"/>
          <p:nvPr/>
        </p:nvSpPr>
        <p:spPr>
          <a:xfrm>
            <a:off x="9875520" y="5298948"/>
            <a:ext cx="1673352"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Wellbeing</a:t>
            </a:r>
            <a:endParaRPr sz="1800"/>
          </a:p>
        </p:txBody>
      </p:sp>
      <p:sp>
        <p:nvSpPr>
          <p:cNvPr id="48" name="Rounded Rectangle 47"/>
          <p:cNvSpPr/>
          <p:nvPr/>
        </p:nvSpPr>
        <p:spPr>
          <a:xfrm>
            <a:off x="5760720" y="5927598"/>
            <a:ext cx="5788152" cy="58293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760720" y="5927598"/>
            <a:ext cx="1920240" cy="582930"/>
          </a:xfrm>
          <a:prstGeom prst="rect">
            <a:avLst/>
          </a:prstGeom>
          <a:noFill/>
        </p:spPr>
        <p:txBody>
          <a:bodyPr wrap="square" tIns="54864" bIns="54864" anchor="ctr">
            <a:spAutoFit/>
          </a:bodyPr>
          <a:lstStyle/>
          <a:p>
            <a:pPr algn="l">
              <a:spcAft>
                <a:spcPts val="0"/>
              </a:spcAft>
            </a:pPr>
            <a:r>
              <a:rPr sz="1800" b="1" i="0">
                <a:solidFill>
                  <a:srgbClr val="10204A"/>
                </a:solidFill>
                <a:latin typeface="Trebuchet MS"/>
              </a:rPr>
              <a:t>Arjun Sai N</a:t>
            </a:r>
            <a:endParaRPr sz="1800"/>
          </a:p>
        </p:txBody>
      </p:sp>
      <p:sp>
        <p:nvSpPr>
          <p:cNvPr id="50" name="TextBox 49"/>
          <p:cNvSpPr txBox="1"/>
          <p:nvPr/>
        </p:nvSpPr>
        <p:spPr>
          <a:xfrm>
            <a:off x="7680960" y="5927598"/>
            <a:ext cx="2194560"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Wellbeing, groups, dashboard</a:t>
            </a:r>
            <a:endParaRPr sz="1800"/>
          </a:p>
        </p:txBody>
      </p:sp>
      <p:sp>
        <p:nvSpPr>
          <p:cNvPr id="51" name="TextBox 50"/>
          <p:cNvSpPr txBox="1"/>
          <p:nvPr/>
        </p:nvSpPr>
        <p:spPr>
          <a:xfrm>
            <a:off x="9875520" y="5927598"/>
            <a:ext cx="1673352" cy="582930"/>
          </a:xfrm>
          <a:prstGeom prst="rect">
            <a:avLst/>
          </a:prstGeom>
          <a:noFill/>
        </p:spPr>
        <p:txBody>
          <a:bodyPr wrap="square" tIns="54864" bIns="54864" anchor="ctr">
            <a:spAutoFit/>
          </a:bodyPr>
          <a:lstStyle/>
          <a:p>
            <a:pPr algn="l">
              <a:spcAft>
                <a:spcPts val="0"/>
              </a:spcAft>
            </a:pPr>
            <a:r>
              <a:rPr sz="1800" b="0" i="0">
                <a:solidFill>
                  <a:srgbClr val="10204A"/>
                </a:solidFill>
                <a:latin typeface="Trebuchet MS"/>
              </a:rPr>
              <a:t>Capture</a:t>
            </a:r>
            <a:endParaRPr sz="1800"/>
          </a:p>
        </p:txBody>
      </p:sp>
    </p:spTree>
    <p:extLst>
      <p:ext uri="{BB962C8B-B14F-4D97-AF65-F5344CB8AC3E}">
        <p14:creationId xmlns:p14="http://schemas.microsoft.com/office/powerpoint/2010/main" val="42053692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5" name="Rectangle 4"/>
          <p:cNvSpPr>
            <a:spLocks noChangeArrowheads="1"/>
          </p:cNvSpPr>
          <p:nvPr/>
        </p:nvSpPr>
        <p:spPr bwMode="auto">
          <a:xfrm>
            <a:off x="3048000" y="1447800"/>
            <a:ext cx="7620000" cy="36513"/>
          </a:xfrm>
          <a:prstGeom prst="rect">
            <a:avLst/>
          </a:prstGeom>
          <a:solidFill>
            <a:srgbClr val="33CCCC"/>
          </a:solidFill>
          <a:ln w="9525">
            <a:noFill/>
            <a:miter lim="800000"/>
            <a:headEnd/>
            <a:tailEnd/>
          </a:ln>
        </p:spPr>
        <p:txBody>
          <a:bodyPr wrap="none" anchor="ctr"/>
          <a:lstStyle/>
          <a:p>
            <a:endParaRPr lang="en-US"/>
          </a:p>
        </p:txBody>
      </p:sp>
      <p:sp>
        <p:nvSpPr>
          <p:cNvPr id="14" name="Text Box 34"/>
          <p:cNvSpPr txBox="1">
            <a:spLocks noChangeArrowheads="1"/>
          </p:cNvSpPr>
          <p:nvPr/>
        </p:nvSpPr>
        <p:spPr bwMode="auto">
          <a:xfrm>
            <a:off x="640080" y="789432"/>
            <a:ext cx="101041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Test Plan and Strategy (2/2) – Methods</a:t>
            </a:r>
            <a:endParaRPr lang="en-US" sz="2400" dirty="0"/>
          </a:p>
        </p:txBody>
      </p:sp>
      <p:sp>
        <p:nvSpPr>
          <p:cNvPr id="15" name="Rounded Rectangle 14"/>
          <p:cNvSpPr/>
          <p:nvPr/>
        </p:nvSpPr>
        <p:spPr>
          <a:xfrm>
            <a:off x="640080" y="1874519"/>
            <a:ext cx="5340096" cy="19202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40080" y="1984248"/>
            <a:ext cx="73152" cy="1700784"/>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 y="1911095"/>
            <a:ext cx="5138928" cy="1847088"/>
          </a:xfrm>
          <a:prstGeom prst="rect">
            <a:avLst/>
          </a:prstGeom>
          <a:noFill/>
        </p:spPr>
        <p:txBody>
          <a:bodyPr wrap="square" tIns="54864" bIns="54864" anchor="t">
            <a:spAutoFit/>
          </a:bodyPr>
          <a:lstStyle/>
          <a:p>
            <a:pPr algn="l">
              <a:spcAft>
                <a:spcPts val="600"/>
              </a:spcAft>
            </a:pPr>
            <a:r>
              <a:rPr sz="2200" b="1" i="0">
                <a:solidFill>
                  <a:srgbClr val="1F4FE0"/>
                </a:solidFill>
                <a:latin typeface="Trebuchet MS"/>
              </a:rPr>
              <a:t>Functional</a:t>
            </a:r>
            <a:endParaRPr sz="2200"/>
          </a:p>
          <a:p>
            <a:pPr marL="256032" indent="-256032" algn="l">
              <a:spcAft>
                <a:spcPts val="500"/>
              </a:spcAft>
              <a:buFont typeface="Arial"/>
              <a:buChar char="•"/>
            </a:pPr>
            <a:r>
              <a:rPr sz="1900" b="1" i="0">
                <a:solidFill>
                  <a:srgbClr val="10204A"/>
                </a:solidFill>
                <a:latin typeface="Trebuchet MS"/>
              </a:rPr>
              <a:t>Unit: </a:t>
            </a:r>
            <a:r>
              <a:rPr sz="1900" b="0" i="0">
                <a:solidFill>
                  <a:srgbClr val="10204A"/>
                </a:solidFill>
                <a:latin typeface="Trebuchet MS"/>
              </a:rPr>
              <a:t>gates, session gap, rank fusion</a:t>
            </a:r>
            <a:endParaRPr sz="1900"/>
          </a:p>
          <a:p>
            <a:pPr marL="256032" indent="-256032" algn="l">
              <a:spcAft>
                <a:spcPts val="500"/>
              </a:spcAft>
              <a:buFont typeface="Arial"/>
              <a:buChar char="•"/>
            </a:pPr>
            <a:r>
              <a:rPr sz="1900" b="1" i="0">
                <a:solidFill>
                  <a:srgbClr val="10204A"/>
                </a:solidFill>
                <a:latin typeface="Trebuchet MS"/>
              </a:rPr>
              <a:t>Integration: </a:t>
            </a:r>
            <a:r>
              <a:rPr sz="1900" b="0" i="0">
                <a:solidFill>
                  <a:srgbClr val="10204A"/>
                </a:solidFill>
                <a:latin typeface="Trebuchet MS"/>
              </a:rPr>
              <a:t>routes via the test client</a:t>
            </a:r>
            <a:endParaRPr sz="1900"/>
          </a:p>
          <a:p>
            <a:pPr marL="256032" indent="-256032" algn="l">
              <a:spcAft>
                <a:spcPts val="0"/>
              </a:spcAft>
              <a:buFont typeface="Arial"/>
              <a:buChar char="•"/>
            </a:pPr>
            <a:r>
              <a:rPr sz="1900" b="1" i="0">
                <a:solidFill>
                  <a:srgbClr val="10204A"/>
                </a:solidFill>
                <a:latin typeface="Trebuchet MS"/>
              </a:rPr>
              <a:t>End to end: </a:t>
            </a:r>
            <a:r>
              <a:rPr sz="1900" b="0" i="0">
                <a:solidFill>
                  <a:srgbClr val="10204A"/>
                </a:solidFill>
                <a:latin typeface="Trebuchet MS"/>
              </a:rPr>
              <a:t>mail → browse → ask → citation</a:t>
            </a:r>
            <a:endParaRPr sz="1900"/>
          </a:p>
        </p:txBody>
      </p:sp>
      <p:sp>
        <p:nvSpPr>
          <p:cNvPr id="18" name="Rounded Rectangle 17"/>
          <p:cNvSpPr/>
          <p:nvPr/>
        </p:nvSpPr>
        <p:spPr>
          <a:xfrm>
            <a:off x="6208776" y="1874519"/>
            <a:ext cx="5340096" cy="192024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08776" y="1984248"/>
            <a:ext cx="73152" cy="1700784"/>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55080" y="1911095"/>
            <a:ext cx="5138928" cy="1847088"/>
          </a:xfrm>
          <a:prstGeom prst="rect">
            <a:avLst/>
          </a:prstGeom>
          <a:noFill/>
        </p:spPr>
        <p:txBody>
          <a:bodyPr wrap="square" tIns="54864" bIns="54864" anchor="t">
            <a:spAutoFit/>
          </a:bodyPr>
          <a:lstStyle/>
          <a:p>
            <a:pPr algn="l">
              <a:spcAft>
                <a:spcPts val="600"/>
              </a:spcAft>
            </a:pPr>
            <a:r>
              <a:rPr sz="2200" b="1" i="0">
                <a:solidFill>
                  <a:srgbClr val="4A556E"/>
                </a:solidFill>
                <a:latin typeface="Trebuchet MS"/>
              </a:rPr>
              <a:t>Non-functional</a:t>
            </a:r>
            <a:endParaRPr sz="2200"/>
          </a:p>
          <a:p>
            <a:pPr marL="256032" indent="-256032" algn="l">
              <a:spcAft>
                <a:spcPts val="500"/>
              </a:spcAft>
              <a:buFont typeface="Arial"/>
              <a:buChar char="•"/>
            </a:pPr>
            <a:r>
              <a:rPr sz="1900" b="1" i="0">
                <a:solidFill>
                  <a:srgbClr val="10204A"/>
                </a:solidFill>
                <a:latin typeface="Trebuchet MS"/>
              </a:rPr>
              <a:t>Performance: </a:t>
            </a:r>
            <a:r>
              <a:rPr sz="1900" b="0" i="0">
                <a:solidFill>
                  <a:srgbClr val="10204A"/>
                </a:solidFill>
                <a:latin typeface="Trebuchet MS"/>
              </a:rPr>
              <a:t>time, model calls</a:t>
            </a:r>
            <a:endParaRPr sz="1900"/>
          </a:p>
          <a:p>
            <a:pPr marL="256032" indent="-256032" algn="l">
              <a:spcAft>
                <a:spcPts val="500"/>
              </a:spcAft>
              <a:buFont typeface="Arial"/>
              <a:buChar char="•"/>
            </a:pPr>
            <a:r>
              <a:rPr sz="1900" b="1" i="0">
                <a:solidFill>
                  <a:srgbClr val="10204A"/>
                </a:solidFill>
                <a:latin typeface="Trebuchet MS"/>
              </a:rPr>
              <a:t>Privacy: </a:t>
            </a:r>
            <a:r>
              <a:rPr sz="1900" b="0" i="0">
                <a:solidFill>
                  <a:srgbClr val="10204A"/>
                </a:solidFill>
                <a:latin typeface="Trebuchet MS"/>
              </a:rPr>
              <a:t>inspect model payloads</a:t>
            </a:r>
            <a:endParaRPr sz="1900"/>
          </a:p>
          <a:p>
            <a:pPr marL="256032" indent="-256032" algn="l">
              <a:spcAft>
                <a:spcPts val="0"/>
              </a:spcAft>
              <a:buFont typeface="Arial"/>
              <a:buChar char="•"/>
            </a:pPr>
            <a:r>
              <a:rPr sz="1900" b="1" i="0">
                <a:solidFill>
                  <a:srgbClr val="10204A"/>
                </a:solidFill>
                <a:latin typeface="Trebuchet MS"/>
              </a:rPr>
              <a:t>Reliability: </a:t>
            </a:r>
            <a:r>
              <a:rPr sz="1900" b="0" i="0">
                <a:solidFill>
                  <a:srgbClr val="10204A"/>
                </a:solidFill>
                <a:latin typeface="Trebuchet MS"/>
              </a:rPr>
              <a:t>Redis or model down</a:t>
            </a:r>
            <a:endParaRPr sz="1900"/>
          </a:p>
        </p:txBody>
      </p:sp>
      <p:sp>
        <p:nvSpPr>
          <p:cNvPr id="21" name="Rounded Rectangle 20"/>
          <p:cNvSpPr/>
          <p:nvPr/>
        </p:nvSpPr>
        <p:spPr>
          <a:xfrm>
            <a:off x="640080" y="3904488"/>
            <a:ext cx="10908792" cy="1371600"/>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0080" y="4014216"/>
            <a:ext cx="73152" cy="1152144"/>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86384" y="3941064"/>
            <a:ext cx="10707624" cy="1298448"/>
          </a:xfrm>
          <a:prstGeom prst="rect">
            <a:avLst/>
          </a:prstGeom>
          <a:noFill/>
        </p:spPr>
        <p:txBody>
          <a:bodyPr wrap="square" tIns="54864" bIns="54864" anchor="ctr">
            <a:spAutoFit/>
          </a:bodyPr>
          <a:lstStyle/>
          <a:p>
            <a:pPr algn="l">
              <a:spcAft>
                <a:spcPts val="400"/>
              </a:spcAft>
            </a:pPr>
            <a:r>
              <a:rPr sz="1900" b="1" i="0">
                <a:solidFill>
                  <a:srgbClr val="10204A"/>
                </a:solidFill>
                <a:latin typeface="Trebuchet MS"/>
              </a:rPr>
              <a:t>Test cases: </a:t>
            </a:r>
            <a:r>
              <a:rPr sz="1900" b="0" i="0">
                <a:solidFill>
                  <a:srgbClr val="10204A"/>
                </a:solidFill>
                <a:latin typeface="Trebuchet MS"/>
              </a:rPr>
              <a:t>25 scenarios · Gmail 5 · Chrome 7 · YouTube 4 · Recall 4 · Groups 2 · Enrichment 1 · Retention 1 · Privacy 1</a:t>
            </a:r>
            <a:endParaRPr sz="1900"/>
          </a:p>
          <a:p>
            <a:pPr algn="l">
              <a:spcAft>
                <a:spcPts val="0"/>
              </a:spcAft>
            </a:pPr>
            <a:r>
              <a:rPr sz="1900" b="1" i="0">
                <a:solidFill>
                  <a:srgbClr val="10204A"/>
                </a:solidFill>
                <a:latin typeface="Trebuchet MS"/>
              </a:rPr>
              <a:t>Tools: </a:t>
            </a:r>
            <a:r>
              <a:rPr sz="1900" b="0" i="0">
                <a:solidFill>
                  <a:srgbClr val="10204A"/>
                </a:solidFill>
                <a:latin typeface="Trebuchet MS"/>
              </a:rPr>
              <a:t>Python test scripts (pytest) · FastAPI test client · Node harness (fake browser) · TypeScript compiler + Vite build · DevTools</a:t>
            </a:r>
            <a:endParaRPr sz="1900"/>
          </a:p>
        </p:txBody>
      </p:sp>
      <p:sp>
        <p:nvSpPr>
          <p:cNvPr id="24" name="Rounded Rectangle 23"/>
          <p:cNvSpPr/>
          <p:nvPr/>
        </p:nvSpPr>
        <p:spPr>
          <a:xfrm>
            <a:off x="640080" y="5385816"/>
            <a:ext cx="5340096" cy="1124711"/>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 y="5495544"/>
            <a:ext cx="73152" cy="905255"/>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6384" y="5422392"/>
            <a:ext cx="5138928" cy="1051559"/>
          </a:xfrm>
          <a:prstGeom prst="rect">
            <a:avLst/>
          </a:prstGeom>
          <a:noFill/>
        </p:spPr>
        <p:txBody>
          <a:bodyPr wrap="square" tIns="54864" bIns="54864" anchor="ctr">
            <a:spAutoFit/>
          </a:bodyPr>
          <a:lstStyle/>
          <a:p>
            <a:pPr algn="l">
              <a:spcAft>
                <a:spcPts val="600"/>
              </a:spcAft>
            </a:pPr>
            <a:r>
              <a:rPr sz="2100" b="1" i="0">
                <a:solidFill>
                  <a:srgbClr val="1F4FE0"/>
                </a:solidFill>
                <a:latin typeface="Trebuchet MS"/>
              </a:rPr>
              <a:t>Why</a:t>
            </a:r>
            <a:endParaRPr sz="2100"/>
          </a:p>
          <a:p>
            <a:pPr algn="l">
              <a:spcAft>
                <a:spcPts val="0"/>
              </a:spcAft>
            </a:pPr>
            <a:r>
              <a:rPr sz="1900" b="0" i="0">
                <a:solidFill>
                  <a:srgbClr val="10204A"/>
                </a:solidFill>
                <a:latin typeface="Trebuchet MS"/>
              </a:rPr>
              <a:t>Fast, repeatable, no personal data</a:t>
            </a:r>
            <a:endParaRPr sz="1900"/>
          </a:p>
        </p:txBody>
      </p:sp>
      <p:sp>
        <p:nvSpPr>
          <p:cNvPr id="27" name="Rounded Rectangle 26"/>
          <p:cNvSpPr/>
          <p:nvPr/>
        </p:nvSpPr>
        <p:spPr>
          <a:xfrm>
            <a:off x="6208776" y="5385816"/>
            <a:ext cx="5340096" cy="1124711"/>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208776" y="5495544"/>
            <a:ext cx="73152" cy="905255"/>
          </a:xfrm>
          <a:prstGeom prst="rect">
            <a:avLst/>
          </a:prstGeom>
          <a:solidFill>
            <a:srgbClr val="4A55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5422392"/>
            <a:ext cx="5138928" cy="1051559"/>
          </a:xfrm>
          <a:prstGeom prst="rect">
            <a:avLst/>
          </a:prstGeom>
          <a:noFill/>
        </p:spPr>
        <p:txBody>
          <a:bodyPr wrap="square" tIns="54864" bIns="54864" anchor="ctr">
            <a:spAutoFit/>
          </a:bodyPr>
          <a:lstStyle/>
          <a:p>
            <a:pPr algn="l">
              <a:spcAft>
                <a:spcPts val="600"/>
              </a:spcAft>
            </a:pPr>
            <a:r>
              <a:rPr sz="2100" b="1" i="0">
                <a:solidFill>
                  <a:srgbClr val="4A556E"/>
                </a:solidFill>
                <a:latin typeface="Trebuchet MS"/>
              </a:rPr>
              <a:t>Drawback</a:t>
            </a:r>
            <a:endParaRPr sz="2100"/>
          </a:p>
          <a:p>
            <a:pPr algn="l">
              <a:spcAft>
                <a:spcPts val="0"/>
              </a:spcAft>
            </a:pPr>
            <a:r>
              <a:rPr sz="1900" b="0" i="0">
                <a:solidFill>
                  <a:srgbClr val="10204A"/>
                </a:solidFill>
                <a:latin typeface="Trebuchet MS"/>
              </a:rPr>
              <a:t>Simulated services can miss API changes</a:t>
            </a:r>
            <a:endParaRPr sz="19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Results and Discussion – Evaluation</a:t>
            </a:r>
            <a:endParaRPr lang="en-US" sz="2400" dirty="0"/>
          </a:p>
        </p:txBody>
      </p:sp>
      <p:sp>
        <p:nvSpPr>
          <p:cNvPr id="4" name="Rounded Rectangle 3"/>
          <p:cNvSpPr/>
          <p:nvPr/>
        </p:nvSpPr>
        <p:spPr>
          <a:xfrm>
            <a:off x="640080" y="1874519"/>
            <a:ext cx="10908792" cy="960120"/>
          </a:xfrm>
          <a:prstGeom prst="roundRect">
            <a:avLst>
              <a:gd name="adj" fmla="val 12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2000" b="1" i="0">
                <a:solidFill>
                  <a:srgbClr val="10204A"/>
                </a:solidFill>
                <a:latin typeface="Trebuchet MS"/>
              </a:rPr>
              <a:t>The evaluation runs after the new embedding model is switched in and every item is re-embedded. </a:t>
            </a:r>
            <a:r>
              <a:rPr sz="2000" b="0" i="0">
                <a:solidFill>
                  <a:srgbClr val="10204A"/>
                </a:solidFill>
                <a:latin typeface="Trebuchet MS"/>
              </a:rPr>
              <a:t>All fields the template asks for will be measured on that same data.</a:t>
            </a:r>
            <a:endParaRPr sz="2000"/>
          </a:p>
        </p:txBody>
      </p:sp>
      <p:sp>
        <p:nvSpPr>
          <p:cNvPr id="5" name="Rounded Rectangle 4"/>
          <p:cNvSpPr/>
          <p:nvPr/>
        </p:nvSpPr>
        <p:spPr>
          <a:xfrm>
            <a:off x="640080" y="2971799"/>
            <a:ext cx="5340096" cy="110642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3081527"/>
            <a:ext cx="73152" cy="88696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2971799"/>
            <a:ext cx="2825496" cy="1106424"/>
          </a:xfrm>
          <a:prstGeom prst="rect">
            <a:avLst/>
          </a:prstGeom>
          <a:noFill/>
        </p:spPr>
        <p:txBody>
          <a:bodyPr wrap="square" lIns="54864" tIns="32918" rIns="54864" bIns="32918" anchor="ctr">
            <a:spAutoFit/>
          </a:bodyPr>
          <a:lstStyle/>
          <a:p>
            <a:pPr algn="l">
              <a:spcAft>
                <a:spcPts val="100"/>
              </a:spcAft>
            </a:pPr>
            <a:r>
              <a:rPr sz="2000" b="1" i="0">
                <a:solidFill>
                  <a:srgbClr val="10204A"/>
                </a:solidFill>
                <a:latin typeface="Trebuchet MS"/>
              </a:rPr>
              <a:t>Retrieval quality</a:t>
            </a:r>
            <a:endParaRPr sz="2000"/>
          </a:p>
          <a:p>
            <a:pPr algn="l">
              <a:spcAft>
                <a:spcPts val="0"/>
              </a:spcAft>
            </a:pPr>
            <a:r>
              <a:rPr sz="1800" b="0" i="0">
                <a:solidFill>
                  <a:srgbClr val="455068"/>
                </a:solidFill>
                <a:latin typeface="Trebuchet MS"/>
              </a:rPr>
              <a:t>Recall@5 · MRR on a fixed question set</a:t>
            </a:r>
            <a:endParaRPr sz="1800"/>
          </a:p>
        </p:txBody>
      </p:sp>
      <p:sp>
        <p:nvSpPr>
          <p:cNvPr id="8" name="Rounded Rectangle 7"/>
          <p:cNvSpPr/>
          <p:nvPr/>
        </p:nvSpPr>
        <p:spPr>
          <a:xfrm>
            <a:off x="3694176" y="3314699"/>
            <a:ext cx="2148840" cy="420624"/>
          </a:xfrm>
          <a:prstGeom prst="roundRect">
            <a:avLst>
              <a:gd name="adj" fmla="val 50000"/>
            </a:avLst>
          </a:prstGeom>
          <a:solidFill>
            <a:srgbClr val="EEF1F7"/>
          </a:solidFill>
          <a:ln w="127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1E263A"/>
                </a:solidFill>
                <a:latin typeface="Trebuchet MS"/>
              </a:rPr>
              <a:t>to be measured</a:t>
            </a:r>
            <a:endParaRPr sz="1800"/>
          </a:p>
        </p:txBody>
      </p:sp>
      <p:sp>
        <p:nvSpPr>
          <p:cNvPr id="9" name="Rounded Rectangle 8"/>
          <p:cNvSpPr/>
          <p:nvPr/>
        </p:nvSpPr>
        <p:spPr>
          <a:xfrm>
            <a:off x="640080" y="4187952"/>
            <a:ext cx="5340096" cy="110642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0080" y="4297680"/>
            <a:ext cx="73152" cy="88696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59" y="4187952"/>
            <a:ext cx="2825496" cy="1106424"/>
          </a:xfrm>
          <a:prstGeom prst="rect">
            <a:avLst/>
          </a:prstGeom>
          <a:noFill/>
        </p:spPr>
        <p:txBody>
          <a:bodyPr wrap="square" lIns="54864" tIns="32918" rIns="54864" bIns="32918" anchor="ctr">
            <a:spAutoFit/>
          </a:bodyPr>
          <a:lstStyle/>
          <a:p>
            <a:pPr algn="l">
              <a:spcAft>
                <a:spcPts val="100"/>
              </a:spcAft>
            </a:pPr>
            <a:r>
              <a:rPr sz="2000" b="1" i="0">
                <a:solidFill>
                  <a:srgbClr val="10204A"/>
                </a:solidFill>
                <a:latin typeface="Trebuchet MS"/>
              </a:rPr>
              <a:t>Search methods</a:t>
            </a:r>
            <a:endParaRPr sz="2000"/>
          </a:p>
          <a:p>
            <a:pPr algn="l">
              <a:spcAft>
                <a:spcPts val="0"/>
              </a:spcAft>
            </a:pPr>
            <a:r>
              <a:rPr sz="1800" b="0" i="0">
                <a:solidFill>
                  <a:srgbClr val="455068"/>
                </a:solidFill>
                <a:latin typeface="Trebuchet MS"/>
              </a:rPr>
              <a:t>keyword-only · meaning-only · hybrid</a:t>
            </a:r>
            <a:endParaRPr sz="1800"/>
          </a:p>
        </p:txBody>
      </p:sp>
      <p:sp>
        <p:nvSpPr>
          <p:cNvPr id="12" name="Rounded Rectangle 11"/>
          <p:cNvSpPr/>
          <p:nvPr/>
        </p:nvSpPr>
        <p:spPr>
          <a:xfrm>
            <a:off x="3694176" y="4530852"/>
            <a:ext cx="2148840" cy="420624"/>
          </a:xfrm>
          <a:prstGeom prst="roundRect">
            <a:avLst>
              <a:gd name="adj" fmla="val 50000"/>
            </a:avLst>
          </a:prstGeom>
          <a:solidFill>
            <a:srgbClr val="EEF1F7"/>
          </a:solidFill>
          <a:ln w="127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1E263A"/>
                </a:solidFill>
                <a:latin typeface="Trebuchet MS"/>
              </a:rPr>
              <a:t>to be measured</a:t>
            </a:r>
            <a:endParaRPr sz="1800"/>
          </a:p>
        </p:txBody>
      </p:sp>
      <p:sp>
        <p:nvSpPr>
          <p:cNvPr id="13" name="Rounded Rectangle 12"/>
          <p:cNvSpPr/>
          <p:nvPr/>
        </p:nvSpPr>
        <p:spPr>
          <a:xfrm>
            <a:off x="640080" y="5404104"/>
            <a:ext cx="5340096" cy="110642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0080" y="5513832"/>
            <a:ext cx="73152" cy="88696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59" y="5404104"/>
            <a:ext cx="2825496" cy="1106424"/>
          </a:xfrm>
          <a:prstGeom prst="rect">
            <a:avLst/>
          </a:prstGeom>
          <a:noFill/>
        </p:spPr>
        <p:txBody>
          <a:bodyPr wrap="square" lIns="54864" tIns="32918" rIns="54864" bIns="32918" anchor="ctr">
            <a:spAutoFit/>
          </a:bodyPr>
          <a:lstStyle/>
          <a:p>
            <a:pPr algn="l">
              <a:spcAft>
                <a:spcPts val="100"/>
              </a:spcAft>
            </a:pPr>
            <a:r>
              <a:rPr sz="2000" b="1" i="0">
                <a:solidFill>
                  <a:srgbClr val="10204A"/>
                </a:solidFill>
                <a:latin typeface="Trebuchet MS"/>
              </a:rPr>
              <a:t>Embedding model</a:t>
            </a:r>
            <a:endParaRPr sz="2000"/>
          </a:p>
          <a:p>
            <a:pPr algn="l">
              <a:spcAft>
                <a:spcPts val="0"/>
              </a:spcAft>
            </a:pPr>
            <a:r>
              <a:rPr sz="1800" b="0" i="0">
                <a:solidFill>
                  <a:srgbClr val="455068"/>
                </a:solidFill>
                <a:latin typeface="Trebuchet MS"/>
              </a:rPr>
              <a:t>previous model vs the new one</a:t>
            </a:r>
            <a:endParaRPr sz="1800"/>
          </a:p>
        </p:txBody>
      </p:sp>
      <p:sp>
        <p:nvSpPr>
          <p:cNvPr id="16" name="Rounded Rectangle 15"/>
          <p:cNvSpPr/>
          <p:nvPr/>
        </p:nvSpPr>
        <p:spPr>
          <a:xfrm>
            <a:off x="3694176" y="5747004"/>
            <a:ext cx="2148840" cy="420624"/>
          </a:xfrm>
          <a:prstGeom prst="roundRect">
            <a:avLst>
              <a:gd name="adj" fmla="val 50000"/>
            </a:avLst>
          </a:prstGeom>
          <a:solidFill>
            <a:srgbClr val="EEF1F7"/>
          </a:solidFill>
          <a:ln w="127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1E263A"/>
                </a:solidFill>
                <a:latin typeface="Trebuchet MS"/>
              </a:rPr>
              <a:t>to be measured</a:t>
            </a:r>
            <a:endParaRPr sz="1800"/>
          </a:p>
        </p:txBody>
      </p:sp>
      <p:sp>
        <p:nvSpPr>
          <p:cNvPr id="17" name="Rounded Rectangle 16"/>
          <p:cNvSpPr/>
          <p:nvPr/>
        </p:nvSpPr>
        <p:spPr>
          <a:xfrm>
            <a:off x="6208776" y="2971799"/>
            <a:ext cx="5340096" cy="110642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08776" y="3081527"/>
            <a:ext cx="73152" cy="88696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91656" y="2971799"/>
            <a:ext cx="2825496" cy="1106424"/>
          </a:xfrm>
          <a:prstGeom prst="rect">
            <a:avLst/>
          </a:prstGeom>
          <a:noFill/>
        </p:spPr>
        <p:txBody>
          <a:bodyPr wrap="square" lIns="54864" tIns="32918" rIns="54864" bIns="32918" anchor="ctr">
            <a:spAutoFit/>
          </a:bodyPr>
          <a:lstStyle/>
          <a:p>
            <a:pPr algn="l">
              <a:spcAft>
                <a:spcPts val="100"/>
              </a:spcAft>
            </a:pPr>
            <a:r>
              <a:rPr sz="2000" b="1" i="0">
                <a:solidFill>
                  <a:srgbClr val="10204A"/>
                </a:solidFill>
                <a:latin typeface="Trebuchet MS"/>
              </a:rPr>
              <a:t>Time per question</a:t>
            </a:r>
            <a:endParaRPr sz="2000"/>
          </a:p>
          <a:p>
            <a:pPr algn="l">
              <a:spcAft>
                <a:spcPts val="0"/>
              </a:spcAft>
            </a:pPr>
            <a:r>
              <a:rPr sz="1800" b="0" i="0">
                <a:solidFill>
                  <a:srgbClr val="455068"/>
                </a:solidFill>
                <a:latin typeface="Trebuchet MS"/>
              </a:rPr>
              <a:t>median · 95th percentile</a:t>
            </a:r>
            <a:endParaRPr sz="1800"/>
          </a:p>
        </p:txBody>
      </p:sp>
      <p:sp>
        <p:nvSpPr>
          <p:cNvPr id="20" name="Rounded Rectangle 19"/>
          <p:cNvSpPr/>
          <p:nvPr/>
        </p:nvSpPr>
        <p:spPr>
          <a:xfrm>
            <a:off x="9262872" y="3314699"/>
            <a:ext cx="2148840" cy="420624"/>
          </a:xfrm>
          <a:prstGeom prst="roundRect">
            <a:avLst>
              <a:gd name="adj" fmla="val 50000"/>
            </a:avLst>
          </a:prstGeom>
          <a:solidFill>
            <a:srgbClr val="EEF1F7"/>
          </a:solidFill>
          <a:ln w="127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1E263A"/>
                </a:solidFill>
                <a:latin typeface="Trebuchet MS"/>
              </a:rPr>
              <a:t>to be measured</a:t>
            </a:r>
            <a:endParaRPr sz="1800"/>
          </a:p>
        </p:txBody>
      </p:sp>
      <p:sp>
        <p:nvSpPr>
          <p:cNvPr id="21" name="Rounded Rectangle 20"/>
          <p:cNvSpPr/>
          <p:nvPr/>
        </p:nvSpPr>
        <p:spPr>
          <a:xfrm>
            <a:off x="6208776" y="4187952"/>
            <a:ext cx="5340096" cy="110642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208776" y="4297680"/>
            <a:ext cx="73152" cy="88696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91656" y="4187952"/>
            <a:ext cx="2825496" cy="1106424"/>
          </a:xfrm>
          <a:prstGeom prst="rect">
            <a:avLst/>
          </a:prstGeom>
          <a:noFill/>
        </p:spPr>
        <p:txBody>
          <a:bodyPr wrap="square" lIns="54864" tIns="32918" rIns="54864" bIns="32918" anchor="ctr">
            <a:spAutoFit/>
          </a:bodyPr>
          <a:lstStyle/>
          <a:p>
            <a:pPr algn="l">
              <a:spcAft>
                <a:spcPts val="100"/>
              </a:spcAft>
            </a:pPr>
            <a:r>
              <a:rPr sz="2000" b="1" i="0">
                <a:solidFill>
                  <a:srgbClr val="10204A"/>
                </a:solidFill>
                <a:latin typeface="Trebuchet MS"/>
              </a:rPr>
              <a:t>Model calls and cost</a:t>
            </a:r>
            <a:endParaRPr sz="2000"/>
          </a:p>
          <a:p>
            <a:pPr algn="l">
              <a:spcAft>
                <a:spcPts val="0"/>
              </a:spcAft>
            </a:pPr>
            <a:r>
              <a:rPr sz="1800" b="0" i="0">
                <a:solidFill>
                  <a:srgbClr val="455068"/>
                </a:solidFill>
                <a:latin typeface="Trebuchet MS"/>
              </a:rPr>
              <a:t>per question</a:t>
            </a:r>
            <a:endParaRPr sz="1800"/>
          </a:p>
        </p:txBody>
      </p:sp>
      <p:sp>
        <p:nvSpPr>
          <p:cNvPr id="24" name="Rounded Rectangle 23"/>
          <p:cNvSpPr/>
          <p:nvPr/>
        </p:nvSpPr>
        <p:spPr>
          <a:xfrm>
            <a:off x="9262872" y="4530852"/>
            <a:ext cx="2148840" cy="420624"/>
          </a:xfrm>
          <a:prstGeom prst="roundRect">
            <a:avLst>
              <a:gd name="adj" fmla="val 50000"/>
            </a:avLst>
          </a:prstGeom>
          <a:solidFill>
            <a:srgbClr val="EEF1F7"/>
          </a:solidFill>
          <a:ln w="127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1E263A"/>
                </a:solidFill>
                <a:latin typeface="Trebuchet MS"/>
              </a:rPr>
              <a:t>to be measured</a:t>
            </a:r>
            <a:endParaRPr sz="1800"/>
          </a:p>
        </p:txBody>
      </p:sp>
      <p:sp>
        <p:nvSpPr>
          <p:cNvPr id="25" name="Rounded Rectangle 24"/>
          <p:cNvSpPr/>
          <p:nvPr/>
        </p:nvSpPr>
        <p:spPr>
          <a:xfrm>
            <a:off x="6208776" y="5404104"/>
            <a:ext cx="5340096" cy="110642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08776" y="5513832"/>
            <a:ext cx="73152" cy="88696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91656" y="5404104"/>
            <a:ext cx="2825496" cy="1106424"/>
          </a:xfrm>
          <a:prstGeom prst="rect">
            <a:avLst/>
          </a:prstGeom>
          <a:noFill/>
        </p:spPr>
        <p:txBody>
          <a:bodyPr wrap="square" lIns="54864" tIns="32918" rIns="54864" bIns="32918" anchor="ctr">
            <a:spAutoFit/>
          </a:bodyPr>
          <a:lstStyle/>
          <a:p>
            <a:pPr algn="l">
              <a:spcAft>
                <a:spcPts val="100"/>
              </a:spcAft>
            </a:pPr>
            <a:r>
              <a:rPr sz="2000" b="1" i="0">
                <a:solidFill>
                  <a:srgbClr val="10204A"/>
                </a:solidFill>
                <a:latin typeface="Trebuchet MS"/>
              </a:rPr>
              <a:t>Enrichment</a:t>
            </a:r>
            <a:endParaRPr sz="2000"/>
          </a:p>
          <a:p>
            <a:pPr algn="l">
              <a:spcAft>
                <a:spcPts val="0"/>
              </a:spcAft>
            </a:pPr>
            <a:r>
              <a:rPr sz="1800" b="0" i="0">
                <a:solidFill>
                  <a:srgbClr val="455068"/>
                </a:solidFill>
                <a:latin typeface="Trebuchet MS"/>
              </a:rPr>
              <a:t>items per minute · items per classification stage</a:t>
            </a:r>
            <a:endParaRPr sz="1800"/>
          </a:p>
        </p:txBody>
      </p:sp>
      <p:sp>
        <p:nvSpPr>
          <p:cNvPr id="28" name="Rounded Rectangle 27"/>
          <p:cNvSpPr/>
          <p:nvPr/>
        </p:nvSpPr>
        <p:spPr>
          <a:xfrm>
            <a:off x="9262872" y="5747004"/>
            <a:ext cx="2148840" cy="420624"/>
          </a:xfrm>
          <a:prstGeom prst="roundRect">
            <a:avLst>
              <a:gd name="adj" fmla="val 50000"/>
            </a:avLst>
          </a:prstGeom>
          <a:solidFill>
            <a:srgbClr val="EEF1F7"/>
          </a:solidFill>
          <a:ln w="12700">
            <a:solidFill>
              <a:srgbClr val="4A556E"/>
            </a:solid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1E263A"/>
                </a:solidFill>
                <a:latin typeface="Trebuchet MS"/>
              </a:rPr>
              <a:t>to be measured</a:t>
            </a:r>
            <a:endParaRPr sz="18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Timeline – Update on Tasks</a:t>
            </a:r>
            <a:endParaRPr lang="en-US" sz="2400" dirty="0"/>
          </a:p>
        </p:txBody>
      </p:sp>
      <p:sp>
        <p:nvSpPr>
          <p:cNvPr id="4" name="Pentagon 3"/>
          <p:cNvSpPr/>
          <p:nvPr/>
        </p:nvSpPr>
        <p:spPr>
          <a:xfrm>
            <a:off x="640080" y="1874519"/>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Apr – Jun 2026</a:t>
            </a:r>
            <a:endParaRPr sz="1900"/>
          </a:p>
        </p:txBody>
      </p:sp>
      <p:sp>
        <p:nvSpPr>
          <p:cNvPr id="5" name="Rounded Rectangle 4"/>
          <p:cNvSpPr/>
          <p:nvPr/>
        </p:nvSpPr>
        <p:spPr>
          <a:xfrm>
            <a:off x="2743200" y="1874519"/>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880360" y="1874519"/>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Capture, enrichment, retrieval and storage built</a:t>
            </a:r>
            <a:endParaRPr sz="1900"/>
          </a:p>
        </p:txBody>
      </p:sp>
      <p:sp>
        <p:nvSpPr>
          <p:cNvPr id="7" name="Rounded Rectangle 6"/>
          <p:cNvSpPr/>
          <p:nvPr/>
        </p:nvSpPr>
        <p:spPr>
          <a:xfrm>
            <a:off x="9765792" y="1953387"/>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8" name="Pentagon 7"/>
          <p:cNvSpPr/>
          <p:nvPr/>
        </p:nvSpPr>
        <p:spPr>
          <a:xfrm>
            <a:off x="640080" y="2462022"/>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Jul 2026</a:t>
            </a:r>
            <a:endParaRPr sz="1900"/>
          </a:p>
        </p:txBody>
      </p:sp>
      <p:sp>
        <p:nvSpPr>
          <p:cNvPr id="9" name="Rounded Rectangle 8"/>
          <p:cNvSpPr/>
          <p:nvPr/>
        </p:nvSpPr>
        <p:spPr>
          <a:xfrm>
            <a:off x="2743200" y="2462022"/>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80360" y="2462022"/>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Wellbeing, retrieval engine, first dashboard</a:t>
            </a:r>
            <a:endParaRPr sz="1900"/>
          </a:p>
        </p:txBody>
      </p:sp>
      <p:sp>
        <p:nvSpPr>
          <p:cNvPr id="11" name="Rounded Rectangle 10"/>
          <p:cNvSpPr/>
          <p:nvPr/>
        </p:nvSpPr>
        <p:spPr>
          <a:xfrm>
            <a:off x="9765792" y="2540889"/>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12" name="Pentagon 11"/>
          <p:cNvSpPr/>
          <p:nvPr/>
        </p:nvSpPr>
        <p:spPr>
          <a:xfrm>
            <a:off x="640080" y="3049524"/>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Aug 2026</a:t>
            </a:r>
            <a:endParaRPr sz="1900"/>
          </a:p>
        </p:txBody>
      </p:sp>
      <p:sp>
        <p:nvSpPr>
          <p:cNvPr id="13" name="Rounded Rectangle 12"/>
          <p:cNvSpPr/>
          <p:nvPr/>
        </p:nvSpPr>
        <p:spPr>
          <a:xfrm>
            <a:off x="2743200" y="3049524"/>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880360" y="3049524"/>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Review 1: scope focused on the core recall path</a:t>
            </a:r>
            <a:endParaRPr sz="1900"/>
          </a:p>
        </p:txBody>
      </p:sp>
      <p:sp>
        <p:nvSpPr>
          <p:cNvPr id="15" name="Rounded Rectangle 14"/>
          <p:cNvSpPr/>
          <p:nvPr/>
        </p:nvSpPr>
        <p:spPr>
          <a:xfrm>
            <a:off x="9765792" y="3128391"/>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16" name="Pentagon 15"/>
          <p:cNvSpPr/>
          <p:nvPr/>
        </p:nvSpPr>
        <p:spPr>
          <a:xfrm>
            <a:off x="640080" y="3637026"/>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Sep 2026</a:t>
            </a:r>
            <a:endParaRPr sz="1900"/>
          </a:p>
        </p:txBody>
      </p:sp>
      <p:sp>
        <p:nvSpPr>
          <p:cNvPr id="17" name="Rounded Rectangle 16"/>
          <p:cNvSpPr/>
          <p:nvPr/>
        </p:nvSpPr>
        <p:spPr>
          <a:xfrm>
            <a:off x="2743200" y="3637026"/>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880360" y="3637026"/>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Wellbeing and dashboard restored; Review 2</a:t>
            </a:r>
            <a:endParaRPr sz="1900"/>
          </a:p>
        </p:txBody>
      </p:sp>
      <p:sp>
        <p:nvSpPr>
          <p:cNvPr id="19" name="Rounded Rectangle 18"/>
          <p:cNvSpPr/>
          <p:nvPr/>
        </p:nvSpPr>
        <p:spPr>
          <a:xfrm>
            <a:off x="9765792" y="3715893"/>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20" name="Pentagon 19"/>
          <p:cNvSpPr/>
          <p:nvPr/>
        </p:nvSpPr>
        <p:spPr>
          <a:xfrm>
            <a:off x="640080" y="4224528"/>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1 – 21 Oct</a:t>
            </a:r>
            <a:endParaRPr sz="1900"/>
          </a:p>
        </p:txBody>
      </p:sp>
      <p:sp>
        <p:nvSpPr>
          <p:cNvPr id="21" name="Rounded Rectangle 20"/>
          <p:cNvSpPr/>
          <p:nvPr/>
        </p:nvSpPr>
        <p:spPr>
          <a:xfrm>
            <a:off x="2743200" y="4224528"/>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880360" y="4224528"/>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File-by-file review; all design decisions closed</a:t>
            </a:r>
            <a:endParaRPr sz="1900"/>
          </a:p>
        </p:txBody>
      </p:sp>
      <p:sp>
        <p:nvSpPr>
          <p:cNvPr id="23" name="Rounded Rectangle 22"/>
          <p:cNvSpPr/>
          <p:nvPr/>
        </p:nvSpPr>
        <p:spPr>
          <a:xfrm>
            <a:off x="9765792" y="4303395"/>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24" name="Pentagon 23"/>
          <p:cNvSpPr/>
          <p:nvPr/>
        </p:nvSpPr>
        <p:spPr>
          <a:xfrm>
            <a:off x="640080" y="4812030"/>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22 – 25 Oct</a:t>
            </a:r>
            <a:endParaRPr sz="1900"/>
          </a:p>
        </p:txBody>
      </p:sp>
      <p:sp>
        <p:nvSpPr>
          <p:cNvPr id="25" name="Rounded Rectangle 24"/>
          <p:cNvSpPr/>
          <p:nvPr/>
        </p:nvSpPr>
        <p:spPr>
          <a:xfrm>
            <a:off x="2743200" y="4812030"/>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880360" y="4812030"/>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Final build and freeze on 25 Oct</a:t>
            </a:r>
            <a:endParaRPr sz="1900"/>
          </a:p>
        </p:txBody>
      </p:sp>
      <p:sp>
        <p:nvSpPr>
          <p:cNvPr id="27" name="Rounded Rectangle 26"/>
          <p:cNvSpPr/>
          <p:nvPr/>
        </p:nvSpPr>
        <p:spPr>
          <a:xfrm>
            <a:off x="9765792" y="4890897"/>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28" name="Pentagon 27"/>
          <p:cNvSpPr/>
          <p:nvPr/>
        </p:nvSpPr>
        <p:spPr>
          <a:xfrm>
            <a:off x="640080" y="5399532"/>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26 – 27 Oct</a:t>
            </a:r>
            <a:endParaRPr sz="1900"/>
          </a:p>
        </p:txBody>
      </p:sp>
      <p:sp>
        <p:nvSpPr>
          <p:cNvPr id="29" name="Rounded Rectangle 28"/>
          <p:cNvSpPr/>
          <p:nvPr/>
        </p:nvSpPr>
        <p:spPr>
          <a:xfrm>
            <a:off x="2743200" y="5399532"/>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880360" y="5399532"/>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End-to-end run and rehearsal</a:t>
            </a:r>
            <a:endParaRPr sz="1900"/>
          </a:p>
        </p:txBody>
      </p:sp>
      <p:sp>
        <p:nvSpPr>
          <p:cNvPr id="31" name="Rounded Rectangle 30"/>
          <p:cNvSpPr/>
          <p:nvPr/>
        </p:nvSpPr>
        <p:spPr>
          <a:xfrm>
            <a:off x="9765792" y="5478399"/>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Completed</a:t>
            </a:r>
            <a:endParaRPr sz="1800"/>
          </a:p>
        </p:txBody>
      </p:sp>
      <p:sp>
        <p:nvSpPr>
          <p:cNvPr id="32" name="Pentagon 31"/>
          <p:cNvSpPr/>
          <p:nvPr/>
        </p:nvSpPr>
        <p:spPr>
          <a:xfrm>
            <a:off x="640080" y="5987034"/>
            <a:ext cx="2011680" cy="523494"/>
          </a:xfrm>
          <a:prstGeom prst="homePlate">
            <a:avLst>
              <a:gd name="adj" fmla="val 2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1945" rIns="36576" bIns="21945" rtlCol="0" anchor="ctr"/>
          <a:lstStyle/>
          <a:p>
            <a:pPr algn="ctr">
              <a:spcAft>
                <a:spcPts val="0"/>
              </a:spcAft>
            </a:pPr>
            <a:r>
              <a:rPr sz="1900" b="1" i="0">
                <a:solidFill>
                  <a:srgbClr val="FFFFFF"/>
                </a:solidFill>
                <a:latin typeface="Trebuchet MS"/>
              </a:rPr>
              <a:t>Wed 28 Oct</a:t>
            </a:r>
            <a:endParaRPr sz="1900"/>
          </a:p>
        </p:txBody>
      </p:sp>
      <p:sp>
        <p:nvSpPr>
          <p:cNvPr id="33" name="Rounded Rectangle 32"/>
          <p:cNvSpPr/>
          <p:nvPr/>
        </p:nvSpPr>
        <p:spPr>
          <a:xfrm>
            <a:off x="2743200" y="5987034"/>
            <a:ext cx="8805672" cy="52349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880360" y="5987034"/>
            <a:ext cx="6793992" cy="523494"/>
          </a:xfrm>
          <a:prstGeom prst="rect">
            <a:avLst/>
          </a:prstGeom>
          <a:noFill/>
        </p:spPr>
        <p:txBody>
          <a:bodyPr wrap="square" lIns="18288" tIns="10972" rIns="18288" bIns="10972" anchor="ctr">
            <a:spAutoFit/>
          </a:bodyPr>
          <a:lstStyle/>
          <a:p>
            <a:pPr algn="l">
              <a:spcAft>
                <a:spcPts val="0"/>
              </a:spcAft>
            </a:pPr>
            <a:r>
              <a:rPr sz="1900" b="0" i="0">
                <a:solidFill>
                  <a:srgbClr val="10204A"/>
                </a:solidFill>
                <a:latin typeface="Trebuchet MS"/>
              </a:rPr>
              <a:t>Review 3</a:t>
            </a:r>
            <a:endParaRPr sz="1900"/>
          </a:p>
        </p:txBody>
      </p:sp>
      <p:sp>
        <p:nvSpPr>
          <p:cNvPr id="35" name="Rounded Rectangle 34"/>
          <p:cNvSpPr/>
          <p:nvPr/>
        </p:nvSpPr>
        <p:spPr>
          <a:xfrm>
            <a:off x="9765792" y="6065901"/>
            <a:ext cx="1645920" cy="365760"/>
          </a:xfrm>
          <a:prstGeom prst="roundRect">
            <a:avLst>
              <a:gd name="adj" fmla="val 50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16459" rIns="27432" bIns="16459" rtlCol="0" anchor="ctr"/>
          <a:lstStyle/>
          <a:p>
            <a:pPr algn="ctr">
              <a:spcAft>
                <a:spcPts val="0"/>
              </a:spcAft>
            </a:pPr>
            <a:r>
              <a:rPr sz="1800" b="1" i="0">
                <a:solidFill>
                  <a:srgbClr val="FFFFFF"/>
                </a:solidFill>
                <a:latin typeface="Trebuchet MS"/>
              </a:rPr>
              <a:t>Review</a:t>
            </a:r>
            <a:endParaRPr sz="18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Conclusion and Future Work</a:t>
            </a:r>
            <a:endParaRPr lang="en-US" sz="2400" dirty="0"/>
          </a:p>
        </p:txBody>
      </p:sp>
      <p:sp>
        <p:nvSpPr>
          <p:cNvPr id="4" name="Rounded Rectangle 3"/>
          <p:cNvSpPr/>
          <p:nvPr/>
        </p:nvSpPr>
        <p:spPr>
          <a:xfrm>
            <a:off x="640080" y="1874519"/>
            <a:ext cx="777240" cy="1090422"/>
          </a:xfrm>
          <a:prstGeom prst="roundRect">
            <a:avLst>
              <a:gd name="adj" fmla="val 1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43891" rIns="73152" bIns="43891" rtlCol="0" anchor="ctr"/>
          <a:lstStyle/>
          <a:p>
            <a:pPr algn="ctr">
              <a:spcAft>
                <a:spcPts val="0"/>
              </a:spcAft>
            </a:pPr>
            <a:r>
              <a:rPr sz="2800" b="1" i="0">
                <a:solidFill>
                  <a:srgbClr val="FFFFFF"/>
                </a:solidFill>
                <a:latin typeface="Trebuchet MS"/>
              </a:rPr>
              <a:t>1</a:t>
            </a:r>
            <a:endParaRPr sz="2800"/>
          </a:p>
        </p:txBody>
      </p:sp>
      <p:sp>
        <p:nvSpPr>
          <p:cNvPr id="5" name="Rounded Rectangle 4"/>
          <p:cNvSpPr/>
          <p:nvPr/>
        </p:nvSpPr>
        <p:spPr>
          <a:xfrm>
            <a:off x="1508760" y="1874519"/>
            <a:ext cx="5532120" cy="1090422"/>
          </a:xfrm>
          <a:prstGeom prst="roundRect">
            <a:avLst>
              <a:gd name="adj" fmla="val 1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200"/>
              </a:spcAft>
            </a:pPr>
            <a:r>
              <a:rPr sz="2200" b="1" i="0">
                <a:solidFill>
                  <a:srgbClr val="0B2272"/>
                </a:solidFill>
                <a:latin typeface="Trebuchet MS"/>
              </a:rPr>
              <a:t>One private memory</a:t>
            </a:r>
            <a:endParaRPr sz="2200"/>
          </a:p>
          <a:p>
            <a:pPr algn="l">
              <a:spcAft>
                <a:spcPts val="0"/>
              </a:spcAft>
            </a:pPr>
            <a:r>
              <a:rPr sz="1900" b="0" i="0">
                <a:solidFill>
                  <a:srgbClr val="10204A"/>
                </a:solidFill>
                <a:latin typeface="Trebuchet MS"/>
              </a:rPr>
              <a:t>Gmail, Chrome and YouTube on your laptop, sorted into five groups</a:t>
            </a:r>
            <a:endParaRPr sz="1900"/>
          </a:p>
        </p:txBody>
      </p:sp>
      <p:sp>
        <p:nvSpPr>
          <p:cNvPr id="6" name="Rounded Rectangle 5"/>
          <p:cNvSpPr/>
          <p:nvPr/>
        </p:nvSpPr>
        <p:spPr>
          <a:xfrm>
            <a:off x="640080" y="3056382"/>
            <a:ext cx="777240" cy="1090422"/>
          </a:xfrm>
          <a:prstGeom prst="roundRect">
            <a:avLst>
              <a:gd name="adj" fmla="val 1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43891" rIns="73152" bIns="43891" rtlCol="0" anchor="ctr"/>
          <a:lstStyle/>
          <a:p>
            <a:pPr algn="ctr">
              <a:spcAft>
                <a:spcPts val="0"/>
              </a:spcAft>
            </a:pPr>
            <a:r>
              <a:rPr sz="2800" b="1" i="0">
                <a:solidFill>
                  <a:srgbClr val="FFFFFF"/>
                </a:solidFill>
                <a:latin typeface="Trebuchet MS"/>
              </a:rPr>
              <a:t>2</a:t>
            </a:r>
            <a:endParaRPr sz="2800"/>
          </a:p>
        </p:txBody>
      </p:sp>
      <p:sp>
        <p:nvSpPr>
          <p:cNvPr id="7" name="Rounded Rectangle 6"/>
          <p:cNvSpPr/>
          <p:nvPr/>
        </p:nvSpPr>
        <p:spPr>
          <a:xfrm>
            <a:off x="1508760" y="3056382"/>
            <a:ext cx="5532120" cy="1090422"/>
          </a:xfrm>
          <a:prstGeom prst="roundRect">
            <a:avLst>
              <a:gd name="adj" fmla="val 1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200"/>
              </a:spcAft>
            </a:pPr>
            <a:r>
              <a:rPr sz="2200" b="1" i="0">
                <a:solidFill>
                  <a:srgbClr val="0B2272"/>
                </a:solidFill>
                <a:latin typeface="Trebuchet MS"/>
              </a:rPr>
              <a:t>Ask, don't search</a:t>
            </a:r>
            <a:endParaRPr sz="2200"/>
          </a:p>
          <a:p>
            <a:pPr algn="l">
              <a:spcAft>
                <a:spcPts val="0"/>
              </a:spcAft>
            </a:pPr>
            <a:r>
              <a:rPr sz="1900" b="0" i="0">
                <a:solidFill>
                  <a:srgbClr val="10204A"/>
                </a:solidFill>
                <a:latin typeface="Trebuchet MS"/>
              </a:rPr>
              <a:t>Merged, re-ranked search; answers cite the original items</a:t>
            </a:r>
            <a:endParaRPr sz="1900"/>
          </a:p>
        </p:txBody>
      </p:sp>
      <p:sp>
        <p:nvSpPr>
          <p:cNvPr id="8" name="Rounded Rectangle 7"/>
          <p:cNvSpPr/>
          <p:nvPr/>
        </p:nvSpPr>
        <p:spPr>
          <a:xfrm>
            <a:off x="640080" y="4238244"/>
            <a:ext cx="777240" cy="1090422"/>
          </a:xfrm>
          <a:prstGeom prst="roundRect">
            <a:avLst>
              <a:gd name="adj" fmla="val 1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43891" rIns="73152" bIns="43891" rtlCol="0" anchor="ctr"/>
          <a:lstStyle/>
          <a:p>
            <a:pPr algn="ctr">
              <a:spcAft>
                <a:spcPts val="0"/>
              </a:spcAft>
            </a:pPr>
            <a:r>
              <a:rPr sz="2800" b="1" i="0">
                <a:solidFill>
                  <a:srgbClr val="FFFFFF"/>
                </a:solidFill>
                <a:latin typeface="Trebuchet MS"/>
              </a:rPr>
              <a:t>3</a:t>
            </a:r>
            <a:endParaRPr sz="2800"/>
          </a:p>
        </p:txBody>
      </p:sp>
      <p:sp>
        <p:nvSpPr>
          <p:cNvPr id="9" name="Rounded Rectangle 8"/>
          <p:cNvSpPr/>
          <p:nvPr/>
        </p:nvSpPr>
        <p:spPr>
          <a:xfrm>
            <a:off x="1508760" y="4238244"/>
            <a:ext cx="5532120" cy="1090422"/>
          </a:xfrm>
          <a:prstGeom prst="roundRect">
            <a:avLst>
              <a:gd name="adj" fmla="val 1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200"/>
              </a:spcAft>
            </a:pPr>
            <a:r>
              <a:rPr sz="2200" b="1" i="0">
                <a:solidFill>
                  <a:srgbClr val="0B2272"/>
                </a:solidFill>
                <a:latin typeface="Trebuchet MS"/>
              </a:rPr>
              <a:t>Reflect without judging</a:t>
            </a:r>
            <a:endParaRPr sz="2200"/>
          </a:p>
          <a:p>
            <a:pPr algn="l">
              <a:spcAft>
                <a:spcPts val="0"/>
              </a:spcAft>
            </a:pPr>
            <a:r>
              <a:rPr sz="1900" b="0" i="0">
                <a:solidFill>
                  <a:srgbClr val="10204A"/>
                </a:solidFill>
                <a:latin typeface="Trebuchet MS"/>
              </a:rPr>
              <a:t>Time, sessions, your own regrets; groups change only with your yes</a:t>
            </a:r>
            <a:endParaRPr sz="1900"/>
          </a:p>
        </p:txBody>
      </p:sp>
      <p:sp>
        <p:nvSpPr>
          <p:cNvPr id="10" name="Rounded Rectangle 9"/>
          <p:cNvSpPr/>
          <p:nvPr/>
        </p:nvSpPr>
        <p:spPr>
          <a:xfrm>
            <a:off x="640080" y="5420106"/>
            <a:ext cx="777240" cy="1090422"/>
          </a:xfrm>
          <a:prstGeom prst="roundRect">
            <a:avLst>
              <a:gd name="adj" fmla="val 15000"/>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43891" rIns="73152" bIns="43891" rtlCol="0" anchor="ctr"/>
          <a:lstStyle/>
          <a:p>
            <a:pPr algn="ctr">
              <a:spcAft>
                <a:spcPts val="0"/>
              </a:spcAft>
            </a:pPr>
            <a:r>
              <a:rPr sz="2800" b="1" i="0">
                <a:solidFill>
                  <a:srgbClr val="FFFFFF"/>
                </a:solidFill>
                <a:latin typeface="Trebuchet MS"/>
              </a:rPr>
              <a:t>4</a:t>
            </a:r>
            <a:endParaRPr sz="2800"/>
          </a:p>
        </p:txBody>
      </p:sp>
      <p:sp>
        <p:nvSpPr>
          <p:cNvPr id="11" name="Rounded Rectangle 10"/>
          <p:cNvSpPr/>
          <p:nvPr/>
        </p:nvSpPr>
        <p:spPr>
          <a:xfrm>
            <a:off x="1508760" y="5420106"/>
            <a:ext cx="5532120" cy="1090422"/>
          </a:xfrm>
          <a:prstGeom prst="roundRect">
            <a:avLst>
              <a:gd name="adj" fmla="val 1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82880" tIns="109728" rIns="182880" bIns="109728" rtlCol="0" anchor="ctr"/>
          <a:lstStyle/>
          <a:p>
            <a:pPr algn="l">
              <a:spcAft>
                <a:spcPts val="200"/>
              </a:spcAft>
            </a:pPr>
            <a:r>
              <a:rPr sz="2200" b="1" i="0">
                <a:solidFill>
                  <a:srgbClr val="0B2272"/>
                </a:solidFill>
                <a:latin typeface="Trebuchet MS"/>
              </a:rPr>
              <a:t>Privacy by design</a:t>
            </a:r>
            <a:endParaRPr sz="2200"/>
          </a:p>
          <a:p>
            <a:pPr algn="l">
              <a:spcAft>
                <a:spcPts val="0"/>
              </a:spcAft>
            </a:pPr>
            <a:r>
              <a:rPr sz="1900" b="0" i="0">
                <a:solidFill>
                  <a:srgbClr val="10204A"/>
                </a:solidFill>
                <a:latin typeface="Trebuchet MS"/>
              </a:rPr>
              <a:t>Sensitive pages and typed text never captured; the model never gets full emails</a:t>
            </a:r>
            <a:endParaRPr sz="1900"/>
          </a:p>
        </p:txBody>
      </p:sp>
      <p:sp>
        <p:nvSpPr>
          <p:cNvPr id="12" name="Rounded Rectangle 11"/>
          <p:cNvSpPr/>
          <p:nvPr/>
        </p:nvSpPr>
        <p:spPr>
          <a:xfrm>
            <a:off x="7315200" y="1874519"/>
            <a:ext cx="4233672" cy="548640"/>
          </a:xfrm>
          <a:prstGeom prst="roundRect">
            <a:avLst>
              <a:gd name="adj" fmla="val 30000"/>
            </a:avLst>
          </a:prstGeom>
          <a:solidFill>
            <a:srgbClr val="FFFFFF"/>
          </a:solidFill>
          <a:ln w="12700">
            <a:solidFill>
              <a:srgbClr val="C5D0EA"/>
            </a:solidFill>
          </a:ln>
          <a:effectLst/>
        </p:spPr>
        <p:style>
          <a:lnRef idx="1">
            <a:schemeClr val="accent1"/>
          </a:lnRef>
          <a:fillRef idx="3">
            <a:schemeClr val="accent1"/>
          </a:fillRef>
          <a:effectRef idx="2">
            <a:schemeClr val="accent1"/>
          </a:effectRef>
          <a:fontRef idx="minor">
            <a:schemeClr val="lt1"/>
          </a:fontRef>
        </p:style>
        <p:txBody>
          <a:bodyPr wrap="square" lIns="164592" tIns="98755" rIns="164592" bIns="98755" rtlCol="0" anchor="ctr"/>
          <a:lstStyle/>
          <a:p>
            <a:pPr algn="l">
              <a:spcAft>
                <a:spcPts val="0"/>
              </a:spcAft>
            </a:pPr>
            <a:r>
              <a:rPr sz="2400" b="1" i="0">
                <a:solidFill>
                  <a:srgbClr val="0B2272"/>
                </a:solidFill>
                <a:latin typeface="Trebuchet MS"/>
              </a:rPr>
              <a:t>Future work</a:t>
            </a:r>
            <a:endParaRPr sz="2400"/>
          </a:p>
        </p:txBody>
      </p:sp>
      <p:sp>
        <p:nvSpPr>
          <p:cNvPr id="13" name="Rounded Rectangle 12"/>
          <p:cNvSpPr/>
          <p:nvPr/>
        </p:nvSpPr>
        <p:spPr>
          <a:xfrm>
            <a:off x="7315200" y="2560320"/>
            <a:ext cx="4233672" cy="124358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315200" y="2670048"/>
            <a:ext cx="73152" cy="102412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61504" y="2596896"/>
            <a:ext cx="4032504" cy="1170432"/>
          </a:xfrm>
          <a:prstGeom prst="rect">
            <a:avLst/>
          </a:prstGeom>
          <a:noFill/>
        </p:spPr>
        <p:txBody>
          <a:bodyPr wrap="square" tIns="54864" bIns="54864" anchor="ctr">
            <a:spAutoFit/>
          </a:bodyPr>
          <a:lstStyle/>
          <a:p>
            <a:pPr algn="l">
              <a:spcAft>
                <a:spcPts val="600"/>
              </a:spcAft>
            </a:pPr>
            <a:r>
              <a:rPr sz="2100" b="1" i="0">
                <a:solidFill>
                  <a:srgbClr val="1F4FE0"/>
                </a:solidFill>
                <a:latin typeface="Trebuchet MS"/>
              </a:rPr>
              <a:t>Import and export your data</a:t>
            </a:r>
            <a:endParaRPr sz="2100"/>
          </a:p>
          <a:p>
            <a:pPr algn="l">
              <a:spcAft>
                <a:spcPts val="0"/>
              </a:spcAft>
            </a:pPr>
            <a:r>
              <a:rPr sz="1900" b="0" i="0">
                <a:solidFill>
                  <a:srgbClr val="10204A"/>
                </a:solidFill>
                <a:latin typeface="Trebuchet MS"/>
              </a:rPr>
              <a:t>Past history from Gmail, Chrome and YouTube in; your memories out as JSON or CSV</a:t>
            </a:r>
            <a:endParaRPr sz="1900"/>
          </a:p>
        </p:txBody>
      </p:sp>
      <p:sp>
        <p:nvSpPr>
          <p:cNvPr id="16" name="Rounded Rectangle 15"/>
          <p:cNvSpPr/>
          <p:nvPr/>
        </p:nvSpPr>
        <p:spPr>
          <a:xfrm>
            <a:off x="7315200" y="3913631"/>
            <a:ext cx="4233672" cy="124358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315200" y="4023359"/>
            <a:ext cx="73152" cy="102412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61504" y="3950207"/>
            <a:ext cx="4032504" cy="1170432"/>
          </a:xfrm>
          <a:prstGeom prst="rect">
            <a:avLst/>
          </a:prstGeom>
          <a:noFill/>
        </p:spPr>
        <p:txBody>
          <a:bodyPr wrap="square" tIns="54864" bIns="54864" anchor="ctr">
            <a:spAutoFit/>
          </a:bodyPr>
          <a:lstStyle/>
          <a:p>
            <a:pPr algn="l">
              <a:spcAft>
                <a:spcPts val="600"/>
              </a:spcAft>
            </a:pPr>
            <a:r>
              <a:rPr sz="2100" b="1" i="0">
                <a:solidFill>
                  <a:srgbClr val="1F4FE0"/>
                </a:solidFill>
                <a:latin typeface="Trebuchet MS"/>
              </a:rPr>
              <a:t>Publish the Chrome extension</a:t>
            </a:r>
            <a:endParaRPr sz="2100"/>
          </a:p>
          <a:p>
            <a:pPr algn="l">
              <a:spcAft>
                <a:spcPts val="0"/>
              </a:spcAft>
            </a:pPr>
            <a:r>
              <a:rPr sz="1900" b="0" i="0">
                <a:solidFill>
                  <a:srgbClr val="10204A"/>
                </a:solidFill>
                <a:latin typeface="Trebuchet MS"/>
              </a:rPr>
              <a:t>A public release on the Chrome Web Store</a:t>
            </a:r>
            <a:endParaRPr sz="1900"/>
          </a:p>
        </p:txBody>
      </p:sp>
      <p:sp>
        <p:nvSpPr>
          <p:cNvPr id="19" name="Rounded Rectangle 18"/>
          <p:cNvSpPr/>
          <p:nvPr/>
        </p:nvSpPr>
        <p:spPr>
          <a:xfrm>
            <a:off x="7315200" y="5266944"/>
            <a:ext cx="4233672" cy="1243584"/>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315200" y="5376672"/>
            <a:ext cx="73152" cy="1024128"/>
          </a:xfrm>
          <a:prstGeom prst="rect">
            <a:avLst/>
          </a:prstGeom>
          <a:solidFill>
            <a:srgbClr val="1F4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61504" y="5303520"/>
            <a:ext cx="4032504" cy="1170432"/>
          </a:xfrm>
          <a:prstGeom prst="rect">
            <a:avLst/>
          </a:prstGeom>
          <a:noFill/>
        </p:spPr>
        <p:txBody>
          <a:bodyPr wrap="square" tIns="54864" bIns="54864" anchor="ctr">
            <a:spAutoFit/>
          </a:bodyPr>
          <a:lstStyle/>
          <a:p>
            <a:pPr algn="l">
              <a:spcAft>
                <a:spcPts val="600"/>
              </a:spcAft>
            </a:pPr>
            <a:r>
              <a:rPr sz="2100" b="1" i="0">
                <a:solidFill>
                  <a:srgbClr val="1F4FE0"/>
                </a:solidFill>
                <a:latin typeface="Trebuchet MS"/>
              </a:rPr>
              <a:t>More apps</a:t>
            </a:r>
            <a:endParaRPr sz="2100"/>
          </a:p>
          <a:p>
            <a:pPr algn="l">
              <a:spcAft>
                <a:spcPts val="0"/>
              </a:spcAft>
            </a:pPr>
            <a:r>
              <a:rPr sz="1900" b="0" i="0">
                <a:solidFill>
                  <a:srgbClr val="10204A"/>
                </a:solidFill>
                <a:latin typeface="Trebuchet MS"/>
              </a:rPr>
              <a:t>Google Calendar, Google Drive and others</a:t>
            </a:r>
            <a:endParaRPr sz="19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Rectangle 1"/>
          <p:cNvSpPr>
            <a:spLocks noChangeArrowheads="1"/>
          </p:cNvSpPr>
          <p:nvPr/>
        </p:nvSpPr>
        <p:spPr bwMode="auto">
          <a:xfrm>
            <a:off x="3048000" y="1581155"/>
            <a:ext cx="7620000" cy="36513"/>
          </a:xfrm>
          <a:prstGeom prst="rect">
            <a:avLst/>
          </a:prstGeom>
          <a:solidFill>
            <a:srgbClr val="33CCCC"/>
          </a:solidFill>
          <a:ln w="9525">
            <a:noFill/>
            <a:miter lim="800000"/>
            <a:headEnd/>
            <a:tailEnd/>
          </a:ln>
        </p:spPr>
        <p:txBody>
          <a:bodyPr wrap="none" anchor="ctr"/>
          <a:lstStyle/>
          <a:p>
            <a:endParaRPr lang="en-US"/>
          </a:p>
        </p:txBody>
      </p:sp>
      <p:sp>
        <p:nvSpPr>
          <p:cNvPr id="3" name="Text Box 34"/>
          <p:cNvSpPr txBox="1">
            <a:spLocks noChangeArrowheads="1"/>
          </p:cNvSpPr>
          <p:nvPr/>
        </p:nvSpPr>
        <p:spPr bwMode="auto">
          <a:xfrm>
            <a:off x="640080" y="922787"/>
            <a:ext cx="10027920" cy="603504"/>
          </a:xfrm>
          <a:prstGeom prst="rect">
            <a:avLst/>
          </a:prstGeom>
          <a:noFill/>
          <a:ln w="9525">
            <a:noFill/>
            <a:miter lim="800000"/>
            <a:headEnd/>
            <a:tailEnd/>
          </a:ln>
        </p:spPr>
        <p:txBody>
          <a:bodyPr wrap="square">
            <a:spAutoFit/>
          </a:bodyPr>
          <a:lstStyle/>
          <a:p>
            <a:pPr marL="342900" lvl="0" indent="-342900" algn="r">
              <a:spcBef>
                <a:spcPts val="0"/>
              </a:spcBef>
              <a:spcAft>
                <a:spcPts val="0"/>
              </a:spcAft>
            </a:pPr>
            <a:r>
              <a:rPr lang="en-US" sz="3200" dirty="0">
                <a:solidFill>
                  <a:srgbClr val="FF0000"/>
                </a:solidFill>
                <a:latin typeface="Trebuchet MS"/>
                <a:ea typeface="Trebuchet MS"/>
                <a:cs typeface="Trebuchet MS"/>
                <a:sym typeface="Trebuchet MS"/>
              </a:rPr>
              <a:t>References</a:t>
            </a:r>
            <a:endParaRPr lang="en-US" sz="2400" dirty="0"/>
          </a:p>
        </p:txBody>
      </p:sp>
      <p:sp>
        <p:nvSpPr>
          <p:cNvPr id="4" name="Rounded Rectangle 3"/>
          <p:cNvSpPr/>
          <p:nvPr/>
        </p:nvSpPr>
        <p:spPr>
          <a:xfrm>
            <a:off x="640080" y="1874519"/>
            <a:ext cx="10908792" cy="4636007"/>
          </a:xfrm>
          <a:prstGeom prst="roundRect">
            <a:avLst>
              <a:gd name="adj" fmla="val 5000"/>
            </a:avLst>
          </a:prstGeom>
          <a:solidFill>
            <a:srgbClr val="FFFFFF">
              <a:alpha val="97000"/>
            </a:srgbClr>
          </a:solidFill>
          <a:ln w="9525">
            <a:solidFill>
              <a:srgbClr val="C5D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956816"/>
            <a:ext cx="10451592" cy="4480559"/>
          </a:xfrm>
          <a:prstGeom prst="rect">
            <a:avLst/>
          </a:prstGeom>
          <a:noFill/>
        </p:spPr>
        <p:txBody>
          <a:bodyPr wrap="square" lIns="73152" tIns="43891" rIns="73152" bIns="43891" anchor="t">
            <a:spAutoFit/>
          </a:bodyPr>
          <a:lstStyle/>
          <a:p>
            <a:pPr algn="l">
              <a:spcAft>
                <a:spcPts val="700"/>
              </a:spcAft>
            </a:pPr>
            <a:r>
              <a:rPr sz="1800" b="0" i="0">
                <a:solidFill>
                  <a:srgbClr val="0033CC"/>
                </a:solidFill>
                <a:latin typeface="Trebuchet MS"/>
              </a:rPr>
              <a:t>[1] N. Reimers and I. Gurevych, "Sentence-BERT: Sentence embeddings using Siamese BERT-networks," in Proc. EMNLP, 2019.</a:t>
            </a:r>
            <a:endParaRPr sz="1800"/>
          </a:p>
          <a:p>
            <a:pPr algn="l">
              <a:spcAft>
                <a:spcPts val="700"/>
              </a:spcAft>
            </a:pPr>
            <a:r>
              <a:rPr sz="1800" b="0" i="0">
                <a:solidFill>
                  <a:srgbClr val="0033CC"/>
                </a:solidFill>
                <a:latin typeface="Trebuchet MS"/>
              </a:rPr>
              <a:t>[2] J. Johnson, M. Douze, and H. Jégou, "Billion-scale similarity search with GPUs," IEEE Trans. Big Data, vol. 7, no. 3, pp. 535–547, 2021.</a:t>
            </a:r>
            <a:endParaRPr sz="1800"/>
          </a:p>
          <a:p>
            <a:pPr algn="l">
              <a:spcAft>
                <a:spcPts val="700"/>
              </a:spcAft>
            </a:pPr>
            <a:r>
              <a:rPr sz="1800" b="0" i="0">
                <a:solidFill>
                  <a:srgbClr val="0033CC"/>
                </a:solidFill>
                <a:latin typeface="Trebuchet MS"/>
              </a:rPr>
              <a:t>[3] G. V. Cormack, C. L. A. Clarke, and S. Büttcher, "Reciprocal rank fusion outperforms Condorcet and individual rank learning methods," in Proc. ACM SIGIR, 2009, pp. 758–759.</a:t>
            </a:r>
            <a:endParaRPr sz="1800"/>
          </a:p>
          <a:p>
            <a:pPr algn="l">
              <a:spcAft>
                <a:spcPts val="700"/>
              </a:spcAft>
            </a:pPr>
            <a:r>
              <a:rPr sz="1800" b="0" i="0">
                <a:solidFill>
                  <a:srgbClr val="0033CC"/>
                </a:solidFill>
                <a:latin typeface="Trebuchet MS"/>
              </a:rPr>
              <a:t>[4] R. Nogueira and K. Cho, "Passage re-ranking with BERT," arXiv:1901.04085, 2019.</a:t>
            </a:r>
            <a:endParaRPr sz="1800"/>
          </a:p>
          <a:p>
            <a:pPr algn="l">
              <a:spcAft>
                <a:spcPts val="700"/>
              </a:spcAft>
            </a:pPr>
            <a:r>
              <a:rPr sz="1800" b="0" i="0">
                <a:solidFill>
                  <a:srgbClr val="0033CC"/>
                </a:solidFill>
                <a:latin typeface="Trebuchet MS"/>
              </a:rPr>
              <a:t>[5] L. Merrick et al., "Arctic-Embed: Scalable, efficient, and accurate text embedding models," arXiv:2405.05374, 2024.</a:t>
            </a:r>
            <a:endParaRPr sz="1800"/>
          </a:p>
          <a:p>
            <a:pPr algn="l">
              <a:spcAft>
                <a:spcPts val="700"/>
              </a:spcAft>
            </a:pPr>
            <a:r>
              <a:rPr sz="1800" b="0" i="0">
                <a:solidFill>
                  <a:srgbClr val="0033CC"/>
                </a:solidFill>
                <a:latin typeface="Trebuchet MS"/>
              </a:rPr>
              <a:t>[6] LangChain and LangGraph Documentation, https://python.langchain.com, 2024.</a:t>
            </a:r>
            <a:endParaRPr sz="1800"/>
          </a:p>
          <a:p>
            <a:pPr algn="l">
              <a:spcAft>
                <a:spcPts val="700"/>
              </a:spcAft>
            </a:pPr>
            <a:r>
              <a:rPr sz="1800" b="0" i="0">
                <a:solidFill>
                  <a:srgbClr val="0033CC"/>
                </a:solidFill>
                <a:latin typeface="Trebuchet MS"/>
              </a:rPr>
              <a:t>[7] M. Kleppmann, A. Wiggins, P. van Hardenberg, and M. McGranaghan, "Local-first software: You own your data, in spite of the cloud," in Proc. ACM Onward!, 2019.</a:t>
            </a:r>
            <a:endParaRPr sz="18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4" name="Rectangle 3"/>
          <p:cNvSpPr/>
          <p:nvPr/>
        </p:nvSpPr>
        <p:spPr>
          <a:xfrm>
            <a:off x="4842708" y="3352800"/>
            <a:ext cx="2506584" cy="707886"/>
          </a:xfrm>
          <a:prstGeom prst="rect">
            <a:avLst/>
          </a:prstGeom>
        </p:spPr>
        <p:txBody>
          <a:bodyPr wrap="none">
            <a:spAutoFit/>
          </a:bodyPr>
          <a:lstStyle/>
          <a:p>
            <a:pPr algn="r"/>
            <a:r>
              <a:rPr lang="en-US" sz="4000" dirty="0">
                <a:solidFill>
                  <a:srgbClr val="FF0000"/>
                </a:solidFill>
                <a:latin typeface="Trebuchet MS" pitchFamily="34" charset="0"/>
              </a:rPr>
              <a:t>Thank You</a:t>
            </a:r>
          </a:p>
        </p:txBody>
      </p:sp>
    </p:spTree>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pstone Project - Review 3 - Template.pptx" id="{77E64785-C4AC-D447-9F20-AA3556BA4DEA}" vid="{211B08FD-A304-1146-A3C3-5229E601B30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Capstone Project - Review 3 - Template (1)</Template>
  <TotalTime>757</TotalTime>
  <Words>4455</Words>
  <Application>Microsoft Office PowerPoint</Application>
  <PresentationFormat>Widescreen</PresentationFormat>
  <Paragraphs>367</Paragraphs>
  <Slides>20</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Arial</vt:lpstr>
      <vt:lpstr>Calibri</vt:lpstr>
      <vt:lpstr>Calibri Light</vt:lpstr>
      <vt:lpstr>Consolas</vt:lpstr>
      <vt:lpstr>Trebuchet MS</vt:lpstr>
      <vt:lpstr>Wingdings</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KTwo Technology Solutions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VML</dc:creator>
  <cp:lastModifiedBy>shehzaad khan</cp:lastModifiedBy>
  <cp:revision>342</cp:revision>
  <dcterms:created xsi:type="dcterms:W3CDTF">2020-11-22T08:14:37Z</dcterms:created>
  <dcterms:modified xsi:type="dcterms:W3CDTF">2026-10-22T18:11:34Z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ReviewCycle">
    <vt:lpwstr/>
  </property>
</Properties>
</file>