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5"/>
  </p:notesMasterIdLst>
  <p:handoutMasterIdLst>
    <p:handoutMasterId r:id="rId16"/>
  </p:handoutMasterIdLst>
  <p:sldIdLst>
    <p:sldId id="538" r:id="rId2"/>
    <p:sldId id="587" r:id="rId21"/>
    <p:sldId id="535" r:id="rId3"/>
    <p:sldId id="569" r:id="rId4"/>
    <p:sldId id="568" r:id="rId5"/>
    <p:sldId id="586" r:id="rId6"/>
    <p:sldId id="588" r:id="rId22"/>
    <p:sldId id="584" r:id="rId7"/>
    <p:sldId id="589" r:id="rId23"/>
    <p:sldId id="590" r:id="rId24"/>
    <p:sldId id="591" r:id="rId25"/>
    <p:sldId id="583" r:id="rId8"/>
    <p:sldId id="581" r:id="rId9"/>
    <p:sldId id="592" r:id="rId26"/>
    <p:sldId id="582" r:id="rId10"/>
    <p:sldId id="593" r:id="rId27"/>
    <p:sldId id="580" r:id="rId11"/>
    <p:sldId id="577" r:id="rId12"/>
    <p:sldId id="579" r:id="rId13"/>
    <p:sldId id="549" r:id="rId14"/>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63" d="100"/>
          <a:sy n="63" d="100"/>
        </p:scale>
        <p:origin x="796" y="56"/>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10/17/2026</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10/17/2026</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Outline exactly as the template asks.</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~45 s. Problem in one line; then capture, recall, reflect. Scope: one user, desktop Chrome, Gmail + Chrome + YouTube. Privacy wording A31.5; chat retention from A26 (store=true, previous_response_id).</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~40 s. Review 1 asked for (1) a retention period — now a user setting, default keep forever; a startup job hard-deletes older items from PostgreSQL, FAISS and Redis (A37). (2) A spam model — Gmail's spam filter is our model; Spam/Trash never read, also in the incremental sync; Promotions and Social stay by choice (A38). (3) Focused presentation. Review 2 asked for a focused demo.</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449A-5201-CC7D-2628-41F5EFD10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19807-78FE-CE28-4D49-3B77EAD73F58}"/>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4158A6CE-3FDF-31EA-638A-292044A8B888}"/>
              </a:ext>
            </a:extLst>
          </p:cNvPr>
          <p:cNvSpPr>
            <a:spLocks noGrp="1"/>
          </p:cNvSpPr>
          <p:nvPr>
            <p:ph type="body" idx="1"/>
          </p:nvPr>
        </p:nvSpPr>
        <p:spPr/>
        <p:txBody>
          <a:bodyPr>
            <a:normAutofit/>
          </a:bodyPr>
          <a:lstStyle/>
          <a:p>
            <a:r>
              <a:t>~60 s. Left to right = the life of one memory. Gmail sync = incremental history.list every 30 s (A5); Chrome and YouTube gates (A39). Storage engine: one transaction per item, dedup on (source, id). Local PostgreSQL 16 + Redis in WSL (A31). ENP = clean, embed, classify; RSE = Luna agent + search_memories tool (A25/A26); WBA = time, sessions, regret, groups, insights. MCP server: Claude Desktop or any MCP client can call search_memories, get_memory, recent_activity over stdio — Echo stays the engine (E1). Only HTTPS to Google (your own data) and OpenAI (question + short snippets; chats kept ~30 days so follow-ups continue via previous_response_id, A26 store=true) leaves the laptop.</a:t>
            </a:r>
          </a:p>
        </p:txBody>
      </p:sp>
      <p:sp>
        <p:nvSpPr>
          <p:cNvPr id="4" name="Slide Number Placeholder 3">
            <a:extLst>
              <a:ext uri="{FF2B5EF4-FFF2-40B4-BE49-F238E27FC236}">
                <a16:creationId xmlns:a16="http://schemas.microsoft.com/office/drawing/2014/main" id="{09E8687F-D3EA-6227-4365-ACA80893300E}"/>
              </a:ext>
            </a:extLst>
          </p:cNvPr>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185242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~45 s. Chrome: Phase 1 = 5 s in focus (records the visit); Phase 2 passes on 10 s, scroll &gt;= 15%, one interaction (link clicks don't count) or a revisit within 24 h (A39). Sensitive pages: 38 words as whole tokens + password / personal-form check (A7); secret URL keys (token, code, state, ...) stripped (A7.3). App pages (Slack, Notion, Jira): title only (A8). YouTube: regular &gt;= 20 s, Shorts &gt;= 10 s, completion &gt;= 10% with &gt;= 5 s watched, revisit check at 5 s (A39, A34); transcript via youtube-transcript-api (A11); watch time = how far you got (A2). Gmail: history.list from the saved historyId, full listing as fallback (A5); drafts skipped; attachments extracted in the background (A4); reading time = email id + seconds for wellbeing (A41). Storage engine: one transaction per item, UNIQUE(source_type, source_id). Pause switch in the extension popup (A33).</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~30 s. 6-19 Oct: every file reviewed with offline simulation tests (fake DB, fake Redis, FastAPI TestClient) and thread-safety tests — e.g. intent gates 22/22 boundary cases. 21-22 Oct: cosine thresholds (quality gate 0.35, Stage-3 centroid, KNN-only) re-measured on local data after the model choice (A39). 22-25 Oct: build with unit + integration checks; code freeze Sun 25 Oct (E2). 26-27 Oct: end-to-end run of all 3 sources, retrieval evaluation set, privacy check, demo rehearsal + video. PLACEHOLDER: the template asks for each member's role in testing — fill in.</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8-minute talk + 8-minute demo + 4 minutes Q&amp;A. Milestone: 100%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empty on purpose: paste the guide's approval mail here (due Fri 23 Oct 2026). Not part of the Review 3 template — delete this slide if not wanted (build_deck_r3.py: INCLUDE_GUIDE_APPROVAL_SLIDE = False).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A25 GPT-5.6 Luna on the Responses API via LangChain (provider still swappable). A26 Luna calls search_memories up to 5 rounds: usually 2, max 6 LLM calls, cap in code; chats continue via previous_response_id (store=true, ~30 days). A27/A28 chat answers with memory pills + live progress. E1 MCP server (search_memories, get_memory, recent_activity over stdio). A31 local PostgreSQL + Redis. A1 per-visit table, A24 stored full-text index over the whole text. A4/A22/A23 attachment text extracted at ingestion (PDF, DOCX, XLSX, PPTX, EML, OCR); only query-matched passages reach the LLM. A7/A9 whole-token sensitive words, form check, secret URL keys stripped, app pages title only. A5 history.list; A38 Spam/Trash never read. Also: A19-A21 typed Stage-4 classifier (Decisions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enp/ runs as a background thread in the backend and picks up new rows every 10 s; it never blocks capture. Clean: HTML to text, quoted replies cut, signatures kept (A12). Build text: short hints first, then the body, cut to the model's 512-token window with its own tokenizer, so what is stored is exactly what was embedded (A16); Chrome headings (A13), attachment text (A4). Model snowflake-arctic-embed-xs, 384-d (A40). Stage 1 structural rules; Stage 2 curated domain map grown from real data (A17); Stage 3 nearest centroid with richer seeds, balanced across sources (A18, A20), recomputed at startup when &gt; 30 days old (A36); Stage 4 OpenAI Decisions API, sees title + 300-char snippet only (A19, A21). system_group never NULL ('misc').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 — the core. Luna (GPT-5.6, reasoning medium, A25) decides WHAT to search; search_memories (query, sources, time_phrase, sender_or_domain) is fixed Python: time_anchor resolves the phrase, PostgreSQL full text + FAISS in parallel, RRF k = 60, rerank 0.8 cross-encoder + 0.2 effort (rse/config.py; the cross-encoder ms-marco-MiniLM-L-6-v2 reads the title + the best-matching 500-char window), same-thread / ±5 min neighbours, numbered short snippets back. Max 5 rounds, then the next call must answer — cap in code (A26). LLM down → plain deterministic search on the raw query. Chats continue via previous_response_id (store=true, OpenAI keeps ~30 days). Answers are chat-style with memory pills (who / where / when); solid = the item says it, dashed = related; pills the search did not return are dropped (A27); live progress while searching (A28). MCP server (E1): search_memories, get_memory, recent_activity over stdio — Claude Desktop uses its own model, Echo stays the engine. The chat on the right is an illustration of the format, not a screenshot.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Time = per-visit dwell summed by local day (A1.1b). Sessions: activity joins one sitting while gaps stay &lt;= 20 min (C24; doc says 5). Regret: mark/unmark any item, patterns by hour and category, at most 2 gentle reminders a day after a &gt;= 15 min session (A39). Weekly insight: the LLM sees aggregated numbers only; wording stays descriptive — no scores, no 'wasted time'. Groups (A42): each item is scored by rules + KNN (mean cosine of the 3 nearest confirmed members; KNN starts at 5 confirmed items, A39, A32). Confident (a rule matches AND KNN &gt;= the bar) → added automatically and still shown in the Sunday review, where one click undoes it. Anything less certain waits as pending for the user's yes. Only items the user confirmed teach KNN. Panel line: 'Echo never decides alone when it is unsure — confident items are added and shown for one-click undo (human-on-the-loop); uncertain ones wait for your yes (human-in-the-loop).' User groups stay independent of system groups (A43).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over to the demo (8 min). 1 Capture: read a fresh article and scroll past 15%; play a video for 20 s; show the new rows in Timeline and the popup pause switch. 2 Enrichment: one ENP cycle (~10 s); the item turns processed with its system group. 3 Recall: ask about the article, then 'Did anyone email me about it?' in the same chat; show live steps and memory pills; click a pill. 4 Wellbeing: Patterns and Reflections; mark one item regretted; accept a group suggestion. Optional: one query from Claude Desktop through the MCP server. Pre-flight: local PostgreSQL + Redis (WSL) running, backend + ENP up, extension loaded in the browser used, one fresh mail in the test inbox. If OpenAI is unreachable, recall falls back to plain search (A26). Revoke the Google token shown on screen after the demo (A35).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Unit: intent gates at every boundary (22/22), URL rules, text cleaning, time phrases. Integration: routes through FastAPI TestClient; connectors with fake Redis / DB. End-to-end: live capture → enrichment → recall on the test account. Performance: query latency, LLM calls per question, embedding speed. Privacy: inspect every LLM payload; sensitive-page probe URLs. Reliability: LLM, Redis or backend down → defined fallback. Drawback example: YouTube's caption endpoint was found empty only by a live probe (A11).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Real numbers from the code review. 6 of 8 test mails lost real body text to the signature heuristic → step removed (A12). Seed centroids fired on 1 of 20 realistic items at the doc's 0.55 cut-off → richer seeds + measured cut-off (A18). Cosine 0.90 for the same topic across sources vs 0.15 for the same source and another topic → centroids learn the topic, balanced per source (A20). The domain map covered 19 of 60 typical student domains → curated map grown from real data (A17). A 1,346-char mail was 261 tokens but the model reads 256, so the sender hint was cut → hints first, model change (A16, A40). Model load 6.1 s → 0.5 s with the offline cache (embedding_generator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PLACEHOLDERS: measure on the local dataset on 26-27 Oct and replace every 'to be measured' (Recall@5 and MRR on the evaluation set; keyword-only vs semantic-only vs RRF + rerank; median and p95 latency; mean LLM calls per question (cap 6); cost per question; enrichment throughput). Do not present estimates as results.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6-19 Oct: every file reviewed (10 review commits: logging, thread safety, dead code, fixes). 18-21 Oct: every open design decision closed (A1-A43; A44/A45 are stretch). 22-25 Oct: decisions built; code freeze Sun 25 Oct. 26-27 Oct: evaluation numbers, end-to-end run, demo video. Wed 28 Oct: Review 3 (8 min talk, 8 min demo, 4 min Q&amp;A).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Future work: chunking long documents into several vectors per item (A24.1); a self-learning domain map — a domain becomes a rule after the classifier agrees N times (A17); importing history from Google Takeout (YouTube) and the Chrome History file, plus an export button (E2). Echo as an MCP server (E1) is now built, not future work. A local LLM is deliberately NOT listed (A31.5). Privacy line: OpenAI keeps chats ~30 days so follow-ups continue (A26 store=true).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[2], [5], [6] are the Review 2 references (shortened venue names). [3] RRF and [4] cross-encoder re-ranking are new: they back the two ranking steps.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questions (4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7" name="Picture 6" descr="PESSAT - All India Online Entrance Exam for Admission to PES University">
            <a:extLst>
              <a:ext uri="{FF2B5EF4-FFF2-40B4-BE49-F238E27FC236}">
                <a16:creationId xmlns:a16="http://schemas.microsoft.com/office/drawing/2014/main" id="{3728FDCA-2BCC-C6D2-944C-DE172626AE8A}"/>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772775" y="339725"/>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2133600" y="914400"/>
            <a:ext cx="7924800" cy="1446550"/>
          </a:xfrm>
          <a:prstGeom prst="rect">
            <a:avLst/>
          </a:prstGeom>
        </p:spPr>
        <p:txBody>
          <a:bodyPr wrap="square">
            <a:spAutoFit/>
          </a:bodyPr>
          <a:lstStyle/>
          <a:p>
            <a:pPr algn="ctr"/>
            <a:r>
              <a:rPr lang="en-US" sz="2800" dirty="0">
                <a:latin typeface="Trebuchet MS" pitchFamily="34" charset="0"/>
              </a:rPr>
              <a:t>UE23CS441A –Project Phase – 3</a:t>
            </a:r>
          </a:p>
          <a:p>
            <a:pPr algn="ctr"/>
            <a:endParaRPr lang="en-US" sz="2800" dirty="0">
              <a:latin typeface="Trebuchet MS" pitchFamily="34" charset="0"/>
            </a:endParaRPr>
          </a:p>
          <a:p>
            <a:pPr algn="ctr"/>
            <a:r>
              <a:rPr lang="en-US" sz="3200" b="1" dirty="0">
                <a:solidFill>
                  <a:srgbClr val="FF0000"/>
                </a:solidFill>
                <a:latin typeface="Trebuchet MS" pitchFamily="34" charset="0"/>
              </a:rPr>
              <a:t>Project Progress Review #3</a:t>
            </a:r>
          </a:p>
        </p:txBody>
      </p:sp>
      <p:sp>
        <p:nvSpPr>
          <p:cNvPr id="3" name="TextBox 2"/>
          <p:cNvSpPr txBox="1"/>
          <p:nvPr/>
        </p:nvSpPr>
        <p:spPr>
          <a:xfrm>
            <a:off x="1188720" y="2487168"/>
            <a:ext cx="2103120" cy="2606040"/>
          </a:xfrm>
          <a:prstGeom prst="rect">
            <a:avLst/>
          </a:prstGeom>
          <a:noFill/>
        </p:spPr>
        <p:txBody>
          <a:bodyPr wrap="square" anchor="t" lIns="73152" rIns="73152" tIns="43891" bIns="43891">
            <a:spAutoFit/>
          </a:bodyPr>
          <a:lstStyle/>
          <a:p>
            <a:pPr algn="l">
              <a:spcAft>
                <a:spcPts val="200"/>
              </a:spcAft>
            </a:pPr>
            <a:r>
              <a:rPr sz="2000" b="0" i="0">
                <a:solidFill>
                  <a:srgbClr val="0033CC"/>
                </a:solidFill>
                <a:latin typeface="Trebuchet MS"/>
              </a:rPr>
              <a:t>Project Title</a:t>
            </a:r>
            <a:endParaRPr sz="2000"/>
          </a:p>
          <a:p>
            <a:pPr algn="l">
              <a:spcAft>
                <a:spcPts val="200"/>
              </a:spcAft>
            </a:pPr>
            <a:r>
              <a:rPr sz="2000" b="0" i="0">
                <a:solidFill>
                  <a:srgbClr val="0033CC"/>
                </a:solidFill>
                <a:latin typeface="Trebuchet MS"/>
              </a:rPr>
              <a:t>Project ID</a:t>
            </a:r>
            <a:endParaRPr sz="2000"/>
          </a:p>
          <a:p>
            <a:pPr algn="l">
              <a:spcAft>
                <a:spcPts val="200"/>
              </a:spcAft>
            </a:pPr>
            <a:r>
              <a:rPr sz="2000" b="0" i="0">
                <a:solidFill>
                  <a:srgbClr val="0033CC"/>
                </a:solidFill>
                <a:latin typeface="Trebuchet MS"/>
              </a:rPr>
              <a:t>Project Guide</a:t>
            </a:r>
            <a:endParaRPr sz="2000"/>
          </a:p>
          <a:p>
            <a:pPr algn="l">
              <a:spcAft>
                <a:spcPts val="200"/>
              </a:spcAft>
            </a:pPr>
            <a:r>
              <a:rPr sz="2000" b="0" i="0">
                <a:solidFill>
                  <a:srgbClr val="0033CC"/>
                </a:solidFill>
                <a:latin typeface="Trebuchet MS"/>
              </a:rPr>
              <a:t>Project Team</a:t>
            </a:r>
            <a:endParaRPr sz="2000"/>
          </a:p>
        </p:txBody>
      </p:sp>
      <p:sp>
        <p:nvSpPr>
          <p:cNvPr id="4" name="TextBox 3"/>
          <p:cNvSpPr txBox="1"/>
          <p:nvPr/>
        </p:nvSpPr>
        <p:spPr>
          <a:xfrm>
            <a:off x="3154680" y="2487168"/>
            <a:ext cx="274320" cy="2606040"/>
          </a:xfrm>
          <a:prstGeom prst="rect">
            <a:avLst/>
          </a:prstGeom>
          <a:noFill/>
        </p:spPr>
        <p:txBody>
          <a:bodyPr wrap="square" anchor="t" lIns="73152" rIns="73152" tIns="43891" bIns="43891">
            <a:spAutoFit/>
          </a:bodyPr>
          <a:lstStyle/>
          <a:p>
            <a:pPr algn="l">
              <a:spcAft>
                <a:spcPts val="200"/>
              </a:spcAft>
            </a:pPr>
            <a:r>
              <a:rPr sz="2000" b="0" i="0">
                <a:solidFill>
                  <a:srgbClr val="0033CC"/>
                </a:solidFill>
                <a:latin typeface="Trebuchet MS"/>
              </a:rPr>
              <a:t>:</a:t>
            </a:r>
            <a:endParaRPr sz="2000"/>
          </a:p>
          <a:p>
            <a:pPr algn="l">
              <a:spcAft>
                <a:spcPts val="200"/>
              </a:spcAft>
            </a:pPr>
            <a:r>
              <a:rPr sz="2000" b="0" i="0">
                <a:solidFill>
                  <a:srgbClr val="0033CC"/>
                </a:solidFill>
                <a:latin typeface="Trebuchet MS"/>
              </a:rPr>
              <a:t>:</a:t>
            </a:r>
            <a:endParaRPr sz="2000"/>
          </a:p>
          <a:p>
            <a:pPr algn="l">
              <a:spcAft>
                <a:spcPts val="200"/>
              </a:spcAft>
            </a:pPr>
            <a:r>
              <a:rPr sz="2000" b="0" i="0">
                <a:solidFill>
                  <a:srgbClr val="0033CC"/>
                </a:solidFill>
                <a:latin typeface="Trebuchet MS"/>
              </a:rPr>
              <a:t>:</a:t>
            </a:r>
            <a:endParaRPr sz="2000"/>
          </a:p>
          <a:p>
            <a:pPr algn="l">
              <a:spcAft>
                <a:spcPts val="200"/>
              </a:spcAft>
            </a:pPr>
            <a:r>
              <a:rPr sz="2000" b="0" i="0">
                <a:solidFill>
                  <a:srgbClr val="0033CC"/>
                </a:solidFill>
                <a:latin typeface="Trebuchet MS"/>
              </a:rPr>
              <a:t>:</a:t>
            </a:r>
            <a:endParaRPr sz="2000"/>
          </a:p>
        </p:txBody>
      </p:sp>
      <p:sp>
        <p:nvSpPr>
          <p:cNvPr id="5" name="TextBox 4"/>
          <p:cNvSpPr txBox="1"/>
          <p:nvPr/>
        </p:nvSpPr>
        <p:spPr>
          <a:xfrm>
            <a:off x="3429000" y="2487168"/>
            <a:ext cx="7863840" cy="2606040"/>
          </a:xfrm>
          <a:prstGeom prst="rect">
            <a:avLst/>
          </a:prstGeom>
          <a:noFill/>
        </p:spPr>
        <p:txBody>
          <a:bodyPr wrap="square" anchor="t" lIns="73152" rIns="73152" tIns="43891" bIns="43891">
            <a:spAutoFit/>
          </a:bodyPr>
          <a:lstStyle/>
          <a:p>
            <a:pPr algn="l">
              <a:spcAft>
                <a:spcPts val="200"/>
              </a:spcAft>
            </a:pPr>
            <a:r>
              <a:rPr sz="2000" b="0" i="0">
                <a:solidFill>
                  <a:srgbClr val="0033CC"/>
                </a:solidFill>
                <a:latin typeface="Trebuchet MS"/>
              </a:rPr>
              <a:t>E.C.H.O. – Efficient Contextualized History Orchestrator</a:t>
            </a:r>
            <a:endParaRPr sz="2000"/>
          </a:p>
          <a:p>
            <a:pPr algn="l">
              <a:spcAft>
                <a:spcPts val="200"/>
              </a:spcAft>
            </a:pPr>
            <a:r>
              <a:rPr sz="2000" b="0" i="0">
                <a:solidFill>
                  <a:srgbClr val="0033CC"/>
                </a:solidFill>
                <a:latin typeface="Trebuchet MS"/>
              </a:rPr>
              <a:t>92</a:t>
            </a:r>
            <a:endParaRPr sz="2000"/>
          </a:p>
          <a:p>
            <a:pPr algn="l">
              <a:spcAft>
                <a:spcPts val="200"/>
              </a:spcAft>
            </a:pPr>
            <a:r>
              <a:rPr sz="2000" b="0" i="0">
                <a:solidFill>
                  <a:srgbClr val="0033CC"/>
                </a:solidFill>
                <a:latin typeface="Trebuchet MS"/>
              </a:rPr>
              <a:t>Dr. M. Shalima Sulthana</a:t>
            </a:r>
            <a:endParaRPr sz="2000"/>
          </a:p>
          <a:p>
            <a:pPr algn="l">
              <a:spcAft>
                <a:spcPts val="200"/>
              </a:spcAft>
            </a:pPr>
            <a:r>
              <a:rPr sz="2000" b="0" i="0">
                <a:solidFill>
                  <a:srgbClr val="0033CC"/>
                </a:solidFill>
                <a:latin typeface="Trebuchet MS"/>
              </a:rPr>
              <a:t>Mrigank Jain — PES2UG23CS352</a:t>
            </a:r>
            <a:endParaRPr sz="2000"/>
          </a:p>
          <a:p>
            <a:pPr algn="l">
              <a:spcAft>
                <a:spcPts val="200"/>
              </a:spcAft>
            </a:pPr>
            <a:r>
              <a:rPr sz="2000" b="0" i="0">
                <a:solidFill>
                  <a:srgbClr val="0033CC"/>
                </a:solidFill>
                <a:latin typeface="Trebuchet MS"/>
              </a:rPr>
              <a:t>Mohammed Mir Fazlai Ali — PES2UG23CS346</a:t>
            </a:r>
            <a:endParaRPr sz="2000"/>
          </a:p>
          <a:p>
            <a:pPr algn="l">
              <a:spcAft>
                <a:spcPts val="200"/>
              </a:spcAft>
            </a:pPr>
            <a:r>
              <a:rPr sz="2000" b="0" i="0">
                <a:solidFill>
                  <a:srgbClr val="0033CC"/>
                </a:solidFill>
                <a:latin typeface="Trebuchet MS"/>
              </a:rPr>
              <a:t>Mohammed Shehzaad Khan — PES2UG23CS349</a:t>
            </a:r>
            <a:endParaRPr sz="2000"/>
          </a:p>
          <a:p>
            <a:pPr algn="l">
              <a:spcAft>
                <a:spcPts val="200"/>
              </a:spcAft>
            </a:pPr>
            <a:r>
              <a:rPr sz="2000" b="0" i="0">
                <a:solidFill>
                  <a:srgbClr val="0033CC"/>
                </a:solidFill>
                <a:latin typeface="Trebuchet MS"/>
              </a:rPr>
              <a:t>Arjun Sai N — PES2UG23CS091</a:t>
            </a:r>
            <a:endParaRPr sz="2000"/>
          </a:p>
        </p:txBody>
      </p:sp>
      <p:sp>
        <p:nvSpPr>
          <p:cNvPr id="6" name="TextBox 5"/>
          <p:cNvSpPr txBox="1"/>
          <p:nvPr/>
        </p:nvSpPr>
        <p:spPr>
          <a:xfrm>
            <a:off x="640080" y="5779008"/>
            <a:ext cx="7680960" cy="566928"/>
          </a:xfrm>
          <a:prstGeom prst="rect">
            <a:avLst/>
          </a:prstGeom>
          <a:noFill/>
        </p:spPr>
        <p:txBody>
          <a:bodyPr wrap="square" anchor="ctr" lIns="73152" rIns="73152" tIns="43891" bIns="43891">
            <a:spAutoFit/>
          </a:bodyPr>
          <a:lstStyle/>
          <a:p>
            <a:pPr algn="l">
              <a:spcAft>
                <a:spcPts val="0"/>
              </a:spcAft>
            </a:pPr>
            <a:r>
              <a:rPr sz="2400" b="1" i="0">
                <a:solidFill>
                  <a:srgbClr val="FFFFFF"/>
                </a:solidFill>
                <a:latin typeface="Trebuchet MS"/>
              </a:rPr>
              <a:t>Your private, searchable memory.</a:t>
            </a:r>
            <a:endParaRPr sz="2400"/>
          </a:p>
        </p:txBody>
      </p:sp>
      <p:sp>
        <p:nvSpPr>
          <p:cNvPr id="7" name="Rounded Rectangle 6"/>
          <p:cNvSpPr/>
          <p:nvPr/>
        </p:nvSpPr>
        <p:spPr>
          <a:xfrm>
            <a:off x="8732520" y="5687568"/>
            <a:ext cx="749808" cy="74980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8833104" y="5857447"/>
            <a:ext cx="548640" cy="410048"/>
          </a:xfrm>
          <a:prstGeom prst="rect">
            <a:avLst/>
          </a:prstGeom>
        </p:spPr>
      </p:pic>
      <p:sp>
        <p:nvSpPr>
          <p:cNvPr id="9" name="Rounded Rectangle 8"/>
          <p:cNvSpPr/>
          <p:nvPr/>
        </p:nvSpPr>
        <p:spPr>
          <a:xfrm>
            <a:off x="9646920" y="5687568"/>
            <a:ext cx="749808" cy="74980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9747504" y="5802666"/>
            <a:ext cx="548640" cy="519611"/>
          </a:xfrm>
          <a:prstGeom prst="rect">
            <a:avLst/>
          </a:prstGeom>
        </p:spPr>
      </p:pic>
      <p:sp>
        <p:nvSpPr>
          <p:cNvPr id="11" name="Rounded Rectangle 10"/>
          <p:cNvSpPr/>
          <p:nvPr/>
        </p:nvSpPr>
        <p:spPr>
          <a:xfrm>
            <a:off x="10561320" y="5687568"/>
            <a:ext cx="749808" cy="74980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tretch>
            <a:fillRect/>
          </a:stretch>
        </p:blipFill>
        <p:spPr>
          <a:xfrm>
            <a:off x="10661904" y="5849043"/>
            <a:ext cx="548640" cy="4268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15" name="Rounded Rectangle 14"/>
          <p:cNvSpPr/>
          <p:nvPr/>
        </p:nvSpPr>
        <p:spPr>
          <a:xfrm>
            <a:off x="1325880" y="1874519"/>
            <a:ext cx="10012680" cy="4480560"/>
          </a:xfrm>
          <a:prstGeom prst="roundRect">
            <a:avLst>
              <a:gd name="adj" fmla="val 5000"/>
            </a:avLst>
          </a:prstGeom>
          <a:solidFill>
            <a:srgbClr val="FFFFFF">
              <a:alpha val="95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600200" y="1828800"/>
            <a:ext cx="9448800" cy="4572000"/>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000" kern="0" dirty="0">
              <a:solidFill>
                <a:srgbClr val="0000FF"/>
              </a:solidFill>
              <a:latin typeface="Trebuchet MS" pitchFamily="34" charset="0"/>
            </a:endParaRP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Abstract and Scope of the Project (1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Suggestions from Review – 1 &amp; 2 (1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Complete pipeline/Architecture of Project (max 2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Implementation Details (for each module) (max 4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Project Demonstration (keep the demo video ready)</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Test Plan and Strategy (max 2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Results and Discussion (max 2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Conclusion and Future Work</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References</a:t>
            </a:r>
          </a:p>
          <a:p>
            <a:pPr marL="685791" lvl="0" indent="-342900" algn="just" eaLnBrk="0" hangingPunct="0">
              <a:spcBef>
                <a:spcPts val="0"/>
              </a:spcBef>
              <a:spcAft>
                <a:spcPts val="0"/>
              </a:spcAft>
              <a:buFont typeface="Wingdings" pitchFamily="2" charset="2"/>
              <a:buChar char="§"/>
              <a:defRPr/>
            </a:pPr>
            <a:endParaRPr lang="en-US" sz="2400" dirty="0">
              <a:solidFill>
                <a:srgbClr val="0033CC"/>
              </a:solidFill>
              <a:latin typeface="Trebuchet MS"/>
              <a:ea typeface="Trebuchet MS"/>
              <a:cs typeface="Trebuchet MS"/>
              <a:sym typeface="Trebuchet MS"/>
            </a:endParaRPr>
          </a:p>
          <a:p>
            <a:pPr marL="685791" indent="-342900" algn="just" eaLnBrk="0" hangingPunct="0">
              <a:spcBef>
                <a:spcPts val="0"/>
              </a:spcBef>
              <a:spcAft>
                <a:spcPts val="0"/>
              </a:spcAft>
              <a:defRPr/>
            </a:pPr>
            <a:endParaRPr lang="en-US" sz="2400" dirty="0">
              <a:solidFill>
                <a:srgbClr val="0033CC"/>
              </a:solidFill>
              <a:latin typeface="Trebuchet MS"/>
              <a:ea typeface="Trebuchet MS"/>
              <a:cs typeface="Trebuchet MS"/>
              <a:sym typeface="Trebuchet MS"/>
            </a:endParaRPr>
          </a:p>
        </p:txBody>
      </p:sp>
      <p:sp>
        <p:nvSpPr>
          <p:cNvPr id="14"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Abstract and Scope</a:t>
            </a:r>
          </a:p>
        </p:txBody>
      </p:sp>
      <p:sp>
        <p:nvSpPr>
          <p:cNvPr id="15" name="Rounded Rectangle 14"/>
          <p:cNvSpPr/>
          <p:nvPr/>
        </p:nvSpPr>
        <p:spPr>
          <a:xfrm>
            <a:off x="640080" y="1874519"/>
            <a:ext cx="10908792" cy="11430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4"/>
          <a:stretch>
            <a:fillRect/>
          </a:stretch>
        </p:blipFill>
        <p:spPr>
          <a:xfrm>
            <a:off x="868680" y="2189739"/>
            <a:ext cx="685800" cy="512560"/>
          </a:xfrm>
          <a:prstGeom prst="rect">
            <a:avLst/>
          </a:prstGeom>
        </p:spPr>
      </p:pic>
      <p:pic>
        <p:nvPicPr>
          <p:cNvPr id="17" name="Picture 16" descr="image.png"/>
          <p:cNvPicPr>
            <a:picLocks noChangeAspect="1"/>
          </p:cNvPicPr>
          <p:nvPr/>
        </p:nvPicPr>
        <p:blipFill>
          <a:blip r:embed="rId5"/>
          <a:stretch>
            <a:fillRect/>
          </a:stretch>
        </p:blipFill>
        <p:spPr>
          <a:xfrm>
            <a:off x="1691640" y="2121262"/>
            <a:ext cx="685800" cy="649514"/>
          </a:xfrm>
          <a:prstGeom prst="rect">
            <a:avLst/>
          </a:prstGeom>
        </p:spPr>
      </p:pic>
      <p:pic>
        <p:nvPicPr>
          <p:cNvPr id="18" name="Picture 17" descr="image.png"/>
          <p:cNvPicPr>
            <a:picLocks noChangeAspect="1"/>
          </p:cNvPicPr>
          <p:nvPr/>
        </p:nvPicPr>
        <p:blipFill>
          <a:blip r:embed="rId6"/>
          <a:stretch>
            <a:fillRect/>
          </a:stretch>
        </p:blipFill>
        <p:spPr>
          <a:xfrm>
            <a:off x="2514600" y="2179234"/>
            <a:ext cx="685800" cy="533570"/>
          </a:xfrm>
          <a:prstGeom prst="rect">
            <a:avLst/>
          </a:prstGeom>
        </p:spPr>
      </p:pic>
      <p:cxnSp>
        <p:nvCxnSpPr>
          <p:cNvPr id="19" name="Connector 18"/>
          <p:cNvCxnSpPr/>
          <p:nvPr/>
        </p:nvCxnSpPr>
        <p:spPr>
          <a:xfrm>
            <a:off x="3429000" y="2441448"/>
            <a:ext cx="502920" cy="0"/>
          </a:xfrm>
          <a:prstGeom prst="line">
            <a:avLst/>
          </a:prstGeom>
          <a:ln w="38100">
            <a:solidFill>
              <a:srgbClr val="0033CC"/>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023360" y="1920240"/>
            <a:ext cx="7434072" cy="1051560"/>
          </a:xfrm>
          <a:prstGeom prst="rect">
            <a:avLst/>
          </a:prstGeom>
          <a:noFill/>
        </p:spPr>
        <p:txBody>
          <a:bodyPr wrap="square" anchor="ctr" lIns="73152" rIns="73152" tIns="43891" bIns="43891">
            <a:spAutoFit/>
          </a:bodyPr>
          <a:lstStyle/>
          <a:p>
            <a:pPr algn="l">
              <a:spcAft>
                <a:spcPts val="400"/>
              </a:spcAft>
            </a:pPr>
            <a:r>
              <a:rPr sz="2200" b="0" i="0">
                <a:solidFill>
                  <a:srgbClr val="10204A"/>
                </a:solidFill>
                <a:latin typeface="Trebuchet MS"/>
              </a:rPr>
              <a:t>You remember </a:t>
            </a:r>
            <a:r>
              <a:rPr sz="2200" b="0" i="1">
                <a:solidFill>
                  <a:srgbClr val="10204A"/>
                </a:solidFill>
                <a:latin typeface="Trebuchet MS"/>
              </a:rPr>
              <a:t>that</a:t>
            </a:r>
            <a:r>
              <a:rPr sz="2200" b="0" i="0">
                <a:solidFill>
                  <a:srgbClr val="10204A"/>
                </a:solidFill>
                <a:latin typeface="Trebuchet MS"/>
              </a:rPr>
              <a:t> you saw it — not </a:t>
            </a:r>
            <a:r>
              <a:rPr sz="2200" b="0" i="1">
                <a:solidFill>
                  <a:srgbClr val="10204A"/>
                </a:solidFill>
                <a:latin typeface="Trebuchet MS"/>
              </a:rPr>
              <a:t>where</a:t>
            </a:r>
            <a:r>
              <a:rPr sz="2200" b="0" i="0">
                <a:solidFill>
                  <a:srgbClr val="10204A"/>
                </a:solidFill>
                <a:latin typeface="Trebuchet MS"/>
              </a:rPr>
              <a:t> or </a:t>
            </a:r>
            <a:r>
              <a:rPr sz="2200" b="0" i="1">
                <a:solidFill>
                  <a:srgbClr val="10204A"/>
                </a:solidFill>
                <a:latin typeface="Trebuchet MS"/>
              </a:rPr>
              <a:t>when</a:t>
            </a:r>
            <a:r>
              <a:rPr sz="2200" b="0" i="0">
                <a:solidFill>
                  <a:srgbClr val="10204A"/>
                </a:solidFill>
                <a:latin typeface="Trebuchet MS"/>
              </a:rPr>
              <a:t>.</a:t>
            </a:r>
            <a:endParaRPr sz="2200"/>
          </a:p>
          <a:p>
            <a:pPr algn="l">
              <a:spcAft>
                <a:spcPts val="0"/>
              </a:spcAft>
            </a:pPr>
            <a:r>
              <a:rPr sz="2200" b="1" i="0">
                <a:solidFill>
                  <a:srgbClr val="0033CC"/>
                </a:solidFill>
                <a:latin typeface="Trebuchet MS"/>
              </a:rPr>
              <a:t>E.C.H.O.: </a:t>
            </a:r>
            <a:r>
              <a:rPr sz="2200" b="0" i="0">
                <a:solidFill>
                  <a:srgbClr val="0033CC"/>
                </a:solidFill>
                <a:latin typeface="Trebuchet MS"/>
              </a:rPr>
              <a:t>one private memory you can ask.</a:t>
            </a:r>
            <a:endParaRPr sz="2200"/>
          </a:p>
        </p:txBody>
      </p:sp>
      <p:sp>
        <p:nvSpPr>
          <p:cNvPr id="21" name="Rounded Rectangle 20"/>
          <p:cNvSpPr/>
          <p:nvPr/>
        </p:nvSpPr>
        <p:spPr>
          <a:xfrm>
            <a:off x="640080" y="3200400"/>
            <a:ext cx="3483864" cy="233172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310128"/>
            <a:ext cx="73152" cy="2112263"/>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236976"/>
            <a:ext cx="3282696" cy="2258568"/>
          </a:xfrm>
          <a:prstGeom prst="rect">
            <a:avLst/>
          </a:prstGeom>
          <a:noFill/>
        </p:spPr>
        <p:txBody>
          <a:bodyPr wrap="square" anchor="t" tIns="54864" bIns="54864">
            <a:spAutoFit/>
          </a:bodyPr>
          <a:lstStyle/>
          <a:p>
            <a:pPr algn="l">
              <a:spcAft>
                <a:spcPts val="600"/>
              </a:spcAft>
            </a:pPr>
            <a:r>
              <a:rPr sz="2600" b="1" i="0">
                <a:solidFill>
                  <a:srgbClr val="0E8C8C"/>
                </a:solidFill>
                <a:latin typeface="Trebuchet MS"/>
              </a:rPr>
              <a:t>Capture</a:t>
            </a:r>
            <a:endParaRPr sz="2600"/>
          </a:p>
          <a:p>
            <a:pPr algn="l">
              <a:spcAft>
                <a:spcPts val="800"/>
              </a:spcAft>
            </a:pPr>
            <a:r>
              <a:rPr sz="2100" b="1" i="0">
                <a:solidFill>
                  <a:srgbClr val="084E4E"/>
                </a:solidFill>
                <a:latin typeface="Trebuchet MS"/>
              </a:rPr>
              <a:t>Only what you engaged with</a:t>
            </a:r>
            <a:endParaRPr sz="2100"/>
          </a:p>
          <a:p>
            <a:pPr algn="l" marL="256032" indent="-256032">
              <a:spcAft>
                <a:spcPts val="600"/>
              </a:spcAft>
              <a:buFont typeface="Arial"/>
              <a:buChar char="•"/>
            </a:pPr>
            <a:r>
              <a:rPr sz="2000" b="0" i="0">
                <a:solidFill>
                  <a:srgbClr val="10204A"/>
                </a:solidFill>
                <a:latin typeface="Trebuchet MS"/>
              </a:rPr>
              <a:t>Intent gate per source</a:t>
            </a:r>
            <a:endParaRPr sz="2000"/>
          </a:p>
          <a:p>
            <a:pPr algn="l" marL="256032" indent="-256032">
              <a:spcAft>
                <a:spcPts val="600"/>
              </a:spcAft>
              <a:buFont typeface="Arial"/>
              <a:buChar char="•"/>
            </a:pPr>
            <a:r>
              <a:rPr sz="2000" b="0" i="0">
                <a:solidFill>
                  <a:srgbClr val="10204A"/>
                </a:solidFill>
                <a:latin typeface="Trebuchet MS"/>
              </a:rPr>
              <a:t>Private pages skipped</a:t>
            </a:r>
            <a:endParaRPr sz="2000"/>
          </a:p>
        </p:txBody>
      </p:sp>
      <p:sp>
        <p:nvSpPr>
          <p:cNvPr id="24" name="Rounded Rectangle 23"/>
          <p:cNvSpPr/>
          <p:nvPr/>
        </p:nvSpPr>
        <p:spPr>
          <a:xfrm>
            <a:off x="4352544" y="3200400"/>
            <a:ext cx="3483864" cy="233172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3310128"/>
            <a:ext cx="73152" cy="2112263"/>
          </a:xfrm>
          <a:prstGeom prst="rect">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3236976"/>
            <a:ext cx="3282696" cy="2258568"/>
          </a:xfrm>
          <a:prstGeom prst="rect">
            <a:avLst/>
          </a:prstGeom>
          <a:noFill/>
        </p:spPr>
        <p:txBody>
          <a:bodyPr wrap="square" anchor="t" tIns="54864" bIns="54864">
            <a:spAutoFit/>
          </a:bodyPr>
          <a:lstStyle/>
          <a:p>
            <a:pPr algn="l">
              <a:spcAft>
                <a:spcPts val="600"/>
              </a:spcAft>
            </a:pPr>
            <a:r>
              <a:rPr sz="2600" b="1" i="0">
                <a:solidFill>
                  <a:srgbClr val="1F4FE0"/>
                </a:solidFill>
                <a:latin typeface="Trebuchet MS"/>
              </a:rPr>
              <a:t>Recall</a:t>
            </a:r>
            <a:endParaRPr sz="2600"/>
          </a:p>
          <a:p>
            <a:pPr algn="l">
              <a:spcAft>
                <a:spcPts val="800"/>
              </a:spcAft>
            </a:pPr>
            <a:r>
              <a:rPr sz="2100" b="1" i="0">
                <a:solidFill>
                  <a:srgbClr val="0B2272"/>
                </a:solidFill>
                <a:latin typeface="Trebuchet MS"/>
              </a:rPr>
              <a:t>Ask like a chat</a:t>
            </a:r>
            <a:endParaRPr sz="2100"/>
          </a:p>
          <a:p>
            <a:pPr algn="l" marL="256032" indent="-256032">
              <a:spcAft>
                <a:spcPts val="600"/>
              </a:spcAft>
              <a:buFont typeface="Arial"/>
              <a:buChar char="•"/>
            </a:pPr>
            <a:r>
              <a:rPr sz="2000" b="0" i="0">
                <a:solidFill>
                  <a:srgbClr val="10204A"/>
                </a:solidFill>
                <a:latin typeface="Trebuchet MS"/>
              </a:rPr>
              <a:t>Follow-up questions</a:t>
            </a:r>
            <a:endParaRPr sz="2000"/>
          </a:p>
          <a:p>
            <a:pPr algn="l" marL="256032" indent="-256032">
              <a:spcAft>
                <a:spcPts val="600"/>
              </a:spcAft>
              <a:buFont typeface="Arial"/>
              <a:buChar char="•"/>
            </a:pPr>
            <a:r>
              <a:rPr sz="2000" b="0" i="0">
                <a:solidFill>
                  <a:srgbClr val="10204A"/>
                </a:solidFill>
                <a:latin typeface="Trebuchet MS"/>
              </a:rPr>
              <a:t>Answers link to the memory</a:t>
            </a:r>
            <a:endParaRPr sz="2000"/>
          </a:p>
        </p:txBody>
      </p:sp>
      <p:sp>
        <p:nvSpPr>
          <p:cNvPr id="27" name="Rounded Rectangle 26"/>
          <p:cNvSpPr/>
          <p:nvPr/>
        </p:nvSpPr>
        <p:spPr>
          <a:xfrm>
            <a:off x="8065008" y="3200400"/>
            <a:ext cx="3483864" cy="233172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65008" y="3310128"/>
            <a:ext cx="73152" cy="2112263"/>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236976"/>
            <a:ext cx="3282696" cy="2258568"/>
          </a:xfrm>
          <a:prstGeom prst="rect">
            <a:avLst/>
          </a:prstGeom>
          <a:noFill/>
        </p:spPr>
        <p:txBody>
          <a:bodyPr wrap="square" anchor="t" tIns="54864" bIns="54864">
            <a:spAutoFit/>
          </a:bodyPr>
          <a:lstStyle/>
          <a:p>
            <a:pPr algn="l">
              <a:spcAft>
                <a:spcPts val="600"/>
              </a:spcAft>
            </a:pPr>
            <a:r>
              <a:rPr sz="2600" b="1" i="0">
                <a:solidFill>
                  <a:srgbClr val="1F8A4C"/>
                </a:solidFill>
                <a:latin typeface="Trebuchet MS"/>
              </a:rPr>
              <a:t>Reflect</a:t>
            </a:r>
            <a:endParaRPr sz="2600"/>
          </a:p>
          <a:p>
            <a:pPr algn="l">
              <a:spcAft>
                <a:spcPts val="800"/>
              </a:spcAft>
            </a:pPr>
            <a:r>
              <a:rPr sz="2100" b="1" i="0">
                <a:solidFill>
                  <a:srgbClr val="0F4D2A"/>
                </a:solidFill>
                <a:latin typeface="Trebuchet MS"/>
              </a:rPr>
              <a:t>Your time, no judgement</a:t>
            </a:r>
            <a:endParaRPr sz="2100"/>
          </a:p>
          <a:p>
            <a:pPr algn="l" marL="256032" indent="-256032">
              <a:spcAft>
                <a:spcPts val="600"/>
              </a:spcAft>
              <a:buFont typeface="Arial"/>
              <a:buChar char="•"/>
            </a:pPr>
            <a:r>
              <a:rPr sz="2000" b="0" i="0">
                <a:solidFill>
                  <a:srgbClr val="10204A"/>
                </a:solidFill>
                <a:latin typeface="Trebuchet MS"/>
              </a:rPr>
              <a:t>Patterns and sessions</a:t>
            </a:r>
            <a:endParaRPr sz="2000"/>
          </a:p>
          <a:p>
            <a:pPr algn="l" marL="256032" indent="-256032">
              <a:spcAft>
                <a:spcPts val="600"/>
              </a:spcAft>
              <a:buFont typeface="Arial"/>
              <a:buChar char="•"/>
            </a:pPr>
            <a:r>
              <a:rPr sz="2000" b="0" i="0">
                <a:solidFill>
                  <a:srgbClr val="10204A"/>
                </a:solidFill>
                <a:latin typeface="Trebuchet MS"/>
              </a:rPr>
              <a:t>Groups you control</a:t>
            </a:r>
            <a:endParaRPr sz="2000"/>
          </a:p>
        </p:txBody>
      </p:sp>
      <p:sp>
        <p:nvSpPr>
          <p:cNvPr id="30" name="Rounded Rectangle 29"/>
          <p:cNvSpPr/>
          <p:nvPr/>
        </p:nvSpPr>
        <p:spPr>
          <a:xfrm>
            <a:off x="640080" y="5696712"/>
            <a:ext cx="10908792" cy="813816"/>
          </a:xfrm>
          <a:prstGeom prst="roundRect">
            <a:avLst>
              <a:gd name="adj" fmla="val 15000"/>
            </a:avLst>
          </a:prstGeom>
          <a:solidFill>
            <a:srgbClr val="FFFFFF">
              <a:alpha val="9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0"/>
              </a:spcAft>
            </a:pPr>
            <a:r>
              <a:rPr sz="2000" b="1" i="0">
                <a:solidFill>
                  <a:srgbClr val="10204A"/>
                </a:solidFill>
                <a:latin typeface="Trebuchet MS"/>
              </a:rPr>
              <a:t>Local-first: </a:t>
            </a:r>
            <a:r>
              <a:rPr sz="2000" b="0" i="0">
                <a:solidFill>
                  <a:srgbClr val="10204A"/>
                </a:solidFill>
                <a:latin typeface="Trebuchet MS"/>
              </a:rPr>
              <a:t>storage and processing on your laptop. The LLM sees only the question and short snippets (OpenAI keeps chats ~30 days so follow-ups continue).</a:t>
            </a:r>
            <a:endParaRPr sz="2000"/>
          </a:p>
        </p:txBody>
      </p:sp>
    </p:spTree>
    <p:extLst>
      <p:ext uri="{BB962C8B-B14F-4D97-AF65-F5344CB8AC3E}">
        <p14:creationId xmlns:p14="http://schemas.microsoft.com/office/powerpoint/2010/main" val="381103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Suggestions from Review – 1 &amp; 2</a:t>
            </a:r>
          </a:p>
        </p:txBody>
      </p:sp>
      <p:sp>
        <p:nvSpPr>
          <p:cNvPr id="15" name="Rectangle 14"/>
          <p:cNvSpPr/>
          <p:nvPr/>
        </p:nvSpPr>
        <p:spPr>
          <a:xfrm>
            <a:off x="640080" y="1874519"/>
            <a:ext cx="1417320" cy="502920"/>
          </a:xfrm>
          <a:prstGeom prst="rect">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400"/>
              </a:spcAft>
            </a:pPr>
            <a:r>
              <a:rPr sz="2000" b="1" i="0">
                <a:solidFill>
                  <a:srgbClr val="FFFFFF"/>
                </a:solidFill>
                <a:latin typeface="Trebuchet MS"/>
              </a:rPr>
              <a:t>Review</a:t>
            </a:r>
            <a:endParaRPr sz="2000"/>
          </a:p>
        </p:txBody>
      </p:sp>
      <p:sp>
        <p:nvSpPr>
          <p:cNvPr id="16" name="Rectangle 15"/>
          <p:cNvSpPr/>
          <p:nvPr/>
        </p:nvSpPr>
        <p:spPr>
          <a:xfrm>
            <a:off x="2057400" y="1874519"/>
            <a:ext cx="2514600" cy="502920"/>
          </a:xfrm>
          <a:prstGeom prst="rect">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400"/>
              </a:spcAft>
            </a:pPr>
            <a:r>
              <a:rPr sz="2000" b="1" i="0">
                <a:solidFill>
                  <a:srgbClr val="FFFFFF"/>
                </a:solidFill>
                <a:latin typeface="Trebuchet MS"/>
              </a:rPr>
              <a:t>Suggestion</a:t>
            </a:r>
            <a:endParaRPr sz="2000"/>
          </a:p>
        </p:txBody>
      </p:sp>
      <p:sp>
        <p:nvSpPr>
          <p:cNvPr id="17" name="Rectangle 16"/>
          <p:cNvSpPr/>
          <p:nvPr/>
        </p:nvSpPr>
        <p:spPr>
          <a:xfrm>
            <a:off x="4572000" y="1874519"/>
            <a:ext cx="5349240" cy="502920"/>
          </a:xfrm>
          <a:prstGeom prst="rect">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400"/>
              </a:spcAft>
            </a:pPr>
            <a:r>
              <a:rPr sz="2000" b="1" i="0">
                <a:solidFill>
                  <a:srgbClr val="FFFFFF"/>
                </a:solidFill>
                <a:latin typeface="Trebuchet MS"/>
              </a:rPr>
              <a:t>Our response</a:t>
            </a:r>
            <a:endParaRPr sz="2000"/>
          </a:p>
        </p:txBody>
      </p:sp>
      <p:sp>
        <p:nvSpPr>
          <p:cNvPr id="18" name="Rectangle 17"/>
          <p:cNvSpPr/>
          <p:nvPr/>
        </p:nvSpPr>
        <p:spPr>
          <a:xfrm>
            <a:off x="9921240" y="1874519"/>
            <a:ext cx="1627632" cy="502920"/>
          </a:xfrm>
          <a:prstGeom prst="rect">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400"/>
              </a:spcAft>
            </a:pPr>
            <a:r>
              <a:rPr sz="2000" b="1" i="0">
                <a:solidFill>
                  <a:srgbClr val="FFFFFF"/>
                </a:solidFill>
                <a:latin typeface="Trebuchet MS"/>
              </a:rPr>
              <a:t>Status</a:t>
            </a:r>
            <a:endParaRPr sz="2000"/>
          </a:p>
        </p:txBody>
      </p:sp>
      <p:sp>
        <p:nvSpPr>
          <p:cNvPr id="19" name="Rounded Rectangle 18"/>
          <p:cNvSpPr/>
          <p:nvPr/>
        </p:nvSpPr>
        <p:spPr>
          <a:xfrm>
            <a:off x="640080" y="2468879"/>
            <a:ext cx="10908792" cy="941832"/>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9808" y="2711196"/>
            <a:ext cx="1197864" cy="457200"/>
          </a:xfrm>
          <a:prstGeom prst="roundRect">
            <a:avLst>
              <a:gd name="adj" fmla="val 50000"/>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Review 1</a:t>
            </a:r>
            <a:endParaRPr sz="1800"/>
          </a:p>
        </p:txBody>
      </p:sp>
      <p:sp>
        <p:nvSpPr>
          <p:cNvPr id="21" name="TextBox 20"/>
          <p:cNvSpPr txBox="1"/>
          <p:nvPr/>
        </p:nvSpPr>
        <p:spPr>
          <a:xfrm>
            <a:off x="2057400" y="2468879"/>
            <a:ext cx="2514600" cy="941832"/>
          </a:xfrm>
          <a:prstGeom prst="rect">
            <a:avLst/>
          </a:prstGeom>
          <a:noFill/>
        </p:spPr>
        <p:txBody>
          <a:bodyPr wrap="square" anchor="ctr" lIns="109728" rIns="109728" tIns="65836" bIns="65836">
            <a:spAutoFit/>
          </a:bodyPr>
          <a:lstStyle/>
          <a:p>
            <a:pPr algn="l">
              <a:spcAft>
                <a:spcPts val="0"/>
              </a:spcAft>
            </a:pPr>
            <a:r>
              <a:rPr sz="2100" b="1" i="0">
                <a:solidFill>
                  <a:srgbClr val="10204A"/>
                </a:solidFill>
                <a:latin typeface="Trebuchet MS"/>
              </a:rPr>
              <a:t>Data retention</a:t>
            </a:r>
            <a:endParaRPr sz="2100"/>
          </a:p>
        </p:txBody>
      </p:sp>
      <p:sp>
        <p:nvSpPr>
          <p:cNvPr id="22" name="TextBox 21"/>
          <p:cNvSpPr txBox="1"/>
          <p:nvPr/>
        </p:nvSpPr>
        <p:spPr>
          <a:xfrm>
            <a:off x="4572000" y="2468879"/>
            <a:ext cx="5349240" cy="941832"/>
          </a:xfrm>
          <a:prstGeom prst="rect">
            <a:avLst/>
          </a:prstGeom>
          <a:noFill/>
        </p:spPr>
        <p:txBody>
          <a:bodyPr wrap="square" anchor="ctr" lIns="109728" rIns="109728" tIns="65836" bIns="65836">
            <a:spAutoFit/>
          </a:bodyPr>
          <a:lstStyle/>
          <a:p>
            <a:pPr algn="l">
              <a:spcAft>
                <a:spcPts val="0"/>
              </a:spcAft>
            </a:pPr>
            <a:r>
              <a:rPr sz="2000" b="0" i="0">
                <a:solidFill>
                  <a:srgbClr val="10204A"/>
                </a:solidFill>
                <a:latin typeface="Trebuchet MS"/>
              </a:rPr>
              <a:t>Setting: keep forever, 1 year or 6 months; older items deleted</a:t>
            </a:r>
            <a:endParaRPr sz="2000"/>
          </a:p>
        </p:txBody>
      </p:sp>
      <p:sp>
        <p:nvSpPr>
          <p:cNvPr id="23" name="Rounded Rectangle 22"/>
          <p:cNvSpPr/>
          <p:nvPr/>
        </p:nvSpPr>
        <p:spPr>
          <a:xfrm>
            <a:off x="10012680" y="2555748"/>
            <a:ext cx="1444752" cy="420624"/>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24" name="TextBox 23"/>
          <p:cNvSpPr txBox="1"/>
          <p:nvPr/>
        </p:nvSpPr>
        <p:spPr>
          <a:xfrm>
            <a:off x="9921240" y="2994660"/>
            <a:ext cx="1627632" cy="347472"/>
          </a:xfrm>
          <a:prstGeom prst="rect">
            <a:avLst/>
          </a:prstGeom>
          <a:noFill/>
        </p:spPr>
        <p:txBody>
          <a:bodyPr wrap="square" anchor="t" lIns="18288" rIns="18288" tIns="10972" bIns="10972">
            <a:spAutoFit/>
          </a:bodyPr>
          <a:lstStyle/>
          <a:p>
            <a:pPr algn="ctr">
              <a:spcAft>
                <a:spcPts val="0"/>
              </a:spcAft>
            </a:pPr>
            <a:r>
              <a:rPr sz="1800" b="0" i="0">
                <a:solidFill>
                  <a:srgbClr val="455068"/>
                </a:solidFill>
                <a:latin typeface="Trebuchet MS"/>
              </a:rPr>
              <a:t>A37</a:t>
            </a:r>
            <a:endParaRPr sz="1800"/>
          </a:p>
        </p:txBody>
      </p:sp>
      <p:sp>
        <p:nvSpPr>
          <p:cNvPr id="25" name="Rounded Rectangle 24"/>
          <p:cNvSpPr/>
          <p:nvPr/>
        </p:nvSpPr>
        <p:spPr>
          <a:xfrm>
            <a:off x="640080" y="3502152"/>
            <a:ext cx="10908792" cy="941832"/>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8" y="3744468"/>
            <a:ext cx="1197864" cy="457200"/>
          </a:xfrm>
          <a:prstGeom prst="roundRect">
            <a:avLst>
              <a:gd name="adj" fmla="val 50000"/>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Review 1</a:t>
            </a:r>
            <a:endParaRPr sz="1800"/>
          </a:p>
        </p:txBody>
      </p:sp>
      <p:sp>
        <p:nvSpPr>
          <p:cNvPr id="27" name="TextBox 26"/>
          <p:cNvSpPr txBox="1"/>
          <p:nvPr/>
        </p:nvSpPr>
        <p:spPr>
          <a:xfrm>
            <a:off x="2057400" y="3502152"/>
            <a:ext cx="2514600" cy="941832"/>
          </a:xfrm>
          <a:prstGeom prst="rect">
            <a:avLst/>
          </a:prstGeom>
          <a:noFill/>
        </p:spPr>
        <p:txBody>
          <a:bodyPr wrap="square" anchor="ctr" lIns="109728" rIns="109728" tIns="65836" bIns="65836">
            <a:spAutoFit/>
          </a:bodyPr>
          <a:lstStyle/>
          <a:p>
            <a:pPr algn="l">
              <a:spcAft>
                <a:spcPts val="0"/>
              </a:spcAft>
            </a:pPr>
            <a:r>
              <a:rPr sz="2100" b="1" i="0">
                <a:solidFill>
                  <a:srgbClr val="10204A"/>
                </a:solidFill>
                <a:latin typeface="Trebuchet MS"/>
              </a:rPr>
              <a:t>Spam filtering</a:t>
            </a:r>
            <a:endParaRPr sz="2100"/>
          </a:p>
        </p:txBody>
      </p:sp>
      <p:sp>
        <p:nvSpPr>
          <p:cNvPr id="28" name="TextBox 27"/>
          <p:cNvSpPr txBox="1"/>
          <p:nvPr/>
        </p:nvSpPr>
        <p:spPr>
          <a:xfrm>
            <a:off x="4572000" y="3502152"/>
            <a:ext cx="5349240" cy="941832"/>
          </a:xfrm>
          <a:prstGeom prst="rect">
            <a:avLst/>
          </a:prstGeom>
          <a:noFill/>
        </p:spPr>
        <p:txBody>
          <a:bodyPr wrap="square" anchor="ctr" lIns="109728" rIns="109728" tIns="65836" bIns="65836">
            <a:spAutoFit/>
          </a:bodyPr>
          <a:lstStyle/>
          <a:p>
            <a:pPr algn="l">
              <a:spcAft>
                <a:spcPts val="0"/>
              </a:spcAft>
            </a:pPr>
            <a:r>
              <a:rPr sz="2000" b="0" i="0">
                <a:solidFill>
                  <a:srgbClr val="10204A"/>
                </a:solidFill>
                <a:latin typeface="Trebuchet MS"/>
              </a:rPr>
              <a:t>Gmail's own filter: Spam and Trash are never read</a:t>
            </a:r>
            <a:endParaRPr sz="2000"/>
          </a:p>
        </p:txBody>
      </p:sp>
      <p:sp>
        <p:nvSpPr>
          <p:cNvPr id="29" name="Rounded Rectangle 28"/>
          <p:cNvSpPr/>
          <p:nvPr/>
        </p:nvSpPr>
        <p:spPr>
          <a:xfrm>
            <a:off x="10012680" y="3589020"/>
            <a:ext cx="1444752" cy="420624"/>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30" name="TextBox 29"/>
          <p:cNvSpPr txBox="1"/>
          <p:nvPr/>
        </p:nvSpPr>
        <p:spPr>
          <a:xfrm>
            <a:off x="9921240" y="4027931"/>
            <a:ext cx="1627632" cy="347472"/>
          </a:xfrm>
          <a:prstGeom prst="rect">
            <a:avLst/>
          </a:prstGeom>
          <a:noFill/>
        </p:spPr>
        <p:txBody>
          <a:bodyPr wrap="square" anchor="t" lIns="18288" rIns="18288" tIns="10972" bIns="10972">
            <a:spAutoFit/>
          </a:bodyPr>
          <a:lstStyle/>
          <a:p>
            <a:pPr algn="ctr">
              <a:spcAft>
                <a:spcPts val="0"/>
              </a:spcAft>
            </a:pPr>
            <a:r>
              <a:rPr sz="1800" b="0" i="0">
                <a:solidFill>
                  <a:srgbClr val="455068"/>
                </a:solidFill>
                <a:latin typeface="Trebuchet MS"/>
              </a:rPr>
              <a:t>A38</a:t>
            </a:r>
            <a:endParaRPr sz="1800"/>
          </a:p>
        </p:txBody>
      </p:sp>
      <p:sp>
        <p:nvSpPr>
          <p:cNvPr id="31" name="Rounded Rectangle 30"/>
          <p:cNvSpPr/>
          <p:nvPr/>
        </p:nvSpPr>
        <p:spPr>
          <a:xfrm>
            <a:off x="640080" y="4535424"/>
            <a:ext cx="10908792" cy="941832"/>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9808" y="4777740"/>
            <a:ext cx="1197864" cy="457200"/>
          </a:xfrm>
          <a:prstGeom prst="roundRect">
            <a:avLst>
              <a:gd name="adj" fmla="val 50000"/>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Review 1</a:t>
            </a:r>
            <a:endParaRPr sz="1800"/>
          </a:p>
        </p:txBody>
      </p:sp>
      <p:sp>
        <p:nvSpPr>
          <p:cNvPr id="33" name="TextBox 32"/>
          <p:cNvSpPr txBox="1"/>
          <p:nvPr/>
        </p:nvSpPr>
        <p:spPr>
          <a:xfrm>
            <a:off x="2057400" y="4535424"/>
            <a:ext cx="2514600" cy="941832"/>
          </a:xfrm>
          <a:prstGeom prst="rect">
            <a:avLst/>
          </a:prstGeom>
          <a:noFill/>
        </p:spPr>
        <p:txBody>
          <a:bodyPr wrap="square" anchor="ctr" lIns="109728" rIns="109728" tIns="65836" bIns="65836">
            <a:spAutoFit/>
          </a:bodyPr>
          <a:lstStyle/>
          <a:p>
            <a:pPr algn="l">
              <a:spcAft>
                <a:spcPts val="0"/>
              </a:spcAft>
            </a:pPr>
            <a:r>
              <a:rPr sz="2100" b="1" i="0">
                <a:solidFill>
                  <a:srgbClr val="10204A"/>
                </a:solidFill>
                <a:latin typeface="Trebuchet MS"/>
              </a:rPr>
              <a:t>Focused talk</a:t>
            </a:r>
            <a:endParaRPr sz="2100"/>
          </a:p>
        </p:txBody>
      </p:sp>
      <p:sp>
        <p:nvSpPr>
          <p:cNvPr id="34" name="TextBox 33"/>
          <p:cNvSpPr txBox="1"/>
          <p:nvPr/>
        </p:nvSpPr>
        <p:spPr>
          <a:xfrm>
            <a:off x="4572000" y="4535424"/>
            <a:ext cx="5349240" cy="941832"/>
          </a:xfrm>
          <a:prstGeom prst="rect">
            <a:avLst/>
          </a:prstGeom>
          <a:noFill/>
        </p:spPr>
        <p:txBody>
          <a:bodyPr wrap="square" anchor="ctr" lIns="109728" rIns="109728" tIns="65836" bIns="65836">
            <a:spAutoFit/>
          </a:bodyPr>
          <a:lstStyle/>
          <a:p>
            <a:pPr algn="l">
              <a:spcAft>
                <a:spcPts val="0"/>
              </a:spcAft>
            </a:pPr>
            <a:r>
              <a:rPr sz="2000" b="0" i="0">
                <a:solidFill>
                  <a:srgbClr val="10204A"/>
                </a:solidFill>
                <a:latin typeface="Trebuchet MS"/>
              </a:rPr>
              <a:t>One idea per slide, large text, native diagrams</a:t>
            </a:r>
            <a:endParaRPr sz="2000"/>
          </a:p>
        </p:txBody>
      </p:sp>
      <p:sp>
        <p:nvSpPr>
          <p:cNvPr id="35" name="Rounded Rectangle 34"/>
          <p:cNvSpPr/>
          <p:nvPr/>
        </p:nvSpPr>
        <p:spPr>
          <a:xfrm>
            <a:off x="10012680" y="4622292"/>
            <a:ext cx="1444752" cy="420624"/>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36" name="TextBox 35"/>
          <p:cNvSpPr txBox="1"/>
          <p:nvPr/>
        </p:nvSpPr>
        <p:spPr>
          <a:xfrm>
            <a:off x="9921240" y="5061203"/>
            <a:ext cx="1627632" cy="347472"/>
          </a:xfrm>
          <a:prstGeom prst="rect">
            <a:avLst/>
          </a:prstGeom>
          <a:noFill/>
        </p:spPr>
        <p:txBody>
          <a:bodyPr wrap="square" anchor="t" lIns="18288" rIns="18288" tIns="10972" bIns="10972">
            <a:spAutoFit/>
          </a:bodyPr>
          <a:lstStyle/>
          <a:p>
            <a:pPr algn="ctr">
              <a:spcAft>
                <a:spcPts val="0"/>
              </a:spcAft>
            </a:pPr>
            <a:r>
              <a:rPr sz="1800" b="0" i="0">
                <a:solidFill>
                  <a:srgbClr val="455068"/>
                </a:solidFill>
                <a:latin typeface="Trebuchet MS"/>
              </a:rPr>
              <a:t>—</a:t>
            </a:r>
            <a:endParaRPr sz="1800"/>
          </a:p>
        </p:txBody>
      </p:sp>
      <p:sp>
        <p:nvSpPr>
          <p:cNvPr id="37" name="Rounded Rectangle 36"/>
          <p:cNvSpPr/>
          <p:nvPr/>
        </p:nvSpPr>
        <p:spPr>
          <a:xfrm>
            <a:off x="640080" y="5568696"/>
            <a:ext cx="10908792" cy="941832"/>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49808" y="5811012"/>
            <a:ext cx="1197864" cy="457200"/>
          </a:xfrm>
          <a:prstGeom prst="roundRect">
            <a:avLst>
              <a:gd name="adj" fmla="val 50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Review 2</a:t>
            </a:r>
            <a:endParaRPr sz="1800"/>
          </a:p>
        </p:txBody>
      </p:sp>
      <p:sp>
        <p:nvSpPr>
          <p:cNvPr id="39" name="TextBox 38"/>
          <p:cNvSpPr txBox="1"/>
          <p:nvPr/>
        </p:nvSpPr>
        <p:spPr>
          <a:xfrm>
            <a:off x="2057400" y="5568696"/>
            <a:ext cx="2514600" cy="941832"/>
          </a:xfrm>
          <a:prstGeom prst="rect">
            <a:avLst/>
          </a:prstGeom>
          <a:noFill/>
        </p:spPr>
        <p:txBody>
          <a:bodyPr wrap="square" anchor="ctr" lIns="109728" rIns="109728" tIns="65836" bIns="65836">
            <a:spAutoFit/>
          </a:bodyPr>
          <a:lstStyle/>
          <a:p>
            <a:pPr algn="l">
              <a:spcAft>
                <a:spcPts val="0"/>
              </a:spcAft>
            </a:pPr>
            <a:r>
              <a:rPr sz="2100" b="1" i="0">
                <a:solidFill>
                  <a:srgbClr val="10204A"/>
                </a:solidFill>
                <a:latin typeface="Trebuchet MS"/>
              </a:rPr>
              <a:t>Focused demo</a:t>
            </a:r>
            <a:endParaRPr sz="2100"/>
          </a:p>
        </p:txBody>
      </p:sp>
      <p:sp>
        <p:nvSpPr>
          <p:cNvPr id="40" name="TextBox 39"/>
          <p:cNvSpPr txBox="1"/>
          <p:nvPr/>
        </p:nvSpPr>
        <p:spPr>
          <a:xfrm>
            <a:off x="4572000" y="5568696"/>
            <a:ext cx="5349240" cy="941832"/>
          </a:xfrm>
          <a:prstGeom prst="rect">
            <a:avLst/>
          </a:prstGeom>
          <a:noFill/>
        </p:spPr>
        <p:txBody>
          <a:bodyPr wrap="square" anchor="ctr" lIns="109728" rIns="109728" tIns="65836" bIns="65836">
            <a:spAutoFit/>
          </a:bodyPr>
          <a:lstStyle/>
          <a:p>
            <a:pPr algn="l">
              <a:spcAft>
                <a:spcPts val="0"/>
              </a:spcAft>
            </a:pPr>
            <a:r>
              <a:rPr sz="2000" b="0" i="0">
                <a:solidFill>
                  <a:srgbClr val="10204A"/>
                </a:solidFill>
                <a:latin typeface="Trebuchet MS"/>
              </a:rPr>
              <a:t>One scripted 8-minute path; demo video as backup</a:t>
            </a:r>
            <a:endParaRPr sz="2000"/>
          </a:p>
        </p:txBody>
      </p:sp>
      <p:sp>
        <p:nvSpPr>
          <p:cNvPr id="41" name="Rounded Rectangle 40"/>
          <p:cNvSpPr/>
          <p:nvPr/>
        </p:nvSpPr>
        <p:spPr>
          <a:xfrm>
            <a:off x="10012680" y="5655564"/>
            <a:ext cx="1444752" cy="420624"/>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42" name="TextBox 41"/>
          <p:cNvSpPr txBox="1"/>
          <p:nvPr/>
        </p:nvSpPr>
        <p:spPr>
          <a:xfrm>
            <a:off x="9921240" y="6094475"/>
            <a:ext cx="1627632" cy="347472"/>
          </a:xfrm>
          <a:prstGeom prst="rect">
            <a:avLst/>
          </a:prstGeom>
          <a:noFill/>
        </p:spPr>
        <p:txBody>
          <a:bodyPr wrap="square" anchor="t" lIns="18288" rIns="18288" tIns="10972" bIns="10972">
            <a:spAutoFit/>
          </a:bodyPr>
          <a:lstStyle/>
          <a:p>
            <a:pPr algn="ctr">
              <a:spcAft>
                <a:spcPts val="0"/>
              </a:spcAft>
            </a:pPr>
            <a:r>
              <a:rPr sz="1800" b="0" i="0">
                <a:solidFill>
                  <a:srgbClr val="455068"/>
                </a:solidFill>
                <a:latin typeface="Trebuchet MS"/>
              </a:rPr>
              <a:t>Demo</a:t>
            </a:r>
            <a:endParaRPr sz="1800"/>
          </a:p>
        </p:txBody>
      </p:sp>
    </p:spTree>
    <p:extLst>
      <p:ext uri="{BB962C8B-B14F-4D97-AF65-F5344CB8AC3E}">
        <p14:creationId xmlns:p14="http://schemas.microsoft.com/office/powerpoint/2010/main" val="420536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048C8ED5-E723-136E-FDC0-3A00501398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8AE750B-D869-952A-66FD-67A61F4ACA7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BF8CE69B-69B8-0295-A31E-C148A00B4E16}"/>
              </a:ext>
            </a:extLst>
          </p:cNvPr>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Complete Pipeline / Architecture of Project</a:t>
            </a:r>
          </a:p>
        </p:txBody>
      </p:sp>
      <p:sp>
        <p:nvSpPr>
          <p:cNvPr id="15" name="Rounded Rectangle 14"/>
          <p:cNvSpPr/>
          <p:nvPr/>
        </p:nvSpPr>
        <p:spPr>
          <a:xfrm>
            <a:off x="1783080" y="1865376"/>
            <a:ext cx="9765792" cy="3694176"/>
          </a:xfrm>
          <a:prstGeom prst="roundRect">
            <a:avLst>
              <a:gd name="adj" fmla="val 3000"/>
            </a:avLst>
          </a:prstGeom>
          <a:solidFill>
            <a:srgbClr val="FFFFFF">
              <a:alpha val="96000"/>
            </a:srgbClr>
          </a:solidFill>
          <a:ln w="22225">
            <a:solidFill>
              <a:srgbClr val="0033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0240" y="1892807"/>
            <a:ext cx="7315200" cy="384048"/>
          </a:xfrm>
          <a:prstGeom prst="rect">
            <a:avLst/>
          </a:prstGeom>
          <a:noFill/>
        </p:spPr>
        <p:txBody>
          <a:bodyPr wrap="square" anchor="t" lIns="18288" rIns="18288" tIns="10972" bIns="10972">
            <a:spAutoFit/>
          </a:bodyPr>
          <a:lstStyle/>
          <a:p>
            <a:pPr algn="l">
              <a:spcAft>
                <a:spcPts val="400"/>
              </a:spcAft>
            </a:pPr>
            <a:r>
              <a:rPr sz="2000" b="1" i="0">
                <a:solidFill>
                  <a:srgbClr val="0033CC"/>
                </a:solidFill>
                <a:latin typeface="Trebuchet MS"/>
              </a:rPr>
              <a:t>YOUR LAPTOP — everything stays local</a:t>
            </a:r>
            <a:endParaRPr sz="2000"/>
          </a:p>
        </p:txBody>
      </p:sp>
      <p:sp>
        <p:nvSpPr>
          <p:cNvPr id="17" name="TextBox 16"/>
          <p:cNvSpPr txBox="1"/>
          <p:nvPr/>
        </p:nvSpPr>
        <p:spPr>
          <a:xfrm>
            <a:off x="1828800" y="2276856"/>
            <a:ext cx="1801368" cy="365760"/>
          </a:xfrm>
          <a:prstGeom prst="rect">
            <a:avLst/>
          </a:prstGeom>
          <a:noFill/>
        </p:spPr>
        <p:txBody>
          <a:bodyPr wrap="square" anchor="t" lIns="0" rIns="0" tIns="0" bIns="0">
            <a:spAutoFit/>
          </a:bodyPr>
          <a:lstStyle/>
          <a:p>
            <a:pPr algn="ctr">
              <a:spcAft>
                <a:spcPts val="0"/>
              </a:spcAft>
            </a:pPr>
            <a:r>
              <a:rPr sz="1800" b="1" i="0">
                <a:solidFill>
                  <a:srgbClr val="084E4E"/>
                </a:solidFill>
                <a:latin typeface="Trebuchet MS"/>
              </a:rPr>
              <a:t>Capture</a:t>
            </a:r>
            <a:endParaRPr sz="1800"/>
          </a:p>
        </p:txBody>
      </p:sp>
      <p:sp>
        <p:nvSpPr>
          <p:cNvPr id="18" name="TextBox 17"/>
          <p:cNvSpPr txBox="1"/>
          <p:nvPr/>
        </p:nvSpPr>
        <p:spPr>
          <a:xfrm>
            <a:off x="3794760" y="2276856"/>
            <a:ext cx="1801368" cy="365760"/>
          </a:xfrm>
          <a:prstGeom prst="rect">
            <a:avLst/>
          </a:prstGeom>
          <a:noFill/>
        </p:spPr>
        <p:txBody>
          <a:bodyPr wrap="square" anchor="t" lIns="0" rIns="0" tIns="0" bIns="0">
            <a:spAutoFit/>
          </a:bodyPr>
          <a:lstStyle/>
          <a:p>
            <a:pPr algn="ctr">
              <a:spcAft>
                <a:spcPts val="0"/>
              </a:spcAft>
            </a:pPr>
            <a:r>
              <a:rPr sz="1800" b="1" i="0">
                <a:solidFill>
                  <a:srgbClr val="1E263A"/>
                </a:solidFill>
                <a:latin typeface="Trebuchet MS"/>
              </a:rPr>
              <a:t>API</a:t>
            </a:r>
            <a:endParaRPr sz="1800"/>
          </a:p>
        </p:txBody>
      </p:sp>
      <p:sp>
        <p:nvSpPr>
          <p:cNvPr id="19" name="TextBox 18"/>
          <p:cNvSpPr txBox="1"/>
          <p:nvPr/>
        </p:nvSpPr>
        <p:spPr>
          <a:xfrm>
            <a:off x="5760720" y="2276856"/>
            <a:ext cx="1801368" cy="365760"/>
          </a:xfrm>
          <a:prstGeom prst="rect">
            <a:avLst/>
          </a:prstGeom>
          <a:noFill/>
        </p:spPr>
        <p:txBody>
          <a:bodyPr wrap="square" anchor="t" lIns="0" rIns="0" tIns="0" bIns="0">
            <a:spAutoFit/>
          </a:bodyPr>
          <a:lstStyle/>
          <a:p>
            <a:pPr algn="ctr">
              <a:spcAft>
                <a:spcPts val="0"/>
              </a:spcAft>
            </a:pPr>
            <a:r>
              <a:rPr sz="1800" b="1" i="0">
                <a:solidFill>
                  <a:srgbClr val="1E263A"/>
                </a:solidFill>
                <a:latin typeface="Trebuchet MS"/>
              </a:rPr>
              <a:t>Local data</a:t>
            </a:r>
            <a:endParaRPr sz="1800"/>
          </a:p>
        </p:txBody>
      </p:sp>
      <p:sp>
        <p:nvSpPr>
          <p:cNvPr id="20" name="TextBox 19"/>
          <p:cNvSpPr txBox="1"/>
          <p:nvPr/>
        </p:nvSpPr>
        <p:spPr>
          <a:xfrm>
            <a:off x="7726679" y="2276856"/>
            <a:ext cx="1801368" cy="365760"/>
          </a:xfrm>
          <a:prstGeom prst="rect">
            <a:avLst/>
          </a:prstGeom>
          <a:noFill/>
        </p:spPr>
        <p:txBody>
          <a:bodyPr wrap="square" anchor="t" lIns="0" rIns="0" tIns="0" bIns="0">
            <a:spAutoFit/>
          </a:bodyPr>
          <a:lstStyle/>
          <a:p>
            <a:pPr algn="ctr">
              <a:spcAft>
                <a:spcPts val="0"/>
              </a:spcAft>
            </a:pPr>
            <a:r>
              <a:rPr sz="1800" b="1" i="0">
                <a:solidFill>
                  <a:srgbClr val="0B2272"/>
                </a:solidFill>
                <a:latin typeface="Trebuchet MS"/>
              </a:rPr>
              <a:t>Processing</a:t>
            </a:r>
            <a:endParaRPr sz="1800"/>
          </a:p>
        </p:txBody>
      </p:sp>
      <p:sp>
        <p:nvSpPr>
          <p:cNvPr id="21" name="TextBox 20"/>
          <p:cNvSpPr txBox="1"/>
          <p:nvPr/>
        </p:nvSpPr>
        <p:spPr>
          <a:xfrm>
            <a:off x="9692640" y="2276856"/>
            <a:ext cx="1801368" cy="365760"/>
          </a:xfrm>
          <a:prstGeom prst="rect">
            <a:avLst/>
          </a:prstGeom>
          <a:noFill/>
        </p:spPr>
        <p:txBody>
          <a:bodyPr wrap="square" anchor="t" lIns="0" rIns="0" tIns="0" bIns="0">
            <a:spAutoFit/>
          </a:bodyPr>
          <a:lstStyle/>
          <a:p>
            <a:pPr algn="ctr">
              <a:spcAft>
                <a:spcPts val="0"/>
              </a:spcAft>
            </a:pPr>
            <a:r>
              <a:rPr sz="1800" b="1" i="0">
                <a:solidFill>
                  <a:srgbClr val="0B2272"/>
                </a:solidFill>
                <a:latin typeface="Trebuchet MS"/>
              </a:rPr>
              <a:t>Interface</a:t>
            </a:r>
            <a:endParaRPr sz="1800"/>
          </a:p>
        </p:txBody>
      </p:sp>
      <p:sp>
        <p:nvSpPr>
          <p:cNvPr id="22" name="Rounded Rectangle 21"/>
          <p:cNvSpPr/>
          <p:nvPr/>
        </p:nvSpPr>
        <p:spPr>
          <a:xfrm>
            <a:off x="685800" y="2697480"/>
            <a:ext cx="960120" cy="804672"/>
          </a:xfrm>
          <a:prstGeom prst="roundRect">
            <a:avLst>
              <a:gd name="adj" fmla="val 12000"/>
            </a:avLst>
          </a:prstGeom>
          <a:solidFill>
            <a:srgbClr val="FFFFFF"/>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841247" y="2867455"/>
            <a:ext cx="621792" cy="464721"/>
          </a:xfrm>
          <a:prstGeom prst="rect">
            <a:avLst/>
          </a:prstGeom>
        </p:spPr>
      </p:pic>
      <p:sp>
        <p:nvSpPr>
          <p:cNvPr id="24" name="Rounded Rectangle 23"/>
          <p:cNvSpPr/>
          <p:nvPr/>
        </p:nvSpPr>
        <p:spPr>
          <a:xfrm>
            <a:off x="685800" y="3639312"/>
            <a:ext cx="960120" cy="804672"/>
          </a:xfrm>
          <a:prstGeom prst="roundRect">
            <a:avLst>
              <a:gd name="adj" fmla="val 12000"/>
            </a:avLst>
          </a:prstGeom>
          <a:solidFill>
            <a:srgbClr val="FFFFFF"/>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841247" y="3747201"/>
            <a:ext cx="621792" cy="588892"/>
          </a:xfrm>
          <a:prstGeom prst="rect">
            <a:avLst/>
          </a:prstGeom>
        </p:spPr>
      </p:pic>
      <p:sp>
        <p:nvSpPr>
          <p:cNvPr id="26" name="Rounded Rectangle 25"/>
          <p:cNvSpPr/>
          <p:nvPr/>
        </p:nvSpPr>
        <p:spPr>
          <a:xfrm>
            <a:off x="685800" y="4581144"/>
            <a:ext cx="960120" cy="804672"/>
          </a:xfrm>
          <a:prstGeom prst="roundRect">
            <a:avLst>
              <a:gd name="adj" fmla="val 12000"/>
            </a:avLst>
          </a:prstGeom>
          <a:solidFill>
            <a:srgbClr val="FFFFFF"/>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841247" y="4741594"/>
            <a:ext cx="621792" cy="483770"/>
          </a:xfrm>
          <a:prstGeom prst="rect">
            <a:avLst/>
          </a:prstGeom>
        </p:spPr>
      </p:pic>
      <p:sp>
        <p:nvSpPr>
          <p:cNvPr id="28" name="Rounded Rectangle 27"/>
          <p:cNvSpPr/>
          <p:nvPr/>
        </p:nvSpPr>
        <p:spPr>
          <a:xfrm>
            <a:off x="1920240" y="2697480"/>
            <a:ext cx="1618488" cy="804672"/>
          </a:xfrm>
          <a:prstGeom prst="roundRect">
            <a:avLst>
              <a:gd name="adj" fmla="val 12000"/>
            </a:avLst>
          </a:prstGeom>
          <a:solidFill>
            <a:srgbClr val="E3F6F6"/>
          </a:solidFill>
          <a:ln w="25400">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84E4E"/>
                </a:solidFill>
                <a:latin typeface="Trebuchet MS"/>
              </a:rPr>
              <a:t>Gmail sync</a:t>
            </a:r>
            <a:endParaRPr sz="1900"/>
          </a:p>
        </p:txBody>
      </p:sp>
      <p:cxnSp>
        <p:nvCxnSpPr>
          <p:cNvPr id="29" name="Connector 28"/>
          <p:cNvCxnSpPr/>
          <p:nvPr/>
        </p:nvCxnSpPr>
        <p:spPr>
          <a:xfrm>
            <a:off x="1664208" y="3099816"/>
            <a:ext cx="237744"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920240" y="3639312"/>
            <a:ext cx="1618488" cy="804672"/>
          </a:xfrm>
          <a:prstGeom prst="roundRect">
            <a:avLst>
              <a:gd name="adj" fmla="val 12000"/>
            </a:avLst>
          </a:prstGeom>
          <a:solidFill>
            <a:srgbClr val="E3F6F6"/>
          </a:solidFill>
          <a:ln w="25400">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84E4E"/>
                </a:solidFill>
                <a:latin typeface="Trebuchet MS"/>
              </a:rPr>
              <a:t>Chrome gate</a:t>
            </a:r>
            <a:endParaRPr sz="1900"/>
          </a:p>
        </p:txBody>
      </p:sp>
      <p:cxnSp>
        <p:nvCxnSpPr>
          <p:cNvPr id="31" name="Connector 30"/>
          <p:cNvCxnSpPr/>
          <p:nvPr/>
        </p:nvCxnSpPr>
        <p:spPr>
          <a:xfrm>
            <a:off x="1664208" y="4041648"/>
            <a:ext cx="237744"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920240" y="4581144"/>
            <a:ext cx="1618488" cy="804672"/>
          </a:xfrm>
          <a:prstGeom prst="roundRect">
            <a:avLst>
              <a:gd name="adj" fmla="val 12000"/>
            </a:avLst>
          </a:prstGeom>
          <a:solidFill>
            <a:srgbClr val="E3F6F6"/>
          </a:solidFill>
          <a:ln w="25400">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84E4E"/>
                </a:solidFill>
                <a:latin typeface="Trebuchet MS"/>
              </a:rPr>
              <a:t>YouTube gate</a:t>
            </a:r>
            <a:endParaRPr sz="1900"/>
          </a:p>
        </p:txBody>
      </p:sp>
      <p:cxnSp>
        <p:nvCxnSpPr>
          <p:cNvPr id="33" name="Connector 32"/>
          <p:cNvCxnSpPr/>
          <p:nvPr/>
        </p:nvCxnSpPr>
        <p:spPr>
          <a:xfrm>
            <a:off x="1664208" y="4983480"/>
            <a:ext cx="237744"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886200" y="2697480"/>
            <a:ext cx="1618488" cy="804672"/>
          </a:xfrm>
          <a:prstGeom prst="roundRect">
            <a:avLst>
              <a:gd name="adj" fmla="val 12000"/>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1E263A"/>
                </a:solidFill>
                <a:latin typeface="Trebuchet MS"/>
              </a:rPr>
              <a:t>FastAPI</a:t>
            </a:r>
            <a:endParaRPr sz="1900"/>
          </a:p>
        </p:txBody>
      </p:sp>
      <p:sp>
        <p:nvSpPr>
          <p:cNvPr id="35" name="Rounded Rectangle 34"/>
          <p:cNvSpPr/>
          <p:nvPr/>
        </p:nvSpPr>
        <p:spPr>
          <a:xfrm>
            <a:off x="3886200" y="4069080"/>
            <a:ext cx="1618488" cy="1005840"/>
          </a:xfrm>
          <a:prstGeom prst="roundRect">
            <a:avLst>
              <a:gd name="adj" fmla="val 12000"/>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1E263A"/>
                </a:solidFill>
                <a:latin typeface="Trebuchet MS"/>
              </a:rPr>
              <a:t>Storage engine</a:t>
            </a:r>
            <a:endParaRPr sz="1900"/>
          </a:p>
        </p:txBody>
      </p:sp>
      <p:cxnSp>
        <p:nvCxnSpPr>
          <p:cNvPr id="36" name="Connector 35"/>
          <p:cNvCxnSpPr/>
          <p:nvPr/>
        </p:nvCxnSpPr>
        <p:spPr>
          <a:xfrm>
            <a:off x="3557016" y="3099816"/>
            <a:ext cx="310896"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557016" y="3099816"/>
            <a:ext cx="310896" cy="941832"/>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557016" y="3099816"/>
            <a:ext cx="310896" cy="1883664"/>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695444" y="3520440"/>
            <a:ext cx="0" cy="530351"/>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40" name="Can 39"/>
          <p:cNvSpPr/>
          <p:nvPr/>
        </p:nvSpPr>
        <p:spPr>
          <a:xfrm>
            <a:off x="5852160" y="2697480"/>
            <a:ext cx="1618488" cy="804672"/>
          </a:xfrm>
          <a:prstGeom prst="can">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1E263A"/>
                </a:solidFill>
                <a:latin typeface="Trebuchet MS"/>
              </a:rPr>
              <a:t>PostgreSQL</a:t>
            </a:r>
            <a:endParaRPr sz="1900"/>
          </a:p>
        </p:txBody>
      </p:sp>
      <p:sp>
        <p:nvSpPr>
          <p:cNvPr id="41" name="Can 40"/>
          <p:cNvSpPr/>
          <p:nvPr/>
        </p:nvSpPr>
        <p:spPr>
          <a:xfrm>
            <a:off x="5852160" y="3639312"/>
            <a:ext cx="1618488" cy="804672"/>
          </a:xfrm>
          <a:prstGeom prst="can">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1E263A"/>
                </a:solidFill>
                <a:latin typeface="Trebuchet MS"/>
              </a:rPr>
              <a:t>FAISS</a:t>
            </a:r>
            <a:endParaRPr sz="1900"/>
          </a:p>
        </p:txBody>
      </p:sp>
      <p:sp>
        <p:nvSpPr>
          <p:cNvPr id="42" name="Can 41"/>
          <p:cNvSpPr/>
          <p:nvPr/>
        </p:nvSpPr>
        <p:spPr>
          <a:xfrm>
            <a:off x="5852160" y="4581144"/>
            <a:ext cx="1618488" cy="804672"/>
          </a:xfrm>
          <a:prstGeom prst="can">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1E263A"/>
                </a:solidFill>
                <a:latin typeface="Trebuchet MS"/>
              </a:rPr>
              <a:t>Redis</a:t>
            </a:r>
            <a:endParaRPr sz="1900"/>
          </a:p>
        </p:txBody>
      </p:sp>
      <p:cxnSp>
        <p:nvCxnSpPr>
          <p:cNvPr id="43" name="Connector 42"/>
          <p:cNvCxnSpPr/>
          <p:nvPr/>
        </p:nvCxnSpPr>
        <p:spPr>
          <a:xfrm flipV="1">
            <a:off x="5522975" y="3099816"/>
            <a:ext cx="310897" cy="1472184"/>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22975" y="4572000"/>
            <a:ext cx="310897" cy="41148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818119" y="2697480"/>
            <a:ext cx="1618488" cy="804672"/>
          </a:xfrm>
          <a:prstGeom prst="roundRect">
            <a:avLst>
              <a:gd name="adj" fmla="val 12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2D1F66"/>
                </a:solidFill>
                <a:latin typeface="Trebuchet MS"/>
              </a:rPr>
              <a:t>ENP enrich</a:t>
            </a:r>
            <a:endParaRPr sz="1900"/>
          </a:p>
        </p:txBody>
      </p:sp>
      <p:sp>
        <p:nvSpPr>
          <p:cNvPr id="46" name="Rounded Rectangle 45"/>
          <p:cNvSpPr/>
          <p:nvPr/>
        </p:nvSpPr>
        <p:spPr>
          <a:xfrm>
            <a:off x="7818119" y="3639312"/>
            <a:ext cx="1618488" cy="804672"/>
          </a:xfrm>
          <a:prstGeom prst="roundRect">
            <a:avLst>
              <a:gd name="adj" fmla="val 12000"/>
            </a:avLst>
          </a:prstGeom>
          <a:solidFill>
            <a:srgbClr val="E6EDFF"/>
          </a:solidFill>
          <a:ln w="25400">
            <a:solidFill>
              <a:srgbClr val="1F4F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B2272"/>
                </a:solidFill>
                <a:latin typeface="Trebuchet MS"/>
              </a:rPr>
              <a:t>RSE recall</a:t>
            </a:r>
            <a:endParaRPr sz="1900"/>
          </a:p>
        </p:txBody>
      </p:sp>
      <p:sp>
        <p:nvSpPr>
          <p:cNvPr id="47" name="Rounded Rectangle 46"/>
          <p:cNvSpPr/>
          <p:nvPr/>
        </p:nvSpPr>
        <p:spPr>
          <a:xfrm>
            <a:off x="7818119" y="4581144"/>
            <a:ext cx="1618488" cy="804672"/>
          </a:xfrm>
          <a:prstGeom prst="roundRect">
            <a:avLst>
              <a:gd name="adj" fmla="val 12000"/>
            </a:avLst>
          </a:prstGeom>
          <a:solidFill>
            <a:srgbClr val="E6F5EC"/>
          </a:solidFill>
          <a:ln w="25400">
            <a:solidFill>
              <a:srgbClr val="1F8A4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F4D2A"/>
                </a:solidFill>
                <a:latin typeface="Trebuchet MS"/>
              </a:rPr>
              <a:t>WBA wellbeing</a:t>
            </a:r>
            <a:endParaRPr sz="1900"/>
          </a:p>
        </p:txBody>
      </p:sp>
      <p:cxnSp>
        <p:nvCxnSpPr>
          <p:cNvPr id="48" name="Connector 47"/>
          <p:cNvCxnSpPr/>
          <p:nvPr/>
        </p:nvCxnSpPr>
        <p:spPr>
          <a:xfrm>
            <a:off x="7488936" y="3099816"/>
            <a:ext cx="310895"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88936" y="4041648"/>
            <a:ext cx="310895"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88936" y="3341217"/>
            <a:ext cx="310895" cy="1642263"/>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784080" y="2697480"/>
            <a:ext cx="1618488" cy="804672"/>
          </a:xfrm>
          <a:prstGeom prst="roundRect">
            <a:avLst>
              <a:gd name="adj" fmla="val 12000"/>
            </a:avLst>
          </a:prstGeom>
          <a:solidFill>
            <a:srgbClr val="E6EDFF"/>
          </a:solidFill>
          <a:ln w="25400">
            <a:solidFill>
              <a:srgbClr val="1F4F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B2272"/>
                </a:solidFill>
                <a:latin typeface="Trebuchet MS"/>
              </a:rPr>
              <a:t>Dashboard</a:t>
            </a:r>
            <a:endParaRPr sz="1900"/>
          </a:p>
        </p:txBody>
      </p:sp>
      <p:sp>
        <p:nvSpPr>
          <p:cNvPr id="52" name="Rounded Rectangle 51"/>
          <p:cNvSpPr/>
          <p:nvPr/>
        </p:nvSpPr>
        <p:spPr>
          <a:xfrm>
            <a:off x="9784080" y="3639312"/>
            <a:ext cx="1618488" cy="804672"/>
          </a:xfrm>
          <a:prstGeom prst="roundRect">
            <a:avLst>
              <a:gd name="adj" fmla="val 12000"/>
            </a:avLst>
          </a:prstGeom>
          <a:solidFill>
            <a:srgbClr val="E3F6F6"/>
          </a:solidFill>
          <a:ln w="25400">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84E4E"/>
                </a:solidFill>
                <a:latin typeface="Trebuchet MS"/>
              </a:rPr>
              <a:t>Popup: pause</a:t>
            </a:r>
            <a:endParaRPr sz="1900"/>
          </a:p>
        </p:txBody>
      </p:sp>
      <p:sp>
        <p:nvSpPr>
          <p:cNvPr id="53" name="Rounded Rectangle 52"/>
          <p:cNvSpPr/>
          <p:nvPr/>
        </p:nvSpPr>
        <p:spPr>
          <a:xfrm>
            <a:off x="9784080" y="4581144"/>
            <a:ext cx="1618488" cy="804672"/>
          </a:xfrm>
          <a:prstGeom prst="roundRect">
            <a:avLst>
              <a:gd name="adj" fmla="val 12000"/>
            </a:avLst>
          </a:prstGeom>
          <a:solidFill>
            <a:srgbClr val="E6EDFF"/>
          </a:solidFill>
          <a:ln w="25400">
            <a:solidFill>
              <a:srgbClr val="1F4F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1900" b="1" i="0">
                <a:solidFill>
                  <a:srgbClr val="0B2272"/>
                </a:solidFill>
                <a:latin typeface="Trebuchet MS"/>
              </a:rPr>
              <a:t>MCP server</a:t>
            </a:r>
            <a:endParaRPr sz="1900"/>
          </a:p>
        </p:txBody>
      </p:sp>
      <p:cxnSp>
        <p:nvCxnSpPr>
          <p:cNvPr id="54" name="Connector 53"/>
          <p:cNvCxnSpPr/>
          <p:nvPr/>
        </p:nvCxnSpPr>
        <p:spPr>
          <a:xfrm flipV="1">
            <a:off x="9454895" y="3099816"/>
            <a:ext cx="310897" cy="941832"/>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454895" y="4041648"/>
            <a:ext cx="310897" cy="941832"/>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9454895" y="3341217"/>
            <a:ext cx="310897" cy="1642263"/>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640080" y="5705856"/>
            <a:ext cx="4617720" cy="804671"/>
          </a:xfrm>
          <a:prstGeom prst="roundRect">
            <a:avLst>
              <a:gd name="adj" fmla="val 20000"/>
            </a:avLst>
          </a:prstGeom>
          <a:solidFill>
            <a:srgbClr val="FFFFFF"/>
          </a:solidFill>
          <a:ln w="19050">
            <a:solidFill>
              <a:srgbClr val="4A55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spcAft>
                <a:spcPts val="0"/>
              </a:spcAft>
            </a:pPr>
            <a:r>
              <a:rPr sz="2000" b="1" i="0">
                <a:solidFill>
                  <a:srgbClr val="1E263A"/>
                </a:solidFill>
                <a:latin typeface="Trebuchet MS"/>
              </a:rPr>
              <a:t>Google APIs → </a:t>
            </a:r>
            <a:r>
              <a:rPr sz="2000" b="0" i="0">
                <a:solidFill>
                  <a:srgbClr val="1E263A"/>
                </a:solidFill>
                <a:latin typeface="Trebuchet MS"/>
              </a:rPr>
              <a:t>your own mail and video details</a:t>
            </a:r>
            <a:endParaRPr sz="2000"/>
          </a:p>
        </p:txBody>
      </p:sp>
      <p:sp>
        <p:nvSpPr>
          <p:cNvPr id="58" name="Rounded Rectangle 57"/>
          <p:cNvSpPr/>
          <p:nvPr/>
        </p:nvSpPr>
        <p:spPr>
          <a:xfrm>
            <a:off x="5440680" y="5705856"/>
            <a:ext cx="6108192" cy="804671"/>
          </a:xfrm>
          <a:prstGeom prst="roundRect">
            <a:avLst>
              <a:gd name="adj" fmla="val 20000"/>
            </a:avLst>
          </a:prstGeom>
          <a:solidFill>
            <a:srgbClr val="FFF1EE"/>
          </a:solidFill>
          <a:ln w="19050">
            <a:solidFill>
              <a:srgbClr val="E030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spcAft>
                <a:spcPts val="0"/>
              </a:spcAft>
            </a:pPr>
            <a:r>
              <a:rPr sz="2000" b="1" i="0">
                <a:solidFill>
                  <a:srgbClr val="7A1A10"/>
                </a:solidFill>
                <a:latin typeface="Trebuchet MS"/>
              </a:rPr>
              <a:t>OpenAI Luna ← </a:t>
            </a:r>
            <a:r>
              <a:rPr sz="2000" b="0" i="0">
                <a:solidFill>
                  <a:srgbClr val="7A1A10"/>
                </a:solidFill>
                <a:latin typeface="Trebuchet MS"/>
              </a:rPr>
              <a:t>question + short snippets only; chats kept ~30 days</a:t>
            </a:r>
            <a:endParaRPr sz="2000"/>
          </a:p>
        </p:txBody>
      </p:sp>
      <p:cxnSp>
        <p:nvCxnSpPr>
          <p:cNvPr id="59" name="Connector 58"/>
          <p:cNvCxnSpPr/>
          <p:nvPr/>
        </p:nvCxnSpPr>
        <p:spPr>
          <a:xfrm>
            <a:off x="8627363" y="5568696"/>
            <a:ext cx="0" cy="118872"/>
          </a:xfrm>
          <a:prstGeom prst="line">
            <a:avLst/>
          </a:prstGeom>
          <a:ln w="28575">
            <a:solidFill>
              <a:srgbClr val="E0301E"/>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729484" y="5568696"/>
            <a:ext cx="0" cy="118872"/>
          </a:xfrm>
          <a:prstGeom prst="line">
            <a:avLst/>
          </a:prstGeom>
          <a:ln w="28575">
            <a:solidFill>
              <a:srgbClr val="4A556E"/>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882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3200" dirty="0">
                <a:solidFill>
                  <a:srgbClr val="FF0000"/>
                </a:solidFill>
                <a:latin typeface="Trebuchet MS"/>
                <a:ea typeface="Trebuchet MS"/>
                <a:cs typeface="Trebuchet MS"/>
                <a:sym typeface="Trebuchet MS"/>
              </a:rPr>
              <a:t>Implementation – Capture &amp; Intent Gates</a:t>
            </a:r>
            <a:endParaRPr lang="en-US" dirty="0">
              <a:solidFill>
                <a:schemeClr val="dk1"/>
              </a:solidFill>
              <a:latin typeface="Arial"/>
              <a:ea typeface="Arial"/>
              <a:cs typeface="Arial"/>
              <a:sym typeface="Arial"/>
            </a:endParaRPr>
          </a:p>
        </p:txBody>
      </p:sp>
      <p:sp>
        <p:nvSpPr>
          <p:cNvPr id="15" name="Rounded Rectangle 14"/>
          <p:cNvSpPr/>
          <p:nvPr/>
        </p:nvSpPr>
        <p:spPr>
          <a:xfrm>
            <a:off x="640080" y="1874519"/>
            <a:ext cx="3483864" cy="34015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874519"/>
            <a:ext cx="3483864" cy="91440"/>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4"/>
          <a:stretch>
            <a:fillRect/>
          </a:stretch>
        </p:blipFill>
        <p:spPr>
          <a:xfrm>
            <a:off x="841247" y="2147969"/>
            <a:ext cx="658368" cy="623533"/>
          </a:xfrm>
          <a:prstGeom prst="rect">
            <a:avLst/>
          </a:prstGeom>
        </p:spPr>
      </p:pic>
      <p:sp>
        <p:nvSpPr>
          <p:cNvPr id="18" name="TextBox 17"/>
          <p:cNvSpPr txBox="1"/>
          <p:nvPr/>
        </p:nvSpPr>
        <p:spPr>
          <a:xfrm>
            <a:off x="1645920" y="2103120"/>
            <a:ext cx="2386584" cy="731520"/>
          </a:xfrm>
          <a:prstGeom prst="rect">
            <a:avLst/>
          </a:prstGeom>
          <a:noFill/>
        </p:spPr>
        <p:txBody>
          <a:bodyPr wrap="square" anchor="ctr" lIns="18288" rIns="18288" tIns="10972" bIns="10972">
            <a:spAutoFit/>
          </a:bodyPr>
          <a:lstStyle/>
          <a:p>
            <a:pPr algn="l">
              <a:spcAft>
                <a:spcPts val="0"/>
              </a:spcAft>
            </a:pPr>
            <a:r>
              <a:rPr sz="2600" b="1" i="0">
                <a:solidFill>
                  <a:srgbClr val="084E4E"/>
                </a:solidFill>
                <a:latin typeface="Trebuchet MS"/>
              </a:rPr>
              <a:t>Chrome</a:t>
            </a:r>
            <a:endParaRPr sz="2600"/>
          </a:p>
        </p:txBody>
      </p:sp>
      <p:sp>
        <p:nvSpPr>
          <p:cNvPr id="19" name="TextBox 18"/>
          <p:cNvSpPr txBox="1"/>
          <p:nvPr/>
        </p:nvSpPr>
        <p:spPr>
          <a:xfrm>
            <a:off x="749808" y="2971800"/>
            <a:ext cx="3264408" cy="2258568"/>
          </a:xfrm>
          <a:prstGeom prst="rect">
            <a:avLst/>
          </a:prstGeom>
          <a:noFill/>
        </p:spPr>
        <p:txBody>
          <a:bodyPr wrap="square" anchor="t" lIns="73152" rIns="73152" tIns="43891" bIns="43891">
            <a:spAutoFit/>
          </a:bodyPr>
          <a:lstStyle/>
          <a:p>
            <a:pPr algn="l" marL="256032" indent="-256032">
              <a:spcAft>
                <a:spcPts val="1000"/>
              </a:spcAft>
              <a:buFont typeface="Arial"/>
              <a:buChar char="•"/>
            </a:pPr>
            <a:r>
              <a:rPr sz="2000" b="0" i="0">
                <a:solidFill>
                  <a:srgbClr val="10204A"/>
                </a:solidFill>
                <a:latin typeface="Trebuchet MS"/>
              </a:rPr>
              <a:t>10 s · 15% scroll · a click · a revisit</a:t>
            </a:r>
            <a:endParaRPr sz="2000"/>
          </a:p>
          <a:p>
            <a:pPr algn="l" marL="256032" indent="-256032">
              <a:spcAft>
                <a:spcPts val="1000"/>
              </a:spcAft>
              <a:buFont typeface="Arial"/>
              <a:buChar char="•"/>
            </a:pPr>
            <a:r>
              <a:rPr sz="2000" b="0" i="0">
                <a:solidFill>
                  <a:srgbClr val="10204A"/>
                </a:solidFill>
                <a:latin typeface="Trebuchet MS"/>
              </a:rPr>
              <a:t>Sensitive pages skipped</a:t>
            </a:r>
            <a:endParaRPr sz="2000"/>
          </a:p>
          <a:p>
            <a:pPr algn="l" marL="256032" indent="-256032">
              <a:spcAft>
                <a:spcPts val="1000"/>
              </a:spcAft>
              <a:buFont typeface="Arial"/>
              <a:buChar char="•"/>
            </a:pPr>
            <a:r>
              <a:rPr sz="2000" b="0" i="0">
                <a:solidFill>
                  <a:srgbClr val="10204A"/>
                </a:solidFill>
                <a:latin typeface="Trebuchet MS"/>
              </a:rPr>
              <a:t>Secret URL keys removed</a:t>
            </a:r>
            <a:endParaRPr sz="2000"/>
          </a:p>
        </p:txBody>
      </p:sp>
      <p:sp>
        <p:nvSpPr>
          <p:cNvPr id="20" name="Rounded Rectangle 19"/>
          <p:cNvSpPr/>
          <p:nvPr/>
        </p:nvSpPr>
        <p:spPr>
          <a:xfrm>
            <a:off x="4352544" y="1874519"/>
            <a:ext cx="3483864" cy="34015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52544" y="1874519"/>
            <a:ext cx="3483864" cy="91440"/>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4553712" y="2203621"/>
            <a:ext cx="658368" cy="512228"/>
          </a:xfrm>
          <a:prstGeom prst="rect">
            <a:avLst/>
          </a:prstGeom>
        </p:spPr>
      </p:pic>
      <p:sp>
        <p:nvSpPr>
          <p:cNvPr id="23" name="TextBox 22"/>
          <p:cNvSpPr txBox="1"/>
          <p:nvPr/>
        </p:nvSpPr>
        <p:spPr>
          <a:xfrm>
            <a:off x="5358384" y="2103120"/>
            <a:ext cx="2386584" cy="731520"/>
          </a:xfrm>
          <a:prstGeom prst="rect">
            <a:avLst/>
          </a:prstGeom>
          <a:noFill/>
        </p:spPr>
        <p:txBody>
          <a:bodyPr wrap="square" anchor="ctr" lIns="18288" rIns="18288" tIns="10972" bIns="10972">
            <a:spAutoFit/>
          </a:bodyPr>
          <a:lstStyle/>
          <a:p>
            <a:pPr algn="l">
              <a:spcAft>
                <a:spcPts val="0"/>
              </a:spcAft>
            </a:pPr>
            <a:r>
              <a:rPr sz="2600" b="1" i="0">
                <a:solidFill>
                  <a:srgbClr val="084E4E"/>
                </a:solidFill>
                <a:latin typeface="Trebuchet MS"/>
              </a:rPr>
              <a:t>YouTube</a:t>
            </a:r>
            <a:endParaRPr sz="2600"/>
          </a:p>
        </p:txBody>
      </p:sp>
      <p:sp>
        <p:nvSpPr>
          <p:cNvPr id="24" name="TextBox 23"/>
          <p:cNvSpPr txBox="1"/>
          <p:nvPr/>
        </p:nvSpPr>
        <p:spPr>
          <a:xfrm>
            <a:off x="4462272" y="2971800"/>
            <a:ext cx="3264408" cy="2258568"/>
          </a:xfrm>
          <a:prstGeom prst="rect">
            <a:avLst/>
          </a:prstGeom>
          <a:noFill/>
        </p:spPr>
        <p:txBody>
          <a:bodyPr wrap="square" anchor="t" lIns="73152" rIns="73152" tIns="43891" bIns="43891">
            <a:spAutoFit/>
          </a:bodyPr>
          <a:lstStyle/>
          <a:p>
            <a:pPr algn="l" marL="256032" indent="-256032">
              <a:spcAft>
                <a:spcPts val="1000"/>
              </a:spcAft>
              <a:buFont typeface="Arial"/>
              <a:buChar char="•"/>
            </a:pPr>
            <a:r>
              <a:rPr sz="2000" b="0" i="0">
                <a:solidFill>
                  <a:srgbClr val="10204A"/>
                </a:solidFill>
                <a:latin typeface="Trebuchet MS"/>
              </a:rPr>
              <a:t>Video 20 s · Short 10 s</a:t>
            </a:r>
            <a:endParaRPr sz="2000"/>
          </a:p>
          <a:p>
            <a:pPr algn="l" marL="256032" indent="-256032">
              <a:spcAft>
                <a:spcPts val="1000"/>
              </a:spcAft>
              <a:buFont typeface="Arial"/>
              <a:buChar char="•"/>
            </a:pPr>
            <a:r>
              <a:rPr sz="2000" b="0" i="0">
                <a:solidFill>
                  <a:srgbClr val="10204A"/>
                </a:solidFill>
                <a:latin typeface="Trebuchet MS"/>
              </a:rPr>
              <a:t>or 10% watched (≥ 5 s)</a:t>
            </a:r>
            <a:endParaRPr sz="2000"/>
          </a:p>
          <a:p>
            <a:pPr algn="l" marL="256032" indent="-256032">
              <a:spcAft>
                <a:spcPts val="1000"/>
              </a:spcAft>
              <a:buFont typeface="Arial"/>
              <a:buChar char="•"/>
            </a:pPr>
            <a:r>
              <a:rPr sz="2000" b="0" i="0">
                <a:solidFill>
                  <a:srgbClr val="10204A"/>
                </a:solidFill>
                <a:latin typeface="Trebuchet MS"/>
              </a:rPr>
              <a:t>Title, channel, transcript</a:t>
            </a:r>
            <a:endParaRPr sz="2000"/>
          </a:p>
        </p:txBody>
      </p:sp>
      <p:sp>
        <p:nvSpPr>
          <p:cNvPr id="25" name="Rounded Rectangle 24"/>
          <p:cNvSpPr/>
          <p:nvPr/>
        </p:nvSpPr>
        <p:spPr>
          <a:xfrm>
            <a:off x="8065008" y="1874519"/>
            <a:ext cx="3483864" cy="34015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65008" y="1874519"/>
            <a:ext cx="3483864" cy="91440"/>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8266176" y="2213707"/>
            <a:ext cx="658368" cy="492057"/>
          </a:xfrm>
          <a:prstGeom prst="rect">
            <a:avLst/>
          </a:prstGeom>
        </p:spPr>
      </p:pic>
      <p:sp>
        <p:nvSpPr>
          <p:cNvPr id="28" name="TextBox 27"/>
          <p:cNvSpPr txBox="1"/>
          <p:nvPr/>
        </p:nvSpPr>
        <p:spPr>
          <a:xfrm>
            <a:off x="9070848" y="2103120"/>
            <a:ext cx="2386584" cy="731520"/>
          </a:xfrm>
          <a:prstGeom prst="rect">
            <a:avLst/>
          </a:prstGeom>
          <a:noFill/>
        </p:spPr>
        <p:txBody>
          <a:bodyPr wrap="square" anchor="ctr" lIns="18288" rIns="18288" tIns="10972" bIns="10972">
            <a:spAutoFit/>
          </a:bodyPr>
          <a:lstStyle/>
          <a:p>
            <a:pPr algn="l">
              <a:spcAft>
                <a:spcPts val="0"/>
              </a:spcAft>
            </a:pPr>
            <a:r>
              <a:rPr sz="2600" b="1" i="0">
                <a:solidFill>
                  <a:srgbClr val="084E4E"/>
                </a:solidFill>
                <a:latin typeface="Trebuchet MS"/>
              </a:rPr>
              <a:t>Gmail</a:t>
            </a:r>
            <a:endParaRPr sz="2600"/>
          </a:p>
        </p:txBody>
      </p:sp>
      <p:sp>
        <p:nvSpPr>
          <p:cNvPr id="29" name="TextBox 28"/>
          <p:cNvSpPr txBox="1"/>
          <p:nvPr/>
        </p:nvSpPr>
        <p:spPr>
          <a:xfrm>
            <a:off x="8174736" y="2971800"/>
            <a:ext cx="3264408" cy="2258568"/>
          </a:xfrm>
          <a:prstGeom prst="rect">
            <a:avLst/>
          </a:prstGeom>
          <a:noFill/>
        </p:spPr>
        <p:txBody>
          <a:bodyPr wrap="square" anchor="t" lIns="73152" rIns="73152" tIns="43891" bIns="43891">
            <a:spAutoFit/>
          </a:bodyPr>
          <a:lstStyle/>
          <a:p>
            <a:pPr algn="l" marL="256032" indent="-256032">
              <a:spcAft>
                <a:spcPts val="1000"/>
              </a:spcAft>
              <a:buFont typeface="Arial"/>
              <a:buChar char="•"/>
            </a:pPr>
            <a:r>
              <a:rPr sz="2000" b="0" i="0">
                <a:solidFill>
                  <a:srgbClr val="10204A"/>
                </a:solidFill>
                <a:latin typeface="Trebuchet MS"/>
              </a:rPr>
              <a:t>New mail every 30 s</a:t>
            </a:r>
            <a:endParaRPr sz="2000"/>
          </a:p>
          <a:p>
            <a:pPr algn="l" marL="256032" indent="-256032">
              <a:spcAft>
                <a:spcPts val="1000"/>
              </a:spcAft>
              <a:buFont typeface="Arial"/>
              <a:buChar char="•"/>
            </a:pPr>
            <a:r>
              <a:rPr sz="2000" b="0" i="0">
                <a:solidFill>
                  <a:srgbClr val="10204A"/>
                </a:solidFill>
                <a:latin typeface="Trebuchet MS"/>
              </a:rPr>
              <a:t>Spam, Trash, drafts never read</a:t>
            </a:r>
            <a:endParaRPr sz="2000"/>
          </a:p>
          <a:p>
            <a:pPr algn="l" marL="256032" indent="-256032">
              <a:spcAft>
                <a:spcPts val="1000"/>
              </a:spcAft>
              <a:buFont typeface="Arial"/>
              <a:buChar char="•"/>
            </a:pPr>
            <a:r>
              <a:rPr sz="2000" b="0" i="0">
                <a:solidFill>
                  <a:srgbClr val="10204A"/>
                </a:solidFill>
                <a:latin typeface="Trebuchet MS"/>
              </a:rPr>
              <a:t>Attachment text extracted</a:t>
            </a:r>
            <a:endParaRPr sz="2000"/>
          </a:p>
        </p:txBody>
      </p:sp>
      <p:sp>
        <p:nvSpPr>
          <p:cNvPr id="30" name="Rounded Rectangle 29"/>
          <p:cNvSpPr/>
          <p:nvPr/>
        </p:nvSpPr>
        <p:spPr>
          <a:xfrm>
            <a:off x="640080" y="5458968"/>
            <a:ext cx="10908792" cy="105156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5568696"/>
            <a:ext cx="73152" cy="832104"/>
          </a:xfrm>
          <a:prstGeom prst="rect">
            <a:avLst/>
          </a:prstGeom>
          <a:solidFill>
            <a:srgbClr val="E03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495544"/>
            <a:ext cx="10707624" cy="978408"/>
          </a:xfrm>
          <a:prstGeom prst="rect">
            <a:avLst/>
          </a:prstGeom>
          <a:noFill/>
        </p:spPr>
        <p:txBody>
          <a:bodyPr wrap="square" anchor="t" tIns="54864" bIns="54864">
            <a:spAutoFit/>
          </a:bodyPr>
          <a:lstStyle/>
          <a:p>
            <a:pPr algn="l">
              <a:spcAft>
                <a:spcPts val="600"/>
              </a:spcAft>
            </a:pPr>
            <a:r>
              <a:rPr sz="2200" b="1" i="0">
                <a:solidFill>
                  <a:srgbClr val="E0301E"/>
                </a:solidFill>
                <a:latin typeface="Trebuchet MS"/>
              </a:rPr>
              <a:t>Never captured</a:t>
            </a:r>
            <a:endParaRPr sz="2200"/>
          </a:p>
          <a:p>
            <a:pPr algn="l">
              <a:spcAft>
                <a:spcPts val="0"/>
              </a:spcAft>
            </a:pPr>
            <a:r>
              <a:rPr sz="2000" b="0" i="0">
                <a:solidFill>
                  <a:srgbClr val="10204A"/>
                </a:solidFill>
                <a:latin typeface="Trebuchet MS"/>
              </a:rPr>
              <a:t>Incognito tabs · typed text · text of app pages · sensitive pages · anything while paused</a:t>
            </a:r>
            <a:endParaRPr sz="2000"/>
          </a:p>
        </p:txBody>
      </p:sp>
    </p:spTree>
    <p:extLst>
      <p:ext uri="{BB962C8B-B14F-4D97-AF65-F5344CB8AC3E}">
        <p14:creationId xmlns:p14="http://schemas.microsoft.com/office/powerpoint/2010/main" val="420536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Project Demonstration</a:t>
            </a:r>
            <a:endParaRPr lang="en-US" sz="2400" dirty="0"/>
          </a:p>
        </p:txBody>
      </p:sp>
      <p:sp>
        <p:nvSpPr>
          <p:cNvPr id="4" name="Rounded Rectangle 3"/>
          <p:cNvSpPr/>
          <p:nvPr/>
        </p:nvSpPr>
        <p:spPr>
          <a:xfrm>
            <a:off x="640080" y="1874519"/>
            <a:ext cx="10908792" cy="548640"/>
          </a:xfrm>
          <a:prstGeom prst="roundRect">
            <a:avLst>
              <a:gd name="adj" fmla="val 30000"/>
            </a:avLst>
          </a:prstGeom>
          <a:solidFill>
            <a:srgbClr val="FFFFFF">
              <a:alpha val="9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0"/>
              </a:spcAft>
            </a:pPr>
            <a:r>
              <a:rPr sz="2200" b="1" i="0">
                <a:solidFill>
                  <a:srgbClr val="0033CC"/>
                </a:solidFill>
                <a:latin typeface="Trebuchet MS"/>
              </a:rPr>
              <a:t>8-minute scripted path </a:t>
            </a:r>
            <a:r>
              <a:rPr sz="2200" b="0" i="0">
                <a:solidFill>
                  <a:srgbClr val="0033CC"/>
                </a:solidFill>
                <a:latin typeface="Trebuchet MS"/>
              </a:rPr>
              <a:t>· recorded demo video ready as backup</a:t>
            </a:r>
            <a:endParaRPr sz="2200"/>
          </a:p>
        </p:txBody>
      </p:sp>
      <p:sp>
        <p:nvSpPr>
          <p:cNvPr id="5" name="Rounded Rectangle 4"/>
          <p:cNvSpPr/>
          <p:nvPr/>
        </p:nvSpPr>
        <p:spPr>
          <a:xfrm>
            <a:off x="640080" y="2596896"/>
            <a:ext cx="2521458" cy="3913632"/>
          </a:xfrm>
          <a:prstGeom prst="roundRect">
            <a:avLst>
              <a:gd name="adj" fmla="val 5000"/>
            </a:avLst>
          </a:prstGeom>
          <a:solidFill>
            <a:srgbClr val="FFFFFF">
              <a:alpha val="98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596896"/>
            <a:ext cx="2521458" cy="91440"/>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1" y="2871215"/>
            <a:ext cx="685800" cy="685800"/>
          </a:xfrm>
          <a:prstGeom prst="ellipse">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600" b="1" i="0">
                <a:solidFill>
                  <a:srgbClr val="FFFFFF"/>
                </a:solidFill>
                <a:latin typeface="Trebuchet MS"/>
              </a:rPr>
              <a:t>1</a:t>
            </a:r>
            <a:endParaRPr sz="2600"/>
          </a:p>
        </p:txBody>
      </p:sp>
      <p:sp>
        <p:nvSpPr>
          <p:cNvPr id="8" name="TextBox 7"/>
          <p:cNvSpPr txBox="1"/>
          <p:nvPr/>
        </p:nvSpPr>
        <p:spPr>
          <a:xfrm>
            <a:off x="1554480" y="2825496"/>
            <a:ext cx="1561338" cy="777240"/>
          </a:xfrm>
          <a:prstGeom prst="rect">
            <a:avLst/>
          </a:prstGeom>
          <a:noFill/>
        </p:spPr>
        <p:txBody>
          <a:bodyPr wrap="square" anchor="ctr" lIns="18288" rIns="18288" tIns="10972" bIns="10972">
            <a:spAutoFit/>
          </a:bodyPr>
          <a:lstStyle/>
          <a:p>
            <a:pPr algn="l">
              <a:spcAft>
                <a:spcPts val="0"/>
              </a:spcAft>
            </a:pPr>
            <a:r>
              <a:rPr sz="2200" b="1" i="0">
                <a:solidFill>
                  <a:srgbClr val="084E4E"/>
                </a:solidFill>
                <a:latin typeface="Trebuchet MS"/>
              </a:rPr>
              <a:t>Capture</a:t>
            </a:r>
            <a:endParaRPr sz="2200"/>
          </a:p>
          <a:p>
            <a:pPr algn="l">
              <a:spcAft>
                <a:spcPts val="0"/>
              </a:spcAft>
            </a:pPr>
            <a:r>
              <a:rPr sz="1800" b="0" i="0">
                <a:solidFill>
                  <a:srgbClr val="455068"/>
                </a:solidFill>
                <a:latin typeface="Trebuchet MS"/>
              </a:rPr>
              <a:t>1.5 min</a:t>
            </a:r>
            <a:endParaRPr sz="1800"/>
          </a:p>
        </p:txBody>
      </p:sp>
      <p:sp>
        <p:nvSpPr>
          <p:cNvPr id="9" name="TextBox 8"/>
          <p:cNvSpPr txBox="1"/>
          <p:nvPr/>
        </p:nvSpPr>
        <p:spPr>
          <a:xfrm>
            <a:off x="749808" y="3785615"/>
            <a:ext cx="2302002" cy="2679192"/>
          </a:xfrm>
          <a:prstGeom prst="rect">
            <a:avLst/>
          </a:prstGeom>
          <a:noFill/>
        </p:spPr>
        <p:txBody>
          <a:bodyPr wrap="square" anchor="t" lIns="54864" rIns="54864" tIns="32918" bIns="32918">
            <a:spAutoFit/>
          </a:bodyPr>
          <a:lstStyle/>
          <a:p>
            <a:pPr algn="l">
              <a:spcAft>
                <a:spcPts val="200"/>
              </a:spcAft>
            </a:pPr>
            <a:r>
              <a:rPr sz="1800" b="1" i="0">
                <a:solidFill>
                  <a:srgbClr val="0E8C8C"/>
                </a:solidFill>
                <a:latin typeface="Trebuchet MS"/>
              </a:rPr>
              <a:t>Do</a:t>
            </a:r>
            <a:endParaRPr sz="1800"/>
          </a:p>
          <a:p>
            <a:pPr algn="l">
              <a:spcAft>
                <a:spcPts val="1400"/>
              </a:spcAft>
            </a:pPr>
            <a:r>
              <a:rPr sz="2000" b="0" i="0">
                <a:solidFill>
                  <a:srgbClr val="10204A"/>
                </a:solidFill>
                <a:latin typeface="Trebuchet MS"/>
              </a:rPr>
              <a:t>Read an article, play a video</a:t>
            </a:r>
            <a:endParaRPr sz="2000"/>
          </a:p>
          <a:p>
            <a:pPr algn="l">
              <a:spcAft>
                <a:spcPts val="200"/>
              </a:spcAft>
            </a:pPr>
            <a:r>
              <a:rPr sz="1800" b="1" i="0">
                <a:solidFill>
                  <a:srgbClr val="0E8C8C"/>
                </a:solidFill>
                <a:latin typeface="Trebuchet MS"/>
              </a:rPr>
              <a:t>Panel sees</a:t>
            </a:r>
            <a:endParaRPr sz="1800"/>
          </a:p>
          <a:p>
            <a:pPr algn="l">
              <a:spcAft>
                <a:spcPts val="0"/>
              </a:spcAft>
            </a:pPr>
            <a:r>
              <a:rPr sz="2000" b="0" i="0">
                <a:solidFill>
                  <a:srgbClr val="10204A"/>
                </a:solidFill>
                <a:latin typeface="Trebuchet MS"/>
              </a:rPr>
              <a:t>New rows in Timeline</a:t>
            </a:r>
            <a:endParaRPr sz="2000"/>
          </a:p>
        </p:txBody>
      </p:sp>
      <p:cxnSp>
        <p:nvCxnSpPr>
          <p:cNvPr id="10" name="Connector 9"/>
          <p:cNvCxnSpPr/>
          <p:nvPr/>
        </p:nvCxnSpPr>
        <p:spPr>
          <a:xfrm>
            <a:off x="3188970" y="3218688"/>
            <a:ext cx="219456" cy="0"/>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35858" y="2596896"/>
            <a:ext cx="2521458" cy="3913632"/>
          </a:xfrm>
          <a:prstGeom prst="roundRect">
            <a:avLst>
              <a:gd name="adj" fmla="val 5000"/>
            </a:avLst>
          </a:prstGeom>
          <a:solidFill>
            <a:srgbClr val="FFFFFF">
              <a:alpha val="98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35858" y="2596896"/>
            <a:ext cx="2521458" cy="91440"/>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00450" y="2871215"/>
            <a:ext cx="685800" cy="685800"/>
          </a:xfrm>
          <a:prstGeom prst="ellipse">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600" b="1" i="0">
                <a:solidFill>
                  <a:srgbClr val="FFFFFF"/>
                </a:solidFill>
                <a:latin typeface="Trebuchet MS"/>
              </a:rPr>
              <a:t>2</a:t>
            </a:r>
            <a:endParaRPr sz="2600"/>
          </a:p>
        </p:txBody>
      </p:sp>
      <p:sp>
        <p:nvSpPr>
          <p:cNvPr id="14" name="TextBox 13"/>
          <p:cNvSpPr txBox="1"/>
          <p:nvPr/>
        </p:nvSpPr>
        <p:spPr>
          <a:xfrm>
            <a:off x="4350258" y="2825496"/>
            <a:ext cx="1561338" cy="777240"/>
          </a:xfrm>
          <a:prstGeom prst="rect">
            <a:avLst/>
          </a:prstGeom>
          <a:noFill/>
        </p:spPr>
        <p:txBody>
          <a:bodyPr wrap="square" anchor="ctr" lIns="18288" rIns="18288" tIns="10972" bIns="10972">
            <a:spAutoFit/>
          </a:bodyPr>
          <a:lstStyle/>
          <a:p>
            <a:pPr algn="l">
              <a:spcAft>
                <a:spcPts val="0"/>
              </a:spcAft>
            </a:pPr>
            <a:r>
              <a:rPr sz="2200" b="1" i="0">
                <a:solidFill>
                  <a:srgbClr val="2D1F66"/>
                </a:solidFill>
                <a:latin typeface="Trebuchet MS"/>
              </a:rPr>
              <a:t>Enrichment</a:t>
            </a:r>
            <a:endParaRPr sz="2200"/>
          </a:p>
          <a:p>
            <a:pPr algn="l">
              <a:spcAft>
                <a:spcPts val="0"/>
              </a:spcAft>
            </a:pPr>
            <a:r>
              <a:rPr sz="1800" b="0" i="0">
                <a:solidFill>
                  <a:srgbClr val="455068"/>
                </a:solidFill>
                <a:latin typeface="Trebuchet MS"/>
              </a:rPr>
              <a:t>1 min</a:t>
            </a:r>
            <a:endParaRPr sz="1800"/>
          </a:p>
        </p:txBody>
      </p:sp>
      <p:sp>
        <p:nvSpPr>
          <p:cNvPr id="15" name="TextBox 14"/>
          <p:cNvSpPr txBox="1"/>
          <p:nvPr/>
        </p:nvSpPr>
        <p:spPr>
          <a:xfrm>
            <a:off x="3545586" y="3785615"/>
            <a:ext cx="2302002" cy="2679192"/>
          </a:xfrm>
          <a:prstGeom prst="rect">
            <a:avLst/>
          </a:prstGeom>
          <a:noFill/>
        </p:spPr>
        <p:txBody>
          <a:bodyPr wrap="square" anchor="t" lIns="54864" rIns="54864" tIns="32918" bIns="32918">
            <a:spAutoFit/>
          </a:bodyPr>
          <a:lstStyle/>
          <a:p>
            <a:pPr algn="l">
              <a:spcAft>
                <a:spcPts val="200"/>
              </a:spcAft>
            </a:pPr>
            <a:r>
              <a:rPr sz="1800" b="1" i="0">
                <a:solidFill>
                  <a:srgbClr val="6B4FD8"/>
                </a:solidFill>
                <a:latin typeface="Trebuchet MS"/>
              </a:rPr>
              <a:t>Do</a:t>
            </a:r>
            <a:endParaRPr sz="1800"/>
          </a:p>
          <a:p>
            <a:pPr algn="l">
              <a:spcAft>
                <a:spcPts val="1400"/>
              </a:spcAft>
            </a:pPr>
            <a:r>
              <a:rPr sz="2000" b="0" i="0">
                <a:solidFill>
                  <a:srgbClr val="10204A"/>
                </a:solidFill>
                <a:latin typeface="Trebuchet MS"/>
              </a:rPr>
              <a:t>Wait about 10 s</a:t>
            </a:r>
            <a:endParaRPr sz="2000"/>
          </a:p>
          <a:p>
            <a:pPr algn="l">
              <a:spcAft>
                <a:spcPts val="200"/>
              </a:spcAft>
            </a:pPr>
            <a:r>
              <a:rPr sz="1800" b="1" i="0">
                <a:solidFill>
                  <a:srgbClr val="6B4FD8"/>
                </a:solidFill>
                <a:latin typeface="Trebuchet MS"/>
              </a:rPr>
              <a:t>Panel sees</a:t>
            </a:r>
            <a:endParaRPr sz="1800"/>
          </a:p>
          <a:p>
            <a:pPr algn="l">
              <a:spcAft>
                <a:spcPts val="0"/>
              </a:spcAft>
            </a:pPr>
            <a:r>
              <a:rPr sz="2000" b="0" i="0">
                <a:solidFill>
                  <a:srgbClr val="10204A"/>
                </a:solidFill>
                <a:latin typeface="Trebuchet MS"/>
              </a:rPr>
              <a:t>Item processed, group set</a:t>
            </a:r>
            <a:endParaRPr sz="2000"/>
          </a:p>
        </p:txBody>
      </p:sp>
      <p:cxnSp>
        <p:nvCxnSpPr>
          <p:cNvPr id="16" name="Connector 15"/>
          <p:cNvCxnSpPr/>
          <p:nvPr/>
        </p:nvCxnSpPr>
        <p:spPr>
          <a:xfrm>
            <a:off x="5984748" y="3218688"/>
            <a:ext cx="219456" cy="0"/>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1636" y="2596896"/>
            <a:ext cx="2521458" cy="3913632"/>
          </a:xfrm>
          <a:prstGeom prst="roundRect">
            <a:avLst>
              <a:gd name="adj" fmla="val 5000"/>
            </a:avLst>
          </a:prstGeom>
          <a:solidFill>
            <a:srgbClr val="FFFFFF">
              <a:alpha val="98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2596896"/>
            <a:ext cx="2521458" cy="91440"/>
          </a:xfrm>
          <a:prstGeom prst="rect">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2871215"/>
            <a:ext cx="685800" cy="68580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600" b="1" i="0">
                <a:solidFill>
                  <a:srgbClr val="FFFFFF"/>
                </a:solidFill>
                <a:latin typeface="Trebuchet MS"/>
              </a:rPr>
              <a:t>3</a:t>
            </a:r>
            <a:endParaRPr sz="2600"/>
          </a:p>
        </p:txBody>
      </p:sp>
      <p:sp>
        <p:nvSpPr>
          <p:cNvPr id="20" name="TextBox 19"/>
          <p:cNvSpPr txBox="1"/>
          <p:nvPr/>
        </p:nvSpPr>
        <p:spPr>
          <a:xfrm>
            <a:off x="7146036" y="2825496"/>
            <a:ext cx="1561338" cy="777240"/>
          </a:xfrm>
          <a:prstGeom prst="rect">
            <a:avLst/>
          </a:prstGeom>
          <a:noFill/>
        </p:spPr>
        <p:txBody>
          <a:bodyPr wrap="square" anchor="ctr" lIns="18288" rIns="18288" tIns="10972" bIns="10972">
            <a:spAutoFit/>
          </a:bodyPr>
          <a:lstStyle/>
          <a:p>
            <a:pPr algn="l">
              <a:spcAft>
                <a:spcPts val="0"/>
              </a:spcAft>
            </a:pPr>
            <a:r>
              <a:rPr sz="2200" b="1" i="0">
                <a:solidFill>
                  <a:srgbClr val="0B2272"/>
                </a:solidFill>
                <a:latin typeface="Trebuchet MS"/>
              </a:rPr>
              <a:t>Recall</a:t>
            </a:r>
            <a:endParaRPr sz="2200"/>
          </a:p>
          <a:p>
            <a:pPr algn="l">
              <a:spcAft>
                <a:spcPts val="0"/>
              </a:spcAft>
            </a:pPr>
            <a:r>
              <a:rPr sz="1800" b="0" i="0">
                <a:solidFill>
                  <a:srgbClr val="455068"/>
                </a:solidFill>
                <a:latin typeface="Trebuchet MS"/>
              </a:rPr>
              <a:t>3.5 min</a:t>
            </a:r>
            <a:endParaRPr sz="1800"/>
          </a:p>
        </p:txBody>
      </p:sp>
      <p:sp>
        <p:nvSpPr>
          <p:cNvPr id="21" name="TextBox 20"/>
          <p:cNvSpPr txBox="1"/>
          <p:nvPr/>
        </p:nvSpPr>
        <p:spPr>
          <a:xfrm>
            <a:off x="6341364" y="3785615"/>
            <a:ext cx="2302002" cy="2679192"/>
          </a:xfrm>
          <a:prstGeom prst="rect">
            <a:avLst/>
          </a:prstGeom>
          <a:noFill/>
        </p:spPr>
        <p:txBody>
          <a:bodyPr wrap="square" anchor="t" lIns="54864" rIns="54864" tIns="32918" bIns="32918">
            <a:spAutoFit/>
          </a:bodyPr>
          <a:lstStyle/>
          <a:p>
            <a:pPr algn="l">
              <a:spcAft>
                <a:spcPts val="200"/>
              </a:spcAft>
            </a:pPr>
            <a:r>
              <a:rPr sz="1800" b="1" i="0">
                <a:solidFill>
                  <a:srgbClr val="1F4FE0"/>
                </a:solidFill>
                <a:latin typeface="Trebuchet MS"/>
              </a:rPr>
              <a:t>Do</a:t>
            </a:r>
            <a:endParaRPr sz="1800"/>
          </a:p>
          <a:p>
            <a:pPr algn="l">
              <a:spcAft>
                <a:spcPts val="1400"/>
              </a:spcAft>
            </a:pPr>
            <a:r>
              <a:rPr sz="2000" b="0" i="0">
                <a:solidFill>
                  <a:srgbClr val="10204A"/>
                </a:solidFill>
                <a:latin typeface="Trebuchet MS"/>
              </a:rPr>
              <a:t>Ask, then follow up</a:t>
            </a:r>
            <a:endParaRPr sz="2000"/>
          </a:p>
          <a:p>
            <a:pPr algn="l">
              <a:spcAft>
                <a:spcPts val="200"/>
              </a:spcAft>
            </a:pPr>
            <a:r>
              <a:rPr sz="1800" b="1" i="0">
                <a:solidFill>
                  <a:srgbClr val="1F4FE0"/>
                </a:solidFill>
                <a:latin typeface="Trebuchet MS"/>
              </a:rPr>
              <a:t>Panel sees</a:t>
            </a:r>
            <a:endParaRPr sz="1800"/>
          </a:p>
          <a:p>
            <a:pPr algn="l">
              <a:spcAft>
                <a:spcPts val="0"/>
              </a:spcAft>
            </a:pPr>
            <a:r>
              <a:rPr sz="2000" b="0" i="0">
                <a:solidFill>
                  <a:srgbClr val="10204A"/>
                </a:solidFill>
                <a:latin typeface="Trebuchet MS"/>
              </a:rPr>
              <a:t>Answer with memory pills</a:t>
            </a:r>
            <a:endParaRPr sz="2000"/>
          </a:p>
        </p:txBody>
      </p:sp>
      <p:cxnSp>
        <p:nvCxnSpPr>
          <p:cNvPr id="22" name="Connector 21"/>
          <p:cNvCxnSpPr/>
          <p:nvPr/>
        </p:nvCxnSpPr>
        <p:spPr>
          <a:xfrm>
            <a:off x="8780526" y="3218688"/>
            <a:ext cx="219456" cy="0"/>
          </a:xfrm>
          <a:prstGeom prst="line">
            <a:avLst/>
          </a:prstGeom>
          <a:ln w="38100">
            <a:solidFill>
              <a:srgbClr val="FFFFFF"/>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27413" y="2596896"/>
            <a:ext cx="2521458" cy="3913632"/>
          </a:xfrm>
          <a:prstGeom prst="roundRect">
            <a:avLst>
              <a:gd name="adj" fmla="val 5000"/>
            </a:avLst>
          </a:prstGeom>
          <a:solidFill>
            <a:srgbClr val="FFFFFF">
              <a:alpha val="98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27413" y="2596896"/>
            <a:ext cx="2521458" cy="91440"/>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92005" y="2871215"/>
            <a:ext cx="685800" cy="685800"/>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600" b="1" i="0">
                <a:solidFill>
                  <a:srgbClr val="FFFFFF"/>
                </a:solidFill>
                <a:latin typeface="Trebuchet MS"/>
              </a:rPr>
              <a:t>4</a:t>
            </a:r>
            <a:endParaRPr sz="2600"/>
          </a:p>
        </p:txBody>
      </p:sp>
      <p:sp>
        <p:nvSpPr>
          <p:cNvPr id="26" name="TextBox 25"/>
          <p:cNvSpPr txBox="1"/>
          <p:nvPr/>
        </p:nvSpPr>
        <p:spPr>
          <a:xfrm>
            <a:off x="9941813" y="2825496"/>
            <a:ext cx="1561338" cy="777240"/>
          </a:xfrm>
          <a:prstGeom prst="rect">
            <a:avLst/>
          </a:prstGeom>
          <a:noFill/>
        </p:spPr>
        <p:txBody>
          <a:bodyPr wrap="square" anchor="ctr" lIns="18288" rIns="18288" tIns="10972" bIns="10972">
            <a:spAutoFit/>
          </a:bodyPr>
          <a:lstStyle/>
          <a:p>
            <a:pPr algn="l">
              <a:spcAft>
                <a:spcPts val="0"/>
              </a:spcAft>
            </a:pPr>
            <a:r>
              <a:rPr sz="2200" b="1" i="0">
                <a:solidFill>
                  <a:srgbClr val="0F4D2A"/>
                </a:solidFill>
                <a:latin typeface="Trebuchet MS"/>
              </a:rPr>
              <a:t>Wellbeing</a:t>
            </a:r>
            <a:endParaRPr sz="2200"/>
          </a:p>
          <a:p>
            <a:pPr algn="l">
              <a:spcAft>
                <a:spcPts val="0"/>
              </a:spcAft>
            </a:pPr>
            <a:r>
              <a:rPr sz="1800" b="0" i="0">
                <a:solidFill>
                  <a:srgbClr val="455068"/>
                </a:solidFill>
                <a:latin typeface="Trebuchet MS"/>
              </a:rPr>
              <a:t>2 min</a:t>
            </a:r>
            <a:endParaRPr sz="1800"/>
          </a:p>
        </p:txBody>
      </p:sp>
      <p:sp>
        <p:nvSpPr>
          <p:cNvPr id="27" name="TextBox 26"/>
          <p:cNvSpPr txBox="1"/>
          <p:nvPr/>
        </p:nvSpPr>
        <p:spPr>
          <a:xfrm>
            <a:off x="9137141" y="3785615"/>
            <a:ext cx="2302002" cy="2679192"/>
          </a:xfrm>
          <a:prstGeom prst="rect">
            <a:avLst/>
          </a:prstGeom>
          <a:noFill/>
        </p:spPr>
        <p:txBody>
          <a:bodyPr wrap="square" anchor="t" lIns="54864" rIns="54864" tIns="32918" bIns="32918">
            <a:spAutoFit/>
          </a:bodyPr>
          <a:lstStyle/>
          <a:p>
            <a:pPr algn="l">
              <a:spcAft>
                <a:spcPts val="200"/>
              </a:spcAft>
            </a:pPr>
            <a:r>
              <a:rPr sz="1800" b="1" i="0">
                <a:solidFill>
                  <a:srgbClr val="1F8A4C"/>
                </a:solidFill>
                <a:latin typeface="Trebuchet MS"/>
              </a:rPr>
              <a:t>Do</a:t>
            </a:r>
            <a:endParaRPr sz="1800"/>
          </a:p>
          <a:p>
            <a:pPr algn="l">
              <a:spcAft>
                <a:spcPts val="1400"/>
              </a:spcAft>
            </a:pPr>
            <a:r>
              <a:rPr sz="2000" b="0" i="0">
                <a:solidFill>
                  <a:srgbClr val="10204A"/>
                </a:solidFill>
                <a:latin typeface="Trebuchet MS"/>
              </a:rPr>
              <a:t>Mark a regret</a:t>
            </a:r>
            <a:endParaRPr sz="2000"/>
          </a:p>
          <a:p>
            <a:pPr algn="l">
              <a:spcAft>
                <a:spcPts val="200"/>
              </a:spcAft>
            </a:pPr>
            <a:r>
              <a:rPr sz="1800" b="1" i="0">
                <a:solidFill>
                  <a:srgbClr val="1F8A4C"/>
                </a:solidFill>
                <a:latin typeface="Trebuchet MS"/>
              </a:rPr>
              <a:t>Panel sees</a:t>
            </a:r>
            <a:endParaRPr sz="1800"/>
          </a:p>
          <a:p>
            <a:pPr algn="l">
              <a:spcAft>
                <a:spcPts val="0"/>
              </a:spcAft>
            </a:pPr>
            <a:r>
              <a:rPr sz="2000" b="0" i="0">
                <a:solidFill>
                  <a:srgbClr val="10204A"/>
                </a:solidFill>
                <a:latin typeface="Trebuchet MS"/>
              </a:rPr>
              <a:t>Patterns; accept a group</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447800"/>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789432"/>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Test Plan and Strategy (1/2) – Activities</a:t>
            </a:r>
            <a:endParaRPr lang="en-US" sz="2400" dirty="0"/>
          </a:p>
        </p:txBody>
      </p:sp>
      <p:sp>
        <p:nvSpPr>
          <p:cNvPr id="15" name="Rounded Rectangle 14"/>
          <p:cNvSpPr/>
          <p:nvPr/>
        </p:nvSpPr>
        <p:spPr>
          <a:xfrm>
            <a:off x="640080" y="1874519"/>
            <a:ext cx="6629400" cy="4636007"/>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01268" y="2258568"/>
            <a:ext cx="45720" cy="3429000"/>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79" y="2148840"/>
            <a:ext cx="310896" cy="310896"/>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44167" y="2057400"/>
            <a:ext cx="5760720" cy="1051560"/>
          </a:xfrm>
          <a:prstGeom prst="rect">
            <a:avLst/>
          </a:prstGeom>
          <a:noFill/>
        </p:spPr>
        <p:txBody>
          <a:bodyPr wrap="square" anchor="t" lIns="18288" rIns="18288" tIns="10972" bIns="10972">
            <a:spAutoFit/>
          </a:bodyPr>
          <a:lstStyle/>
          <a:p>
            <a:pPr algn="l">
              <a:spcAft>
                <a:spcPts val="200"/>
              </a:spcAft>
            </a:pPr>
            <a:r>
              <a:rPr sz="2200" b="1" i="0">
                <a:solidFill>
                  <a:srgbClr val="0F4D2A"/>
                </a:solidFill>
                <a:latin typeface="Trebuchet MS"/>
              </a:rPr>
              <a:t>6 – 19 Oct</a:t>
            </a:r>
            <a:endParaRPr sz="2200"/>
          </a:p>
          <a:p>
            <a:pPr algn="l">
              <a:spcAft>
                <a:spcPts val="0"/>
              </a:spcAft>
            </a:pPr>
            <a:r>
              <a:rPr sz="2000" b="0" i="0">
                <a:solidFill>
                  <a:srgbClr val="10204A"/>
                </a:solidFill>
                <a:latin typeface="Trebuchet MS"/>
              </a:rPr>
              <a:t>Every file reviewed + simulation tests</a:t>
            </a:r>
            <a:endParaRPr sz="2000"/>
          </a:p>
        </p:txBody>
      </p:sp>
      <p:sp>
        <p:nvSpPr>
          <p:cNvPr id="19" name="Oval 18"/>
          <p:cNvSpPr/>
          <p:nvPr/>
        </p:nvSpPr>
        <p:spPr>
          <a:xfrm>
            <a:off x="868679" y="3264408"/>
            <a:ext cx="310896" cy="310896"/>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44167" y="3172968"/>
            <a:ext cx="5760720" cy="1051560"/>
          </a:xfrm>
          <a:prstGeom prst="rect">
            <a:avLst/>
          </a:prstGeom>
          <a:noFill/>
        </p:spPr>
        <p:txBody>
          <a:bodyPr wrap="square" anchor="t" lIns="18288" rIns="18288" tIns="10972" bIns="10972">
            <a:spAutoFit/>
          </a:bodyPr>
          <a:lstStyle/>
          <a:p>
            <a:pPr algn="l">
              <a:spcAft>
                <a:spcPts val="200"/>
              </a:spcAft>
            </a:pPr>
            <a:r>
              <a:rPr sz="2200" b="1" i="0">
                <a:solidFill>
                  <a:srgbClr val="0F4D2A"/>
                </a:solidFill>
                <a:latin typeface="Trebuchet MS"/>
              </a:rPr>
              <a:t>21 – 22 Oct</a:t>
            </a:r>
            <a:endParaRPr sz="2200"/>
          </a:p>
          <a:p>
            <a:pPr algn="l">
              <a:spcAft>
                <a:spcPts val="0"/>
              </a:spcAft>
            </a:pPr>
            <a:r>
              <a:rPr sz="2000" b="0" i="0">
                <a:solidFill>
                  <a:srgbClr val="10204A"/>
                </a:solidFill>
                <a:latin typeface="Trebuchet MS"/>
              </a:rPr>
              <a:t>Thresholds re-measured on local data</a:t>
            </a:r>
            <a:endParaRPr sz="2000"/>
          </a:p>
        </p:txBody>
      </p:sp>
      <p:sp>
        <p:nvSpPr>
          <p:cNvPr id="21" name="Oval 20"/>
          <p:cNvSpPr/>
          <p:nvPr/>
        </p:nvSpPr>
        <p:spPr>
          <a:xfrm>
            <a:off x="868679" y="4379976"/>
            <a:ext cx="310896" cy="310896"/>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44167" y="4288536"/>
            <a:ext cx="5760720" cy="1051560"/>
          </a:xfrm>
          <a:prstGeom prst="rect">
            <a:avLst/>
          </a:prstGeom>
          <a:noFill/>
        </p:spPr>
        <p:txBody>
          <a:bodyPr wrap="square" anchor="t" lIns="18288" rIns="18288" tIns="10972" bIns="10972">
            <a:spAutoFit/>
          </a:bodyPr>
          <a:lstStyle/>
          <a:p>
            <a:pPr algn="l">
              <a:spcAft>
                <a:spcPts val="200"/>
              </a:spcAft>
            </a:pPr>
            <a:r>
              <a:rPr sz="2200" b="1" i="0">
                <a:solidFill>
                  <a:srgbClr val="0F4D2A"/>
                </a:solidFill>
                <a:latin typeface="Trebuchet MS"/>
              </a:rPr>
              <a:t>22 – 25 Oct</a:t>
            </a:r>
            <a:endParaRPr sz="2200"/>
          </a:p>
          <a:p>
            <a:pPr algn="l">
              <a:spcAft>
                <a:spcPts val="0"/>
              </a:spcAft>
            </a:pPr>
            <a:r>
              <a:rPr sz="2000" b="0" i="0">
                <a:solidFill>
                  <a:srgbClr val="10204A"/>
                </a:solidFill>
                <a:latin typeface="Trebuchet MS"/>
              </a:rPr>
              <a:t>Unit + integration checks; freeze 25 Oct</a:t>
            </a:r>
            <a:endParaRPr sz="2000"/>
          </a:p>
        </p:txBody>
      </p:sp>
      <p:sp>
        <p:nvSpPr>
          <p:cNvPr id="23" name="Oval 22"/>
          <p:cNvSpPr/>
          <p:nvPr/>
        </p:nvSpPr>
        <p:spPr>
          <a:xfrm>
            <a:off x="868679" y="5495544"/>
            <a:ext cx="310896" cy="310896"/>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44167" y="5404104"/>
            <a:ext cx="5760720" cy="1051560"/>
          </a:xfrm>
          <a:prstGeom prst="rect">
            <a:avLst/>
          </a:prstGeom>
          <a:noFill/>
        </p:spPr>
        <p:txBody>
          <a:bodyPr wrap="square" anchor="t" lIns="18288" rIns="18288" tIns="10972" bIns="10972">
            <a:spAutoFit/>
          </a:bodyPr>
          <a:lstStyle/>
          <a:p>
            <a:pPr algn="l">
              <a:spcAft>
                <a:spcPts val="200"/>
              </a:spcAft>
            </a:pPr>
            <a:r>
              <a:rPr sz="2200" b="1" i="0">
                <a:solidFill>
                  <a:srgbClr val="0F4D2A"/>
                </a:solidFill>
                <a:latin typeface="Trebuchet MS"/>
              </a:rPr>
              <a:t>26 – 27 Oct</a:t>
            </a:r>
            <a:endParaRPr sz="2200"/>
          </a:p>
          <a:p>
            <a:pPr algn="l">
              <a:spcAft>
                <a:spcPts val="0"/>
              </a:spcAft>
            </a:pPr>
            <a:r>
              <a:rPr sz="2000" b="0" i="0">
                <a:solidFill>
                  <a:srgbClr val="10204A"/>
                </a:solidFill>
                <a:latin typeface="Trebuchet MS"/>
              </a:rPr>
              <a:t>End-to-end run, evaluation, rehearsal</a:t>
            </a:r>
            <a:endParaRPr sz="2000"/>
          </a:p>
        </p:txBody>
      </p:sp>
      <p:sp>
        <p:nvSpPr>
          <p:cNvPr id="25" name="Rounded Rectangle 24"/>
          <p:cNvSpPr/>
          <p:nvPr/>
        </p:nvSpPr>
        <p:spPr>
          <a:xfrm>
            <a:off x="7543800" y="1874519"/>
            <a:ext cx="4005072" cy="27432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43800" y="1984248"/>
            <a:ext cx="73152" cy="2523744"/>
          </a:xfrm>
          <a:prstGeom prst="rect">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90104" y="1911095"/>
            <a:ext cx="3803904" cy="2670048"/>
          </a:xfrm>
          <a:prstGeom prst="rect">
            <a:avLst/>
          </a:prstGeom>
          <a:noFill/>
        </p:spPr>
        <p:txBody>
          <a:bodyPr wrap="square" anchor="t" tIns="54864" bIns="54864">
            <a:spAutoFit/>
          </a:bodyPr>
          <a:lstStyle/>
          <a:p>
            <a:pPr algn="l">
              <a:spcAft>
                <a:spcPts val="600"/>
              </a:spcAft>
            </a:pPr>
            <a:r>
              <a:rPr sz="2200" b="1" i="0">
                <a:solidFill>
                  <a:srgbClr val="4A556E"/>
                </a:solidFill>
                <a:latin typeface="Trebuchet MS"/>
              </a:rPr>
              <a:t>Test environment</a:t>
            </a:r>
            <a:endParaRPr sz="2200"/>
          </a:p>
          <a:p>
            <a:pPr algn="l" marL="256032" indent="-256032">
              <a:spcAft>
                <a:spcPts val="300"/>
              </a:spcAft>
              <a:buFont typeface="Arial"/>
              <a:buChar char="•"/>
            </a:pPr>
            <a:r>
              <a:rPr sz="2000" b="0" i="0">
                <a:solidFill>
                  <a:srgbClr val="10204A"/>
                </a:solidFill>
                <a:latin typeface="Trebuchet MS"/>
              </a:rPr>
              <a:t>Windows 11 laptop</a:t>
            </a:r>
            <a:endParaRPr sz="2000"/>
          </a:p>
          <a:p>
            <a:pPr algn="l" marL="256032" indent="-256032">
              <a:spcAft>
                <a:spcPts val="300"/>
              </a:spcAft>
              <a:buFont typeface="Arial"/>
              <a:buChar char="•"/>
            </a:pPr>
            <a:r>
              <a:rPr sz="2000" b="0" i="0">
                <a:solidFill>
                  <a:srgbClr val="10204A"/>
                </a:solidFill>
                <a:latin typeface="Trebuchet MS"/>
              </a:rPr>
              <a:t>PostgreSQL 16 + Redis (WSL)</a:t>
            </a:r>
            <a:endParaRPr sz="2000"/>
          </a:p>
          <a:p>
            <a:pPr algn="l" marL="256032" indent="-256032">
              <a:spcAft>
                <a:spcPts val="300"/>
              </a:spcAft>
              <a:buFont typeface="Arial"/>
              <a:buChar char="•"/>
            </a:pPr>
            <a:r>
              <a:rPr sz="2000" b="0" i="0">
                <a:solidFill>
                  <a:srgbClr val="10204A"/>
                </a:solidFill>
                <a:latin typeface="Trebuchet MS"/>
              </a:rPr>
              <a:t>Chrome + extension</a:t>
            </a:r>
            <a:endParaRPr sz="2000"/>
          </a:p>
          <a:p>
            <a:pPr algn="l" marL="256032" indent="-256032">
              <a:spcAft>
                <a:spcPts val="0"/>
              </a:spcAft>
              <a:buFont typeface="Arial"/>
              <a:buChar char="•"/>
            </a:pPr>
            <a:r>
              <a:rPr sz="2000" b="0" i="0">
                <a:solidFill>
                  <a:srgbClr val="10204A"/>
                </a:solidFill>
                <a:latin typeface="Trebuchet MS"/>
              </a:rPr>
              <a:t>Test Gmail / YouTube</a:t>
            </a:r>
            <a:endParaRPr sz="2000"/>
          </a:p>
        </p:txBody>
      </p:sp>
      <p:sp>
        <p:nvSpPr>
          <p:cNvPr id="28" name="Rounded Rectangle 27"/>
          <p:cNvSpPr/>
          <p:nvPr/>
        </p:nvSpPr>
        <p:spPr>
          <a:xfrm>
            <a:off x="7543800" y="4773168"/>
            <a:ext cx="4005072" cy="173735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800" y="4882896"/>
            <a:ext cx="73152" cy="1517903"/>
          </a:xfrm>
          <a:prstGeom prst="rect">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0104" y="4809744"/>
            <a:ext cx="3803904" cy="1664207"/>
          </a:xfrm>
          <a:prstGeom prst="rect">
            <a:avLst/>
          </a:prstGeom>
          <a:noFill/>
        </p:spPr>
        <p:txBody>
          <a:bodyPr wrap="square" anchor="t" tIns="54864" bIns="54864">
            <a:spAutoFit/>
          </a:bodyPr>
          <a:lstStyle/>
          <a:p>
            <a:pPr algn="l">
              <a:spcAft>
                <a:spcPts val="600"/>
              </a:spcAft>
            </a:pPr>
            <a:r>
              <a:rPr sz="2200" b="1" i="0">
                <a:solidFill>
                  <a:srgbClr val="4A556E"/>
                </a:solidFill>
                <a:latin typeface="Trebuchet MS"/>
              </a:rPr>
              <a:t>Team roles in testing</a:t>
            </a:r>
            <a:endParaRPr sz="2200"/>
          </a:p>
          <a:p>
            <a:pPr algn="l">
              <a:spcAft>
                <a:spcPts val="0"/>
              </a:spcAft>
            </a:pPr>
            <a:r>
              <a:rPr sz="2000" b="0" i="1">
                <a:solidFill>
                  <a:srgbClr val="455068"/>
                </a:solidFill>
                <a:latin typeface="Trebuchet MS"/>
              </a:rPr>
              <a:t>[to be added by the team]</a:t>
            </a:r>
            <a:endParaRPr sz="2000"/>
          </a:p>
        </p:txBody>
      </p:sp>
    </p:spTree>
    <p:extLst>
      <p:ext uri="{BB962C8B-B14F-4D97-AF65-F5344CB8AC3E}">
        <p14:creationId xmlns:p14="http://schemas.microsoft.com/office/powerpoint/2010/main" val="4205369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Results and Discussion (1/2) – Measured</a:t>
            </a:r>
            <a:endParaRPr lang="en-US" sz="2400" dirty="0"/>
          </a:p>
        </p:txBody>
      </p:sp>
      <p:sp>
        <p:nvSpPr>
          <p:cNvPr id="4" name="Rounded Rectangle 3"/>
          <p:cNvSpPr/>
          <p:nvPr/>
        </p:nvSpPr>
        <p:spPr>
          <a:xfrm>
            <a:off x="640080" y="1874519"/>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874519"/>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6 of 8</a:t>
            </a:r>
            <a:endParaRPr sz="2400"/>
          </a:p>
        </p:txBody>
      </p:sp>
      <p:sp>
        <p:nvSpPr>
          <p:cNvPr id="6" name="TextBox 5"/>
          <p:cNvSpPr txBox="1"/>
          <p:nvPr/>
        </p:nvSpPr>
        <p:spPr>
          <a:xfrm>
            <a:off x="3337560" y="1874519"/>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mails lost text to signature removal</a:t>
            </a:r>
            <a:endParaRPr sz="2000"/>
          </a:p>
        </p:txBody>
      </p:sp>
      <p:sp>
        <p:nvSpPr>
          <p:cNvPr id="7" name="Rounded Rectangle 6"/>
          <p:cNvSpPr/>
          <p:nvPr/>
        </p:nvSpPr>
        <p:spPr>
          <a:xfrm>
            <a:off x="9217152" y="2003297"/>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step removed</a:t>
            </a:r>
            <a:endParaRPr sz="1800"/>
          </a:p>
        </p:txBody>
      </p:sp>
      <p:sp>
        <p:nvSpPr>
          <p:cNvPr id="8" name="Rounded Rectangle 7"/>
          <p:cNvSpPr/>
          <p:nvPr/>
        </p:nvSpPr>
        <p:spPr>
          <a:xfrm>
            <a:off x="640080" y="2662428"/>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2662428"/>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1 of 20</a:t>
            </a:r>
            <a:endParaRPr sz="2400"/>
          </a:p>
        </p:txBody>
      </p:sp>
      <p:sp>
        <p:nvSpPr>
          <p:cNvPr id="10" name="TextBox 9"/>
          <p:cNvSpPr txBox="1"/>
          <p:nvPr/>
        </p:nvSpPr>
        <p:spPr>
          <a:xfrm>
            <a:off x="3337560" y="2662428"/>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items classified by seed centroids</a:t>
            </a:r>
            <a:endParaRPr sz="2000"/>
          </a:p>
        </p:txBody>
      </p:sp>
      <p:sp>
        <p:nvSpPr>
          <p:cNvPr id="11" name="Rounded Rectangle 10"/>
          <p:cNvSpPr/>
          <p:nvPr/>
        </p:nvSpPr>
        <p:spPr>
          <a:xfrm>
            <a:off x="9217152" y="2791206"/>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richer seeds</a:t>
            </a:r>
            <a:endParaRPr sz="1800"/>
          </a:p>
        </p:txBody>
      </p:sp>
      <p:sp>
        <p:nvSpPr>
          <p:cNvPr id="12" name="Rounded Rectangle 11"/>
          <p:cNvSpPr/>
          <p:nvPr/>
        </p:nvSpPr>
        <p:spPr>
          <a:xfrm>
            <a:off x="640080" y="3450336"/>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3450336"/>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0.90 vs 0.15</a:t>
            </a:r>
            <a:endParaRPr sz="2400"/>
          </a:p>
        </p:txBody>
      </p:sp>
      <p:sp>
        <p:nvSpPr>
          <p:cNvPr id="14" name="TextBox 13"/>
          <p:cNvSpPr txBox="1"/>
          <p:nvPr/>
        </p:nvSpPr>
        <p:spPr>
          <a:xfrm>
            <a:off x="3337560" y="3450336"/>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same topic vs same source (cosine)</a:t>
            </a:r>
            <a:endParaRPr sz="2000"/>
          </a:p>
        </p:txBody>
      </p:sp>
      <p:sp>
        <p:nvSpPr>
          <p:cNvPr id="15" name="Rounded Rectangle 14"/>
          <p:cNvSpPr/>
          <p:nvPr/>
        </p:nvSpPr>
        <p:spPr>
          <a:xfrm>
            <a:off x="9217152" y="3579114"/>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learns topic</a:t>
            </a:r>
            <a:endParaRPr sz="1800"/>
          </a:p>
        </p:txBody>
      </p:sp>
      <p:sp>
        <p:nvSpPr>
          <p:cNvPr id="16" name="Rounded Rectangle 15"/>
          <p:cNvSpPr/>
          <p:nvPr/>
        </p:nvSpPr>
        <p:spPr>
          <a:xfrm>
            <a:off x="640080" y="4238244"/>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4238244"/>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19 of 60</a:t>
            </a:r>
            <a:endParaRPr sz="2400"/>
          </a:p>
        </p:txBody>
      </p:sp>
      <p:sp>
        <p:nvSpPr>
          <p:cNvPr id="18" name="TextBox 17"/>
          <p:cNvSpPr txBox="1"/>
          <p:nvPr/>
        </p:nvSpPr>
        <p:spPr>
          <a:xfrm>
            <a:off x="3337560" y="4238244"/>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student domains in the domain map</a:t>
            </a:r>
            <a:endParaRPr sz="2000"/>
          </a:p>
        </p:txBody>
      </p:sp>
      <p:sp>
        <p:nvSpPr>
          <p:cNvPr id="19" name="Rounded Rectangle 18"/>
          <p:cNvSpPr/>
          <p:nvPr/>
        </p:nvSpPr>
        <p:spPr>
          <a:xfrm>
            <a:off x="9217152" y="4367022"/>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map grown</a:t>
            </a:r>
            <a:endParaRPr sz="1800"/>
          </a:p>
        </p:txBody>
      </p:sp>
      <p:sp>
        <p:nvSpPr>
          <p:cNvPr id="20" name="Rounded Rectangle 19"/>
          <p:cNvSpPr/>
          <p:nvPr/>
        </p:nvSpPr>
        <p:spPr>
          <a:xfrm>
            <a:off x="640080" y="5026151"/>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19" y="5026151"/>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261 tokens</a:t>
            </a:r>
            <a:endParaRPr sz="2400"/>
          </a:p>
        </p:txBody>
      </p:sp>
      <p:sp>
        <p:nvSpPr>
          <p:cNvPr id="22" name="TextBox 21"/>
          <p:cNvSpPr txBox="1"/>
          <p:nvPr/>
        </p:nvSpPr>
        <p:spPr>
          <a:xfrm>
            <a:off x="3337560" y="5026151"/>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1,346-char mail; model reads 256</a:t>
            </a:r>
            <a:endParaRPr sz="2000"/>
          </a:p>
        </p:txBody>
      </p:sp>
      <p:sp>
        <p:nvSpPr>
          <p:cNvPr id="23" name="Rounded Rectangle 22"/>
          <p:cNvSpPr/>
          <p:nvPr/>
        </p:nvSpPr>
        <p:spPr>
          <a:xfrm>
            <a:off x="9217152" y="5154929"/>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new model</a:t>
            </a:r>
            <a:endParaRPr sz="1800"/>
          </a:p>
        </p:txBody>
      </p:sp>
      <p:sp>
        <p:nvSpPr>
          <p:cNvPr id="24" name="Rounded Rectangle 23"/>
          <p:cNvSpPr/>
          <p:nvPr/>
        </p:nvSpPr>
        <p:spPr>
          <a:xfrm>
            <a:off x="640080" y="5814059"/>
            <a:ext cx="10908792"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19" y="5814059"/>
            <a:ext cx="2514600" cy="696468"/>
          </a:xfrm>
          <a:prstGeom prst="rect">
            <a:avLst/>
          </a:prstGeom>
          <a:noFill/>
        </p:spPr>
        <p:txBody>
          <a:bodyPr wrap="square" anchor="ctr" lIns="18288" rIns="18288" tIns="10972" bIns="10972">
            <a:spAutoFit/>
          </a:bodyPr>
          <a:lstStyle/>
          <a:p>
            <a:pPr algn="ctr">
              <a:spcAft>
                <a:spcPts val="0"/>
              </a:spcAft>
            </a:pPr>
            <a:r>
              <a:rPr sz="2400" b="1" i="0">
                <a:solidFill>
                  <a:srgbClr val="C26A00"/>
                </a:solidFill>
                <a:latin typeface="Trebuchet MS"/>
              </a:rPr>
              <a:t>6.1 → 0.5 s</a:t>
            </a:r>
            <a:endParaRPr sz="2400"/>
          </a:p>
        </p:txBody>
      </p:sp>
      <p:sp>
        <p:nvSpPr>
          <p:cNvPr id="26" name="TextBox 25"/>
          <p:cNvSpPr txBox="1"/>
          <p:nvPr/>
        </p:nvSpPr>
        <p:spPr>
          <a:xfrm>
            <a:off x="3337560" y="5814059"/>
            <a:ext cx="5760720" cy="696468"/>
          </a:xfrm>
          <a:prstGeom prst="rect">
            <a:avLst/>
          </a:prstGeom>
          <a:noFill/>
        </p:spPr>
        <p:txBody>
          <a:bodyPr wrap="square" anchor="ctr" lIns="36576" rIns="36576" tIns="21945" bIns="21945">
            <a:spAutoFit/>
          </a:bodyPr>
          <a:lstStyle/>
          <a:p>
            <a:pPr algn="l">
              <a:spcAft>
                <a:spcPts val="0"/>
              </a:spcAft>
            </a:pPr>
            <a:r>
              <a:rPr sz="2000" b="0" i="0">
                <a:solidFill>
                  <a:srgbClr val="10204A"/>
                </a:solidFill>
                <a:latin typeface="Trebuchet MS"/>
              </a:rPr>
              <a:t>model load with offline cache</a:t>
            </a:r>
            <a:endParaRPr sz="2000"/>
          </a:p>
        </p:txBody>
      </p:sp>
      <p:sp>
        <p:nvSpPr>
          <p:cNvPr id="27" name="Rounded Rectangle 26"/>
          <p:cNvSpPr/>
          <p:nvPr/>
        </p:nvSpPr>
        <p:spPr>
          <a:xfrm>
            <a:off x="9217152" y="5942837"/>
            <a:ext cx="2194560" cy="438912"/>
          </a:xfrm>
          <a:prstGeom prst="roundRect">
            <a:avLst>
              <a:gd name="adj" fmla="val 50000"/>
            </a:avLst>
          </a:prstGeom>
          <a:solidFill>
            <a:srgbClr val="FFF4E3"/>
          </a:solidFill>
          <a:ln w="127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6B3A00"/>
                </a:solidFill>
                <a:latin typeface="Trebuchet MS"/>
              </a:rPr>
              <a:t>→ faster start</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Timeline – Update on Tasks</a:t>
            </a:r>
            <a:endParaRPr lang="en-US" sz="2400" dirty="0"/>
          </a:p>
        </p:txBody>
      </p:sp>
      <p:sp>
        <p:nvSpPr>
          <p:cNvPr id="4" name="Rounded Rectangle 3"/>
          <p:cNvSpPr/>
          <p:nvPr/>
        </p:nvSpPr>
        <p:spPr>
          <a:xfrm>
            <a:off x="640080" y="1874519"/>
            <a:ext cx="3429000" cy="4636007"/>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84248"/>
            <a:ext cx="3429000" cy="1005840"/>
          </a:xfrm>
          <a:prstGeom prst="rect">
            <a:avLst/>
          </a:prstGeom>
          <a:noFill/>
        </p:spPr>
        <p:txBody>
          <a:bodyPr wrap="square" anchor="ctr" lIns="73152" rIns="73152" tIns="43891" bIns="43891">
            <a:spAutoFit/>
          </a:bodyPr>
          <a:lstStyle/>
          <a:p>
            <a:pPr algn="ctr">
              <a:spcAft>
                <a:spcPts val="0"/>
              </a:spcAft>
            </a:pPr>
            <a:r>
              <a:rPr sz="6000" b="1" i="0">
                <a:solidFill>
                  <a:srgbClr val="0033CC"/>
                </a:solidFill>
                <a:latin typeface="Trebuchet MS"/>
              </a:rPr>
              <a:t>100%</a:t>
            </a:r>
            <a:endParaRPr sz="6000"/>
          </a:p>
        </p:txBody>
      </p:sp>
      <p:sp>
        <p:nvSpPr>
          <p:cNvPr id="6" name="TextBox 5"/>
          <p:cNvSpPr txBox="1"/>
          <p:nvPr/>
        </p:nvSpPr>
        <p:spPr>
          <a:xfrm>
            <a:off x="640080" y="2944368"/>
            <a:ext cx="3429000" cy="411480"/>
          </a:xfrm>
          <a:prstGeom prst="rect">
            <a:avLst/>
          </a:prstGeom>
          <a:noFill/>
        </p:spPr>
        <p:txBody>
          <a:bodyPr wrap="square" anchor="t" lIns="73152" rIns="73152" tIns="43891" bIns="43891">
            <a:spAutoFit/>
          </a:bodyPr>
          <a:lstStyle/>
          <a:p>
            <a:pPr algn="ctr">
              <a:spcAft>
                <a:spcPts val="0"/>
              </a:spcAft>
            </a:pPr>
            <a:r>
              <a:rPr sz="2000" b="0" i="0">
                <a:solidFill>
                  <a:srgbClr val="10204A"/>
                </a:solidFill>
                <a:latin typeface="Trebuchet MS"/>
              </a:rPr>
              <a:t>implemented</a:t>
            </a:r>
            <a:endParaRPr sz="2000"/>
          </a:p>
        </p:txBody>
      </p:sp>
      <p:sp>
        <p:nvSpPr>
          <p:cNvPr id="7" name="Oval 6"/>
          <p:cNvSpPr/>
          <p:nvPr/>
        </p:nvSpPr>
        <p:spPr>
          <a:xfrm>
            <a:off x="841247" y="3611880"/>
            <a:ext cx="201168" cy="201168"/>
          </a:xfrm>
          <a:prstGeom prst="ellipse">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493008"/>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Capture</a:t>
            </a:r>
            <a:endParaRPr sz="2000"/>
          </a:p>
        </p:txBody>
      </p:sp>
      <p:sp>
        <p:nvSpPr>
          <p:cNvPr id="9" name="Rounded Rectangle 8"/>
          <p:cNvSpPr/>
          <p:nvPr/>
        </p:nvSpPr>
        <p:spPr>
          <a:xfrm>
            <a:off x="3017520" y="3529584"/>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10" name="Oval 9"/>
          <p:cNvSpPr/>
          <p:nvPr/>
        </p:nvSpPr>
        <p:spPr>
          <a:xfrm>
            <a:off x="841247" y="4096512"/>
            <a:ext cx="201168" cy="201168"/>
          </a:xfrm>
          <a:prstGeom prst="ellipse">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977640"/>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Storage</a:t>
            </a:r>
            <a:endParaRPr sz="2000"/>
          </a:p>
        </p:txBody>
      </p:sp>
      <p:sp>
        <p:nvSpPr>
          <p:cNvPr id="12" name="Rounded Rectangle 11"/>
          <p:cNvSpPr/>
          <p:nvPr/>
        </p:nvSpPr>
        <p:spPr>
          <a:xfrm>
            <a:off x="3017520" y="4014216"/>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13" name="Oval 12"/>
          <p:cNvSpPr/>
          <p:nvPr/>
        </p:nvSpPr>
        <p:spPr>
          <a:xfrm>
            <a:off x="841247" y="4581144"/>
            <a:ext cx="201168" cy="201168"/>
          </a:xfrm>
          <a:prstGeom prst="ellipse">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462272"/>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Enrichment</a:t>
            </a:r>
            <a:endParaRPr sz="2000"/>
          </a:p>
        </p:txBody>
      </p:sp>
      <p:sp>
        <p:nvSpPr>
          <p:cNvPr id="15" name="Rounded Rectangle 14"/>
          <p:cNvSpPr/>
          <p:nvPr/>
        </p:nvSpPr>
        <p:spPr>
          <a:xfrm>
            <a:off x="3017520" y="4498848"/>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16" name="Oval 15"/>
          <p:cNvSpPr/>
          <p:nvPr/>
        </p:nvSpPr>
        <p:spPr>
          <a:xfrm>
            <a:off x="841247" y="5065776"/>
            <a:ext cx="201168" cy="201168"/>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946904"/>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Recall + MCP</a:t>
            </a:r>
            <a:endParaRPr sz="2000"/>
          </a:p>
        </p:txBody>
      </p:sp>
      <p:sp>
        <p:nvSpPr>
          <p:cNvPr id="18" name="Rounded Rectangle 17"/>
          <p:cNvSpPr/>
          <p:nvPr/>
        </p:nvSpPr>
        <p:spPr>
          <a:xfrm>
            <a:off x="3017520" y="4983480"/>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19" name="Oval 18"/>
          <p:cNvSpPr/>
          <p:nvPr/>
        </p:nvSpPr>
        <p:spPr>
          <a:xfrm>
            <a:off x="841247" y="5550408"/>
            <a:ext cx="201168" cy="201168"/>
          </a:xfrm>
          <a:prstGeom prst="ellipse">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5431536"/>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Wellbeing</a:t>
            </a:r>
            <a:endParaRPr sz="2000"/>
          </a:p>
        </p:txBody>
      </p:sp>
      <p:sp>
        <p:nvSpPr>
          <p:cNvPr id="21" name="Rounded Rectangle 20"/>
          <p:cNvSpPr/>
          <p:nvPr/>
        </p:nvSpPr>
        <p:spPr>
          <a:xfrm>
            <a:off x="3017520" y="5468112"/>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22" name="Oval 21"/>
          <p:cNvSpPr/>
          <p:nvPr/>
        </p:nvSpPr>
        <p:spPr>
          <a:xfrm>
            <a:off x="841247" y="6035040"/>
            <a:ext cx="201168" cy="201168"/>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5916168"/>
            <a:ext cx="1828800" cy="438912"/>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Dashboard</a:t>
            </a:r>
            <a:endParaRPr sz="2000"/>
          </a:p>
        </p:txBody>
      </p:sp>
      <p:sp>
        <p:nvSpPr>
          <p:cNvPr id="24" name="Rounded Rectangle 23"/>
          <p:cNvSpPr/>
          <p:nvPr/>
        </p:nvSpPr>
        <p:spPr>
          <a:xfrm>
            <a:off x="3017520" y="5952744"/>
            <a:ext cx="914400" cy="384048"/>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25" name="Pentagon 24"/>
          <p:cNvSpPr/>
          <p:nvPr/>
        </p:nvSpPr>
        <p:spPr>
          <a:xfrm>
            <a:off x="4343400" y="1874519"/>
            <a:ext cx="1965960" cy="839419"/>
          </a:xfrm>
          <a:prstGeom prst="homePlate">
            <a:avLst>
              <a:gd name="adj" fmla="val 25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000" b="1" i="0">
                <a:solidFill>
                  <a:srgbClr val="FFFFFF"/>
                </a:solidFill>
                <a:latin typeface="Trebuchet MS"/>
              </a:rPr>
              <a:t>6 – 19 Oct</a:t>
            </a:r>
            <a:endParaRPr sz="2000"/>
          </a:p>
        </p:txBody>
      </p:sp>
      <p:sp>
        <p:nvSpPr>
          <p:cNvPr id="26" name="Rounded Rectangle 25"/>
          <p:cNvSpPr/>
          <p:nvPr/>
        </p:nvSpPr>
        <p:spPr>
          <a:xfrm>
            <a:off x="6400800" y="1874519"/>
            <a:ext cx="5148072" cy="83941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1874519"/>
            <a:ext cx="3685032" cy="839419"/>
          </a:xfrm>
          <a:prstGeom prst="rect">
            <a:avLst/>
          </a:prstGeom>
          <a:noFill/>
        </p:spPr>
        <p:txBody>
          <a:bodyPr wrap="square" anchor="ctr" lIns="18288" rIns="18288" tIns="10972" bIns="10972">
            <a:spAutoFit/>
          </a:bodyPr>
          <a:lstStyle/>
          <a:p>
            <a:pPr algn="l">
              <a:spcAft>
                <a:spcPts val="0"/>
              </a:spcAft>
            </a:pPr>
            <a:r>
              <a:rPr sz="2100" b="1" i="0">
                <a:solidFill>
                  <a:srgbClr val="10204A"/>
                </a:solidFill>
                <a:latin typeface="Trebuchet MS"/>
              </a:rPr>
              <a:t>Every file reviewed</a:t>
            </a:r>
            <a:endParaRPr sz="2100"/>
          </a:p>
        </p:txBody>
      </p:sp>
      <p:sp>
        <p:nvSpPr>
          <p:cNvPr id="28" name="Rounded Rectangle 27"/>
          <p:cNvSpPr/>
          <p:nvPr/>
        </p:nvSpPr>
        <p:spPr>
          <a:xfrm>
            <a:off x="10268712" y="2093061"/>
            <a:ext cx="1143000" cy="402336"/>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29" name="Pentagon 28"/>
          <p:cNvSpPr/>
          <p:nvPr/>
        </p:nvSpPr>
        <p:spPr>
          <a:xfrm>
            <a:off x="4343400" y="2823667"/>
            <a:ext cx="1965960" cy="839419"/>
          </a:xfrm>
          <a:prstGeom prst="homePlate">
            <a:avLst>
              <a:gd name="adj" fmla="val 25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000" b="1" i="0">
                <a:solidFill>
                  <a:srgbClr val="FFFFFF"/>
                </a:solidFill>
                <a:latin typeface="Trebuchet MS"/>
              </a:rPr>
              <a:t>18 – 21 Oct</a:t>
            </a:r>
            <a:endParaRPr sz="2000"/>
          </a:p>
        </p:txBody>
      </p:sp>
      <p:sp>
        <p:nvSpPr>
          <p:cNvPr id="30" name="Rounded Rectangle 29"/>
          <p:cNvSpPr/>
          <p:nvPr/>
        </p:nvSpPr>
        <p:spPr>
          <a:xfrm>
            <a:off x="6400800" y="2823667"/>
            <a:ext cx="5148072" cy="83941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2823667"/>
            <a:ext cx="3685032" cy="839419"/>
          </a:xfrm>
          <a:prstGeom prst="rect">
            <a:avLst/>
          </a:prstGeom>
          <a:noFill/>
        </p:spPr>
        <p:txBody>
          <a:bodyPr wrap="square" anchor="ctr" lIns="18288" rIns="18288" tIns="10972" bIns="10972">
            <a:spAutoFit/>
          </a:bodyPr>
          <a:lstStyle/>
          <a:p>
            <a:pPr algn="l">
              <a:spcAft>
                <a:spcPts val="0"/>
              </a:spcAft>
            </a:pPr>
            <a:r>
              <a:rPr sz="2100" b="1" i="0">
                <a:solidFill>
                  <a:srgbClr val="10204A"/>
                </a:solidFill>
                <a:latin typeface="Trebuchet MS"/>
              </a:rPr>
              <a:t>All decisions closed</a:t>
            </a:r>
            <a:endParaRPr sz="2100"/>
          </a:p>
        </p:txBody>
      </p:sp>
      <p:sp>
        <p:nvSpPr>
          <p:cNvPr id="32" name="Rounded Rectangle 31"/>
          <p:cNvSpPr/>
          <p:nvPr/>
        </p:nvSpPr>
        <p:spPr>
          <a:xfrm>
            <a:off x="10268712" y="3042208"/>
            <a:ext cx="1143000" cy="402336"/>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33" name="Pentagon 32"/>
          <p:cNvSpPr/>
          <p:nvPr/>
        </p:nvSpPr>
        <p:spPr>
          <a:xfrm>
            <a:off x="4343400" y="3772814"/>
            <a:ext cx="1965960" cy="839419"/>
          </a:xfrm>
          <a:prstGeom prst="homePlate">
            <a:avLst>
              <a:gd name="adj" fmla="val 25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000" b="1" i="0">
                <a:solidFill>
                  <a:srgbClr val="FFFFFF"/>
                </a:solidFill>
                <a:latin typeface="Trebuchet MS"/>
              </a:rPr>
              <a:t>22 – 25 Oct</a:t>
            </a:r>
            <a:endParaRPr sz="2000"/>
          </a:p>
        </p:txBody>
      </p:sp>
      <p:sp>
        <p:nvSpPr>
          <p:cNvPr id="34" name="Rounded Rectangle 33"/>
          <p:cNvSpPr/>
          <p:nvPr/>
        </p:nvSpPr>
        <p:spPr>
          <a:xfrm>
            <a:off x="6400800" y="3772814"/>
            <a:ext cx="5148072" cy="83941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3772814"/>
            <a:ext cx="3685032" cy="839419"/>
          </a:xfrm>
          <a:prstGeom prst="rect">
            <a:avLst/>
          </a:prstGeom>
          <a:noFill/>
        </p:spPr>
        <p:txBody>
          <a:bodyPr wrap="square" anchor="ctr" lIns="18288" rIns="18288" tIns="10972" bIns="10972">
            <a:spAutoFit/>
          </a:bodyPr>
          <a:lstStyle/>
          <a:p>
            <a:pPr algn="l">
              <a:spcAft>
                <a:spcPts val="0"/>
              </a:spcAft>
            </a:pPr>
            <a:r>
              <a:rPr sz="2100" b="1" i="0">
                <a:solidFill>
                  <a:srgbClr val="10204A"/>
                </a:solidFill>
                <a:latin typeface="Trebuchet MS"/>
              </a:rPr>
              <a:t>Decisions built, frozen</a:t>
            </a:r>
            <a:endParaRPr sz="2100"/>
          </a:p>
        </p:txBody>
      </p:sp>
      <p:sp>
        <p:nvSpPr>
          <p:cNvPr id="36" name="Rounded Rectangle 35"/>
          <p:cNvSpPr/>
          <p:nvPr/>
        </p:nvSpPr>
        <p:spPr>
          <a:xfrm>
            <a:off x="10268712" y="3991355"/>
            <a:ext cx="1143000" cy="402336"/>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37" name="Pentagon 36"/>
          <p:cNvSpPr/>
          <p:nvPr/>
        </p:nvSpPr>
        <p:spPr>
          <a:xfrm>
            <a:off x="4343400" y="4721961"/>
            <a:ext cx="1965960" cy="839419"/>
          </a:xfrm>
          <a:prstGeom prst="homePlate">
            <a:avLst>
              <a:gd name="adj" fmla="val 25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000" b="1" i="0">
                <a:solidFill>
                  <a:srgbClr val="FFFFFF"/>
                </a:solidFill>
                <a:latin typeface="Trebuchet MS"/>
              </a:rPr>
              <a:t>26 – 27 Oct</a:t>
            </a:r>
            <a:endParaRPr sz="2000"/>
          </a:p>
        </p:txBody>
      </p:sp>
      <p:sp>
        <p:nvSpPr>
          <p:cNvPr id="38" name="Rounded Rectangle 37"/>
          <p:cNvSpPr/>
          <p:nvPr/>
        </p:nvSpPr>
        <p:spPr>
          <a:xfrm>
            <a:off x="6400800" y="4721961"/>
            <a:ext cx="5148072" cy="83941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60" y="4721961"/>
            <a:ext cx="3685032" cy="839419"/>
          </a:xfrm>
          <a:prstGeom prst="rect">
            <a:avLst/>
          </a:prstGeom>
          <a:noFill/>
        </p:spPr>
        <p:txBody>
          <a:bodyPr wrap="square" anchor="ctr" lIns="18288" rIns="18288" tIns="10972" bIns="10972">
            <a:spAutoFit/>
          </a:bodyPr>
          <a:lstStyle/>
          <a:p>
            <a:pPr algn="l">
              <a:spcAft>
                <a:spcPts val="0"/>
              </a:spcAft>
            </a:pPr>
            <a:r>
              <a:rPr sz="2100" b="1" i="0">
                <a:solidFill>
                  <a:srgbClr val="10204A"/>
                </a:solidFill>
                <a:latin typeface="Trebuchet MS"/>
              </a:rPr>
              <a:t>Measured, rehearsed</a:t>
            </a:r>
            <a:endParaRPr sz="2100"/>
          </a:p>
        </p:txBody>
      </p:sp>
      <p:sp>
        <p:nvSpPr>
          <p:cNvPr id="40" name="Rounded Rectangle 39"/>
          <p:cNvSpPr/>
          <p:nvPr/>
        </p:nvSpPr>
        <p:spPr>
          <a:xfrm>
            <a:off x="10268712" y="4940503"/>
            <a:ext cx="1143000" cy="402336"/>
          </a:xfrm>
          <a:prstGeom prst="roundRect">
            <a:avLst>
              <a:gd name="adj" fmla="val 50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done</a:t>
            </a:r>
            <a:endParaRPr sz="1800"/>
          </a:p>
        </p:txBody>
      </p:sp>
      <p:sp>
        <p:nvSpPr>
          <p:cNvPr id="41" name="Pentagon 40"/>
          <p:cNvSpPr/>
          <p:nvPr/>
        </p:nvSpPr>
        <p:spPr>
          <a:xfrm>
            <a:off x="4343400" y="5671108"/>
            <a:ext cx="1965960" cy="839419"/>
          </a:xfrm>
          <a:prstGeom prst="homePlate">
            <a:avLst>
              <a:gd name="adj" fmla="val 25000"/>
            </a:avLst>
          </a:prstGeom>
          <a:solidFill>
            <a:srgbClr val="C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000" b="1" i="0">
                <a:solidFill>
                  <a:srgbClr val="FFFFFF"/>
                </a:solidFill>
                <a:latin typeface="Trebuchet MS"/>
              </a:rPr>
              <a:t>Wed 28 Oct</a:t>
            </a:r>
            <a:endParaRPr sz="2000"/>
          </a:p>
        </p:txBody>
      </p:sp>
      <p:sp>
        <p:nvSpPr>
          <p:cNvPr id="42" name="Rounded Rectangle 41"/>
          <p:cNvSpPr/>
          <p:nvPr/>
        </p:nvSpPr>
        <p:spPr>
          <a:xfrm>
            <a:off x="6400800" y="5671108"/>
            <a:ext cx="5148072" cy="83941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5671108"/>
            <a:ext cx="3685032" cy="839419"/>
          </a:xfrm>
          <a:prstGeom prst="rect">
            <a:avLst/>
          </a:prstGeom>
          <a:noFill/>
        </p:spPr>
        <p:txBody>
          <a:bodyPr wrap="square" anchor="ctr" lIns="18288" rIns="18288" tIns="10972" bIns="10972">
            <a:spAutoFit/>
          </a:bodyPr>
          <a:lstStyle/>
          <a:p>
            <a:pPr algn="l">
              <a:spcAft>
                <a:spcPts val="0"/>
              </a:spcAft>
            </a:pPr>
            <a:r>
              <a:rPr sz="2100" b="1" i="0">
                <a:solidFill>
                  <a:srgbClr val="10204A"/>
                </a:solidFill>
                <a:latin typeface="Trebuchet MS"/>
              </a:rPr>
              <a:t>Review 3</a:t>
            </a:r>
            <a:endParaRPr sz="2100"/>
          </a:p>
        </p:txBody>
      </p:sp>
      <p:sp>
        <p:nvSpPr>
          <p:cNvPr id="44" name="Rounded Rectangle 43"/>
          <p:cNvSpPr/>
          <p:nvPr/>
        </p:nvSpPr>
        <p:spPr>
          <a:xfrm>
            <a:off x="10268712" y="5889650"/>
            <a:ext cx="1143000" cy="402336"/>
          </a:xfrm>
          <a:prstGeom prst="roundRect">
            <a:avLst>
              <a:gd name="adj" fmla="val 50000"/>
            </a:avLst>
          </a:prstGeom>
          <a:solidFill>
            <a:srgbClr val="C2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today</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Conclusion and Future Work</a:t>
            </a:r>
            <a:endParaRPr lang="en-US" sz="2400" dirty="0"/>
          </a:p>
        </p:txBody>
      </p:sp>
      <p:sp>
        <p:nvSpPr>
          <p:cNvPr id="4" name="Rounded Rectangle 3"/>
          <p:cNvSpPr/>
          <p:nvPr/>
        </p:nvSpPr>
        <p:spPr>
          <a:xfrm>
            <a:off x="640080" y="1874519"/>
            <a:ext cx="822960" cy="1170432"/>
          </a:xfrm>
          <a:prstGeom prst="roundRect">
            <a:avLst>
              <a:gd name="adj" fmla="val 15000"/>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0"/>
              </a:spcAft>
            </a:pPr>
            <a:r>
              <a:rPr sz="3000" b="1" i="0">
                <a:solidFill>
                  <a:srgbClr val="FFFFFF"/>
                </a:solidFill>
                <a:latin typeface="Trebuchet MS"/>
              </a:rPr>
              <a:t>1</a:t>
            </a:r>
            <a:endParaRPr sz="3000"/>
          </a:p>
        </p:txBody>
      </p:sp>
      <p:sp>
        <p:nvSpPr>
          <p:cNvPr id="5" name="Rounded Rectangle 4"/>
          <p:cNvSpPr/>
          <p:nvPr/>
        </p:nvSpPr>
        <p:spPr>
          <a:xfrm>
            <a:off x="1600200" y="1874519"/>
            <a:ext cx="5440680" cy="1170432"/>
          </a:xfrm>
          <a:prstGeom prst="roundRect">
            <a:avLst>
              <a:gd name="adj" fmla="val 10000"/>
            </a:avLst>
          </a:prstGeom>
          <a:solidFill>
            <a:srgbClr val="FFFFFF">
              <a:alpha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2300" b="1" i="0">
                <a:solidFill>
                  <a:srgbClr val="084E4E"/>
                </a:solidFill>
                <a:latin typeface="Trebuchet MS"/>
              </a:rPr>
              <a:t>One private memory</a:t>
            </a:r>
            <a:endParaRPr sz="2300"/>
          </a:p>
          <a:p>
            <a:pPr algn="l">
              <a:spcAft>
                <a:spcPts val="0"/>
              </a:spcAft>
            </a:pPr>
            <a:r>
              <a:rPr sz="2000" b="0" i="0">
                <a:solidFill>
                  <a:srgbClr val="10204A"/>
                </a:solidFill>
                <a:latin typeface="Trebuchet MS"/>
              </a:rPr>
              <a:t>Gmail, Chrome, YouTube — all local</a:t>
            </a:r>
            <a:endParaRPr sz="2000"/>
          </a:p>
        </p:txBody>
      </p:sp>
      <p:sp>
        <p:nvSpPr>
          <p:cNvPr id="6" name="Rounded Rectangle 5"/>
          <p:cNvSpPr/>
          <p:nvPr/>
        </p:nvSpPr>
        <p:spPr>
          <a:xfrm>
            <a:off x="640080" y="3182111"/>
            <a:ext cx="822960" cy="1170432"/>
          </a:xfrm>
          <a:prstGeom prst="roundRect">
            <a:avLst>
              <a:gd name="adj" fmla="val 15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0"/>
              </a:spcAft>
            </a:pPr>
            <a:r>
              <a:rPr sz="3000" b="1" i="0">
                <a:solidFill>
                  <a:srgbClr val="FFFFFF"/>
                </a:solidFill>
                <a:latin typeface="Trebuchet MS"/>
              </a:rPr>
              <a:t>2</a:t>
            </a:r>
            <a:endParaRPr sz="3000"/>
          </a:p>
        </p:txBody>
      </p:sp>
      <p:sp>
        <p:nvSpPr>
          <p:cNvPr id="7" name="Rounded Rectangle 6"/>
          <p:cNvSpPr/>
          <p:nvPr/>
        </p:nvSpPr>
        <p:spPr>
          <a:xfrm>
            <a:off x="1600200" y="3182111"/>
            <a:ext cx="5440680" cy="1170432"/>
          </a:xfrm>
          <a:prstGeom prst="roundRect">
            <a:avLst>
              <a:gd name="adj" fmla="val 10000"/>
            </a:avLst>
          </a:prstGeom>
          <a:solidFill>
            <a:srgbClr val="FFFFFF">
              <a:alpha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2300" b="1" i="0">
                <a:solidFill>
                  <a:srgbClr val="0B2272"/>
                </a:solidFill>
                <a:latin typeface="Trebuchet MS"/>
              </a:rPr>
              <a:t>Ask, don't search</a:t>
            </a:r>
            <a:endParaRPr sz="2300"/>
          </a:p>
          <a:p>
            <a:pPr algn="l">
              <a:spcAft>
                <a:spcPts val="0"/>
              </a:spcAft>
            </a:pPr>
            <a:r>
              <a:rPr sz="2000" b="0" i="0">
                <a:solidFill>
                  <a:srgbClr val="10204A"/>
                </a:solidFill>
                <a:latin typeface="Trebuchet MS"/>
              </a:rPr>
              <a:t>Explainable search, clickable sources</a:t>
            </a:r>
            <a:endParaRPr sz="2000"/>
          </a:p>
        </p:txBody>
      </p:sp>
      <p:sp>
        <p:nvSpPr>
          <p:cNvPr id="8" name="Rounded Rectangle 7"/>
          <p:cNvSpPr/>
          <p:nvPr/>
        </p:nvSpPr>
        <p:spPr>
          <a:xfrm>
            <a:off x="640080" y="4489703"/>
            <a:ext cx="822960" cy="1170432"/>
          </a:xfrm>
          <a:prstGeom prst="roundRect">
            <a:avLst>
              <a:gd name="adj" fmla="val 15000"/>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0"/>
              </a:spcAft>
            </a:pPr>
            <a:r>
              <a:rPr sz="3000" b="1" i="0">
                <a:solidFill>
                  <a:srgbClr val="FFFFFF"/>
                </a:solidFill>
                <a:latin typeface="Trebuchet MS"/>
              </a:rPr>
              <a:t>3</a:t>
            </a:r>
            <a:endParaRPr sz="3000"/>
          </a:p>
        </p:txBody>
      </p:sp>
      <p:sp>
        <p:nvSpPr>
          <p:cNvPr id="9" name="Rounded Rectangle 8"/>
          <p:cNvSpPr/>
          <p:nvPr/>
        </p:nvSpPr>
        <p:spPr>
          <a:xfrm>
            <a:off x="1600200" y="4489703"/>
            <a:ext cx="5440680" cy="1170432"/>
          </a:xfrm>
          <a:prstGeom prst="roundRect">
            <a:avLst>
              <a:gd name="adj" fmla="val 10000"/>
            </a:avLst>
          </a:prstGeom>
          <a:solidFill>
            <a:srgbClr val="FFFFFF">
              <a:alpha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2300" b="1" i="0">
                <a:solidFill>
                  <a:srgbClr val="0F4D2A"/>
                </a:solidFill>
                <a:latin typeface="Trebuchet MS"/>
              </a:rPr>
              <a:t>Time, reflected kindly</a:t>
            </a:r>
            <a:endParaRPr sz="2300"/>
          </a:p>
          <a:p>
            <a:pPr algn="l">
              <a:spcAft>
                <a:spcPts val="0"/>
              </a:spcAft>
            </a:pPr>
            <a:r>
              <a:rPr sz="2000" b="0" i="0">
                <a:solidFill>
                  <a:srgbClr val="10204A"/>
                </a:solidFill>
                <a:latin typeface="Trebuchet MS"/>
              </a:rPr>
              <a:t>Patterns and groups you control</a:t>
            </a:r>
            <a:endParaRPr sz="2000"/>
          </a:p>
        </p:txBody>
      </p:sp>
      <p:sp>
        <p:nvSpPr>
          <p:cNvPr id="10" name="Rounded Rectangle 9"/>
          <p:cNvSpPr/>
          <p:nvPr/>
        </p:nvSpPr>
        <p:spPr>
          <a:xfrm>
            <a:off x="640080" y="5797295"/>
            <a:ext cx="6400800" cy="713232"/>
          </a:xfrm>
          <a:prstGeom prst="roundRect">
            <a:avLst>
              <a:gd name="adj" fmla="val 30000"/>
            </a:avLst>
          </a:prstGeom>
          <a:solidFill>
            <a:srgbClr val="FFFFFF">
              <a:alpha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ctr">
              <a:spcAft>
                <a:spcPts val="0"/>
              </a:spcAft>
            </a:pPr>
            <a:r>
              <a:rPr sz="2000" b="0" i="1">
                <a:solidFill>
                  <a:srgbClr val="0033CC"/>
                </a:solidFill>
                <a:latin typeface="Trebuchet MS"/>
              </a:rPr>
              <a:t>LLM sees only the question + short snippets</a:t>
            </a:r>
            <a:endParaRPr sz="2000"/>
          </a:p>
        </p:txBody>
      </p:sp>
      <p:sp>
        <p:nvSpPr>
          <p:cNvPr id="11" name="Rounded Rectangle 10"/>
          <p:cNvSpPr/>
          <p:nvPr/>
        </p:nvSpPr>
        <p:spPr>
          <a:xfrm>
            <a:off x="7315200" y="1874519"/>
            <a:ext cx="4233672" cy="548640"/>
          </a:xfrm>
          <a:prstGeom prst="roundRect">
            <a:avLst>
              <a:gd name="adj" fmla="val 30000"/>
            </a:avLst>
          </a:prstGeom>
          <a:solidFill>
            <a:srgbClr val="FFFFFF">
              <a:alpha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0"/>
              </a:spcAft>
            </a:pPr>
            <a:r>
              <a:rPr sz="2400" b="1" i="0">
                <a:solidFill>
                  <a:srgbClr val="0033CC"/>
                </a:solidFill>
                <a:latin typeface="Trebuchet MS"/>
              </a:rPr>
              <a:t>Future work</a:t>
            </a:r>
            <a:endParaRPr sz="2400"/>
          </a:p>
        </p:txBody>
      </p:sp>
      <p:sp>
        <p:nvSpPr>
          <p:cNvPr id="12" name="Rounded Rectangle 11"/>
          <p:cNvSpPr/>
          <p:nvPr/>
        </p:nvSpPr>
        <p:spPr>
          <a:xfrm>
            <a:off x="7315200" y="2578608"/>
            <a:ext cx="4233672" cy="12192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0" y="2688336"/>
            <a:ext cx="73152" cy="999743"/>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61504" y="2615184"/>
            <a:ext cx="4032504" cy="1146047"/>
          </a:xfrm>
          <a:prstGeom prst="rect">
            <a:avLst/>
          </a:prstGeom>
          <a:noFill/>
        </p:spPr>
        <p:txBody>
          <a:bodyPr wrap="square" anchor="ctr" tIns="54864" bIns="54864">
            <a:spAutoFit/>
          </a:bodyPr>
          <a:lstStyle/>
          <a:p>
            <a:pPr algn="l">
              <a:spcAft>
                <a:spcPts val="600"/>
              </a:spcAft>
            </a:pPr>
            <a:r>
              <a:rPr sz="2100" b="1" i="0">
                <a:solidFill>
                  <a:srgbClr val="6B4FD8"/>
                </a:solidFill>
                <a:latin typeface="Trebuchet MS"/>
              </a:rPr>
              <a:t>Long documents</a:t>
            </a:r>
            <a:endParaRPr sz="2100"/>
          </a:p>
          <a:p>
            <a:pPr algn="l">
              <a:spcAft>
                <a:spcPts val="0"/>
              </a:spcAft>
            </a:pPr>
            <a:r>
              <a:rPr sz="2000" b="0" i="0">
                <a:solidFill>
                  <a:srgbClr val="10204A"/>
                </a:solidFill>
                <a:latin typeface="Trebuchet MS"/>
              </a:rPr>
              <a:t>several vectors per item</a:t>
            </a:r>
            <a:endParaRPr sz="2000"/>
          </a:p>
        </p:txBody>
      </p:sp>
      <p:sp>
        <p:nvSpPr>
          <p:cNvPr id="15" name="Rounded Rectangle 14"/>
          <p:cNvSpPr/>
          <p:nvPr/>
        </p:nvSpPr>
        <p:spPr>
          <a:xfrm>
            <a:off x="7315200" y="3934968"/>
            <a:ext cx="4233672" cy="12192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0" y="4044696"/>
            <a:ext cx="73152" cy="999743"/>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3971544"/>
            <a:ext cx="4032504" cy="1146047"/>
          </a:xfrm>
          <a:prstGeom prst="rect">
            <a:avLst/>
          </a:prstGeom>
          <a:noFill/>
        </p:spPr>
        <p:txBody>
          <a:bodyPr wrap="square" anchor="ctr" tIns="54864" bIns="54864">
            <a:spAutoFit/>
          </a:bodyPr>
          <a:lstStyle/>
          <a:p>
            <a:pPr algn="l">
              <a:spcAft>
                <a:spcPts val="600"/>
              </a:spcAft>
            </a:pPr>
            <a:r>
              <a:rPr sz="2100" b="1" i="0">
                <a:solidFill>
                  <a:srgbClr val="6B4FD8"/>
                </a:solidFill>
                <a:latin typeface="Trebuchet MS"/>
              </a:rPr>
              <a:t>Self-learning domain map</a:t>
            </a:r>
            <a:endParaRPr sz="2100"/>
          </a:p>
          <a:p>
            <a:pPr algn="l">
              <a:spcAft>
                <a:spcPts val="0"/>
              </a:spcAft>
            </a:pPr>
            <a:r>
              <a:rPr sz="2000" b="0" i="0">
                <a:solidFill>
                  <a:srgbClr val="10204A"/>
                </a:solidFill>
                <a:latin typeface="Trebuchet MS"/>
              </a:rPr>
              <a:t>rules learned from use</a:t>
            </a:r>
            <a:endParaRPr sz="2000"/>
          </a:p>
        </p:txBody>
      </p:sp>
      <p:sp>
        <p:nvSpPr>
          <p:cNvPr id="18" name="Rounded Rectangle 17"/>
          <p:cNvSpPr/>
          <p:nvPr/>
        </p:nvSpPr>
        <p:spPr>
          <a:xfrm>
            <a:off x="7315200" y="5291328"/>
            <a:ext cx="4233672" cy="12192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5401056"/>
            <a:ext cx="73152" cy="999743"/>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61504" y="5327904"/>
            <a:ext cx="4032504" cy="1146047"/>
          </a:xfrm>
          <a:prstGeom prst="rect">
            <a:avLst/>
          </a:prstGeom>
          <a:noFill/>
        </p:spPr>
        <p:txBody>
          <a:bodyPr wrap="square" anchor="ctr" tIns="54864" bIns="54864">
            <a:spAutoFit/>
          </a:bodyPr>
          <a:lstStyle/>
          <a:p>
            <a:pPr algn="l">
              <a:spcAft>
                <a:spcPts val="600"/>
              </a:spcAft>
            </a:pPr>
            <a:r>
              <a:rPr sz="2100" b="1" i="0">
                <a:solidFill>
                  <a:srgbClr val="6B4FD8"/>
                </a:solidFill>
                <a:latin typeface="Trebuchet MS"/>
              </a:rPr>
              <a:t>Import your history</a:t>
            </a:r>
            <a:endParaRPr sz="2100"/>
          </a:p>
          <a:p>
            <a:pPr algn="l">
              <a:spcAft>
                <a:spcPts val="0"/>
              </a:spcAft>
            </a:pPr>
            <a:r>
              <a:rPr sz="2000" b="0" i="0">
                <a:solidFill>
                  <a:srgbClr val="10204A"/>
                </a:solidFill>
                <a:latin typeface="Trebuchet MS"/>
              </a:rPr>
              <a:t>Takeout + Chrome History</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References</a:t>
            </a:r>
            <a:endParaRPr lang="en-US" sz="2400" dirty="0"/>
          </a:p>
        </p:txBody>
      </p:sp>
      <p:sp>
        <p:nvSpPr>
          <p:cNvPr id="4" name="Rounded Rectangle 3"/>
          <p:cNvSpPr/>
          <p:nvPr/>
        </p:nvSpPr>
        <p:spPr>
          <a:xfrm>
            <a:off x="640080" y="1874519"/>
            <a:ext cx="10908792" cy="4636007"/>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84248"/>
            <a:ext cx="10451592" cy="4434840"/>
          </a:xfrm>
          <a:prstGeom prst="rect">
            <a:avLst/>
          </a:prstGeom>
          <a:noFill/>
        </p:spPr>
        <p:txBody>
          <a:bodyPr wrap="square" anchor="t" lIns="73152" rIns="73152" tIns="43891" bIns="43891">
            <a:spAutoFit/>
          </a:bodyPr>
          <a:lstStyle/>
          <a:p>
            <a:pPr algn="l">
              <a:spcAft>
                <a:spcPts val="1000"/>
              </a:spcAft>
            </a:pPr>
            <a:r>
              <a:rPr sz="1900" b="0" i="0">
                <a:solidFill>
                  <a:srgbClr val="0033CC"/>
                </a:solidFill>
                <a:latin typeface="Trebuchet MS"/>
              </a:rPr>
              <a:t>[1] N. Reimers and I. Gurevych, "Sentence-BERT: Sentence embeddings using Siamese BERT-networks," in Proc. EMNLP, 2019.</a:t>
            </a:r>
            <a:endParaRPr sz="1900"/>
          </a:p>
          <a:p>
            <a:pPr algn="l">
              <a:spcAft>
                <a:spcPts val="1000"/>
              </a:spcAft>
            </a:pPr>
            <a:r>
              <a:rPr sz="1900" b="0" i="0">
                <a:solidFill>
                  <a:srgbClr val="0033CC"/>
                </a:solidFill>
                <a:latin typeface="Trebuchet MS"/>
              </a:rPr>
              <a:t>[2] J. Johnson, M. Douze, and H. Jégou, "Billion-scale similarity search with GPUs," IEEE Trans. Big Data, vol. 7, no. 3, pp. 535–547, 2021.</a:t>
            </a:r>
            <a:endParaRPr sz="1900"/>
          </a:p>
          <a:p>
            <a:pPr algn="l">
              <a:spcAft>
                <a:spcPts val="1000"/>
              </a:spcAft>
            </a:pPr>
            <a:r>
              <a:rPr sz="1900" b="0" i="0">
                <a:solidFill>
                  <a:srgbClr val="0033CC"/>
                </a:solidFill>
                <a:latin typeface="Trebuchet MS"/>
              </a:rPr>
              <a:t>[3] G. V. Cormack, C. L. A. Clarke, and S. Büttcher, "Reciprocal rank fusion outperforms Condorcet and individual rank learning methods," in Proc. ACM SIGIR, 2009, pp. 758–759.</a:t>
            </a:r>
            <a:endParaRPr sz="1900"/>
          </a:p>
          <a:p>
            <a:pPr algn="l">
              <a:spcAft>
                <a:spcPts val="1000"/>
              </a:spcAft>
            </a:pPr>
            <a:r>
              <a:rPr sz="1900" b="0" i="0">
                <a:solidFill>
                  <a:srgbClr val="0033CC"/>
                </a:solidFill>
                <a:latin typeface="Trebuchet MS"/>
              </a:rPr>
              <a:t>[4] R. Nogueira and K. Cho, "Passage re-ranking with BERT," arXiv:1901.04085, 2019.</a:t>
            </a:r>
            <a:endParaRPr sz="1900"/>
          </a:p>
          <a:p>
            <a:pPr algn="l">
              <a:spcAft>
                <a:spcPts val="1000"/>
              </a:spcAft>
            </a:pPr>
            <a:r>
              <a:rPr sz="1900" b="0" i="0">
                <a:solidFill>
                  <a:srgbClr val="0033CC"/>
                </a:solidFill>
                <a:latin typeface="Trebuchet MS"/>
              </a:rPr>
              <a:t>[5] LangChain and LangGraph Documentation, https://python.langchain.com, 2024.</a:t>
            </a:r>
            <a:endParaRPr sz="1900"/>
          </a:p>
          <a:p>
            <a:pPr algn="l">
              <a:spcAft>
                <a:spcPts val="1000"/>
              </a:spcAft>
            </a:pPr>
            <a:r>
              <a:rPr sz="1900" b="0" i="0">
                <a:solidFill>
                  <a:srgbClr val="0033CC"/>
                </a:solidFill>
                <a:latin typeface="Trebuchet MS"/>
              </a:rPr>
              <a:t>[6] M. Kleppmann, A. Wiggins, P. van Hardenberg, and M. McGranaghan, "Local-first software: You own your data, in spite of the cloud," in Proc. ACM Onward!, 2019.</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rebuchet MS" pitchFamily="34" charset="0"/>
              </a:rPr>
              <a:t>Thank You</a:t>
            </a:r>
          </a:p>
        </p:txBody>
      </p:sp>
      <p:sp>
        <p:nvSpPr>
          <p:cNvPr id="5" name="TextBox 4"/>
          <p:cNvSpPr txBox="1"/>
          <p:nvPr/>
        </p:nvSpPr>
        <p:spPr>
          <a:xfrm>
            <a:off x="2926080" y="5577840"/>
            <a:ext cx="6309360" cy="731520"/>
          </a:xfrm>
          <a:prstGeom prst="rect">
            <a:avLst/>
          </a:prstGeom>
          <a:noFill/>
        </p:spPr>
        <p:txBody>
          <a:bodyPr wrap="square" anchor="ctr" lIns="73152" rIns="73152" tIns="43891" bIns="43891">
            <a:spAutoFit/>
          </a:bodyPr>
          <a:lstStyle/>
          <a:p>
            <a:pPr algn="ctr">
              <a:spcAft>
                <a:spcPts val="0"/>
              </a:spcAft>
            </a:pPr>
            <a:r>
              <a:rPr sz="3200" b="1" i="0">
                <a:solidFill>
                  <a:srgbClr val="FFFFFF"/>
                </a:solidFill>
                <a:latin typeface="Trebuchet MS"/>
              </a:rPr>
              <a:t>Questions?</a:t>
            </a:r>
            <a:endParaRPr sz="32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Guide Approval Mail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a:extLst>
              <a:ext uri="{FF2B5EF4-FFF2-40B4-BE49-F238E27FC236}">
                <a16:creationId xmlns:a16="http://schemas.microsoft.com/office/drawing/2014/main" id="{E8AE750B-D869-952A-66FD-67A61F4ACA7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BF8CE69B-69B8-0295-A31E-C148A00B4E16}"/>
              </a:ext>
            </a:extLst>
          </p:cNvPr>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891" indent="-342891" algn="r" eaLnBrk="0" hangingPunct="0">
              <a:defRPr/>
            </a:pPr>
            <a:r>
              <a:rPr lang="en-US" sz="3200" dirty="0">
                <a:solidFill>
                  <a:srgbClr val="FF0000"/>
                </a:solidFill>
                <a:latin typeface="Trebuchet MS" pitchFamily="34" charset="0"/>
              </a:rPr>
              <a:t>Pipeline – What Changed Since Review 2</a:t>
            </a:r>
          </a:p>
        </p:txBody>
      </p:sp>
      <p:sp>
        <p:nvSpPr>
          <p:cNvPr id="15" name="Rounded Rectangle 14"/>
          <p:cNvSpPr/>
          <p:nvPr/>
        </p:nvSpPr>
        <p:spPr>
          <a:xfrm>
            <a:off x="640080" y="1874519"/>
            <a:ext cx="10908792" cy="502920"/>
          </a:xfrm>
          <a:prstGeom prst="roundRect">
            <a:avLst>
              <a:gd name="adj" fmla="val 30000"/>
            </a:avLst>
          </a:prstGeom>
          <a:solidFill>
            <a:srgbClr val="FFFFFF">
              <a:alpha val="9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0"/>
              </a:spcAft>
            </a:pPr>
            <a:r>
              <a:rPr sz="2200" b="1" i="0">
                <a:solidFill>
                  <a:srgbClr val="0033CC"/>
                </a:solidFill>
                <a:latin typeface="Trebuchet MS"/>
              </a:rPr>
              <a:t>Every open decision closed — the eight that changed the pipeline</a:t>
            </a:r>
            <a:endParaRPr sz="2200"/>
          </a:p>
        </p:txBody>
      </p:sp>
      <p:sp>
        <p:nvSpPr>
          <p:cNvPr id="16" name="Rounded Rectangle 15"/>
          <p:cNvSpPr/>
          <p:nvPr/>
        </p:nvSpPr>
        <p:spPr>
          <a:xfrm>
            <a:off x="640080" y="2505456"/>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596896"/>
            <a:ext cx="73152" cy="729233"/>
          </a:xfrm>
          <a:prstGeom prst="rect">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1247" y="2742057"/>
            <a:ext cx="1600200" cy="438912"/>
          </a:xfrm>
          <a:prstGeom prst="roundRect">
            <a:avLst>
              <a:gd name="adj" fmla="val 50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A25 · A26</a:t>
            </a:r>
            <a:endParaRPr sz="1800"/>
          </a:p>
        </p:txBody>
      </p:sp>
      <p:sp>
        <p:nvSpPr>
          <p:cNvPr id="19" name="TextBox 18"/>
          <p:cNvSpPr txBox="1"/>
          <p:nvPr/>
        </p:nvSpPr>
        <p:spPr>
          <a:xfrm>
            <a:off x="2560320" y="2505456"/>
            <a:ext cx="3374136" cy="912114"/>
          </a:xfrm>
          <a:prstGeom prst="rect">
            <a:avLst/>
          </a:prstGeom>
          <a:noFill/>
        </p:spPr>
        <p:txBody>
          <a:bodyPr wrap="square" anchor="ctr" lIns="36576" rIns="36576" tIns="21945" bIns="21945">
            <a:spAutoFit/>
          </a:bodyPr>
          <a:lstStyle/>
          <a:p>
            <a:pPr algn="l">
              <a:spcAft>
                <a:spcPts val="0"/>
              </a:spcAft>
            </a:pPr>
            <a:r>
              <a:rPr sz="2100" b="1" i="0">
                <a:solidFill>
                  <a:srgbClr val="0B2272"/>
                </a:solidFill>
                <a:latin typeface="Trebuchet MS"/>
              </a:rPr>
              <a:t>Agentic recall</a:t>
            </a:r>
            <a:endParaRPr sz="2100"/>
          </a:p>
          <a:p>
            <a:pPr algn="l">
              <a:spcAft>
                <a:spcPts val="0"/>
              </a:spcAft>
            </a:pPr>
            <a:r>
              <a:rPr sz="1900" b="0" i="0">
                <a:solidFill>
                  <a:srgbClr val="10204A"/>
                </a:solidFill>
                <a:latin typeface="Trebuchet MS"/>
              </a:rPr>
              <a:t>Luna + search tool, ≤ 6 calls</a:t>
            </a:r>
            <a:endParaRPr sz="1900"/>
          </a:p>
        </p:txBody>
      </p:sp>
      <p:sp>
        <p:nvSpPr>
          <p:cNvPr id="20" name="Rounded Rectangle 19"/>
          <p:cNvSpPr/>
          <p:nvPr/>
        </p:nvSpPr>
        <p:spPr>
          <a:xfrm>
            <a:off x="6208776" y="2505456"/>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2596896"/>
            <a:ext cx="73152" cy="729233"/>
          </a:xfrm>
          <a:prstGeom prst="rect">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9944" y="2742057"/>
            <a:ext cx="1600200" cy="438912"/>
          </a:xfrm>
          <a:prstGeom prst="roundRect">
            <a:avLst>
              <a:gd name="adj" fmla="val 50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A27 · A28</a:t>
            </a:r>
            <a:endParaRPr sz="1800"/>
          </a:p>
        </p:txBody>
      </p:sp>
      <p:sp>
        <p:nvSpPr>
          <p:cNvPr id="23" name="TextBox 22"/>
          <p:cNvSpPr txBox="1"/>
          <p:nvPr/>
        </p:nvSpPr>
        <p:spPr>
          <a:xfrm>
            <a:off x="8129016" y="2505456"/>
            <a:ext cx="3374136" cy="912114"/>
          </a:xfrm>
          <a:prstGeom prst="rect">
            <a:avLst/>
          </a:prstGeom>
          <a:noFill/>
        </p:spPr>
        <p:txBody>
          <a:bodyPr wrap="square" anchor="ctr" lIns="36576" rIns="36576" tIns="21945" bIns="21945">
            <a:spAutoFit/>
          </a:bodyPr>
          <a:lstStyle/>
          <a:p>
            <a:pPr algn="l">
              <a:spcAft>
                <a:spcPts val="0"/>
              </a:spcAft>
            </a:pPr>
            <a:r>
              <a:rPr sz="2100" b="1" i="0">
                <a:solidFill>
                  <a:srgbClr val="0B2272"/>
                </a:solidFill>
                <a:latin typeface="Trebuchet MS"/>
              </a:rPr>
              <a:t>Memory-pill answers</a:t>
            </a:r>
            <a:endParaRPr sz="2100"/>
          </a:p>
          <a:p>
            <a:pPr algn="l">
              <a:spcAft>
                <a:spcPts val="0"/>
              </a:spcAft>
            </a:pPr>
            <a:r>
              <a:rPr sz="1900" b="0" i="0">
                <a:solidFill>
                  <a:srgbClr val="10204A"/>
                </a:solidFill>
                <a:latin typeface="Trebuchet MS"/>
              </a:rPr>
              <a:t>click a pill → the original</a:t>
            </a:r>
            <a:endParaRPr sz="1900"/>
          </a:p>
        </p:txBody>
      </p:sp>
      <p:sp>
        <p:nvSpPr>
          <p:cNvPr id="24" name="Rounded Rectangle 23"/>
          <p:cNvSpPr/>
          <p:nvPr/>
        </p:nvSpPr>
        <p:spPr>
          <a:xfrm>
            <a:off x="640080" y="3536442"/>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627882"/>
            <a:ext cx="73152" cy="729233"/>
          </a:xfrm>
          <a:prstGeom prst="rect">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1247" y="3773043"/>
            <a:ext cx="1600200" cy="438912"/>
          </a:xfrm>
          <a:prstGeom prst="roundRect">
            <a:avLst>
              <a:gd name="adj" fmla="val 50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E1</a:t>
            </a:r>
            <a:endParaRPr sz="1800"/>
          </a:p>
        </p:txBody>
      </p:sp>
      <p:sp>
        <p:nvSpPr>
          <p:cNvPr id="27" name="TextBox 26"/>
          <p:cNvSpPr txBox="1"/>
          <p:nvPr/>
        </p:nvSpPr>
        <p:spPr>
          <a:xfrm>
            <a:off x="2560320" y="3536442"/>
            <a:ext cx="3374136" cy="912114"/>
          </a:xfrm>
          <a:prstGeom prst="rect">
            <a:avLst/>
          </a:prstGeom>
          <a:noFill/>
        </p:spPr>
        <p:txBody>
          <a:bodyPr wrap="square" anchor="ctr" lIns="36576" rIns="36576" tIns="21945" bIns="21945">
            <a:spAutoFit/>
          </a:bodyPr>
          <a:lstStyle/>
          <a:p>
            <a:pPr algn="l">
              <a:spcAft>
                <a:spcPts val="0"/>
              </a:spcAft>
            </a:pPr>
            <a:r>
              <a:rPr sz="2100" b="1" i="0">
                <a:solidFill>
                  <a:srgbClr val="0B2272"/>
                </a:solidFill>
                <a:latin typeface="Trebuchet MS"/>
              </a:rPr>
              <a:t>Echo as an MCP server</a:t>
            </a:r>
            <a:endParaRPr sz="2100"/>
          </a:p>
          <a:p>
            <a:pPr algn="l">
              <a:spcAft>
                <a:spcPts val="0"/>
              </a:spcAft>
            </a:pPr>
            <a:r>
              <a:rPr sz="1900" b="0" i="0">
                <a:solidFill>
                  <a:srgbClr val="10204A"/>
                </a:solidFill>
                <a:latin typeface="Trebuchet MS"/>
              </a:rPr>
              <a:t>Claude Desktop can ask it</a:t>
            </a:r>
            <a:endParaRPr sz="1900"/>
          </a:p>
        </p:txBody>
      </p:sp>
      <p:sp>
        <p:nvSpPr>
          <p:cNvPr id="28" name="Rounded Rectangle 27"/>
          <p:cNvSpPr/>
          <p:nvPr/>
        </p:nvSpPr>
        <p:spPr>
          <a:xfrm>
            <a:off x="6208776" y="3536442"/>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3627882"/>
            <a:ext cx="73152" cy="729233"/>
          </a:xfrm>
          <a:prstGeom prst="rect">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09944" y="3773043"/>
            <a:ext cx="1600200" cy="438912"/>
          </a:xfrm>
          <a:prstGeom prst="roundRect">
            <a:avLst>
              <a:gd name="adj" fmla="val 50000"/>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A31</a:t>
            </a:r>
            <a:endParaRPr sz="1800"/>
          </a:p>
        </p:txBody>
      </p:sp>
      <p:sp>
        <p:nvSpPr>
          <p:cNvPr id="31" name="TextBox 30"/>
          <p:cNvSpPr txBox="1"/>
          <p:nvPr/>
        </p:nvSpPr>
        <p:spPr>
          <a:xfrm>
            <a:off x="8129016" y="3536442"/>
            <a:ext cx="3374136" cy="912114"/>
          </a:xfrm>
          <a:prstGeom prst="rect">
            <a:avLst/>
          </a:prstGeom>
          <a:noFill/>
        </p:spPr>
        <p:txBody>
          <a:bodyPr wrap="square" anchor="ctr" lIns="36576" rIns="36576" tIns="21945" bIns="21945">
            <a:spAutoFit/>
          </a:bodyPr>
          <a:lstStyle/>
          <a:p>
            <a:pPr algn="l">
              <a:spcAft>
                <a:spcPts val="0"/>
              </a:spcAft>
            </a:pPr>
            <a:r>
              <a:rPr sz="2100" b="1" i="0">
                <a:solidFill>
                  <a:srgbClr val="1E263A"/>
                </a:solidFill>
                <a:latin typeface="Trebuchet MS"/>
              </a:rPr>
              <a:t>Fully local stack</a:t>
            </a:r>
            <a:endParaRPr sz="2100"/>
          </a:p>
          <a:p>
            <a:pPr algn="l">
              <a:spcAft>
                <a:spcPts val="0"/>
              </a:spcAft>
            </a:pPr>
            <a:r>
              <a:rPr sz="1900" b="0" i="0">
                <a:solidFill>
                  <a:srgbClr val="10204A"/>
                </a:solidFill>
                <a:latin typeface="Trebuchet MS"/>
              </a:rPr>
              <a:t>own PostgreSQL + Redis</a:t>
            </a:r>
            <a:endParaRPr sz="1900"/>
          </a:p>
        </p:txBody>
      </p:sp>
      <p:sp>
        <p:nvSpPr>
          <p:cNvPr id="32" name="Rounded Rectangle 31"/>
          <p:cNvSpPr/>
          <p:nvPr/>
        </p:nvSpPr>
        <p:spPr>
          <a:xfrm>
            <a:off x="640080" y="4567428"/>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4658868"/>
            <a:ext cx="73152" cy="729233"/>
          </a:xfrm>
          <a:prstGeom prst="rect">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41247" y="4804029"/>
            <a:ext cx="1600200" cy="438912"/>
          </a:xfrm>
          <a:prstGeom prst="roundRect">
            <a:avLst>
              <a:gd name="adj" fmla="val 50000"/>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A1 · A24</a:t>
            </a:r>
            <a:endParaRPr sz="1800"/>
          </a:p>
        </p:txBody>
      </p:sp>
      <p:sp>
        <p:nvSpPr>
          <p:cNvPr id="35" name="TextBox 34"/>
          <p:cNvSpPr txBox="1"/>
          <p:nvPr/>
        </p:nvSpPr>
        <p:spPr>
          <a:xfrm>
            <a:off x="2560320" y="4567428"/>
            <a:ext cx="3374136" cy="912114"/>
          </a:xfrm>
          <a:prstGeom prst="rect">
            <a:avLst/>
          </a:prstGeom>
          <a:noFill/>
        </p:spPr>
        <p:txBody>
          <a:bodyPr wrap="square" anchor="ctr" lIns="36576" rIns="36576" tIns="21945" bIns="21945">
            <a:spAutoFit/>
          </a:bodyPr>
          <a:lstStyle/>
          <a:p>
            <a:pPr algn="l">
              <a:spcAft>
                <a:spcPts val="0"/>
              </a:spcAft>
            </a:pPr>
            <a:r>
              <a:rPr sz="2100" b="1" i="0">
                <a:solidFill>
                  <a:srgbClr val="1E263A"/>
                </a:solidFill>
                <a:latin typeface="Trebuchet MS"/>
              </a:rPr>
              <a:t>Per-visit table</a:t>
            </a:r>
            <a:endParaRPr sz="2100"/>
          </a:p>
          <a:p>
            <a:pPr algn="l">
              <a:spcAft>
                <a:spcPts val="0"/>
              </a:spcAft>
            </a:pPr>
            <a:r>
              <a:rPr sz="1900" b="0" i="0">
                <a:solidFill>
                  <a:srgbClr val="10204A"/>
                </a:solidFill>
                <a:latin typeface="Trebuchet MS"/>
              </a:rPr>
              <a:t>time filters by visit</a:t>
            </a:r>
            <a:endParaRPr sz="1900"/>
          </a:p>
        </p:txBody>
      </p:sp>
      <p:sp>
        <p:nvSpPr>
          <p:cNvPr id="36" name="Rounded Rectangle 35"/>
          <p:cNvSpPr/>
          <p:nvPr/>
        </p:nvSpPr>
        <p:spPr>
          <a:xfrm>
            <a:off x="6208776" y="4567428"/>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08776" y="4658868"/>
            <a:ext cx="73152" cy="729233"/>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09944" y="4804029"/>
            <a:ext cx="1600200" cy="438912"/>
          </a:xfrm>
          <a:prstGeom prst="roundRect">
            <a:avLst>
              <a:gd name="adj" fmla="val 50000"/>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A4 · A22</a:t>
            </a:r>
            <a:endParaRPr sz="1800"/>
          </a:p>
        </p:txBody>
      </p:sp>
      <p:sp>
        <p:nvSpPr>
          <p:cNvPr id="39" name="TextBox 38"/>
          <p:cNvSpPr txBox="1"/>
          <p:nvPr/>
        </p:nvSpPr>
        <p:spPr>
          <a:xfrm>
            <a:off x="8129016" y="4567428"/>
            <a:ext cx="3374136" cy="912114"/>
          </a:xfrm>
          <a:prstGeom prst="rect">
            <a:avLst/>
          </a:prstGeom>
          <a:noFill/>
        </p:spPr>
        <p:txBody>
          <a:bodyPr wrap="square" anchor="ctr" lIns="36576" rIns="36576" tIns="21945" bIns="21945">
            <a:spAutoFit/>
          </a:bodyPr>
          <a:lstStyle/>
          <a:p>
            <a:pPr algn="l">
              <a:spcAft>
                <a:spcPts val="0"/>
              </a:spcAft>
            </a:pPr>
            <a:r>
              <a:rPr sz="2100" b="1" i="0">
                <a:solidFill>
                  <a:srgbClr val="2D1F66"/>
                </a:solidFill>
                <a:latin typeface="Trebuchet MS"/>
              </a:rPr>
              <a:t>Searchable attachments</a:t>
            </a:r>
            <a:endParaRPr sz="2100"/>
          </a:p>
          <a:p>
            <a:pPr algn="l">
              <a:spcAft>
                <a:spcPts val="0"/>
              </a:spcAft>
            </a:pPr>
            <a:r>
              <a:rPr sz="1900" b="0" i="0">
                <a:solidFill>
                  <a:srgbClr val="10204A"/>
                </a:solidFill>
                <a:latin typeface="Trebuchet MS"/>
              </a:rPr>
              <a:t>PDF, Office, OCR images</a:t>
            </a:r>
            <a:endParaRPr sz="1900"/>
          </a:p>
        </p:txBody>
      </p:sp>
      <p:sp>
        <p:nvSpPr>
          <p:cNvPr id="40" name="Rounded Rectangle 39"/>
          <p:cNvSpPr/>
          <p:nvPr/>
        </p:nvSpPr>
        <p:spPr>
          <a:xfrm>
            <a:off x="640080" y="5598414"/>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 y="5689854"/>
            <a:ext cx="73152" cy="729233"/>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7" y="5835015"/>
            <a:ext cx="1600200" cy="438912"/>
          </a:xfrm>
          <a:prstGeom prst="roundRect">
            <a:avLst>
              <a:gd name="adj" fmla="val 50000"/>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A7 · A9</a:t>
            </a:r>
            <a:endParaRPr sz="1800"/>
          </a:p>
        </p:txBody>
      </p:sp>
      <p:sp>
        <p:nvSpPr>
          <p:cNvPr id="43" name="TextBox 42"/>
          <p:cNvSpPr txBox="1"/>
          <p:nvPr/>
        </p:nvSpPr>
        <p:spPr>
          <a:xfrm>
            <a:off x="2560320" y="5598414"/>
            <a:ext cx="3374136" cy="912114"/>
          </a:xfrm>
          <a:prstGeom prst="rect">
            <a:avLst/>
          </a:prstGeom>
          <a:noFill/>
        </p:spPr>
        <p:txBody>
          <a:bodyPr wrap="square" anchor="ctr" lIns="36576" rIns="36576" tIns="21945" bIns="21945">
            <a:spAutoFit/>
          </a:bodyPr>
          <a:lstStyle/>
          <a:p>
            <a:pPr algn="l">
              <a:spcAft>
                <a:spcPts val="0"/>
              </a:spcAft>
            </a:pPr>
            <a:r>
              <a:rPr sz="2100" b="1" i="0">
                <a:solidFill>
                  <a:srgbClr val="084E4E"/>
                </a:solidFill>
                <a:latin typeface="Trebuchet MS"/>
              </a:rPr>
              <a:t>Privacy at capture</a:t>
            </a:r>
            <a:endParaRPr sz="2100"/>
          </a:p>
          <a:p>
            <a:pPr algn="l">
              <a:spcAft>
                <a:spcPts val="0"/>
              </a:spcAft>
            </a:pPr>
            <a:r>
              <a:rPr sz="1900" b="0" i="0">
                <a:solidFill>
                  <a:srgbClr val="10204A"/>
                </a:solidFill>
                <a:latin typeface="Trebuchet MS"/>
              </a:rPr>
              <a:t>38 words, URL secrets cut</a:t>
            </a:r>
            <a:endParaRPr sz="1900"/>
          </a:p>
        </p:txBody>
      </p:sp>
      <p:sp>
        <p:nvSpPr>
          <p:cNvPr id="44" name="Rounded Rectangle 43"/>
          <p:cNvSpPr/>
          <p:nvPr/>
        </p:nvSpPr>
        <p:spPr>
          <a:xfrm>
            <a:off x="6208776" y="5598414"/>
            <a:ext cx="5340096" cy="912114"/>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08776" y="5689854"/>
            <a:ext cx="73152" cy="729233"/>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09944" y="5835015"/>
            <a:ext cx="1600200" cy="438912"/>
          </a:xfrm>
          <a:prstGeom prst="roundRect">
            <a:avLst>
              <a:gd name="adj" fmla="val 50000"/>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6459" bIns="16459"/>
          <a:lstStyle/>
          <a:p>
            <a:pPr algn="ctr">
              <a:spcAft>
                <a:spcPts val="0"/>
              </a:spcAft>
            </a:pPr>
            <a:r>
              <a:rPr sz="1800" b="1" i="0">
                <a:solidFill>
                  <a:srgbClr val="FFFFFF"/>
                </a:solidFill>
                <a:latin typeface="Trebuchet MS"/>
              </a:rPr>
              <a:t>A5 · A38</a:t>
            </a:r>
            <a:endParaRPr sz="1800"/>
          </a:p>
        </p:txBody>
      </p:sp>
      <p:sp>
        <p:nvSpPr>
          <p:cNvPr id="47" name="TextBox 46"/>
          <p:cNvSpPr txBox="1"/>
          <p:nvPr/>
        </p:nvSpPr>
        <p:spPr>
          <a:xfrm>
            <a:off x="8129016" y="5598414"/>
            <a:ext cx="3374136" cy="912114"/>
          </a:xfrm>
          <a:prstGeom prst="rect">
            <a:avLst/>
          </a:prstGeom>
          <a:noFill/>
        </p:spPr>
        <p:txBody>
          <a:bodyPr wrap="square" anchor="ctr" lIns="36576" rIns="36576" tIns="21945" bIns="21945">
            <a:spAutoFit/>
          </a:bodyPr>
          <a:lstStyle/>
          <a:p>
            <a:pPr algn="l">
              <a:spcAft>
                <a:spcPts val="0"/>
              </a:spcAft>
            </a:pPr>
            <a:r>
              <a:rPr sz="2100" b="1" i="0">
                <a:solidFill>
                  <a:srgbClr val="084E4E"/>
                </a:solidFill>
                <a:latin typeface="Trebuchet MS"/>
              </a:rPr>
              <a:t>Incremental Gmail</a:t>
            </a:r>
            <a:endParaRPr sz="2100"/>
          </a:p>
          <a:p>
            <a:pPr algn="l">
              <a:spcAft>
                <a:spcPts val="0"/>
              </a:spcAft>
            </a:pPr>
            <a:r>
              <a:rPr sz="1900" b="0" i="0">
                <a:solidFill>
                  <a:srgbClr val="10204A"/>
                </a:solidFill>
                <a:latin typeface="Trebuchet MS"/>
              </a:rPr>
              <a:t>history.list; no Spam</a:t>
            </a:r>
            <a:endParaRPr sz="19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3200" dirty="0">
                <a:solidFill>
                  <a:srgbClr val="FF0000"/>
                </a:solidFill>
                <a:latin typeface="Trebuchet MS"/>
                <a:ea typeface="Trebuchet MS"/>
                <a:cs typeface="Trebuchet MS"/>
                <a:sym typeface="Trebuchet MS"/>
              </a:rPr>
              <a:t>Implementation – Enrichment (ENP)</a:t>
            </a:r>
            <a:endParaRPr lang="en-US" dirty="0">
              <a:solidFill>
                <a:schemeClr val="dk1"/>
              </a:solidFill>
              <a:latin typeface="Arial"/>
              <a:ea typeface="Arial"/>
              <a:cs typeface="Arial"/>
              <a:sym typeface="Arial"/>
            </a:endParaRPr>
          </a:p>
        </p:txBody>
      </p:sp>
      <p:sp>
        <p:nvSpPr>
          <p:cNvPr id="15" name="Pentagon 14"/>
          <p:cNvSpPr/>
          <p:nvPr/>
        </p:nvSpPr>
        <p:spPr>
          <a:xfrm>
            <a:off x="640080" y="1892807"/>
            <a:ext cx="2284171" cy="960120"/>
          </a:xfrm>
          <a:prstGeom prst="homePlate">
            <a:avLst>
              <a:gd name="adj" fmla="val 20000"/>
            </a:avLst>
          </a:prstGeom>
          <a:solidFill>
            <a:srgbClr val="FFFFFF"/>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1892807"/>
            <a:ext cx="1900123" cy="960120"/>
          </a:xfrm>
          <a:prstGeom prst="rect">
            <a:avLst/>
          </a:prstGeom>
          <a:noFill/>
        </p:spPr>
        <p:txBody>
          <a:bodyPr wrap="square" anchor="ctr" lIns="0" rIns="0" tIns="0" bIns="0">
            <a:spAutoFit/>
          </a:bodyPr>
          <a:lstStyle/>
          <a:p>
            <a:pPr algn="ctr">
              <a:spcAft>
                <a:spcPts val="0"/>
              </a:spcAft>
            </a:pPr>
            <a:r>
              <a:rPr sz="2100" b="1" i="0">
                <a:solidFill>
                  <a:srgbClr val="2D1F66"/>
                </a:solidFill>
                <a:latin typeface="Trebuchet MS"/>
              </a:rPr>
              <a:t>Clean</a:t>
            </a:r>
            <a:endParaRPr sz="2100"/>
          </a:p>
          <a:p>
            <a:pPr algn="ctr">
              <a:spcAft>
                <a:spcPts val="0"/>
              </a:spcAft>
            </a:pPr>
            <a:r>
              <a:rPr sz="1800" b="0" i="0">
                <a:solidFill>
                  <a:srgbClr val="10204A"/>
                </a:solidFill>
                <a:latin typeface="Trebuchet MS"/>
              </a:rPr>
              <a:t>HTML → text</a:t>
            </a:r>
            <a:endParaRPr sz="1800"/>
          </a:p>
        </p:txBody>
      </p:sp>
      <p:sp>
        <p:nvSpPr>
          <p:cNvPr id="17" name="Chevron 16"/>
          <p:cNvSpPr/>
          <p:nvPr/>
        </p:nvSpPr>
        <p:spPr>
          <a:xfrm>
            <a:off x="2796235" y="1892807"/>
            <a:ext cx="2284171" cy="960120"/>
          </a:xfrm>
          <a:prstGeom prst="chevron">
            <a:avLst>
              <a:gd name="adj" fmla="val 20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7131" y="1892807"/>
            <a:ext cx="1698955" cy="960120"/>
          </a:xfrm>
          <a:prstGeom prst="rect">
            <a:avLst/>
          </a:prstGeom>
          <a:noFill/>
        </p:spPr>
        <p:txBody>
          <a:bodyPr wrap="square" anchor="ctr" lIns="0" rIns="0" tIns="0" bIns="0">
            <a:spAutoFit/>
          </a:bodyPr>
          <a:lstStyle/>
          <a:p>
            <a:pPr algn="ctr">
              <a:spcAft>
                <a:spcPts val="0"/>
              </a:spcAft>
            </a:pPr>
            <a:r>
              <a:rPr sz="2100" b="1" i="0">
                <a:solidFill>
                  <a:srgbClr val="2D1F66"/>
                </a:solidFill>
                <a:latin typeface="Trebuchet MS"/>
              </a:rPr>
              <a:t>Build text</a:t>
            </a:r>
            <a:endParaRPr sz="2100"/>
          </a:p>
          <a:p>
            <a:pPr algn="ctr">
              <a:spcAft>
                <a:spcPts val="0"/>
              </a:spcAft>
            </a:pPr>
            <a:r>
              <a:rPr sz="1800" b="0" i="0">
                <a:solidFill>
                  <a:srgbClr val="10204A"/>
                </a:solidFill>
                <a:latin typeface="Trebuchet MS"/>
              </a:rPr>
              <a:t>≤ 512 tokens</a:t>
            </a:r>
            <a:endParaRPr sz="1800"/>
          </a:p>
        </p:txBody>
      </p:sp>
      <p:sp>
        <p:nvSpPr>
          <p:cNvPr id="19" name="Chevron 18"/>
          <p:cNvSpPr/>
          <p:nvPr/>
        </p:nvSpPr>
        <p:spPr>
          <a:xfrm>
            <a:off x="4952390" y="1892807"/>
            <a:ext cx="2284171" cy="960120"/>
          </a:xfrm>
          <a:prstGeom prst="chevron">
            <a:avLst>
              <a:gd name="adj" fmla="val 20000"/>
            </a:avLst>
          </a:prstGeom>
          <a:solidFill>
            <a:srgbClr val="FFFFFF"/>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63286" y="1892807"/>
            <a:ext cx="1698955" cy="960120"/>
          </a:xfrm>
          <a:prstGeom prst="rect">
            <a:avLst/>
          </a:prstGeom>
          <a:noFill/>
        </p:spPr>
        <p:txBody>
          <a:bodyPr wrap="square" anchor="ctr" lIns="0" rIns="0" tIns="0" bIns="0">
            <a:spAutoFit/>
          </a:bodyPr>
          <a:lstStyle/>
          <a:p>
            <a:pPr algn="ctr">
              <a:spcAft>
                <a:spcPts val="0"/>
              </a:spcAft>
            </a:pPr>
            <a:r>
              <a:rPr sz="2100" b="1" i="0">
                <a:solidFill>
                  <a:srgbClr val="2D1F66"/>
                </a:solidFill>
                <a:latin typeface="Trebuchet MS"/>
              </a:rPr>
              <a:t>Embed</a:t>
            </a:r>
            <a:endParaRPr sz="2100"/>
          </a:p>
          <a:p>
            <a:pPr algn="ctr">
              <a:spcAft>
                <a:spcPts val="0"/>
              </a:spcAft>
            </a:pPr>
            <a:r>
              <a:rPr sz="1800" b="0" i="0">
                <a:solidFill>
                  <a:srgbClr val="10204A"/>
                </a:solidFill>
                <a:latin typeface="Trebuchet MS"/>
              </a:rPr>
              <a:t>384-d vector</a:t>
            </a:r>
            <a:endParaRPr sz="1800"/>
          </a:p>
        </p:txBody>
      </p:sp>
      <p:sp>
        <p:nvSpPr>
          <p:cNvPr id="21" name="Chevron 20"/>
          <p:cNvSpPr/>
          <p:nvPr/>
        </p:nvSpPr>
        <p:spPr>
          <a:xfrm>
            <a:off x="7108545" y="1892807"/>
            <a:ext cx="2284171" cy="960120"/>
          </a:xfrm>
          <a:prstGeom prst="chevron">
            <a:avLst>
              <a:gd name="adj" fmla="val 20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9441" y="1892807"/>
            <a:ext cx="1698955" cy="960120"/>
          </a:xfrm>
          <a:prstGeom prst="rect">
            <a:avLst/>
          </a:prstGeom>
          <a:noFill/>
        </p:spPr>
        <p:txBody>
          <a:bodyPr wrap="square" anchor="ctr" lIns="0" rIns="0" tIns="0" bIns="0">
            <a:spAutoFit/>
          </a:bodyPr>
          <a:lstStyle/>
          <a:p>
            <a:pPr algn="ctr">
              <a:spcAft>
                <a:spcPts val="0"/>
              </a:spcAft>
            </a:pPr>
            <a:r>
              <a:rPr sz="2100" b="1" i="0">
                <a:solidFill>
                  <a:srgbClr val="2D1F66"/>
                </a:solidFill>
                <a:latin typeface="Trebuchet MS"/>
              </a:rPr>
              <a:t>Index</a:t>
            </a:r>
            <a:endParaRPr sz="2100"/>
          </a:p>
          <a:p>
            <a:pPr algn="ctr">
              <a:spcAft>
                <a:spcPts val="0"/>
              </a:spcAft>
            </a:pPr>
            <a:r>
              <a:rPr sz="1800" b="0" i="0">
                <a:solidFill>
                  <a:srgbClr val="10204A"/>
                </a:solidFill>
                <a:latin typeface="Trebuchet MS"/>
              </a:rPr>
              <a:t>into FAISS</a:t>
            </a:r>
            <a:endParaRPr sz="1800"/>
          </a:p>
        </p:txBody>
      </p:sp>
      <p:sp>
        <p:nvSpPr>
          <p:cNvPr id="23" name="Chevron 22"/>
          <p:cNvSpPr/>
          <p:nvPr/>
        </p:nvSpPr>
        <p:spPr>
          <a:xfrm>
            <a:off x="9264700" y="1892807"/>
            <a:ext cx="2284171" cy="960120"/>
          </a:xfrm>
          <a:prstGeom prst="chevron">
            <a:avLst>
              <a:gd name="adj" fmla="val 20000"/>
            </a:avLst>
          </a:prstGeom>
          <a:solidFill>
            <a:srgbClr val="FFFFFF"/>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5596" y="1892807"/>
            <a:ext cx="1698955" cy="960120"/>
          </a:xfrm>
          <a:prstGeom prst="rect">
            <a:avLst/>
          </a:prstGeom>
          <a:noFill/>
        </p:spPr>
        <p:txBody>
          <a:bodyPr wrap="square" anchor="ctr" lIns="0" rIns="0" tIns="0" bIns="0">
            <a:spAutoFit/>
          </a:bodyPr>
          <a:lstStyle/>
          <a:p>
            <a:pPr algn="ctr">
              <a:spcAft>
                <a:spcPts val="0"/>
              </a:spcAft>
            </a:pPr>
            <a:r>
              <a:rPr sz="2100" b="1" i="0">
                <a:solidFill>
                  <a:srgbClr val="2D1F66"/>
                </a:solidFill>
                <a:latin typeface="Trebuchet MS"/>
              </a:rPr>
              <a:t>Classify</a:t>
            </a:r>
            <a:endParaRPr sz="2100"/>
          </a:p>
          <a:p>
            <a:pPr algn="ctr">
              <a:spcAft>
                <a:spcPts val="0"/>
              </a:spcAft>
            </a:pPr>
            <a:r>
              <a:rPr sz="1800" b="0" i="0">
                <a:solidFill>
                  <a:srgbClr val="10204A"/>
                </a:solidFill>
                <a:latin typeface="Trebuchet MS"/>
              </a:rPr>
              <a:t>5 groups</a:t>
            </a:r>
            <a:endParaRPr sz="1800"/>
          </a:p>
        </p:txBody>
      </p:sp>
      <p:sp>
        <p:nvSpPr>
          <p:cNvPr id="25" name="Rounded Rectangle 24"/>
          <p:cNvSpPr/>
          <p:nvPr/>
        </p:nvSpPr>
        <p:spPr>
          <a:xfrm>
            <a:off x="640080" y="3035808"/>
            <a:ext cx="6126480" cy="658368"/>
          </a:xfrm>
          <a:prstGeom prst="roundRect">
            <a:avLst>
              <a:gd name="adj" fmla="val 25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2000" b="1" i="0">
                <a:solidFill>
                  <a:srgbClr val="2D1F66"/>
                </a:solidFill>
                <a:latin typeface="Trebuchet MS"/>
              </a:rPr>
              <a:t>1 · Rules: labels, Shorts, .edu</a:t>
            </a:r>
            <a:endParaRPr sz="2000"/>
          </a:p>
        </p:txBody>
      </p:sp>
      <p:sp>
        <p:nvSpPr>
          <p:cNvPr id="26" name="Rounded Rectangle 25"/>
          <p:cNvSpPr/>
          <p:nvPr/>
        </p:nvSpPr>
        <p:spPr>
          <a:xfrm>
            <a:off x="914400" y="3785616"/>
            <a:ext cx="5577840" cy="658368"/>
          </a:xfrm>
          <a:prstGeom prst="roundRect">
            <a:avLst>
              <a:gd name="adj" fmla="val 25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2000" b="1" i="0">
                <a:solidFill>
                  <a:srgbClr val="2D1F66"/>
                </a:solidFill>
                <a:latin typeface="Trebuchet MS"/>
              </a:rPr>
              <a:t>2 · Curated domain map</a:t>
            </a:r>
            <a:endParaRPr sz="2000"/>
          </a:p>
        </p:txBody>
      </p:sp>
      <p:sp>
        <p:nvSpPr>
          <p:cNvPr id="27" name="Rounded Rectangle 26"/>
          <p:cNvSpPr/>
          <p:nvPr/>
        </p:nvSpPr>
        <p:spPr>
          <a:xfrm>
            <a:off x="1188719" y="4535424"/>
            <a:ext cx="5029200" cy="658368"/>
          </a:xfrm>
          <a:prstGeom prst="roundRect">
            <a:avLst>
              <a:gd name="adj" fmla="val 25000"/>
            </a:avLst>
          </a:prstGeom>
          <a:solidFill>
            <a:srgbClr val="EEEAFD"/>
          </a:solidFill>
          <a:ln w="25400">
            <a:solidFill>
              <a:srgbClr val="6B4FD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2000" b="1" i="0">
                <a:solidFill>
                  <a:srgbClr val="2D1F66"/>
                </a:solidFill>
                <a:latin typeface="Trebuchet MS"/>
              </a:rPr>
              <a:t>3 · Nearest centroid</a:t>
            </a:r>
            <a:endParaRPr sz="2000"/>
          </a:p>
        </p:txBody>
      </p:sp>
      <p:sp>
        <p:nvSpPr>
          <p:cNvPr id="28" name="Rounded Rectangle 27"/>
          <p:cNvSpPr/>
          <p:nvPr/>
        </p:nvSpPr>
        <p:spPr>
          <a:xfrm>
            <a:off x="1463039" y="5285232"/>
            <a:ext cx="4480560" cy="658368"/>
          </a:xfrm>
          <a:prstGeom prst="roundRect">
            <a:avLst>
              <a:gd name="adj" fmla="val 25000"/>
            </a:avLst>
          </a:prstGeom>
          <a:solidFill>
            <a:srgbClr val="FFF1EE"/>
          </a:solidFill>
          <a:ln w="25400">
            <a:solidFill>
              <a:srgbClr val="E030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2000" b="1" i="0">
                <a:solidFill>
                  <a:srgbClr val="7A1A10"/>
                </a:solidFill>
                <a:latin typeface="Trebuchet MS"/>
              </a:rPr>
              <a:t>4 · LLM: title + 300 chars</a:t>
            </a:r>
            <a:endParaRPr sz="2000"/>
          </a:p>
        </p:txBody>
      </p:sp>
      <p:sp>
        <p:nvSpPr>
          <p:cNvPr id="29" name="Rounded Rectangle 28"/>
          <p:cNvSpPr/>
          <p:nvPr/>
        </p:nvSpPr>
        <p:spPr>
          <a:xfrm>
            <a:off x="7040880" y="3035808"/>
            <a:ext cx="4507992" cy="1143000"/>
          </a:xfrm>
          <a:prstGeom prst="roundRect">
            <a:avLst>
              <a:gd name="adj" fmla="val 15000"/>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200"/>
              </a:spcAft>
            </a:pPr>
            <a:r>
              <a:rPr sz="2100" b="1" i="0">
                <a:solidFill>
                  <a:srgbClr val="FFFFFF"/>
                </a:solidFill>
                <a:latin typeface="Trebuchet MS"/>
              </a:rPr>
              <a:t>Output: system group</a:t>
            </a:r>
            <a:endParaRPr sz="2100"/>
          </a:p>
          <a:p>
            <a:pPr algn="l">
              <a:spcAft>
                <a:spcPts val="0"/>
              </a:spcAft>
            </a:pPr>
            <a:r>
              <a:rPr sz="1900" b="0" i="0">
                <a:solidFill>
                  <a:srgbClr val="FFFFFF"/>
                </a:solidFill>
                <a:latin typeface="Trebuchet MS"/>
              </a:rPr>
              <a:t>work · study · entertainment · personal · misc</a:t>
            </a:r>
            <a:endParaRPr sz="1900"/>
          </a:p>
        </p:txBody>
      </p:sp>
      <p:sp>
        <p:nvSpPr>
          <p:cNvPr id="30" name="Rounded Rectangle 29"/>
          <p:cNvSpPr/>
          <p:nvPr/>
        </p:nvSpPr>
        <p:spPr>
          <a:xfrm>
            <a:off x="7040880" y="4315968"/>
            <a:ext cx="4507992" cy="1627631"/>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40880" y="4425696"/>
            <a:ext cx="73152" cy="1408175"/>
          </a:xfrm>
          <a:prstGeom prst="rect">
            <a:avLst/>
          </a:prstGeom>
          <a:solidFill>
            <a:srgbClr val="6B4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87184" y="4352544"/>
            <a:ext cx="4306824" cy="1554479"/>
          </a:xfrm>
          <a:prstGeom prst="rect">
            <a:avLst/>
          </a:prstGeom>
          <a:noFill/>
        </p:spPr>
        <p:txBody>
          <a:bodyPr wrap="square" anchor="t" tIns="54864" bIns="54864">
            <a:spAutoFit/>
          </a:bodyPr>
          <a:lstStyle/>
          <a:p>
            <a:pPr algn="l">
              <a:spcAft>
                <a:spcPts val="600"/>
              </a:spcAft>
            </a:pPr>
            <a:r>
              <a:rPr sz="2200" b="1" i="0">
                <a:solidFill>
                  <a:srgbClr val="6B4FD8"/>
                </a:solidFill>
                <a:latin typeface="Trebuchet MS"/>
              </a:rPr>
              <a:t>Why this order</a:t>
            </a:r>
            <a:endParaRPr sz="2200"/>
          </a:p>
          <a:p>
            <a:pPr algn="l" marL="256032" indent="-256032">
              <a:spcAft>
                <a:spcPts val="400"/>
              </a:spcAft>
              <a:buFont typeface="Arial"/>
              <a:buChar char="•"/>
            </a:pPr>
            <a:r>
              <a:rPr sz="2000" b="0" i="0">
                <a:solidFill>
                  <a:srgbClr val="10204A"/>
                </a:solidFill>
                <a:latin typeface="Trebuchet MS"/>
              </a:rPr>
              <a:t>Cheapest stage first</a:t>
            </a:r>
            <a:endParaRPr sz="2000"/>
          </a:p>
          <a:p>
            <a:pPr algn="l" marL="256032" indent="-256032">
              <a:spcAft>
                <a:spcPts val="400"/>
              </a:spcAft>
              <a:buFont typeface="Arial"/>
              <a:buChar char="•"/>
            </a:pPr>
            <a:r>
              <a:rPr sz="2000" b="0" i="0">
                <a:solidFill>
                  <a:srgbClr val="10204A"/>
                </a:solidFill>
                <a:latin typeface="Trebuchet MS"/>
              </a:rPr>
              <a:t>Centroids learn topic, not source</a:t>
            </a:r>
            <a:endParaRPr sz="2000"/>
          </a:p>
          <a:p>
            <a:pPr algn="l" marL="256032" indent="-256032">
              <a:spcAft>
                <a:spcPts val="0"/>
              </a:spcAft>
              <a:buFont typeface="Arial"/>
              <a:buChar char="•"/>
            </a:pPr>
            <a:r>
              <a:rPr sz="2000" b="0" i="0">
                <a:solidFill>
                  <a:srgbClr val="10204A"/>
                </a:solidFill>
                <a:latin typeface="Trebuchet MS"/>
              </a:rPr>
              <a:t>Unsure → 'misc', failed → retried</a:t>
            </a:r>
            <a:endParaRPr sz="2000"/>
          </a:p>
        </p:txBody>
      </p:sp>
      <p:sp>
        <p:nvSpPr>
          <p:cNvPr id="33" name="Rounded Rectangle 32"/>
          <p:cNvSpPr/>
          <p:nvPr/>
        </p:nvSpPr>
        <p:spPr>
          <a:xfrm>
            <a:off x="640080" y="6080760"/>
            <a:ext cx="10908792" cy="429767"/>
          </a:xfrm>
          <a:prstGeom prst="roundRect">
            <a:avLst>
              <a:gd name="adj" fmla="val 30000"/>
            </a:avLst>
          </a:prstGeom>
          <a:solidFill>
            <a:srgbClr val="FFFFFF">
              <a:alpha val="97000"/>
            </a:srgbClr>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0"/>
              </a:spcAft>
            </a:pPr>
            <a:r>
              <a:rPr sz="2000" b="1" i="0">
                <a:solidFill>
                  <a:srgbClr val="10204A"/>
                </a:solidFill>
                <a:latin typeface="Trebuchet MS"/>
              </a:rPr>
              <a:t>Embedding model: </a:t>
            </a:r>
            <a:r>
              <a:rPr sz="2000" b="0" i="0">
                <a:solidFill>
                  <a:srgbClr val="10204A"/>
                </a:solidFill>
                <a:latin typeface="Trebuchet MS"/>
              </a:rPr>
              <a:t>snowflake-arctic-embed-xs · 384-d · reads 512 tokens</a:t>
            </a:r>
            <a:endParaRPr sz="20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3200" dirty="0">
                <a:solidFill>
                  <a:srgbClr val="FF0000"/>
                </a:solidFill>
                <a:latin typeface="Trebuchet MS"/>
                <a:ea typeface="Trebuchet MS"/>
                <a:cs typeface="Trebuchet MS"/>
                <a:sym typeface="Trebuchet MS"/>
              </a:rPr>
              <a:t>Implementation – Recall (RSE)</a:t>
            </a:r>
            <a:endParaRPr lang="en-US" dirty="0">
              <a:solidFill>
                <a:schemeClr val="dk1"/>
              </a:solidFill>
              <a:latin typeface="Arial"/>
              <a:ea typeface="Arial"/>
              <a:cs typeface="Arial"/>
              <a:sym typeface="Arial"/>
            </a:endParaRPr>
          </a:p>
        </p:txBody>
      </p:sp>
      <p:sp>
        <p:nvSpPr>
          <p:cNvPr id="15" name="Rounded Rectangle 14"/>
          <p:cNvSpPr/>
          <p:nvPr/>
        </p:nvSpPr>
        <p:spPr>
          <a:xfrm>
            <a:off x="640080" y="1892807"/>
            <a:ext cx="1691640" cy="713232"/>
          </a:xfrm>
          <a:prstGeom prst="roundRect">
            <a:avLst>
              <a:gd name="adj" fmla="val 12000"/>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1E263A"/>
                </a:solidFill>
                <a:latin typeface="Trebuchet MS"/>
              </a:rPr>
              <a:t>Question</a:t>
            </a:r>
            <a:endParaRPr sz="2000"/>
          </a:p>
        </p:txBody>
      </p:sp>
      <p:sp>
        <p:nvSpPr>
          <p:cNvPr id="16" name="Rounded Rectangle 15"/>
          <p:cNvSpPr/>
          <p:nvPr/>
        </p:nvSpPr>
        <p:spPr>
          <a:xfrm>
            <a:off x="2697480" y="1892807"/>
            <a:ext cx="2377440" cy="713232"/>
          </a:xfrm>
          <a:prstGeom prst="roundRect">
            <a:avLst>
              <a:gd name="adj" fmla="val 12000"/>
            </a:avLst>
          </a:prstGeom>
          <a:solidFill>
            <a:srgbClr val="FFF1EE"/>
          </a:solidFill>
          <a:ln w="25400">
            <a:solidFill>
              <a:srgbClr val="E030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7A1A10"/>
                </a:solidFill>
                <a:latin typeface="Trebuchet MS"/>
              </a:rPr>
              <a:t>Luna agent</a:t>
            </a:r>
            <a:endParaRPr sz="2000"/>
          </a:p>
        </p:txBody>
      </p:sp>
      <p:sp>
        <p:nvSpPr>
          <p:cNvPr id="17" name="Rounded Rectangle 16"/>
          <p:cNvSpPr/>
          <p:nvPr/>
        </p:nvSpPr>
        <p:spPr>
          <a:xfrm>
            <a:off x="5440680" y="1892807"/>
            <a:ext cx="1920239" cy="713232"/>
          </a:xfrm>
          <a:prstGeom prst="roundRect">
            <a:avLst>
              <a:gd name="adj" fmla="val 12000"/>
            </a:avLst>
          </a:prstGeom>
          <a:solidFill>
            <a:srgbClr val="E6F5EC"/>
          </a:solidFill>
          <a:ln w="25400">
            <a:solidFill>
              <a:srgbClr val="1F8A4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0F4D2A"/>
                </a:solidFill>
                <a:latin typeface="Trebuchet MS"/>
              </a:rPr>
              <a:t>Answer</a:t>
            </a:r>
            <a:endParaRPr sz="2000"/>
          </a:p>
        </p:txBody>
      </p:sp>
      <p:cxnSp>
        <p:nvCxnSpPr>
          <p:cNvPr id="18" name="Connector 17"/>
          <p:cNvCxnSpPr/>
          <p:nvPr/>
        </p:nvCxnSpPr>
        <p:spPr>
          <a:xfrm>
            <a:off x="2350008" y="2249424"/>
            <a:ext cx="329183" cy="0"/>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93208" y="2249424"/>
            <a:ext cx="329184" cy="0"/>
          </a:xfrm>
          <a:prstGeom prst="line">
            <a:avLst/>
          </a:prstGeom>
          <a:ln w="28575">
            <a:solidFill>
              <a:srgbClr val="1F8A4C"/>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566160" y="2624327"/>
            <a:ext cx="0" cy="420624"/>
          </a:xfrm>
          <a:prstGeom prst="line">
            <a:avLst/>
          </a:prstGeom>
          <a:ln w="34925">
            <a:solidFill>
              <a:srgbClr val="E0301E"/>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206240" y="2624327"/>
            <a:ext cx="0" cy="420624"/>
          </a:xfrm>
          <a:prstGeom prst="line">
            <a:avLst/>
          </a:prstGeom>
          <a:ln w="34925">
            <a:solidFill>
              <a:srgbClr val="1F4FE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43400" y="2642615"/>
            <a:ext cx="3108960" cy="384048"/>
          </a:xfrm>
          <a:prstGeom prst="rect">
            <a:avLst/>
          </a:prstGeom>
          <a:noFill/>
        </p:spPr>
        <p:txBody>
          <a:bodyPr wrap="square" anchor="t" lIns="0" rIns="0" tIns="0" bIns="0">
            <a:spAutoFit/>
          </a:bodyPr>
          <a:lstStyle/>
          <a:p>
            <a:pPr algn="l">
              <a:spcAft>
                <a:spcPts val="0"/>
              </a:spcAft>
            </a:pPr>
            <a:r>
              <a:rPr sz="1800" b="0" i="0">
                <a:solidFill>
                  <a:srgbClr val="0B2272"/>
                </a:solidFill>
                <a:latin typeface="Trebuchet MS"/>
              </a:rPr>
              <a:t>≤ 5 search rounds</a:t>
            </a:r>
            <a:endParaRPr sz="1800"/>
          </a:p>
        </p:txBody>
      </p:sp>
      <p:sp>
        <p:nvSpPr>
          <p:cNvPr id="23" name="Rounded Rectangle 22"/>
          <p:cNvSpPr/>
          <p:nvPr/>
        </p:nvSpPr>
        <p:spPr>
          <a:xfrm>
            <a:off x="640080" y="3063239"/>
            <a:ext cx="6720840" cy="2697480"/>
          </a:xfrm>
          <a:prstGeom prst="roundRect">
            <a:avLst>
              <a:gd name="adj" fmla="val 4000"/>
            </a:avLst>
          </a:prstGeom>
          <a:solidFill>
            <a:srgbClr val="FFFFFF">
              <a:alpha val="97000"/>
            </a:srgbClr>
          </a:solidFill>
          <a:ln w="25400">
            <a:solidFill>
              <a:srgbClr val="1F4F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18103"/>
            <a:ext cx="6446520" cy="411480"/>
          </a:xfrm>
          <a:prstGeom prst="rect">
            <a:avLst/>
          </a:prstGeom>
          <a:noFill/>
        </p:spPr>
        <p:txBody>
          <a:bodyPr wrap="square" anchor="t" lIns="18288" rIns="18288" tIns="10972" bIns="10972">
            <a:spAutoFit/>
          </a:bodyPr>
          <a:lstStyle/>
          <a:p>
            <a:pPr algn="l">
              <a:spcAft>
                <a:spcPts val="0"/>
              </a:spcAft>
            </a:pPr>
            <a:r>
              <a:rPr sz="2000" b="1" i="0">
                <a:solidFill>
                  <a:srgbClr val="0B2272"/>
                </a:solidFill>
                <a:latin typeface="Trebuchet MS"/>
              </a:rPr>
              <a:t>search_memories — plain Python, no LLM</a:t>
            </a:r>
            <a:endParaRPr sz="2000"/>
          </a:p>
        </p:txBody>
      </p:sp>
      <p:sp>
        <p:nvSpPr>
          <p:cNvPr id="25" name="Oval 24"/>
          <p:cNvSpPr/>
          <p:nvPr/>
        </p:nvSpPr>
        <p:spPr>
          <a:xfrm>
            <a:off x="822959" y="3621023"/>
            <a:ext cx="365760" cy="36576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Trebuchet MS"/>
              </a:rPr>
              <a:t>1</a:t>
            </a:r>
            <a:endParaRPr sz="1800"/>
          </a:p>
        </p:txBody>
      </p:sp>
      <p:sp>
        <p:nvSpPr>
          <p:cNvPr id="26" name="TextBox 25"/>
          <p:cNvSpPr txBox="1"/>
          <p:nvPr/>
        </p:nvSpPr>
        <p:spPr>
          <a:xfrm>
            <a:off x="1298448" y="3593591"/>
            <a:ext cx="5943600" cy="411480"/>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Time phrase → dates</a:t>
            </a:r>
            <a:endParaRPr sz="2000"/>
          </a:p>
        </p:txBody>
      </p:sp>
      <p:sp>
        <p:nvSpPr>
          <p:cNvPr id="27" name="Oval 26"/>
          <p:cNvSpPr/>
          <p:nvPr/>
        </p:nvSpPr>
        <p:spPr>
          <a:xfrm>
            <a:off x="822959" y="4050791"/>
            <a:ext cx="365760" cy="36576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Trebuchet MS"/>
              </a:rPr>
              <a:t>2</a:t>
            </a:r>
            <a:endParaRPr sz="1800"/>
          </a:p>
        </p:txBody>
      </p:sp>
      <p:sp>
        <p:nvSpPr>
          <p:cNvPr id="28" name="TextBox 27"/>
          <p:cNvSpPr txBox="1"/>
          <p:nvPr/>
        </p:nvSpPr>
        <p:spPr>
          <a:xfrm>
            <a:off x="1298448" y="4023359"/>
            <a:ext cx="5943600" cy="411480"/>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Keyword + semantic search</a:t>
            </a:r>
            <a:endParaRPr sz="2000"/>
          </a:p>
        </p:txBody>
      </p:sp>
      <p:sp>
        <p:nvSpPr>
          <p:cNvPr id="29" name="Oval 28"/>
          <p:cNvSpPr/>
          <p:nvPr/>
        </p:nvSpPr>
        <p:spPr>
          <a:xfrm>
            <a:off x="822959" y="4480560"/>
            <a:ext cx="365760" cy="36576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Trebuchet MS"/>
              </a:rPr>
              <a:t>3</a:t>
            </a:r>
            <a:endParaRPr sz="1800"/>
          </a:p>
        </p:txBody>
      </p:sp>
      <p:sp>
        <p:nvSpPr>
          <p:cNvPr id="30" name="TextBox 29"/>
          <p:cNvSpPr txBox="1"/>
          <p:nvPr/>
        </p:nvSpPr>
        <p:spPr>
          <a:xfrm>
            <a:off x="1298448" y="4453128"/>
            <a:ext cx="5943600" cy="411480"/>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RRF merge (k = 60)</a:t>
            </a:r>
            <a:endParaRPr sz="2000"/>
          </a:p>
        </p:txBody>
      </p:sp>
      <p:sp>
        <p:nvSpPr>
          <p:cNvPr id="31" name="Oval 30"/>
          <p:cNvSpPr/>
          <p:nvPr/>
        </p:nvSpPr>
        <p:spPr>
          <a:xfrm>
            <a:off x="822959" y="4910328"/>
            <a:ext cx="365760" cy="36576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Trebuchet MS"/>
              </a:rPr>
              <a:t>4</a:t>
            </a:r>
            <a:endParaRPr sz="1800"/>
          </a:p>
        </p:txBody>
      </p:sp>
      <p:sp>
        <p:nvSpPr>
          <p:cNvPr id="32" name="TextBox 31"/>
          <p:cNvSpPr txBox="1"/>
          <p:nvPr/>
        </p:nvSpPr>
        <p:spPr>
          <a:xfrm>
            <a:off x="1298448" y="4882896"/>
            <a:ext cx="5943600" cy="411480"/>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Rerank: 0.8 cross-encoder + 0.2 effort</a:t>
            </a:r>
            <a:endParaRPr sz="2000"/>
          </a:p>
        </p:txBody>
      </p:sp>
      <p:sp>
        <p:nvSpPr>
          <p:cNvPr id="33" name="Oval 32"/>
          <p:cNvSpPr/>
          <p:nvPr/>
        </p:nvSpPr>
        <p:spPr>
          <a:xfrm>
            <a:off x="822959" y="5340096"/>
            <a:ext cx="365760" cy="365760"/>
          </a:xfrm>
          <a:prstGeom prst="ellipse">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Trebuchet MS"/>
              </a:rPr>
              <a:t>5</a:t>
            </a:r>
            <a:endParaRPr sz="1800"/>
          </a:p>
        </p:txBody>
      </p:sp>
      <p:sp>
        <p:nvSpPr>
          <p:cNvPr id="34" name="TextBox 33"/>
          <p:cNvSpPr txBox="1"/>
          <p:nvPr/>
        </p:nvSpPr>
        <p:spPr>
          <a:xfrm>
            <a:off x="1298448" y="5312664"/>
            <a:ext cx="5943600" cy="411480"/>
          </a:xfrm>
          <a:prstGeom prst="rect">
            <a:avLst/>
          </a:prstGeom>
          <a:noFill/>
        </p:spPr>
        <p:txBody>
          <a:bodyPr wrap="square" anchor="ctr" lIns="18288" rIns="18288" tIns="10972" bIns="10972">
            <a:spAutoFit/>
          </a:bodyPr>
          <a:lstStyle/>
          <a:p>
            <a:pPr algn="l">
              <a:spcAft>
                <a:spcPts val="0"/>
              </a:spcAft>
            </a:pPr>
            <a:r>
              <a:rPr sz="2000" b="0" i="0">
                <a:solidFill>
                  <a:srgbClr val="10204A"/>
                </a:solidFill>
                <a:latin typeface="Trebuchet MS"/>
              </a:rPr>
              <a:t>Add thread / ±5 min neighbours</a:t>
            </a:r>
            <a:endParaRPr sz="2000"/>
          </a:p>
        </p:txBody>
      </p:sp>
      <p:sp>
        <p:nvSpPr>
          <p:cNvPr id="35" name="Rounded Rectangle 34"/>
          <p:cNvSpPr/>
          <p:nvPr/>
        </p:nvSpPr>
        <p:spPr>
          <a:xfrm>
            <a:off x="640080" y="5897880"/>
            <a:ext cx="2148840" cy="612647"/>
          </a:xfrm>
          <a:prstGeom prst="roundRect">
            <a:avLst>
              <a:gd name="adj" fmla="val 1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400" b="1" i="0">
                <a:solidFill>
                  <a:srgbClr val="1F4FE0"/>
                </a:solidFill>
                <a:latin typeface="Trebuchet MS"/>
              </a:rPr>
              <a:t>usually 2</a:t>
            </a:r>
            <a:endParaRPr sz="2400"/>
          </a:p>
          <a:p>
            <a:pPr algn="ctr">
              <a:spcAft>
                <a:spcPts val="0"/>
              </a:spcAft>
            </a:pPr>
            <a:r>
              <a:rPr sz="1800" b="0" i="0">
                <a:solidFill>
                  <a:srgbClr val="455068"/>
                </a:solidFill>
                <a:latin typeface="Trebuchet MS"/>
              </a:rPr>
              <a:t>LLM calls</a:t>
            </a:r>
            <a:endParaRPr sz="1800"/>
          </a:p>
        </p:txBody>
      </p:sp>
      <p:sp>
        <p:nvSpPr>
          <p:cNvPr id="36" name="Rounded Rectangle 35"/>
          <p:cNvSpPr/>
          <p:nvPr/>
        </p:nvSpPr>
        <p:spPr>
          <a:xfrm>
            <a:off x="2926080" y="5897880"/>
            <a:ext cx="2148840" cy="612647"/>
          </a:xfrm>
          <a:prstGeom prst="roundRect">
            <a:avLst>
              <a:gd name="adj" fmla="val 1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400" b="1" i="0">
                <a:solidFill>
                  <a:srgbClr val="1F4FE0"/>
                </a:solidFill>
                <a:latin typeface="Trebuchet MS"/>
              </a:rPr>
              <a:t>max 6</a:t>
            </a:r>
            <a:endParaRPr sz="2400"/>
          </a:p>
          <a:p>
            <a:pPr algn="ctr">
              <a:spcAft>
                <a:spcPts val="0"/>
              </a:spcAft>
            </a:pPr>
            <a:r>
              <a:rPr sz="1800" b="0" i="0">
                <a:solidFill>
                  <a:srgbClr val="455068"/>
                </a:solidFill>
                <a:latin typeface="Trebuchet MS"/>
              </a:rPr>
              <a:t>5 rounds + answer</a:t>
            </a:r>
            <a:endParaRPr sz="1800"/>
          </a:p>
        </p:txBody>
      </p:sp>
      <p:sp>
        <p:nvSpPr>
          <p:cNvPr id="37" name="Rounded Rectangle 36"/>
          <p:cNvSpPr/>
          <p:nvPr/>
        </p:nvSpPr>
        <p:spPr>
          <a:xfrm>
            <a:off x="5212080" y="5897880"/>
            <a:ext cx="2148840" cy="612647"/>
          </a:xfrm>
          <a:prstGeom prst="roundRect">
            <a:avLst>
              <a:gd name="adj" fmla="val 1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2400" b="1" i="0">
                <a:solidFill>
                  <a:srgbClr val="1F4FE0"/>
                </a:solidFill>
                <a:latin typeface="Trebuchet MS"/>
              </a:rPr>
              <a:t>+ MCP</a:t>
            </a:r>
            <a:endParaRPr sz="2400"/>
          </a:p>
          <a:p>
            <a:pPr algn="ctr">
              <a:spcAft>
                <a:spcPts val="0"/>
              </a:spcAft>
            </a:pPr>
            <a:r>
              <a:rPr sz="1800" b="0" i="0">
                <a:solidFill>
                  <a:srgbClr val="455068"/>
                </a:solidFill>
                <a:latin typeface="Trebuchet MS"/>
              </a:rPr>
              <a:t>Claude Desktop</a:t>
            </a:r>
            <a:endParaRPr sz="1800"/>
          </a:p>
        </p:txBody>
      </p:sp>
      <p:sp>
        <p:nvSpPr>
          <p:cNvPr id="38" name="Rounded Rectangle 37"/>
          <p:cNvSpPr/>
          <p:nvPr/>
        </p:nvSpPr>
        <p:spPr>
          <a:xfrm>
            <a:off x="7635240" y="1892807"/>
            <a:ext cx="3913632" cy="461772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0" y="1938528"/>
            <a:ext cx="3639312" cy="384048"/>
          </a:xfrm>
          <a:prstGeom prst="rect">
            <a:avLst/>
          </a:prstGeom>
          <a:noFill/>
        </p:spPr>
        <p:txBody>
          <a:bodyPr wrap="square" anchor="t" lIns="18288" rIns="18288" tIns="10972" bIns="10972">
            <a:spAutoFit/>
          </a:bodyPr>
          <a:lstStyle/>
          <a:p>
            <a:pPr algn="l">
              <a:spcAft>
                <a:spcPts val="0"/>
              </a:spcAft>
            </a:pPr>
            <a:r>
              <a:rPr sz="2000" b="1" i="0">
                <a:solidFill>
                  <a:srgbClr val="0B2272"/>
                </a:solidFill>
                <a:latin typeface="Trebuchet MS"/>
              </a:rPr>
              <a:t>Answer style </a:t>
            </a:r>
            <a:r>
              <a:rPr sz="2000" b="0" i="1">
                <a:solidFill>
                  <a:srgbClr val="455068"/>
                </a:solidFill>
                <a:latin typeface="Trebuchet MS"/>
              </a:rPr>
              <a:t>(illustration)</a:t>
            </a:r>
            <a:endParaRPr sz="2000"/>
          </a:p>
        </p:txBody>
      </p:sp>
      <p:sp>
        <p:nvSpPr>
          <p:cNvPr id="40" name="Rounded Rectangle 39"/>
          <p:cNvSpPr/>
          <p:nvPr/>
        </p:nvSpPr>
        <p:spPr>
          <a:xfrm>
            <a:off x="8183879" y="2414016"/>
            <a:ext cx="3227832" cy="777240"/>
          </a:xfrm>
          <a:prstGeom prst="roundRect">
            <a:avLst>
              <a:gd name="adj" fmla="val 30000"/>
            </a:avLst>
          </a:prstGeom>
          <a:solidFill>
            <a:srgbClr val="1F4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spcAft>
                <a:spcPts val="0"/>
              </a:spcAft>
            </a:pPr>
            <a:r>
              <a:rPr sz="2000" b="0" i="0">
                <a:solidFill>
                  <a:srgbClr val="FFFFFF"/>
                </a:solidFill>
                <a:latin typeface="Trebuchet MS"/>
              </a:rPr>
              <a:t>Did Priya send the checklist?</a:t>
            </a:r>
            <a:endParaRPr sz="2000"/>
          </a:p>
        </p:txBody>
      </p:sp>
      <p:sp>
        <p:nvSpPr>
          <p:cNvPr id="41" name="Rounded Rectangle 40"/>
          <p:cNvSpPr/>
          <p:nvPr/>
        </p:nvSpPr>
        <p:spPr>
          <a:xfrm>
            <a:off x="7772400" y="3328416"/>
            <a:ext cx="3364992" cy="1097280"/>
          </a:xfrm>
          <a:prstGeom prst="roundRect">
            <a:avLst>
              <a:gd name="adj" fmla="val 15000"/>
            </a:avLst>
          </a:prstGeom>
          <a:solidFill>
            <a:srgbClr val="E6E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spcAft>
                <a:spcPts val="0"/>
              </a:spcAft>
            </a:pPr>
            <a:r>
              <a:rPr sz="2000" b="0" i="0">
                <a:solidFill>
                  <a:srgbClr val="10204A"/>
                </a:solidFill>
                <a:latin typeface="Trebuchet MS"/>
              </a:rPr>
              <a:t>Yes — </a:t>
            </a:r>
            <a:r>
              <a:rPr sz="2000" b="1" i="0">
                <a:solidFill>
                  <a:srgbClr val="10204A"/>
                </a:solidFill>
                <a:latin typeface="Trebuchet MS"/>
              </a:rPr>
              <a:t>Priya</a:t>
            </a:r>
            <a:r>
              <a:rPr sz="2000" b="0" i="0">
                <a:solidFill>
                  <a:srgbClr val="10204A"/>
                </a:solidFill>
                <a:latin typeface="Trebuchet MS"/>
              </a:rPr>
              <a:t> emailed it on </a:t>
            </a:r>
            <a:r>
              <a:rPr sz="2000" b="1" i="0">
                <a:solidFill>
                  <a:srgbClr val="10204A"/>
                </a:solidFill>
                <a:latin typeface="Trebuchet MS"/>
              </a:rPr>
              <a:t>Tue 14 Oct</a:t>
            </a:r>
            <a:r>
              <a:rPr sz="2000" b="0" i="0">
                <a:solidFill>
                  <a:srgbClr val="10204A"/>
                </a:solidFill>
                <a:latin typeface="Trebuchet MS"/>
              </a:rPr>
              <a:t>, PDF attached.</a:t>
            </a:r>
            <a:endParaRPr sz="2000"/>
          </a:p>
        </p:txBody>
      </p:sp>
      <p:sp>
        <p:nvSpPr>
          <p:cNvPr id="42" name="Rounded Rectangle 41"/>
          <p:cNvSpPr/>
          <p:nvPr/>
        </p:nvSpPr>
        <p:spPr>
          <a:xfrm>
            <a:off x="7772400" y="4572000"/>
            <a:ext cx="2423160" cy="457200"/>
          </a:xfrm>
          <a:prstGeom prst="roundRect">
            <a:avLst>
              <a:gd name="adj" fmla="val 50000"/>
            </a:avLst>
          </a:prstGeom>
          <a:solidFill>
            <a:srgbClr val="FFFFFF"/>
          </a:solidFill>
          <a:ln w="22225">
            <a:solidFill>
              <a:srgbClr val="1F4F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3"/>
          <a:stretch>
            <a:fillRect/>
          </a:stretch>
        </p:blipFill>
        <p:spPr>
          <a:xfrm>
            <a:off x="7891271" y="4698087"/>
            <a:ext cx="274320" cy="205024"/>
          </a:xfrm>
          <a:prstGeom prst="rect">
            <a:avLst/>
          </a:prstGeom>
        </p:spPr>
      </p:pic>
      <p:sp>
        <p:nvSpPr>
          <p:cNvPr id="44" name="TextBox 43"/>
          <p:cNvSpPr txBox="1"/>
          <p:nvPr/>
        </p:nvSpPr>
        <p:spPr>
          <a:xfrm>
            <a:off x="8229600" y="4572000"/>
            <a:ext cx="1920240" cy="457200"/>
          </a:xfrm>
          <a:prstGeom prst="rect">
            <a:avLst/>
          </a:prstGeom>
          <a:noFill/>
        </p:spPr>
        <p:txBody>
          <a:bodyPr wrap="square" anchor="ctr" lIns="18288" rIns="18288" tIns="10972" bIns="10972">
            <a:spAutoFit/>
          </a:bodyPr>
          <a:lstStyle/>
          <a:p>
            <a:pPr algn="l">
              <a:spcAft>
                <a:spcPts val="0"/>
              </a:spcAft>
            </a:pPr>
            <a:r>
              <a:rPr sz="1800" b="0" i="0">
                <a:solidFill>
                  <a:srgbClr val="0B2272"/>
                </a:solidFill>
                <a:latin typeface="Trebuchet MS"/>
              </a:rPr>
              <a:t>Priya · 14 Oct</a:t>
            </a:r>
            <a:endParaRPr sz="1800"/>
          </a:p>
        </p:txBody>
      </p:sp>
      <p:sp>
        <p:nvSpPr>
          <p:cNvPr id="45" name="Rounded Rectangle 44"/>
          <p:cNvSpPr/>
          <p:nvPr/>
        </p:nvSpPr>
        <p:spPr>
          <a:xfrm>
            <a:off x="7772400" y="5138928"/>
            <a:ext cx="2423160" cy="457200"/>
          </a:xfrm>
          <a:prstGeom prst="roundRect">
            <a:avLst>
              <a:gd name="adj" fmla="val 50000"/>
            </a:avLst>
          </a:prstGeom>
          <a:solidFill>
            <a:srgbClr val="FFFFFF"/>
          </a:solidFill>
          <a:ln w="22225">
            <a:solidFill>
              <a:srgbClr val="1F4F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3"/>
          <a:stretch>
            <a:fillRect/>
          </a:stretch>
        </p:blipFill>
        <p:spPr>
          <a:xfrm>
            <a:off x="7891271" y="5265015"/>
            <a:ext cx="274320" cy="205024"/>
          </a:xfrm>
          <a:prstGeom prst="rect">
            <a:avLst/>
          </a:prstGeom>
        </p:spPr>
      </p:pic>
      <p:sp>
        <p:nvSpPr>
          <p:cNvPr id="47" name="TextBox 46"/>
          <p:cNvSpPr txBox="1"/>
          <p:nvPr/>
        </p:nvSpPr>
        <p:spPr>
          <a:xfrm>
            <a:off x="8229600" y="5138928"/>
            <a:ext cx="1920240" cy="457200"/>
          </a:xfrm>
          <a:prstGeom prst="rect">
            <a:avLst/>
          </a:prstGeom>
          <a:noFill/>
        </p:spPr>
        <p:txBody>
          <a:bodyPr wrap="square" anchor="ctr" lIns="18288" rIns="18288" tIns="10972" bIns="10972">
            <a:spAutoFit/>
          </a:bodyPr>
          <a:lstStyle/>
          <a:p>
            <a:pPr algn="l">
              <a:spcAft>
                <a:spcPts val="0"/>
              </a:spcAft>
            </a:pPr>
            <a:r>
              <a:rPr sz="1800" b="0" i="0">
                <a:solidFill>
                  <a:srgbClr val="0B2272"/>
                </a:solidFill>
                <a:latin typeface="Trebuchet MS"/>
              </a:rPr>
              <a:t>HR · 15 Oct</a:t>
            </a:r>
            <a:endParaRPr sz="1800"/>
          </a:p>
        </p:txBody>
      </p:sp>
      <p:sp>
        <p:nvSpPr>
          <p:cNvPr id="48" name="TextBox 47"/>
          <p:cNvSpPr txBox="1"/>
          <p:nvPr/>
        </p:nvSpPr>
        <p:spPr>
          <a:xfrm>
            <a:off x="7772400" y="5797296"/>
            <a:ext cx="3639312" cy="640079"/>
          </a:xfrm>
          <a:prstGeom prst="rect">
            <a:avLst/>
          </a:prstGeom>
          <a:noFill/>
        </p:spPr>
        <p:txBody>
          <a:bodyPr wrap="square" anchor="ctr" lIns="36576" rIns="36576" tIns="21945" bIns="21945">
            <a:spAutoFit/>
          </a:bodyPr>
          <a:lstStyle/>
          <a:p>
            <a:pPr algn="l">
              <a:spcAft>
                <a:spcPts val="0"/>
              </a:spcAft>
            </a:pPr>
            <a:r>
              <a:rPr sz="2000" b="1" i="0">
                <a:solidFill>
                  <a:srgbClr val="10204A"/>
                </a:solidFill>
                <a:latin typeface="Trebuchet MS"/>
              </a:rPr>
              <a:t>Click a pill</a:t>
            </a:r>
            <a:r>
              <a:rPr sz="2000" b="0" i="0">
                <a:solidFill>
                  <a:srgbClr val="10204A"/>
                </a:solidFill>
                <a:latin typeface="Trebuchet MS"/>
              </a:rPr>
              <a:t> → the original mail</a:t>
            </a:r>
            <a:endParaRPr sz="20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922787"/>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3200" dirty="0">
                <a:solidFill>
                  <a:srgbClr val="FF0000"/>
                </a:solidFill>
                <a:latin typeface="Trebuchet MS"/>
                <a:ea typeface="Trebuchet MS"/>
                <a:cs typeface="Trebuchet MS"/>
                <a:sym typeface="Trebuchet MS"/>
              </a:rPr>
              <a:t>Implementation – Wellbeing (WBA)</a:t>
            </a:r>
            <a:endParaRPr lang="en-US" dirty="0">
              <a:solidFill>
                <a:schemeClr val="dk1"/>
              </a:solidFill>
              <a:latin typeface="Arial"/>
              <a:ea typeface="Arial"/>
              <a:cs typeface="Arial"/>
              <a:sym typeface="Arial"/>
            </a:endParaRPr>
          </a:p>
        </p:txBody>
      </p:sp>
      <p:sp>
        <p:nvSpPr>
          <p:cNvPr id="15" name="Rounded Rectangle 14"/>
          <p:cNvSpPr/>
          <p:nvPr/>
        </p:nvSpPr>
        <p:spPr>
          <a:xfrm>
            <a:off x="640080" y="1874519"/>
            <a:ext cx="2734056" cy="224027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984248"/>
            <a:ext cx="73152" cy="2020824"/>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1911095"/>
            <a:ext cx="2532888" cy="2167127"/>
          </a:xfrm>
          <a:prstGeom prst="rect">
            <a:avLst/>
          </a:prstGeom>
          <a:noFill/>
        </p:spPr>
        <p:txBody>
          <a:bodyPr wrap="square" anchor="ctr" tIns="54864" bIns="54864">
            <a:spAutoFit/>
          </a:bodyPr>
          <a:lstStyle/>
          <a:p>
            <a:pPr algn="l">
              <a:spcAft>
                <a:spcPts val="600"/>
              </a:spcAft>
            </a:pPr>
            <a:r>
              <a:rPr sz="2500" b="1" i="0">
                <a:solidFill>
                  <a:srgbClr val="1F8A4C"/>
                </a:solidFill>
                <a:latin typeface="Trebuchet MS"/>
              </a:rPr>
              <a:t>Time</a:t>
            </a:r>
            <a:endParaRPr sz="2500"/>
          </a:p>
          <a:p>
            <a:pPr algn="l">
              <a:spcAft>
                <a:spcPts val="0"/>
              </a:spcAft>
            </a:pPr>
            <a:r>
              <a:rPr sz="2100" b="0" i="0">
                <a:solidFill>
                  <a:srgbClr val="10204A"/>
                </a:solidFill>
                <a:latin typeface="Trebuchet MS"/>
              </a:rPr>
              <a:t>Dwell per visit, by day and group</a:t>
            </a:r>
            <a:endParaRPr sz="2100"/>
          </a:p>
        </p:txBody>
      </p:sp>
      <p:sp>
        <p:nvSpPr>
          <p:cNvPr id="18" name="Rounded Rectangle 17"/>
          <p:cNvSpPr/>
          <p:nvPr/>
        </p:nvSpPr>
        <p:spPr>
          <a:xfrm>
            <a:off x="3575304" y="1874519"/>
            <a:ext cx="2734056" cy="224027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75304" y="1984248"/>
            <a:ext cx="73152" cy="2020824"/>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1911095"/>
            <a:ext cx="2532888" cy="2167127"/>
          </a:xfrm>
          <a:prstGeom prst="rect">
            <a:avLst/>
          </a:prstGeom>
          <a:noFill/>
        </p:spPr>
        <p:txBody>
          <a:bodyPr wrap="square" anchor="ctr" tIns="54864" bIns="54864">
            <a:spAutoFit/>
          </a:bodyPr>
          <a:lstStyle/>
          <a:p>
            <a:pPr algn="l">
              <a:spcAft>
                <a:spcPts val="600"/>
              </a:spcAft>
            </a:pPr>
            <a:r>
              <a:rPr sz="2500" b="1" i="0">
                <a:solidFill>
                  <a:srgbClr val="1F8A4C"/>
                </a:solidFill>
                <a:latin typeface="Trebuchet MS"/>
              </a:rPr>
              <a:t>Sessions</a:t>
            </a:r>
            <a:endParaRPr sz="2500"/>
          </a:p>
          <a:p>
            <a:pPr algn="l">
              <a:spcAft>
                <a:spcPts val="0"/>
              </a:spcAft>
            </a:pPr>
            <a:r>
              <a:rPr sz="2100" b="0" i="0">
                <a:solidFill>
                  <a:srgbClr val="10204A"/>
                </a:solidFill>
                <a:latin typeface="Trebuchet MS"/>
              </a:rPr>
              <a:t>Gaps ≤ 20 min = one sitting</a:t>
            </a:r>
            <a:endParaRPr sz="2100"/>
          </a:p>
        </p:txBody>
      </p:sp>
      <p:sp>
        <p:nvSpPr>
          <p:cNvPr id="21" name="Rounded Rectangle 20"/>
          <p:cNvSpPr/>
          <p:nvPr/>
        </p:nvSpPr>
        <p:spPr>
          <a:xfrm>
            <a:off x="640080" y="4270248"/>
            <a:ext cx="2734056" cy="224027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379976"/>
            <a:ext cx="73152" cy="2020824"/>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306824"/>
            <a:ext cx="2532888" cy="2167127"/>
          </a:xfrm>
          <a:prstGeom prst="rect">
            <a:avLst/>
          </a:prstGeom>
          <a:noFill/>
        </p:spPr>
        <p:txBody>
          <a:bodyPr wrap="square" anchor="ctr" tIns="54864" bIns="54864">
            <a:spAutoFit/>
          </a:bodyPr>
          <a:lstStyle/>
          <a:p>
            <a:pPr algn="l">
              <a:spcAft>
                <a:spcPts val="600"/>
              </a:spcAft>
            </a:pPr>
            <a:r>
              <a:rPr sz="2500" b="1" i="0">
                <a:solidFill>
                  <a:srgbClr val="1F8A4C"/>
                </a:solidFill>
                <a:latin typeface="Trebuchet MS"/>
              </a:rPr>
              <a:t>Regret</a:t>
            </a:r>
            <a:endParaRPr sz="2500"/>
          </a:p>
          <a:p>
            <a:pPr algn="l">
              <a:spcAft>
                <a:spcPts val="0"/>
              </a:spcAft>
            </a:pPr>
            <a:r>
              <a:rPr sz="2100" b="0" i="0">
                <a:solidFill>
                  <a:srgbClr val="10204A"/>
                </a:solidFill>
                <a:latin typeface="Trebuchet MS"/>
              </a:rPr>
              <a:t>Mark any item; ≤ 2 reminders a day</a:t>
            </a:r>
            <a:endParaRPr sz="2100"/>
          </a:p>
        </p:txBody>
      </p:sp>
      <p:sp>
        <p:nvSpPr>
          <p:cNvPr id="24" name="Rounded Rectangle 23"/>
          <p:cNvSpPr/>
          <p:nvPr/>
        </p:nvSpPr>
        <p:spPr>
          <a:xfrm>
            <a:off x="3575304" y="4270248"/>
            <a:ext cx="2734056" cy="2240279"/>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75304" y="4379976"/>
            <a:ext cx="73152" cy="2020824"/>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4306824"/>
            <a:ext cx="2532888" cy="2167127"/>
          </a:xfrm>
          <a:prstGeom prst="rect">
            <a:avLst/>
          </a:prstGeom>
          <a:noFill/>
        </p:spPr>
        <p:txBody>
          <a:bodyPr wrap="square" anchor="ctr" tIns="54864" bIns="54864">
            <a:spAutoFit/>
          </a:bodyPr>
          <a:lstStyle/>
          <a:p>
            <a:pPr algn="l">
              <a:spcAft>
                <a:spcPts val="600"/>
              </a:spcAft>
            </a:pPr>
            <a:r>
              <a:rPr sz="2500" b="1" i="0">
                <a:solidFill>
                  <a:srgbClr val="1F8A4C"/>
                </a:solidFill>
                <a:latin typeface="Trebuchet MS"/>
              </a:rPr>
              <a:t>Weekly insight</a:t>
            </a:r>
            <a:endParaRPr sz="2500"/>
          </a:p>
          <a:p>
            <a:pPr algn="l">
              <a:spcAft>
                <a:spcPts val="0"/>
              </a:spcAft>
            </a:pPr>
            <a:r>
              <a:rPr sz="2100" b="0" i="0">
                <a:solidFill>
                  <a:srgbClr val="10204A"/>
                </a:solidFill>
                <a:latin typeface="Trebuchet MS"/>
              </a:rPr>
              <a:t>LLM sees numbers only; no scores</a:t>
            </a:r>
            <a:endParaRPr sz="2100"/>
          </a:p>
        </p:txBody>
      </p:sp>
      <p:sp>
        <p:nvSpPr>
          <p:cNvPr id="27" name="Rounded Rectangle 26"/>
          <p:cNvSpPr/>
          <p:nvPr/>
        </p:nvSpPr>
        <p:spPr>
          <a:xfrm>
            <a:off x="6583680" y="1874519"/>
            <a:ext cx="4965192" cy="4636007"/>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1938528"/>
            <a:ext cx="4690872" cy="411480"/>
          </a:xfrm>
          <a:prstGeom prst="rect">
            <a:avLst/>
          </a:prstGeom>
          <a:noFill/>
        </p:spPr>
        <p:txBody>
          <a:bodyPr wrap="square" anchor="t" lIns="18288" rIns="18288" tIns="10972" bIns="10972">
            <a:spAutoFit/>
          </a:bodyPr>
          <a:lstStyle/>
          <a:p>
            <a:pPr algn="l">
              <a:spcAft>
                <a:spcPts val="0"/>
              </a:spcAft>
            </a:pPr>
            <a:r>
              <a:rPr sz="2200" b="1" i="0">
                <a:solidFill>
                  <a:srgbClr val="0F4D2A"/>
                </a:solidFill>
                <a:latin typeface="Trebuchet MS"/>
              </a:rPr>
              <a:t>User groups — you stay in control</a:t>
            </a:r>
            <a:endParaRPr sz="2200"/>
          </a:p>
        </p:txBody>
      </p:sp>
      <p:sp>
        <p:nvSpPr>
          <p:cNvPr id="29" name="Rounded Rectangle 28"/>
          <p:cNvSpPr/>
          <p:nvPr/>
        </p:nvSpPr>
        <p:spPr>
          <a:xfrm>
            <a:off x="6812280" y="2450592"/>
            <a:ext cx="4507992" cy="566928"/>
          </a:xfrm>
          <a:prstGeom prst="roundRect">
            <a:avLst>
              <a:gd name="adj" fmla="val 12000"/>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1E263A"/>
                </a:solidFill>
                <a:latin typeface="Trebuchet MS"/>
              </a:rPr>
              <a:t>New item</a:t>
            </a:r>
            <a:endParaRPr sz="2000"/>
          </a:p>
        </p:txBody>
      </p:sp>
      <p:sp>
        <p:nvSpPr>
          <p:cNvPr id="30" name="Rounded Rectangle 29"/>
          <p:cNvSpPr/>
          <p:nvPr/>
        </p:nvSpPr>
        <p:spPr>
          <a:xfrm>
            <a:off x="6812280" y="3218688"/>
            <a:ext cx="4507992" cy="566928"/>
          </a:xfrm>
          <a:prstGeom prst="roundRect">
            <a:avLst>
              <a:gd name="adj" fmla="val 12000"/>
            </a:avLst>
          </a:prstGeom>
          <a:solidFill>
            <a:srgbClr val="EEF1F7"/>
          </a:solidFill>
          <a:ln w="25400">
            <a:solidFill>
              <a:srgbClr val="4A556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1E263A"/>
                </a:solidFill>
                <a:latin typeface="Trebuchet MS"/>
              </a:rPr>
              <a:t>Score: rules + KNN</a:t>
            </a:r>
            <a:endParaRPr sz="2000"/>
          </a:p>
        </p:txBody>
      </p:sp>
      <p:cxnSp>
        <p:nvCxnSpPr>
          <p:cNvPr id="31" name="Connector 30"/>
          <p:cNvCxnSpPr/>
          <p:nvPr/>
        </p:nvCxnSpPr>
        <p:spPr>
          <a:xfrm>
            <a:off x="9066276" y="3035808"/>
            <a:ext cx="0" cy="164592"/>
          </a:xfrm>
          <a:prstGeom prst="line">
            <a:avLst/>
          </a:prstGeom>
          <a:ln w="28575">
            <a:solidFill>
              <a:srgbClr val="45506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812280" y="4242816"/>
            <a:ext cx="2162556" cy="640080"/>
          </a:xfrm>
          <a:prstGeom prst="roundRect">
            <a:avLst>
              <a:gd name="adj" fmla="val 12000"/>
            </a:avLst>
          </a:prstGeom>
          <a:solidFill>
            <a:srgbClr val="E6F5EC"/>
          </a:solidFill>
          <a:ln w="25400">
            <a:solidFill>
              <a:srgbClr val="1F8A4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0F4D2A"/>
                </a:solidFill>
                <a:latin typeface="Trebuchet MS"/>
              </a:rPr>
              <a:t>Auto-added</a:t>
            </a:r>
            <a:endParaRPr sz="2000"/>
          </a:p>
        </p:txBody>
      </p:sp>
      <p:sp>
        <p:nvSpPr>
          <p:cNvPr id="33" name="Rounded Rectangle 32"/>
          <p:cNvSpPr/>
          <p:nvPr/>
        </p:nvSpPr>
        <p:spPr>
          <a:xfrm>
            <a:off x="9157716" y="4242816"/>
            <a:ext cx="2162556" cy="640080"/>
          </a:xfrm>
          <a:prstGeom prst="roundRect">
            <a:avLst>
              <a:gd name="adj" fmla="val 12000"/>
            </a:avLst>
          </a:prstGeom>
          <a:solidFill>
            <a:srgbClr val="FFF4E3"/>
          </a:solidFill>
          <a:ln w="254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6B3A00"/>
                </a:solidFill>
                <a:latin typeface="Trebuchet MS"/>
              </a:rPr>
              <a:t>Pending</a:t>
            </a:r>
            <a:endParaRPr sz="2000"/>
          </a:p>
        </p:txBody>
      </p:sp>
      <p:cxnSp>
        <p:nvCxnSpPr>
          <p:cNvPr id="34" name="Connector 33"/>
          <p:cNvCxnSpPr/>
          <p:nvPr/>
        </p:nvCxnSpPr>
        <p:spPr>
          <a:xfrm flipH="1">
            <a:off x="7893558" y="3803904"/>
            <a:ext cx="898398" cy="420624"/>
          </a:xfrm>
          <a:prstGeom prst="line">
            <a:avLst/>
          </a:prstGeom>
          <a:ln w="28575">
            <a:solidFill>
              <a:srgbClr val="1F8A4C"/>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340596" y="3803904"/>
            <a:ext cx="898398" cy="420624"/>
          </a:xfrm>
          <a:prstGeom prst="line">
            <a:avLst/>
          </a:prstGeom>
          <a:ln w="28575">
            <a:solidFill>
              <a:srgbClr val="C26A00"/>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3803904"/>
            <a:ext cx="1842516" cy="384048"/>
          </a:xfrm>
          <a:prstGeom prst="rect">
            <a:avLst/>
          </a:prstGeom>
          <a:noFill/>
        </p:spPr>
        <p:txBody>
          <a:bodyPr wrap="square" anchor="t" lIns="0" rIns="0" tIns="0" bIns="0">
            <a:spAutoFit/>
          </a:bodyPr>
          <a:lstStyle/>
          <a:p>
            <a:pPr algn="l">
              <a:spcAft>
                <a:spcPts val="0"/>
              </a:spcAft>
            </a:pPr>
            <a:r>
              <a:rPr sz="1800" b="0" i="0">
                <a:solidFill>
                  <a:srgbClr val="0F4D2A"/>
                </a:solidFill>
                <a:latin typeface="Trebuchet MS"/>
              </a:rPr>
              <a:t>confident</a:t>
            </a:r>
            <a:endParaRPr sz="1800"/>
          </a:p>
        </p:txBody>
      </p:sp>
      <p:sp>
        <p:nvSpPr>
          <p:cNvPr id="37" name="TextBox 36"/>
          <p:cNvSpPr txBox="1"/>
          <p:nvPr/>
        </p:nvSpPr>
        <p:spPr>
          <a:xfrm>
            <a:off x="9477756" y="3803904"/>
            <a:ext cx="1842516" cy="384048"/>
          </a:xfrm>
          <a:prstGeom prst="rect">
            <a:avLst/>
          </a:prstGeom>
          <a:noFill/>
        </p:spPr>
        <p:txBody>
          <a:bodyPr wrap="square" anchor="t" lIns="0" rIns="0" tIns="0" bIns="0">
            <a:spAutoFit/>
          </a:bodyPr>
          <a:lstStyle/>
          <a:p>
            <a:pPr algn="r">
              <a:spcAft>
                <a:spcPts val="0"/>
              </a:spcAft>
            </a:pPr>
            <a:r>
              <a:rPr sz="1800" b="0" i="0">
                <a:solidFill>
                  <a:srgbClr val="6B3A00"/>
                </a:solidFill>
                <a:latin typeface="Trebuchet MS"/>
              </a:rPr>
              <a:t>unsure</a:t>
            </a:r>
            <a:endParaRPr sz="1800"/>
          </a:p>
        </p:txBody>
      </p:sp>
      <p:sp>
        <p:nvSpPr>
          <p:cNvPr id="38" name="Rounded Rectangle 37"/>
          <p:cNvSpPr/>
          <p:nvPr/>
        </p:nvSpPr>
        <p:spPr>
          <a:xfrm>
            <a:off x="6812280" y="5093208"/>
            <a:ext cx="2162556" cy="868680"/>
          </a:xfrm>
          <a:prstGeom prst="roundRect">
            <a:avLst>
              <a:gd name="adj" fmla="val 12000"/>
            </a:avLst>
          </a:prstGeom>
          <a:solidFill>
            <a:srgbClr val="E6F5EC"/>
          </a:solidFill>
          <a:ln w="25400">
            <a:solidFill>
              <a:srgbClr val="1F8A4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0F4D2A"/>
                </a:solidFill>
                <a:latin typeface="Trebuchet MS"/>
              </a:rPr>
              <a:t>Sunday review</a:t>
            </a:r>
            <a:endParaRPr sz="2000"/>
          </a:p>
          <a:p>
            <a:pPr algn="ctr">
              <a:spcAft>
                <a:spcPts val="0"/>
              </a:spcAft>
            </a:pPr>
            <a:r>
              <a:rPr sz="1800" b="0" i="0">
                <a:solidFill>
                  <a:srgbClr val="0F4D2A"/>
                </a:solidFill>
                <a:latin typeface="Trebuchet MS"/>
              </a:rPr>
              <a:t>1-click undo</a:t>
            </a:r>
            <a:endParaRPr sz="1800"/>
          </a:p>
        </p:txBody>
      </p:sp>
      <p:sp>
        <p:nvSpPr>
          <p:cNvPr id="39" name="Rounded Rectangle 38"/>
          <p:cNvSpPr/>
          <p:nvPr/>
        </p:nvSpPr>
        <p:spPr>
          <a:xfrm>
            <a:off x="9157716" y="5093208"/>
            <a:ext cx="2162556" cy="868680"/>
          </a:xfrm>
          <a:prstGeom prst="roundRect">
            <a:avLst>
              <a:gd name="adj" fmla="val 12000"/>
            </a:avLst>
          </a:prstGeom>
          <a:solidFill>
            <a:srgbClr val="FFF4E3"/>
          </a:solidFill>
          <a:ln w="25400">
            <a:solidFill>
              <a:srgbClr val="C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100"/>
              </a:spcAft>
            </a:pPr>
            <a:r>
              <a:rPr sz="2000" b="1" i="0">
                <a:solidFill>
                  <a:srgbClr val="6B3A00"/>
                </a:solidFill>
                <a:latin typeface="Trebuchet MS"/>
              </a:rPr>
              <a:t>Your yes / no</a:t>
            </a:r>
            <a:endParaRPr sz="2000"/>
          </a:p>
          <a:p>
            <a:pPr algn="ctr">
              <a:spcAft>
                <a:spcPts val="0"/>
              </a:spcAft>
            </a:pPr>
            <a:r>
              <a:rPr sz="1800" b="0" i="0">
                <a:solidFill>
                  <a:srgbClr val="6B3A00"/>
                </a:solidFill>
                <a:latin typeface="Trebuchet MS"/>
              </a:rPr>
              <a:t>accept or reject</a:t>
            </a:r>
            <a:endParaRPr sz="1800"/>
          </a:p>
        </p:txBody>
      </p:sp>
      <p:cxnSp>
        <p:nvCxnSpPr>
          <p:cNvPr id="40" name="Connector 39"/>
          <p:cNvCxnSpPr/>
          <p:nvPr/>
        </p:nvCxnSpPr>
        <p:spPr>
          <a:xfrm>
            <a:off x="7893558" y="4901183"/>
            <a:ext cx="0" cy="173737"/>
          </a:xfrm>
          <a:prstGeom prst="line">
            <a:avLst/>
          </a:prstGeom>
          <a:ln w="28575">
            <a:solidFill>
              <a:srgbClr val="1F8A4C"/>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238994" y="4901183"/>
            <a:ext cx="0" cy="173737"/>
          </a:xfrm>
          <a:prstGeom prst="line">
            <a:avLst/>
          </a:prstGeom>
          <a:ln w="28575">
            <a:solidFill>
              <a:srgbClr val="C26A00"/>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720840" y="6053327"/>
            <a:ext cx="4690872" cy="411479"/>
          </a:xfrm>
          <a:prstGeom prst="rect">
            <a:avLst/>
          </a:prstGeom>
          <a:noFill/>
        </p:spPr>
        <p:txBody>
          <a:bodyPr wrap="square" anchor="ctr" lIns="36576" rIns="36576" tIns="21945" bIns="21945">
            <a:spAutoFit/>
          </a:bodyPr>
          <a:lstStyle/>
          <a:p>
            <a:pPr algn="ctr">
              <a:spcAft>
                <a:spcPts val="0"/>
              </a:spcAft>
            </a:pPr>
            <a:r>
              <a:rPr sz="1900" b="0" i="0">
                <a:solidFill>
                  <a:srgbClr val="0F4D2A"/>
                </a:solidFill>
                <a:latin typeface="Trebuchet MS"/>
              </a:rPr>
              <a:t>Never decides alone when unsure</a:t>
            </a:r>
            <a:endParaRPr sz="19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5" name="Rectangle 4"/>
          <p:cNvSpPr>
            <a:spLocks noChangeArrowheads="1"/>
          </p:cNvSpPr>
          <p:nvPr/>
        </p:nvSpPr>
        <p:spPr bwMode="auto">
          <a:xfrm>
            <a:off x="3048000" y="1447800"/>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640080" y="789432"/>
            <a:ext cx="101041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Test Plan and Strategy (2/2) – Methods</a:t>
            </a:r>
            <a:endParaRPr lang="en-US" sz="2400" dirty="0"/>
          </a:p>
        </p:txBody>
      </p:sp>
      <p:sp>
        <p:nvSpPr>
          <p:cNvPr id="15" name="Rounded Rectangle 14"/>
          <p:cNvSpPr/>
          <p:nvPr/>
        </p:nvSpPr>
        <p:spPr>
          <a:xfrm>
            <a:off x="640080" y="1874519"/>
            <a:ext cx="5340096" cy="25146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1984248"/>
            <a:ext cx="73152" cy="2295144"/>
          </a:xfrm>
          <a:prstGeom prst="rect">
            <a:avLst/>
          </a:prstGeom>
          <a:solidFill>
            <a:srgbClr val="0E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1911095"/>
            <a:ext cx="5138928" cy="2441448"/>
          </a:xfrm>
          <a:prstGeom prst="rect">
            <a:avLst/>
          </a:prstGeom>
          <a:noFill/>
        </p:spPr>
        <p:txBody>
          <a:bodyPr wrap="square" anchor="t" tIns="54864" bIns="54864">
            <a:spAutoFit/>
          </a:bodyPr>
          <a:lstStyle/>
          <a:p>
            <a:pPr algn="l">
              <a:spcAft>
                <a:spcPts val="600"/>
              </a:spcAft>
            </a:pPr>
            <a:r>
              <a:rPr sz="2300" b="1" i="0">
                <a:solidFill>
                  <a:srgbClr val="0E8C8C"/>
                </a:solidFill>
                <a:latin typeface="Trebuchet MS"/>
              </a:rPr>
              <a:t>Functional</a:t>
            </a:r>
            <a:endParaRPr sz="2300"/>
          </a:p>
          <a:p>
            <a:pPr algn="l" marL="256032" indent="-256032">
              <a:spcAft>
                <a:spcPts val="500"/>
              </a:spcAft>
              <a:buFont typeface="Arial"/>
              <a:buChar char="•"/>
            </a:pPr>
            <a:r>
              <a:rPr sz="2000" b="1" i="0">
                <a:solidFill>
                  <a:srgbClr val="10204A"/>
                </a:solidFill>
                <a:latin typeface="Trebuchet MS"/>
              </a:rPr>
              <a:t>Unit: </a:t>
            </a:r>
            <a:r>
              <a:rPr sz="2000" b="0" i="0">
                <a:solidFill>
                  <a:srgbClr val="10204A"/>
                </a:solidFill>
                <a:latin typeface="Trebuchet MS"/>
              </a:rPr>
              <a:t>gates at every boundary</a:t>
            </a:r>
            <a:endParaRPr sz="2000"/>
          </a:p>
          <a:p>
            <a:pPr algn="l" marL="256032" indent="-256032">
              <a:spcAft>
                <a:spcPts val="500"/>
              </a:spcAft>
              <a:buFont typeface="Arial"/>
              <a:buChar char="•"/>
            </a:pPr>
            <a:r>
              <a:rPr sz="2000" b="1" i="0">
                <a:solidFill>
                  <a:srgbClr val="10204A"/>
                </a:solidFill>
                <a:latin typeface="Trebuchet MS"/>
              </a:rPr>
              <a:t>Integration: </a:t>
            </a:r>
            <a:r>
              <a:rPr sz="2000" b="0" i="0">
                <a:solidFill>
                  <a:srgbClr val="10204A"/>
                </a:solidFill>
                <a:latin typeface="Trebuchet MS"/>
              </a:rPr>
              <a:t>routes via TestClient</a:t>
            </a:r>
            <a:endParaRPr sz="2000"/>
          </a:p>
          <a:p>
            <a:pPr algn="l" marL="256032" indent="-256032">
              <a:spcAft>
                <a:spcPts val="0"/>
              </a:spcAft>
              <a:buFont typeface="Arial"/>
              <a:buChar char="•"/>
            </a:pPr>
            <a:r>
              <a:rPr sz="2000" b="1" i="0">
                <a:solidFill>
                  <a:srgbClr val="10204A"/>
                </a:solidFill>
                <a:latin typeface="Trebuchet MS"/>
              </a:rPr>
              <a:t>End-to-end: </a:t>
            </a:r>
            <a:r>
              <a:rPr sz="2000" b="0" i="0">
                <a:solidFill>
                  <a:srgbClr val="10204A"/>
                </a:solidFill>
                <a:latin typeface="Trebuchet MS"/>
              </a:rPr>
              <a:t>capture → recall</a:t>
            </a:r>
            <a:endParaRPr sz="2000"/>
          </a:p>
        </p:txBody>
      </p:sp>
      <p:sp>
        <p:nvSpPr>
          <p:cNvPr id="18" name="Rounded Rectangle 17"/>
          <p:cNvSpPr/>
          <p:nvPr/>
        </p:nvSpPr>
        <p:spPr>
          <a:xfrm>
            <a:off x="6208776" y="1874519"/>
            <a:ext cx="5340096" cy="251460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1984248"/>
            <a:ext cx="73152" cy="2295144"/>
          </a:xfrm>
          <a:prstGeom prst="rect">
            <a:avLst/>
          </a:prstGeom>
          <a:solidFill>
            <a:srgbClr val="E03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911095"/>
            <a:ext cx="5138928" cy="2441448"/>
          </a:xfrm>
          <a:prstGeom prst="rect">
            <a:avLst/>
          </a:prstGeom>
          <a:noFill/>
        </p:spPr>
        <p:txBody>
          <a:bodyPr wrap="square" anchor="t" tIns="54864" bIns="54864">
            <a:spAutoFit/>
          </a:bodyPr>
          <a:lstStyle/>
          <a:p>
            <a:pPr algn="l">
              <a:spcAft>
                <a:spcPts val="600"/>
              </a:spcAft>
            </a:pPr>
            <a:r>
              <a:rPr sz="2300" b="1" i="0">
                <a:solidFill>
                  <a:srgbClr val="E0301E"/>
                </a:solidFill>
                <a:latin typeface="Trebuchet MS"/>
              </a:rPr>
              <a:t>Non-functional</a:t>
            </a:r>
            <a:endParaRPr sz="2300"/>
          </a:p>
          <a:p>
            <a:pPr algn="l" marL="256032" indent="-256032">
              <a:spcAft>
                <a:spcPts val="500"/>
              </a:spcAft>
              <a:buFont typeface="Arial"/>
              <a:buChar char="•"/>
            </a:pPr>
            <a:r>
              <a:rPr sz="2000" b="1" i="0">
                <a:solidFill>
                  <a:srgbClr val="10204A"/>
                </a:solidFill>
                <a:latin typeface="Trebuchet MS"/>
              </a:rPr>
              <a:t>Performance: </a:t>
            </a:r>
            <a:r>
              <a:rPr sz="2000" b="0" i="0">
                <a:solidFill>
                  <a:srgbClr val="10204A"/>
                </a:solidFill>
                <a:latin typeface="Trebuchet MS"/>
              </a:rPr>
              <a:t>latency, LLM calls</a:t>
            </a:r>
            <a:endParaRPr sz="2000"/>
          </a:p>
          <a:p>
            <a:pPr algn="l" marL="256032" indent="-256032">
              <a:spcAft>
                <a:spcPts val="500"/>
              </a:spcAft>
              <a:buFont typeface="Arial"/>
              <a:buChar char="•"/>
            </a:pPr>
            <a:r>
              <a:rPr sz="2000" b="1" i="0">
                <a:solidFill>
                  <a:srgbClr val="10204A"/>
                </a:solidFill>
                <a:latin typeface="Trebuchet MS"/>
              </a:rPr>
              <a:t>Privacy: </a:t>
            </a:r>
            <a:r>
              <a:rPr sz="2000" b="0" i="0">
                <a:solidFill>
                  <a:srgbClr val="10204A"/>
                </a:solidFill>
                <a:latin typeface="Trebuchet MS"/>
              </a:rPr>
              <a:t>inspect every LLM payload</a:t>
            </a:r>
            <a:endParaRPr sz="2000"/>
          </a:p>
          <a:p>
            <a:pPr algn="l" marL="256032" indent="-256032">
              <a:spcAft>
                <a:spcPts val="0"/>
              </a:spcAft>
              <a:buFont typeface="Arial"/>
              <a:buChar char="•"/>
            </a:pPr>
            <a:r>
              <a:rPr sz="2000" b="1" i="0">
                <a:solidFill>
                  <a:srgbClr val="10204A"/>
                </a:solidFill>
                <a:latin typeface="Trebuchet MS"/>
              </a:rPr>
              <a:t>Reliability: </a:t>
            </a:r>
            <a:r>
              <a:rPr sz="2000" b="0" i="0">
                <a:solidFill>
                  <a:srgbClr val="10204A"/>
                </a:solidFill>
                <a:latin typeface="Trebuchet MS"/>
              </a:rPr>
              <a:t>fallback when down</a:t>
            </a:r>
            <a:endParaRPr sz="2000"/>
          </a:p>
        </p:txBody>
      </p:sp>
      <p:sp>
        <p:nvSpPr>
          <p:cNvPr id="21" name="Rounded Rectangle 20"/>
          <p:cNvSpPr/>
          <p:nvPr/>
        </p:nvSpPr>
        <p:spPr>
          <a:xfrm>
            <a:off x="640080" y="4572000"/>
            <a:ext cx="10908792" cy="960120"/>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681728"/>
            <a:ext cx="73152" cy="740664"/>
          </a:xfrm>
          <a:prstGeom prst="rect">
            <a:avLst/>
          </a:prstGeom>
          <a:solidFill>
            <a:srgbClr val="4A5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608576"/>
            <a:ext cx="10707624" cy="886968"/>
          </a:xfrm>
          <a:prstGeom prst="rect">
            <a:avLst/>
          </a:prstGeom>
          <a:noFill/>
        </p:spPr>
        <p:txBody>
          <a:bodyPr wrap="square" anchor="ctr" tIns="54864" bIns="54864">
            <a:spAutoFit/>
          </a:bodyPr>
          <a:lstStyle/>
          <a:p>
            <a:pPr algn="l">
              <a:spcAft>
                <a:spcPts val="0"/>
              </a:spcAft>
            </a:pPr>
            <a:r>
              <a:rPr sz="2000" b="1" i="0">
                <a:solidFill>
                  <a:srgbClr val="10204A"/>
                </a:solidFill>
                <a:latin typeface="Trebuchet MS"/>
              </a:rPr>
              <a:t>Tools: </a:t>
            </a:r>
            <a:r>
              <a:rPr sz="2000" b="0" i="0">
                <a:solidFill>
                  <a:srgbClr val="10204A"/>
                </a:solidFill>
                <a:latin typeface="Trebuchet MS"/>
              </a:rPr>
              <a:t>Python test scripts · FastAPI TestClient · tsc + vite build · DevTools</a:t>
            </a:r>
            <a:endParaRPr sz="2000"/>
          </a:p>
        </p:txBody>
      </p:sp>
      <p:sp>
        <p:nvSpPr>
          <p:cNvPr id="24" name="Rounded Rectangle 23"/>
          <p:cNvSpPr/>
          <p:nvPr/>
        </p:nvSpPr>
        <p:spPr>
          <a:xfrm>
            <a:off x="640080" y="5715000"/>
            <a:ext cx="5340096" cy="79552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5824728"/>
            <a:ext cx="73152" cy="576072"/>
          </a:xfrm>
          <a:prstGeom prst="rect">
            <a:avLst/>
          </a:prstGeom>
          <a:solidFill>
            <a:srgbClr val="1F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751576"/>
            <a:ext cx="5138928" cy="722376"/>
          </a:xfrm>
          <a:prstGeom prst="rect">
            <a:avLst/>
          </a:prstGeom>
          <a:noFill/>
        </p:spPr>
        <p:txBody>
          <a:bodyPr wrap="square" anchor="ctr" tIns="54864" bIns="54864">
            <a:spAutoFit/>
          </a:bodyPr>
          <a:lstStyle/>
          <a:p>
            <a:pPr algn="l">
              <a:spcAft>
                <a:spcPts val="600"/>
              </a:spcAft>
            </a:pPr>
            <a:r>
              <a:rPr sz="2200" b="1" i="0">
                <a:solidFill>
                  <a:srgbClr val="1F8A4C"/>
                </a:solidFill>
                <a:latin typeface="Trebuchet MS"/>
              </a:rPr>
              <a:t>Why</a:t>
            </a:r>
            <a:endParaRPr sz="2200"/>
          </a:p>
          <a:p>
            <a:pPr algn="l">
              <a:spcAft>
                <a:spcPts val="0"/>
              </a:spcAft>
            </a:pPr>
            <a:r>
              <a:rPr sz="2000" b="0" i="0">
                <a:solidFill>
                  <a:srgbClr val="10204A"/>
                </a:solidFill>
                <a:latin typeface="Trebuchet MS"/>
              </a:rPr>
              <a:t>Fast; never touches personal data</a:t>
            </a:r>
            <a:endParaRPr sz="2000"/>
          </a:p>
        </p:txBody>
      </p:sp>
      <p:sp>
        <p:nvSpPr>
          <p:cNvPr id="27" name="Rounded Rectangle 26"/>
          <p:cNvSpPr/>
          <p:nvPr/>
        </p:nvSpPr>
        <p:spPr>
          <a:xfrm>
            <a:off x="6208776" y="5715000"/>
            <a:ext cx="5340096" cy="79552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5824728"/>
            <a:ext cx="73152" cy="576072"/>
          </a:xfrm>
          <a:prstGeom prst="rect">
            <a:avLst/>
          </a:prstGeom>
          <a:solidFill>
            <a:srgbClr val="C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5751576"/>
            <a:ext cx="5138928" cy="722376"/>
          </a:xfrm>
          <a:prstGeom prst="rect">
            <a:avLst/>
          </a:prstGeom>
          <a:noFill/>
        </p:spPr>
        <p:txBody>
          <a:bodyPr wrap="square" anchor="ctr" tIns="54864" bIns="54864">
            <a:spAutoFit/>
          </a:bodyPr>
          <a:lstStyle/>
          <a:p>
            <a:pPr algn="l">
              <a:spcAft>
                <a:spcPts val="600"/>
              </a:spcAft>
            </a:pPr>
            <a:r>
              <a:rPr sz="2200" b="1" i="0">
                <a:solidFill>
                  <a:srgbClr val="C26A00"/>
                </a:solidFill>
                <a:latin typeface="Trebuchet MS"/>
              </a:rPr>
              <a:t>Drawback</a:t>
            </a:r>
            <a:endParaRPr sz="2200"/>
          </a:p>
          <a:p>
            <a:pPr algn="l">
              <a:spcAft>
                <a:spcPts val="0"/>
              </a:spcAft>
            </a:pPr>
            <a:r>
              <a:rPr sz="2000" b="0" i="0">
                <a:solidFill>
                  <a:srgbClr val="10204A"/>
                </a:solidFill>
                <a:latin typeface="Trebuchet MS"/>
              </a:rPr>
              <a:t>Can miss live API changes</a:t>
            </a:r>
            <a:endParaRPr sz="20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640080" y="922787"/>
            <a:ext cx="10027920" cy="603504"/>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3200" dirty="0">
                <a:solidFill>
                  <a:srgbClr val="FF0000"/>
                </a:solidFill>
                <a:latin typeface="Trebuchet MS"/>
                <a:ea typeface="Trebuchet MS"/>
                <a:cs typeface="Trebuchet MS"/>
                <a:sym typeface="Trebuchet MS"/>
              </a:rPr>
              <a:t>Results and Discussion (2/2) – Evaluation</a:t>
            </a:r>
            <a:endParaRPr lang="en-US" sz="2400" dirty="0"/>
          </a:p>
        </p:txBody>
      </p:sp>
      <p:sp>
        <p:nvSpPr>
          <p:cNvPr id="4" name="Rounded Rectangle 3"/>
          <p:cNvSpPr/>
          <p:nvPr/>
        </p:nvSpPr>
        <p:spPr>
          <a:xfrm>
            <a:off x="640080" y="1874519"/>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1874519"/>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Retrieval quality</a:t>
            </a:r>
            <a:endParaRPr sz="2000"/>
          </a:p>
          <a:p>
            <a:pPr algn="l">
              <a:spcAft>
                <a:spcPts val="0"/>
              </a:spcAft>
            </a:pPr>
            <a:r>
              <a:rPr sz="1800" b="0" i="0">
                <a:solidFill>
                  <a:srgbClr val="455068"/>
                </a:solidFill>
                <a:latin typeface="Trebuchet MS"/>
              </a:rPr>
              <a:t>Recall@5 · MRR</a:t>
            </a:r>
            <a:endParaRPr sz="1800"/>
          </a:p>
        </p:txBody>
      </p:sp>
      <p:sp>
        <p:nvSpPr>
          <p:cNvPr id="6" name="Rounded Rectangle 5"/>
          <p:cNvSpPr/>
          <p:nvPr/>
        </p:nvSpPr>
        <p:spPr>
          <a:xfrm>
            <a:off x="5166359" y="1994153"/>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7" name="Rounded Rectangle 6"/>
          <p:cNvSpPr/>
          <p:nvPr/>
        </p:nvSpPr>
        <p:spPr>
          <a:xfrm>
            <a:off x="640080" y="2662428"/>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2662428"/>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Hybrid vs single</a:t>
            </a:r>
            <a:endParaRPr sz="2000"/>
          </a:p>
          <a:p>
            <a:pPr algn="l">
              <a:spcAft>
                <a:spcPts val="0"/>
              </a:spcAft>
            </a:pPr>
            <a:r>
              <a:rPr sz="1800" b="0" i="0">
                <a:solidFill>
                  <a:srgbClr val="455068"/>
                </a:solidFill>
                <a:latin typeface="Trebuchet MS"/>
              </a:rPr>
              <a:t>keyword · semantic · RRF</a:t>
            </a:r>
            <a:endParaRPr sz="1800"/>
          </a:p>
        </p:txBody>
      </p:sp>
      <p:sp>
        <p:nvSpPr>
          <p:cNvPr id="9" name="Rounded Rectangle 8"/>
          <p:cNvSpPr/>
          <p:nvPr/>
        </p:nvSpPr>
        <p:spPr>
          <a:xfrm>
            <a:off x="5166359" y="2782062"/>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10" name="Rounded Rectangle 9"/>
          <p:cNvSpPr/>
          <p:nvPr/>
        </p:nvSpPr>
        <p:spPr>
          <a:xfrm>
            <a:off x="640080" y="3450336"/>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3450336"/>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Latency</a:t>
            </a:r>
            <a:endParaRPr sz="2000"/>
          </a:p>
          <a:p>
            <a:pPr algn="l">
              <a:spcAft>
                <a:spcPts val="0"/>
              </a:spcAft>
            </a:pPr>
            <a:r>
              <a:rPr sz="1800" b="0" i="0">
                <a:solidFill>
                  <a:srgbClr val="455068"/>
                </a:solidFill>
                <a:latin typeface="Trebuchet MS"/>
              </a:rPr>
              <a:t>median · p95 seconds</a:t>
            </a:r>
            <a:endParaRPr sz="1800"/>
          </a:p>
        </p:txBody>
      </p:sp>
      <p:sp>
        <p:nvSpPr>
          <p:cNvPr id="12" name="Rounded Rectangle 11"/>
          <p:cNvSpPr/>
          <p:nvPr/>
        </p:nvSpPr>
        <p:spPr>
          <a:xfrm>
            <a:off x="5166359" y="3569970"/>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13" name="Rounded Rectangle 12"/>
          <p:cNvSpPr/>
          <p:nvPr/>
        </p:nvSpPr>
        <p:spPr>
          <a:xfrm>
            <a:off x="640080" y="4238244"/>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19" y="4238244"/>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LLM calls</a:t>
            </a:r>
            <a:endParaRPr sz="2000"/>
          </a:p>
          <a:p>
            <a:pPr algn="l">
              <a:spcAft>
                <a:spcPts val="0"/>
              </a:spcAft>
            </a:pPr>
            <a:r>
              <a:rPr sz="1800" b="0" i="0">
                <a:solidFill>
                  <a:srgbClr val="455068"/>
                </a:solidFill>
                <a:latin typeface="Trebuchet MS"/>
              </a:rPr>
              <a:t>mean per question</a:t>
            </a:r>
            <a:endParaRPr sz="1800"/>
          </a:p>
        </p:txBody>
      </p:sp>
      <p:sp>
        <p:nvSpPr>
          <p:cNvPr id="15" name="Rounded Rectangle 14"/>
          <p:cNvSpPr/>
          <p:nvPr/>
        </p:nvSpPr>
        <p:spPr>
          <a:xfrm>
            <a:off x="5166359" y="4357878"/>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16" name="Rounded Rectangle 15"/>
          <p:cNvSpPr/>
          <p:nvPr/>
        </p:nvSpPr>
        <p:spPr>
          <a:xfrm>
            <a:off x="640080" y="5026151"/>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5026151"/>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Cost</a:t>
            </a:r>
            <a:endParaRPr sz="2000"/>
          </a:p>
          <a:p>
            <a:pPr algn="l">
              <a:spcAft>
                <a:spcPts val="0"/>
              </a:spcAft>
            </a:pPr>
            <a:r>
              <a:rPr sz="1800" b="0" i="0">
                <a:solidFill>
                  <a:srgbClr val="455068"/>
                </a:solidFill>
                <a:latin typeface="Trebuchet MS"/>
              </a:rPr>
              <a:t>₹ per question</a:t>
            </a:r>
            <a:endParaRPr sz="1800"/>
          </a:p>
        </p:txBody>
      </p:sp>
      <p:sp>
        <p:nvSpPr>
          <p:cNvPr id="18" name="Rounded Rectangle 17"/>
          <p:cNvSpPr/>
          <p:nvPr/>
        </p:nvSpPr>
        <p:spPr>
          <a:xfrm>
            <a:off x="5166359" y="5145786"/>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19" name="Rounded Rectangle 18"/>
          <p:cNvSpPr/>
          <p:nvPr/>
        </p:nvSpPr>
        <p:spPr>
          <a:xfrm>
            <a:off x="640080" y="5814059"/>
            <a:ext cx="6858000" cy="696468"/>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19" y="5814059"/>
            <a:ext cx="4343400" cy="696468"/>
          </a:xfrm>
          <a:prstGeom prst="rect">
            <a:avLst/>
          </a:prstGeom>
          <a:noFill/>
        </p:spPr>
        <p:txBody>
          <a:bodyPr wrap="square" anchor="ctr" lIns="73152" rIns="73152" tIns="43891" bIns="43891">
            <a:spAutoFit/>
          </a:bodyPr>
          <a:lstStyle/>
          <a:p>
            <a:pPr algn="l">
              <a:spcAft>
                <a:spcPts val="0"/>
              </a:spcAft>
            </a:pPr>
            <a:r>
              <a:rPr sz="2000" b="1" i="0">
                <a:solidFill>
                  <a:srgbClr val="10204A"/>
                </a:solidFill>
                <a:latin typeface="Trebuchet MS"/>
              </a:rPr>
              <a:t>Enrichment</a:t>
            </a:r>
            <a:endParaRPr sz="2000"/>
          </a:p>
          <a:p>
            <a:pPr algn="l">
              <a:spcAft>
                <a:spcPts val="0"/>
              </a:spcAft>
            </a:pPr>
            <a:r>
              <a:rPr sz="1800" b="0" i="0">
                <a:solidFill>
                  <a:srgbClr val="455068"/>
                </a:solidFill>
                <a:latin typeface="Trebuchet MS"/>
              </a:rPr>
              <a:t>items per minute</a:t>
            </a:r>
            <a:endParaRPr sz="1800"/>
          </a:p>
        </p:txBody>
      </p:sp>
      <p:sp>
        <p:nvSpPr>
          <p:cNvPr id="21" name="Rounded Rectangle 20"/>
          <p:cNvSpPr/>
          <p:nvPr/>
        </p:nvSpPr>
        <p:spPr>
          <a:xfrm>
            <a:off x="5166359" y="5933693"/>
            <a:ext cx="2194560" cy="457200"/>
          </a:xfrm>
          <a:prstGeom prst="roundRect">
            <a:avLst>
              <a:gd name="adj" fmla="val 50000"/>
            </a:avLst>
          </a:prstGeom>
          <a:solidFill>
            <a:srgbClr val="F3F5FA"/>
          </a:solidFill>
          <a:ln w="12700">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0972" bIns="10972"/>
          <a:lstStyle/>
          <a:p>
            <a:pPr algn="ctr">
              <a:spcAft>
                <a:spcPts val="0"/>
              </a:spcAft>
            </a:pPr>
            <a:r>
              <a:rPr sz="1800" b="0" i="0">
                <a:solidFill>
                  <a:srgbClr val="455068"/>
                </a:solidFill>
                <a:latin typeface="Trebuchet MS"/>
              </a:rPr>
              <a:t>to be measured</a:t>
            </a:r>
            <a:endParaRPr sz="1800"/>
          </a:p>
        </p:txBody>
      </p:sp>
      <p:sp>
        <p:nvSpPr>
          <p:cNvPr id="22" name="Rounded Rectangle 21"/>
          <p:cNvSpPr/>
          <p:nvPr/>
        </p:nvSpPr>
        <p:spPr>
          <a:xfrm>
            <a:off x="7772400" y="1874519"/>
            <a:ext cx="3776472" cy="4636007"/>
          </a:xfrm>
          <a:prstGeom prst="roundRect">
            <a:avLst>
              <a:gd name="adj" fmla="val 5000"/>
            </a:avLst>
          </a:prstGeom>
          <a:solidFill>
            <a:srgbClr val="FFFFFF">
              <a:alpha val="97000"/>
            </a:srgbClr>
          </a:solidFill>
          <a:ln w="9525">
            <a:solidFill>
              <a:srgbClr val="C5D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0" y="1984248"/>
            <a:ext cx="73152" cy="4416551"/>
          </a:xfrm>
          <a:prstGeom prst="rect">
            <a:avLst/>
          </a:prstGeom>
          <a:solidFill>
            <a:srgbClr val="C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18704" y="1911095"/>
            <a:ext cx="3575304" cy="4562855"/>
          </a:xfrm>
          <a:prstGeom prst="rect">
            <a:avLst/>
          </a:prstGeom>
          <a:noFill/>
        </p:spPr>
        <p:txBody>
          <a:bodyPr wrap="square" anchor="t" tIns="54864" bIns="54864">
            <a:spAutoFit/>
          </a:bodyPr>
          <a:lstStyle/>
          <a:p>
            <a:pPr algn="l">
              <a:spcAft>
                <a:spcPts val="600"/>
              </a:spcAft>
            </a:pPr>
            <a:r>
              <a:rPr sz="2300" b="1" i="0">
                <a:solidFill>
                  <a:srgbClr val="C26A00"/>
                </a:solidFill>
                <a:latin typeface="Trebuchet MS"/>
              </a:rPr>
              <a:t>Plan vs final</a:t>
            </a:r>
            <a:endParaRPr sz="2300"/>
          </a:p>
          <a:p>
            <a:pPr algn="l">
              <a:spcAft>
                <a:spcPts val="200"/>
              </a:spcAft>
            </a:pPr>
            <a:r>
              <a:rPr sz="2000" b="1" i="0">
                <a:solidFill>
                  <a:srgbClr val="10204A"/>
                </a:solidFill>
                <a:latin typeface="Trebuchet MS"/>
              </a:rPr>
              <a:t>2 → up to 6</a:t>
            </a:r>
            <a:r>
              <a:rPr sz="2000" b="0" i="0">
                <a:solidFill>
                  <a:srgbClr val="10204A"/>
                </a:solidFill>
                <a:latin typeface="Trebuchet MS"/>
              </a:rPr>
              <a:t> LLM calls</a:t>
            </a:r>
            <a:endParaRPr sz="2000"/>
          </a:p>
          <a:p>
            <a:pPr algn="l">
              <a:spcAft>
                <a:spcPts val="1400"/>
              </a:spcAft>
            </a:pPr>
            <a:r>
              <a:rPr sz="1800" b="0" i="0">
                <a:solidFill>
                  <a:srgbClr val="455068"/>
                </a:solidFill>
                <a:latin typeface="Trebuchet MS"/>
              </a:rPr>
              <a:t>agentic search (A26)</a:t>
            </a:r>
            <a:endParaRPr sz="1800"/>
          </a:p>
          <a:p>
            <a:pPr algn="l">
              <a:spcAft>
                <a:spcPts val="200"/>
              </a:spcAft>
            </a:pPr>
            <a:r>
              <a:rPr sz="2000" b="1" i="0">
                <a:solidFill>
                  <a:srgbClr val="10204A"/>
                </a:solidFill>
                <a:latin typeface="Trebuchet MS"/>
              </a:rPr>
              <a:t>5 → 20 min</a:t>
            </a:r>
            <a:r>
              <a:rPr sz="2000" b="0" i="0">
                <a:solidFill>
                  <a:srgbClr val="10204A"/>
                </a:solidFill>
                <a:latin typeface="Trebuchet MS"/>
              </a:rPr>
              <a:t> session gap</a:t>
            </a:r>
            <a:endParaRPr sz="2000"/>
          </a:p>
          <a:p>
            <a:pPr algn="l">
              <a:spcAft>
                <a:spcPts val="1400"/>
              </a:spcAft>
            </a:pPr>
            <a:r>
              <a:rPr sz="1800" b="0" i="0">
                <a:solidFill>
                  <a:srgbClr val="455068"/>
                </a:solidFill>
                <a:latin typeface="Trebuchet MS"/>
              </a:rPr>
              <a:t>long reads split (C24)</a:t>
            </a:r>
            <a:endParaRPr sz="1800"/>
          </a:p>
          <a:p>
            <a:pPr algn="l">
              <a:spcAft>
                <a:spcPts val="200"/>
              </a:spcAft>
            </a:pPr>
            <a:r>
              <a:rPr sz="2000" b="1" i="0">
                <a:solidFill>
                  <a:srgbClr val="10204A"/>
                </a:solidFill>
                <a:latin typeface="Trebuchet MS"/>
              </a:rPr>
              <a:t>Signatures kept</a:t>
            </a:r>
            <a:endParaRPr sz="2000"/>
          </a:p>
          <a:p>
            <a:pPr algn="l">
              <a:spcAft>
                <a:spcPts val="0"/>
              </a:spcAft>
            </a:pPr>
            <a:r>
              <a:rPr sz="1800" b="0" i="0">
                <a:solidFill>
                  <a:srgbClr val="455068"/>
                </a:solidFill>
                <a:latin typeface="Trebuchet MS"/>
              </a:rPr>
              <a:t>removal cut real text (A12)</a:t>
            </a:r>
            <a:endParaRPr sz="180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757</TotalTime>
  <Words>487</Words>
  <Application>Microsoft Office PowerPoint</Application>
  <PresentationFormat>Widescreen</PresentationFormat>
  <Paragraphs>92</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Noto Sans Symbols</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VML</dc:creator>
  <cp:lastModifiedBy>gulshan vaswani</cp:lastModifiedBy>
  <cp:revision>341</cp:revision>
  <dcterms:created xsi:type="dcterms:W3CDTF">2020-11-22T08:14:37Z</dcterms:created>
  <dcterms:modified xsi:type="dcterms:W3CDTF">2026-10-17T18:23:27Z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